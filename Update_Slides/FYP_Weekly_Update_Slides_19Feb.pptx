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6"/>
  </p:notesMasterIdLst>
  <p:sldIdLst>
    <p:sldId id="303" r:id="rId2"/>
    <p:sldId id="310" r:id="rId3"/>
    <p:sldId id="341" r:id="rId4"/>
    <p:sldId id="343" r:id="rId5"/>
    <p:sldId id="345" r:id="rId6"/>
    <p:sldId id="333" r:id="rId7"/>
    <p:sldId id="346" r:id="rId8"/>
    <p:sldId id="347" r:id="rId9"/>
    <p:sldId id="348" r:id="rId10"/>
    <p:sldId id="349" r:id="rId11"/>
    <p:sldId id="350" r:id="rId12"/>
    <p:sldId id="351" r:id="rId13"/>
    <p:sldId id="359" r:id="rId14"/>
    <p:sldId id="360" r:id="rId15"/>
    <p:sldId id="361" r:id="rId16"/>
    <p:sldId id="362" r:id="rId17"/>
    <p:sldId id="363" r:id="rId18"/>
    <p:sldId id="352" r:id="rId19"/>
    <p:sldId id="353" r:id="rId20"/>
    <p:sldId id="354" r:id="rId21"/>
    <p:sldId id="356" r:id="rId22"/>
    <p:sldId id="355" r:id="rId23"/>
    <p:sldId id="357" r:id="rId24"/>
    <p:sldId id="35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3630" autoAdjust="0"/>
  </p:normalViewPr>
  <p:slideViewPr>
    <p:cSldViewPr snapToGrid="0">
      <p:cViewPr varScale="1">
        <p:scale>
          <a:sx n="104" d="100"/>
          <a:sy n="104" d="100"/>
        </p:scale>
        <p:origin x="88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BD9BC-DEF3-4382-83D6-5C0A0444C18A}" type="datetimeFigureOut">
              <a:rPr lang="en-SG" smtClean="0"/>
              <a:t>25/2/2026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5FDCB-33CC-4AD4-B363-617329C34B90}" type="slidenum">
              <a:rPr lang="en-SG" smtClean="0"/>
              <a:t>‹#›</a:t>
            </a:fld>
            <a:endParaRPr lang="en-SG"/>
          </a:p>
        </p:txBody>
      </p:sp>
    </p:spTree>
    <p:extLst>
      <p:ext uri="{BB962C8B-B14F-4D97-AF65-F5344CB8AC3E}">
        <p14:creationId xmlns:p14="http://schemas.microsoft.com/office/powerpoint/2010/main" val="366110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02B5FDCB-33CC-4AD4-B363-617329C34B90}" type="slidenum">
              <a:rPr lang="en-SG" smtClean="0"/>
              <a:t>1</a:t>
            </a:fld>
            <a:endParaRPr lang="en-SG"/>
          </a:p>
        </p:txBody>
      </p:sp>
    </p:spTree>
    <p:extLst>
      <p:ext uri="{BB962C8B-B14F-4D97-AF65-F5344CB8AC3E}">
        <p14:creationId xmlns:p14="http://schemas.microsoft.com/office/powerpoint/2010/main" val="3521726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4E739-D6B1-3F88-FCE5-B3F2E8F45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EFE72-4EA1-109D-D0F6-FAF0D96C2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01310-4D4B-8CB9-345D-3A45919D825E}"/>
              </a:ext>
            </a:extLst>
          </p:cNvPr>
          <p:cNvSpPr>
            <a:spLocks noGrp="1"/>
          </p:cNvSpPr>
          <p:nvPr>
            <p:ph type="body" idx="1"/>
          </p:nvPr>
        </p:nvSpPr>
        <p:spPr/>
        <p:txBody>
          <a:bodyPr/>
          <a:lstStyle/>
          <a:p>
            <a:r>
              <a:rPr lang="en-US" dirty="0"/>
              <a:t>This is for the selection in reconstructed mode with no cuts applied, and the preselection cuts placed as variables, allowing us to see the number of particles that would pass each cut w.r.t the total number of all particles within the root file. </a:t>
            </a:r>
          </a:p>
          <a:p>
            <a:endParaRPr lang="en-US" dirty="0"/>
          </a:p>
          <a:p>
            <a:r>
              <a:rPr lang="en-US" dirty="0"/>
              <a:t>The final row shoes the number of particles that pass all 3 cuts, obtained from the other selection with all 3 cuts applied</a:t>
            </a:r>
            <a:endParaRPr lang="en-SG" dirty="0"/>
          </a:p>
        </p:txBody>
      </p:sp>
      <p:sp>
        <p:nvSpPr>
          <p:cNvPr id="4" name="Slide Number Placeholder 3">
            <a:extLst>
              <a:ext uri="{FF2B5EF4-FFF2-40B4-BE49-F238E27FC236}">
                <a16:creationId xmlns:a16="http://schemas.microsoft.com/office/drawing/2014/main" id="{C103CD89-C00A-34A5-1962-F68DFC701305}"/>
              </a:ext>
            </a:extLst>
          </p:cNvPr>
          <p:cNvSpPr>
            <a:spLocks noGrp="1"/>
          </p:cNvSpPr>
          <p:nvPr>
            <p:ph type="sldNum" sz="quarter" idx="5"/>
          </p:nvPr>
        </p:nvSpPr>
        <p:spPr/>
        <p:txBody>
          <a:bodyPr/>
          <a:lstStyle/>
          <a:p>
            <a:fld id="{02B5FDCB-33CC-4AD4-B363-617329C34B90}" type="slidenum">
              <a:rPr lang="en-SG" smtClean="0"/>
              <a:t>4</a:t>
            </a:fld>
            <a:endParaRPr lang="en-SG"/>
          </a:p>
        </p:txBody>
      </p:sp>
    </p:spTree>
    <p:extLst>
      <p:ext uri="{BB962C8B-B14F-4D97-AF65-F5344CB8AC3E}">
        <p14:creationId xmlns:p14="http://schemas.microsoft.com/office/powerpoint/2010/main" val="3419893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CA469-8F7D-28FA-7334-45D673434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D26B2-7CF4-52B3-BBB0-EBE7C9486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5124A-AF87-CC7D-F556-8260BB3D47E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63E4172-A3F3-D8E3-79D0-28CF02F82496}"/>
              </a:ext>
            </a:extLst>
          </p:cNvPr>
          <p:cNvSpPr>
            <a:spLocks noGrp="1"/>
          </p:cNvSpPr>
          <p:nvPr>
            <p:ph type="sldNum" sz="quarter" idx="5"/>
          </p:nvPr>
        </p:nvSpPr>
        <p:spPr/>
        <p:txBody>
          <a:bodyPr/>
          <a:lstStyle/>
          <a:p>
            <a:fld id="{02B5FDCB-33CC-4AD4-B363-617329C34B90}" type="slidenum">
              <a:rPr lang="en-SG" smtClean="0"/>
              <a:t>6</a:t>
            </a:fld>
            <a:endParaRPr lang="en-SG"/>
          </a:p>
        </p:txBody>
      </p:sp>
    </p:spTree>
    <p:extLst>
      <p:ext uri="{BB962C8B-B14F-4D97-AF65-F5344CB8AC3E}">
        <p14:creationId xmlns:p14="http://schemas.microsoft.com/office/powerpoint/2010/main" val="644594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D865F-2013-0D2C-8CFC-96EF61463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46697-B0D7-33B5-437D-124448040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76C5A-FB02-62ED-4043-68530EA00C25}"/>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6A38CA15-1F08-99A3-A5AA-878FD149C631}"/>
              </a:ext>
            </a:extLst>
          </p:cNvPr>
          <p:cNvSpPr>
            <a:spLocks noGrp="1"/>
          </p:cNvSpPr>
          <p:nvPr>
            <p:ph type="sldNum" sz="quarter" idx="5"/>
          </p:nvPr>
        </p:nvSpPr>
        <p:spPr/>
        <p:txBody>
          <a:bodyPr/>
          <a:lstStyle/>
          <a:p>
            <a:fld id="{02B5FDCB-33CC-4AD4-B363-617329C34B90}" type="slidenum">
              <a:rPr lang="en-SG" smtClean="0"/>
              <a:t>8</a:t>
            </a:fld>
            <a:endParaRPr lang="en-SG"/>
          </a:p>
        </p:txBody>
      </p:sp>
    </p:spTree>
    <p:extLst>
      <p:ext uri="{BB962C8B-B14F-4D97-AF65-F5344CB8AC3E}">
        <p14:creationId xmlns:p14="http://schemas.microsoft.com/office/powerpoint/2010/main" val="842671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2C04-963E-E0D8-BB40-2097BEA88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66B96-8CA2-0C9F-F56B-296F42369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B189D-993B-DC64-6350-35BC09F3E6CE}"/>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182AF85F-40F1-558C-6B29-80A882095592}"/>
              </a:ext>
            </a:extLst>
          </p:cNvPr>
          <p:cNvSpPr>
            <a:spLocks noGrp="1"/>
          </p:cNvSpPr>
          <p:nvPr>
            <p:ph type="sldNum" sz="quarter" idx="5"/>
          </p:nvPr>
        </p:nvSpPr>
        <p:spPr/>
        <p:txBody>
          <a:bodyPr/>
          <a:lstStyle/>
          <a:p>
            <a:fld id="{02B5FDCB-33CC-4AD4-B363-617329C34B90}" type="slidenum">
              <a:rPr lang="en-SG" smtClean="0"/>
              <a:t>9</a:t>
            </a:fld>
            <a:endParaRPr lang="en-SG"/>
          </a:p>
        </p:txBody>
      </p:sp>
    </p:spTree>
    <p:extLst>
      <p:ext uri="{BB962C8B-B14F-4D97-AF65-F5344CB8AC3E}">
        <p14:creationId xmlns:p14="http://schemas.microsoft.com/office/powerpoint/2010/main" val="3245199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E7C2F-6943-6823-6B81-179BF1B28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F4B82-9FED-793D-04DC-F7829C6D90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397AFA-9261-95A2-31EF-2C7DCC4035C0}"/>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011A7C89-62A2-683D-DF23-1F39A4D5E001}"/>
              </a:ext>
            </a:extLst>
          </p:cNvPr>
          <p:cNvSpPr>
            <a:spLocks noGrp="1"/>
          </p:cNvSpPr>
          <p:nvPr>
            <p:ph type="sldNum" sz="quarter" idx="5"/>
          </p:nvPr>
        </p:nvSpPr>
        <p:spPr/>
        <p:txBody>
          <a:bodyPr/>
          <a:lstStyle/>
          <a:p>
            <a:fld id="{02B5FDCB-33CC-4AD4-B363-617329C34B90}" type="slidenum">
              <a:rPr lang="en-SG" smtClean="0"/>
              <a:t>10</a:t>
            </a:fld>
            <a:endParaRPr lang="en-SG"/>
          </a:p>
        </p:txBody>
      </p:sp>
    </p:spTree>
    <p:extLst>
      <p:ext uri="{BB962C8B-B14F-4D97-AF65-F5344CB8AC3E}">
        <p14:creationId xmlns:p14="http://schemas.microsoft.com/office/powerpoint/2010/main" val="3435434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3818A-2BF5-D12D-CD48-6FB0125F8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76733-AE95-D6B9-ED3B-ADE3BCC9F2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09B81-3979-1652-81CC-3A0CAD073983}"/>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8DAF5AE2-F02E-7C22-1143-CEF2C1E6C5BF}"/>
              </a:ext>
            </a:extLst>
          </p:cNvPr>
          <p:cNvSpPr>
            <a:spLocks noGrp="1"/>
          </p:cNvSpPr>
          <p:nvPr>
            <p:ph type="sldNum" sz="quarter" idx="5"/>
          </p:nvPr>
        </p:nvSpPr>
        <p:spPr/>
        <p:txBody>
          <a:bodyPr/>
          <a:lstStyle/>
          <a:p>
            <a:fld id="{02B5FDCB-33CC-4AD4-B363-617329C34B90}" type="slidenum">
              <a:rPr lang="en-SG" smtClean="0"/>
              <a:t>11</a:t>
            </a:fld>
            <a:endParaRPr lang="en-SG"/>
          </a:p>
        </p:txBody>
      </p:sp>
    </p:spTree>
    <p:extLst>
      <p:ext uri="{BB962C8B-B14F-4D97-AF65-F5344CB8AC3E}">
        <p14:creationId xmlns:p14="http://schemas.microsoft.com/office/powerpoint/2010/main" val="1084198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A4BA-4D29-A8DF-B57D-85882B6D3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80DA-365B-C047-1DEC-58D6D5B2F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8B8D1C-17EA-F430-CF55-D15A23D189E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B8C0B01-45D4-6BF3-1074-6D74E0E73FA3}"/>
              </a:ext>
            </a:extLst>
          </p:cNvPr>
          <p:cNvSpPr>
            <a:spLocks noGrp="1"/>
          </p:cNvSpPr>
          <p:nvPr>
            <p:ph type="sldNum" sz="quarter" idx="5"/>
          </p:nvPr>
        </p:nvSpPr>
        <p:spPr/>
        <p:txBody>
          <a:bodyPr/>
          <a:lstStyle/>
          <a:p>
            <a:fld id="{02B5FDCB-33CC-4AD4-B363-617329C34B90}" type="slidenum">
              <a:rPr lang="en-SG" smtClean="0"/>
              <a:t>12</a:t>
            </a:fld>
            <a:endParaRPr lang="en-SG"/>
          </a:p>
        </p:txBody>
      </p:sp>
    </p:spTree>
    <p:extLst>
      <p:ext uri="{BB962C8B-B14F-4D97-AF65-F5344CB8AC3E}">
        <p14:creationId xmlns:p14="http://schemas.microsoft.com/office/powerpoint/2010/main" val="6392992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D865F-2013-0D2C-8CFC-96EF61463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46697-B0D7-33B5-437D-124448040F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76C5A-FB02-62ED-4043-68530EA00C25}"/>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6A38CA15-1F08-99A3-A5AA-878FD149C631}"/>
              </a:ext>
            </a:extLst>
          </p:cNvPr>
          <p:cNvSpPr>
            <a:spLocks noGrp="1"/>
          </p:cNvSpPr>
          <p:nvPr>
            <p:ph type="sldNum" sz="quarter" idx="5"/>
          </p:nvPr>
        </p:nvSpPr>
        <p:spPr/>
        <p:txBody>
          <a:bodyPr/>
          <a:lstStyle/>
          <a:p>
            <a:fld id="{02B5FDCB-33CC-4AD4-B363-617329C34B90}" type="slidenum">
              <a:rPr lang="en-SG" smtClean="0"/>
              <a:t>14</a:t>
            </a:fld>
            <a:endParaRPr lang="en-SG"/>
          </a:p>
        </p:txBody>
      </p:sp>
    </p:spTree>
    <p:extLst>
      <p:ext uri="{BB962C8B-B14F-4D97-AF65-F5344CB8AC3E}">
        <p14:creationId xmlns:p14="http://schemas.microsoft.com/office/powerpoint/2010/main" val="842671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2C04-963E-E0D8-BB40-2097BEA88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66B96-8CA2-0C9F-F56B-296F423699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B189D-993B-DC64-6350-35BC09F3E6CE}"/>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182AF85F-40F1-558C-6B29-80A882095592}"/>
              </a:ext>
            </a:extLst>
          </p:cNvPr>
          <p:cNvSpPr>
            <a:spLocks noGrp="1"/>
          </p:cNvSpPr>
          <p:nvPr>
            <p:ph type="sldNum" sz="quarter" idx="5"/>
          </p:nvPr>
        </p:nvSpPr>
        <p:spPr/>
        <p:txBody>
          <a:bodyPr/>
          <a:lstStyle/>
          <a:p>
            <a:fld id="{02B5FDCB-33CC-4AD4-B363-617329C34B90}" type="slidenum">
              <a:rPr lang="en-SG" smtClean="0"/>
              <a:t>15</a:t>
            </a:fld>
            <a:endParaRPr lang="en-SG"/>
          </a:p>
        </p:txBody>
      </p:sp>
    </p:spTree>
    <p:extLst>
      <p:ext uri="{BB962C8B-B14F-4D97-AF65-F5344CB8AC3E}">
        <p14:creationId xmlns:p14="http://schemas.microsoft.com/office/powerpoint/2010/main" val="3245199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1E70A-AF1A-4B32-0724-C22995D55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92574-EBE9-1633-3D31-EB4DE9563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45399-18E4-E3CE-8D98-3BAD77E31D65}"/>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2BAFA6FC-011F-8482-3210-2D8EBB3D44A7}"/>
              </a:ext>
            </a:extLst>
          </p:cNvPr>
          <p:cNvSpPr>
            <a:spLocks noGrp="1"/>
          </p:cNvSpPr>
          <p:nvPr>
            <p:ph type="sldNum" sz="quarter" idx="5"/>
          </p:nvPr>
        </p:nvSpPr>
        <p:spPr/>
        <p:txBody>
          <a:bodyPr/>
          <a:lstStyle/>
          <a:p>
            <a:fld id="{02B5FDCB-33CC-4AD4-B363-617329C34B90}" type="slidenum">
              <a:rPr lang="en-SG" smtClean="0"/>
              <a:t>16</a:t>
            </a:fld>
            <a:endParaRPr lang="en-SG"/>
          </a:p>
        </p:txBody>
      </p:sp>
    </p:spTree>
    <p:extLst>
      <p:ext uri="{BB962C8B-B14F-4D97-AF65-F5344CB8AC3E}">
        <p14:creationId xmlns:p14="http://schemas.microsoft.com/office/powerpoint/2010/main" val="2223710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37DED-9939-F280-9BE7-DC7704A37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59B91-2EA3-4655-D87D-77BFE7B7B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8F270-EB8D-B903-BB75-5F97692F6084}"/>
              </a:ext>
            </a:extLst>
          </p:cNvPr>
          <p:cNvSpPr>
            <a:spLocks noGrp="1"/>
          </p:cNvSpPr>
          <p:nvPr>
            <p:ph type="body" idx="1"/>
          </p:nvPr>
        </p:nvSpPr>
        <p:spPr/>
        <p:txBody>
          <a:bodyPr/>
          <a:lstStyle/>
          <a:p>
            <a:r>
              <a:rPr lang="en-US" dirty="0"/>
              <a:t>This is for the true selection with all 3 cuts applied as cuts and placed as variables as well. Therefore, only particles that pass all 3 of the cuts together will be plotted. </a:t>
            </a:r>
          </a:p>
          <a:p>
            <a:endParaRPr lang="en-US" dirty="0"/>
          </a:p>
          <a:p>
            <a:r>
              <a:rPr lang="en-US" dirty="0"/>
              <a:t>When the cuts are plotted as variables in </a:t>
            </a:r>
            <a:r>
              <a:rPr lang="en-US" dirty="0" err="1"/>
              <a:t>reco</a:t>
            </a:r>
            <a:r>
              <a:rPr lang="en-US" dirty="0"/>
              <a:t> mode. This allows us to see the false positives of each cut, meaning we can see the number of true particles that passed the cut, but </a:t>
            </a:r>
            <a:r>
              <a:rPr lang="en-US" dirty="0" err="1"/>
              <a:t>should’nt</a:t>
            </a:r>
            <a:r>
              <a:rPr lang="en-US" dirty="0"/>
              <a:t> have when considering their </a:t>
            </a:r>
            <a:r>
              <a:rPr lang="en-US" dirty="0" err="1"/>
              <a:t>reco</a:t>
            </a:r>
            <a:r>
              <a:rPr lang="en-US" dirty="0"/>
              <a:t> particle information</a:t>
            </a:r>
            <a:endParaRPr lang="en-SG" dirty="0"/>
          </a:p>
          <a:p>
            <a:endParaRPr lang="en-SG" dirty="0"/>
          </a:p>
        </p:txBody>
      </p:sp>
      <p:sp>
        <p:nvSpPr>
          <p:cNvPr id="4" name="Slide Number Placeholder 3">
            <a:extLst>
              <a:ext uri="{FF2B5EF4-FFF2-40B4-BE49-F238E27FC236}">
                <a16:creationId xmlns:a16="http://schemas.microsoft.com/office/drawing/2014/main" id="{6265EA8A-01AD-5BAD-4EBD-43E75B19A5B1}"/>
              </a:ext>
            </a:extLst>
          </p:cNvPr>
          <p:cNvSpPr>
            <a:spLocks noGrp="1"/>
          </p:cNvSpPr>
          <p:nvPr>
            <p:ph type="sldNum" sz="quarter" idx="5"/>
          </p:nvPr>
        </p:nvSpPr>
        <p:spPr/>
        <p:txBody>
          <a:bodyPr/>
          <a:lstStyle/>
          <a:p>
            <a:fld id="{02B5FDCB-33CC-4AD4-B363-617329C34B90}" type="slidenum">
              <a:rPr lang="en-SG" smtClean="0"/>
              <a:t>17</a:t>
            </a:fld>
            <a:endParaRPr lang="en-SG"/>
          </a:p>
        </p:txBody>
      </p:sp>
    </p:spTree>
    <p:extLst>
      <p:ext uri="{BB962C8B-B14F-4D97-AF65-F5344CB8AC3E}">
        <p14:creationId xmlns:p14="http://schemas.microsoft.com/office/powerpoint/2010/main" val="3110135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AB80F-D591-2545-08B0-2E4CF3D5B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4F0D5C-4F01-F81A-9E16-828886667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3CA5F-39B8-8C7E-1055-5E56492B6579}"/>
              </a:ext>
            </a:extLst>
          </p:cNvPr>
          <p:cNvSpPr>
            <a:spLocks noGrp="1"/>
          </p:cNvSpPr>
          <p:nvPr>
            <p:ph type="body" idx="1"/>
          </p:nvPr>
        </p:nvSpPr>
        <p:spPr/>
        <p:txBody>
          <a:bodyPr/>
          <a:lstStyle/>
          <a:p>
            <a:r>
              <a:rPr lang="en-US" dirty="0"/>
              <a:t>This is for the selection in reconstructed mode with no cuts applied, and the preselection cuts placed as variables, allowing us to see the number of particles that would pass each cut w.r.t the total number of all particles within the root file. </a:t>
            </a:r>
          </a:p>
          <a:p>
            <a:endParaRPr lang="en-US" dirty="0"/>
          </a:p>
          <a:p>
            <a:r>
              <a:rPr lang="en-US" dirty="0"/>
              <a:t>The final row shoes the number of particles that pass all 3 cuts, obtained from the other selection with all 3 cuts applied</a:t>
            </a:r>
            <a:endParaRPr lang="en-SG" dirty="0"/>
          </a:p>
        </p:txBody>
      </p:sp>
      <p:sp>
        <p:nvSpPr>
          <p:cNvPr id="4" name="Slide Number Placeholder 3">
            <a:extLst>
              <a:ext uri="{FF2B5EF4-FFF2-40B4-BE49-F238E27FC236}">
                <a16:creationId xmlns:a16="http://schemas.microsoft.com/office/drawing/2014/main" id="{D9164FEA-341D-FA47-3575-4380AA596316}"/>
              </a:ext>
            </a:extLst>
          </p:cNvPr>
          <p:cNvSpPr>
            <a:spLocks noGrp="1"/>
          </p:cNvSpPr>
          <p:nvPr>
            <p:ph type="sldNum" sz="quarter" idx="5"/>
          </p:nvPr>
        </p:nvSpPr>
        <p:spPr/>
        <p:txBody>
          <a:bodyPr/>
          <a:lstStyle/>
          <a:p>
            <a:fld id="{02B5FDCB-33CC-4AD4-B363-617329C34B90}" type="slidenum">
              <a:rPr lang="en-SG" smtClean="0"/>
              <a:t>23</a:t>
            </a:fld>
            <a:endParaRPr lang="en-SG"/>
          </a:p>
        </p:txBody>
      </p:sp>
    </p:spTree>
    <p:extLst>
      <p:ext uri="{BB962C8B-B14F-4D97-AF65-F5344CB8AC3E}">
        <p14:creationId xmlns:p14="http://schemas.microsoft.com/office/powerpoint/2010/main" val="3823075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25/2/2026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95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25/2/2026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467805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AFE32E-95B7-4367-9495-9CBC389572F3}" type="datetimeFigureOut">
              <a:rPr lang="en-SG" smtClean="0"/>
              <a:t>25/2/2026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6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AFE32E-95B7-4367-9495-9CBC389572F3}" type="datetimeFigureOut">
              <a:rPr lang="en-SG" smtClean="0"/>
              <a:t>25/2/2026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77030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AFE32E-95B7-4367-9495-9CBC389572F3}" type="datetimeFigureOut">
              <a:rPr lang="en-SG" smtClean="0"/>
              <a:t>25/2/2026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52259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AFE32E-95B7-4367-9495-9CBC389572F3}" type="datetimeFigureOut">
              <a:rPr lang="en-SG" smtClean="0"/>
              <a:t>25/2/2026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77201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EAFE32E-95B7-4367-9495-9CBC389572F3}" type="datetimeFigureOut">
              <a:rPr lang="en-SG" smtClean="0"/>
              <a:t>25/2/2026</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08138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EAFE32E-95B7-4367-9495-9CBC389572F3}" type="datetimeFigureOut">
              <a:rPr lang="en-SG" smtClean="0"/>
              <a:t>25/2/2026</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CD8743-5A53-4A98-BC6F-5DFD6CC2F469}" type="slidenum">
              <a:rPr lang="en-SG" smtClean="0"/>
              <a:t>‹#›</a:t>
            </a:fld>
            <a:endParaRPr lang="en-SG"/>
          </a:p>
        </p:txBody>
      </p:sp>
    </p:spTree>
    <p:extLst>
      <p:ext uri="{BB962C8B-B14F-4D97-AF65-F5344CB8AC3E}">
        <p14:creationId xmlns:p14="http://schemas.microsoft.com/office/powerpoint/2010/main" val="4105455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AFE32E-95B7-4367-9495-9CBC389572F3}" type="datetimeFigureOut">
              <a:rPr lang="en-SG" smtClean="0"/>
              <a:t>25/2/2026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5234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25/2/2026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21928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25/2/2026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69306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EAFE32E-95B7-4367-9495-9CBC389572F3}" type="datetimeFigureOut">
              <a:rPr lang="en-SG" smtClean="0"/>
              <a:t>25/2/2026</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CD8743-5A53-4A98-BC6F-5DFD6CC2F469}"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9773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D9B76-70A7-1E39-0F35-6062ED356829}"/>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8DFBA7B-7258-CBEB-4D01-777454586A2A}"/>
              </a:ext>
            </a:extLst>
          </p:cNvPr>
          <p:cNvGraphicFramePr>
            <a:graphicFrameLocks noGrp="1"/>
          </p:cNvGraphicFramePr>
          <p:nvPr>
            <p:extLst>
              <p:ext uri="{D42A27DB-BD31-4B8C-83A1-F6EECF244321}">
                <p14:modId xmlns:p14="http://schemas.microsoft.com/office/powerpoint/2010/main" val="2965107574"/>
              </p:ext>
            </p:extLst>
          </p:nvPr>
        </p:nvGraphicFramePr>
        <p:xfrm>
          <a:off x="7972425" y="2038156"/>
          <a:ext cx="3870036" cy="1859589"/>
        </p:xfrm>
        <a:graphic>
          <a:graphicData uri="http://schemas.openxmlformats.org/drawingml/2006/table">
            <a:tbl>
              <a:tblPr firstRow="1" bandRow="1">
                <a:tableStyleId>{69012ECD-51FC-41F1-AA8D-1B2483CD663E}</a:tableStyleId>
              </a:tblPr>
              <a:tblGrid>
                <a:gridCol w="3870036">
                  <a:extLst>
                    <a:ext uri="{9D8B030D-6E8A-4147-A177-3AD203B41FA5}">
                      <a16:colId xmlns:a16="http://schemas.microsoft.com/office/drawing/2014/main" val="1476473035"/>
                    </a:ext>
                  </a:extLst>
                </a:gridCol>
              </a:tblGrid>
              <a:tr h="619863">
                <a:tc>
                  <a:txBody>
                    <a:bodyPr/>
                    <a:lstStyle/>
                    <a:p>
                      <a:r>
                        <a:rPr lang="en-US" dirty="0"/>
                        <a:t>Created TOML files</a:t>
                      </a:r>
                      <a:endParaRPr lang="en-SG" dirty="0"/>
                    </a:p>
                  </a:txBody>
                  <a:tcPr/>
                </a:tc>
                <a:extLst>
                  <a:ext uri="{0D108BD9-81ED-4DB2-BD59-A6C34878D82A}">
                    <a16:rowId xmlns:a16="http://schemas.microsoft.com/office/drawing/2014/main" val="1553903345"/>
                  </a:ext>
                </a:extLst>
              </a:tr>
              <a:tr h="619863">
                <a:tc>
                  <a:txBody>
                    <a:bodyPr/>
                    <a:lstStyle/>
                    <a:p>
                      <a:endParaRPr lang="en-SG" dirty="0"/>
                    </a:p>
                  </a:txBody>
                  <a:tcPr/>
                </a:tc>
                <a:extLst>
                  <a:ext uri="{0D108BD9-81ED-4DB2-BD59-A6C34878D82A}">
                    <a16:rowId xmlns:a16="http://schemas.microsoft.com/office/drawing/2014/main" val="3745061632"/>
                  </a:ext>
                </a:extLst>
              </a:tr>
              <a:tr h="619863">
                <a:tc>
                  <a:txBody>
                    <a:bodyPr/>
                    <a:lstStyle/>
                    <a:p>
                      <a:endParaRPr lang="en-SG" dirty="0"/>
                    </a:p>
                  </a:txBody>
                  <a:tcPr/>
                </a:tc>
                <a:extLst>
                  <a:ext uri="{0D108BD9-81ED-4DB2-BD59-A6C34878D82A}">
                    <a16:rowId xmlns:a16="http://schemas.microsoft.com/office/drawing/2014/main" val="4282705285"/>
                  </a:ext>
                </a:extLst>
              </a:tr>
            </a:tbl>
          </a:graphicData>
        </a:graphic>
      </p:graphicFrame>
      <p:sp>
        <p:nvSpPr>
          <p:cNvPr id="2" name="Title 1">
            <a:extLst>
              <a:ext uri="{FF2B5EF4-FFF2-40B4-BE49-F238E27FC236}">
                <a16:creationId xmlns:a16="http://schemas.microsoft.com/office/drawing/2014/main" id="{6548B79E-5036-3033-2D82-3F395E8A4481}"/>
              </a:ext>
            </a:extLst>
          </p:cNvPr>
          <p:cNvSpPr>
            <a:spLocks noGrp="1"/>
          </p:cNvSpPr>
          <p:nvPr>
            <p:ph type="title"/>
          </p:nvPr>
        </p:nvSpPr>
        <p:spPr/>
        <p:txBody>
          <a:bodyPr/>
          <a:lstStyle/>
          <a:p>
            <a:r>
              <a:rPr lang="en-US" dirty="0"/>
              <a:t>Tasks completed (19 Feb) </a:t>
            </a:r>
            <a:endParaRPr lang="en-SG" dirty="0"/>
          </a:p>
        </p:txBody>
      </p:sp>
      <p:sp>
        <p:nvSpPr>
          <p:cNvPr id="3" name="Content Placeholder 2">
            <a:extLst>
              <a:ext uri="{FF2B5EF4-FFF2-40B4-BE49-F238E27FC236}">
                <a16:creationId xmlns:a16="http://schemas.microsoft.com/office/drawing/2014/main" id="{C0CAF108-E434-B580-4B4D-495AF82E0746}"/>
              </a:ext>
            </a:extLst>
          </p:cNvPr>
          <p:cNvSpPr>
            <a:spLocks noGrp="1"/>
          </p:cNvSpPr>
          <p:nvPr>
            <p:ph idx="1"/>
          </p:nvPr>
        </p:nvSpPr>
        <p:spPr>
          <a:xfrm>
            <a:off x="1097280" y="1845734"/>
            <a:ext cx="6494145" cy="4351866"/>
          </a:xfrm>
        </p:spPr>
        <p:txBody>
          <a:bodyPr>
            <a:normAutofit/>
          </a:bodyPr>
          <a:lstStyle/>
          <a:p>
            <a:pPr>
              <a:buFont typeface="Arial" panose="020B0604020202020204" pitchFamily="34" charset="0"/>
              <a:buChar char="•"/>
            </a:pPr>
            <a:r>
              <a:rPr lang="en-US" dirty="0"/>
              <a:t>Checking on discrepancy of fiducial cut </a:t>
            </a:r>
          </a:p>
          <a:p>
            <a:pPr>
              <a:buFont typeface="Arial" panose="020B0604020202020204" pitchFamily="34" charset="0"/>
              <a:buChar char="•"/>
            </a:pPr>
            <a:r>
              <a:rPr lang="en-US" dirty="0"/>
              <a:t>Reco-to-truth matching and vice versa for photons, electrons, muons, </a:t>
            </a:r>
            <a:r>
              <a:rPr lang="en-US" dirty="0" err="1"/>
              <a:t>pions</a:t>
            </a:r>
            <a:r>
              <a:rPr lang="en-US" dirty="0"/>
              <a:t>, and protons after preselection</a:t>
            </a:r>
          </a:p>
          <a:p>
            <a:pPr>
              <a:buFont typeface="Arial" panose="020B0604020202020204" pitchFamily="34" charset="0"/>
              <a:buChar char="•"/>
            </a:pPr>
            <a:r>
              <a:rPr lang="en-US" dirty="0"/>
              <a:t>Plotting variables for 2-shower-selection</a:t>
            </a:r>
            <a:endParaRPr lang="en-SG" dirty="0"/>
          </a:p>
        </p:txBody>
      </p:sp>
      <p:graphicFrame>
        <p:nvGraphicFramePr>
          <p:cNvPr id="6" name="Object 5">
            <a:extLst>
              <a:ext uri="{FF2B5EF4-FFF2-40B4-BE49-F238E27FC236}">
                <a16:creationId xmlns:a16="http://schemas.microsoft.com/office/drawing/2014/main" id="{690D7911-666F-6B2D-4494-5F2EFCF321BC}"/>
              </a:ext>
            </a:extLst>
          </p:cNvPr>
          <p:cNvGraphicFramePr>
            <a:graphicFrameLocks noChangeAspect="1"/>
          </p:cNvGraphicFramePr>
          <p:nvPr>
            <p:extLst>
              <p:ext uri="{D42A27DB-BD31-4B8C-83A1-F6EECF244321}">
                <p14:modId xmlns:p14="http://schemas.microsoft.com/office/powerpoint/2010/main" val="1759367804"/>
              </p:ext>
            </p:extLst>
          </p:nvPr>
        </p:nvGraphicFramePr>
        <p:xfrm>
          <a:off x="8324632" y="2710775"/>
          <a:ext cx="3400425" cy="514350"/>
        </p:xfrm>
        <a:graphic>
          <a:graphicData uri="http://schemas.openxmlformats.org/presentationml/2006/ole">
            <mc:AlternateContent xmlns:mc="http://schemas.openxmlformats.org/markup-compatibility/2006">
              <mc:Choice xmlns:v="urn:schemas-microsoft-com:vml" Requires="v">
                <p:oleObj name="Packager Shell Object" showAsIcon="1" r:id="rId3" imgW="3400406" imgH="514350" progId="Package">
                  <p:embed/>
                </p:oleObj>
              </mc:Choice>
              <mc:Fallback>
                <p:oleObj name="Packager Shell Object" showAsIcon="1" r:id="rId3" imgW="3400406" imgH="514350" progId="Package">
                  <p:embed/>
                  <p:pic>
                    <p:nvPicPr>
                      <p:cNvPr id="0" name=""/>
                      <p:cNvPicPr/>
                      <p:nvPr/>
                    </p:nvPicPr>
                    <p:blipFill>
                      <a:blip r:embed="rId4"/>
                      <a:stretch>
                        <a:fillRect/>
                      </a:stretch>
                    </p:blipFill>
                    <p:spPr>
                      <a:xfrm>
                        <a:off x="8324632" y="2710775"/>
                        <a:ext cx="3400425" cy="51435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10F1754C-30B9-87F6-82B0-A1837E2AA788}"/>
              </a:ext>
            </a:extLst>
          </p:cNvPr>
          <p:cNvGraphicFramePr>
            <a:graphicFrameLocks noChangeAspect="1"/>
          </p:cNvGraphicFramePr>
          <p:nvPr>
            <p:extLst>
              <p:ext uri="{D42A27DB-BD31-4B8C-83A1-F6EECF244321}">
                <p14:modId xmlns:p14="http://schemas.microsoft.com/office/powerpoint/2010/main" val="999337088"/>
              </p:ext>
            </p:extLst>
          </p:nvPr>
        </p:nvGraphicFramePr>
        <p:xfrm>
          <a:off x="8305583" y="3354002"/>
          <a:ext cx="3438525" cy="514350"/>
        </p:xfrm>
        <a:graphic>
          <a:graphicData uri="http://schemas.openxmlformats.org/presentationml/2006/ole">
            <mc:AlternateContent xmlns:mc="http://schemas.openxmlformats.org/markup-compatibility/2006">
              <mc:Choice xmlns:v="urn:schemas-microsoft-com:vml" Requires="v">
                <p:oleObj name="Packager Shell Object" showAsIcon="1" r:id="rId5" imgW="3438633" imgH="514350" progId="Package">
                  <p:embed/>
                </p:oleObj>
              </mc:Choice>
              <mc:Fallback>
                <p:oleObj name="Packager Shell Object" showAsIcon="1" r:id="rId5" imgW="3438633" imgH="514350" progId="Package">
                  <p:embed/>
                  <p:pic>
                    <p:nvPicPr>
                      <p:cNvPr id="0" name=""/>
                      <p:cNvPicPr/>
                      <p:nvPr/>
                    </p:nvPicPr>
                    <p:blipFill>
                      <a:blip r:embed="rId6"/>
                      <a:stretch>
                        <a:fillRect/>
                      </a:stretch>
                    </p:blipFill>
                    <p:spPr>
                      <a:xfrm>
                        <a:off x="8305583" y="3354002"/>
                        <a:ext cx="3438525" cy="514350"/>
                      </a:xfrm>
                      <a:prstGeom prst="rect">
                        <a:avLst/>
                      </a:prstGeom>
                    </p:spPr>
                  </p:pic>
                </p:oleObj>
              </mc:Fallback>
            </mc:AlternateContent>
          </a:graphicData>
        </a:graphic>
      </p:graphicFrame>
    </p:spTree>
    <p:extLst>
      <p:ext uri="{BB962C8B-B14F-4D97-AF65-F5344CB8AC3E}">
        <p14:creationId xmlns:p14="http://schemas.microsoft.com/office/powerpoint/2010/main" val="955275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E69DE-B1FB-C30B-3529-8C2537A90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902B1-A984-1DC6-0C33-EE4B868953D6}"/>
              </a:ext>
            </a:extLst>
          </p:cNvPr>
          <p:cNvSpPr>
            <a:spLocks noGrp="1"/>
          </p:cNvSpPr>
          <p:nvPr>
            <p:ph type="title"/>
          </p:nvPr>
        </p:nvSpPr>
        <p:spPr/>
        <p:txBody>
          <a:bodyPr/>
          <a:lstStyle/>
          <a:p>
            <a:r>
              <a:rPr lang="en-US" dirty="0"/>
              <a:t>Mistake</a:t>
            </a:r>
            <a:endParaRPr lang="en-SG" dirty="0"/>
          </a:p>
        </p:txBody>
      </p:sp>
      <p:sp>
        <p:nvSpPr>
          <p:cNvPr id="15" name="TextBox 14">
            <a:extLst>
              <a:ext uri="{FF2B5EF4-FFF2-40B4-BE49-F238E27FC236}">
                <a16:creationId xmlns:a16="http://schemas.microsoft.com/office/drawing/2014/main" id="{8680B136-CB39-EB27-A651-9DF5CBF3AB0C}"/>
              </a:ext>
            </a:extLst>
          </p:cNvPr>
          <p:cNvSpPr txBox="1"/>
          <p:nvPr/>
        </p:nvSpPr>
        <p:spPr>
          <a:xfrm>
            <a:off x="1097280" y="1870839"/>
            <a:ext cx="5802284" cy="2585323"/>
          </a:xfrm>
          <a:prstGeom prst="rect">
            <a:avLst/>
          </a:prstGeom>
          <a:noFill/>
        </p:spPr>
        <p:txBody>
          <a:bodyPr wrap="square">
            <a:spAutoFit/>
          </a:bodyPr>
          <a:lstStyle/>
          <a:p>
            <a:pPr marL="285750" indent="-285750">
              <a:buFont typeface="Arial" panose="020B0604020202020204" pitchFamily="34" charset="0"/>
              <a:buChar char="•"/>
            </a:pPr>
            <a:r>
              <a:rPr lang="en-US" dirty="0"/>
              <a:t>Previously presented pre-selection values as number of particles, but it was actually number of interactions</a:t>
            </a:r>
          </a:p>
          <a:p>
            <a:pPr marL="285750" indent="-285750">
              <a:buFont typeface="Arial" panose="020B0604020202020204" pitchFamily="34" charset="0"/>
              <a:buChar char="•"/>
            </a:pPr>
            <a:r>
              <a:rPr lang="en-US" dirty="0"/>
              <a:t>Variables where values were obtained from last week are interaction-level, so the values correspond to number of interactions.</a:t>
            </a:r>
          </a:p>
          <a:p>
            <a:pPr marL="285750" indent="-285750">
              <a:buFont typeface="Arial" panose="020B0604020202020204" pitchFamily="34" charset="0"/>
              <a:buChar char="•"/>
            </a:pPr>
            <a:r>
              <a:rPr lang="en-US" dirty="0"/>
              <a:t>Cuts applied where also at the interaction-level. </a:t>
            </a:r>
          </a:p>
          <a:p>
            <a:pPr marL="285750" indent="-285750">
              <a:buFont typeface="Arial" panose="020B0604020202020204" pitchFamily="34" charset="0"/>
              <a:buChar char="•"/>
            </a:pPr>
            <a:r>
              <a:rPr lang="en-US" dirty="0"/>
              <a:t>Fiducial cut and </a:t>
            </a:r>
            <a:r>
              <a:rPr lang="en-US" dirty="0" err="1"/>
              <a:t>valid_flashmatch</a:t>
            </a:r>
            <a:r>
              <a:rPr lang="en-US" dirty="0"/>
              <a:t> cut has no particle-level type, therefore I am unable to plot the number of particles passing the cut, only number of interactions </a:t>
            </a:r>
          </a:p>
        </p:txBody>
      </p:sp>
      <p:pic>
        <p:nvPicPr>
          <p:cNvPr id="3" name="Picture 2">
            <a:extLst>
              <a:ext uri="{FF2B5EF4-FFF2-40B4-BE49-F238E27FC236}">
                <a16:creationId xmlns:a16="http://schemas.microsoft.com/office/drawing/2014/main" id="{FDD5DC38-A5AA-C526-1578-6FF47609422D}"/>
              </a:ext>
            </a:extLst>
          </p:cNvPr>
          <p:cNvPicPr>
            <a:picLocks noChangeAspect="1"/>
          </p:cNvPicPr>
          <p:nvPr/>
        </p:nvPicPr>
        <p:blipFill>
          <a:blip r:embed="rId2"/>
          <a:stretch>
            <a:fillRect/>
          </a:stretch>
        </p:blipFill>
        <p:spPr>
          <a:xfrm>
            <a:off x="7484225" y="3910348"/>
            <a:ext cx="3858029" cy="1910234"/>
          </a:xfrm>
          <a:prstGeom prst="rect">
            <a:avLst/>
          </a:prstGeom>
        </p:spPr>
      </p:pic>
      <p:pic>
        <p:nvPicPr>
          <p:cNvPr id="4" name="Picture 3">
            <a:extLst>
              <a:ext uri="{FF2B5EF4-FFF2-40B4-BE49-F238E27FC236}">
                <a16:creationId xmlns:a16="http://schemas.microsoft.com/office/drawing/2014/main" id="{8275350C-8D2B-CA18-34F2-83AEB901EAD2}"/>
              </a:ext>
            </a:extLst>
          </p:cNvPr>
          <p:cNvPicPr>
            <a:picLocks noChangeAspect="1"/>
          </p:cNvPicPr>
          <p:nvPr/>
        </p:nvPicPr>
        <p:blipFill>
          <a:blip r:embed="rId3"/>
          <a:stretch>
            <a:fillRect/>
          </a:stretch>
        </p:blipFill>
        <p:spPr>
          <a:xfrm>
            <a:off x="7538078" y="2153477"/>
            <a:ext cx="2566503" cy="1453390"/>
          </a:xfrm>
          <a:prstGeom prst="rect">
            <a:avLst/>
          </a:prstGeom>
        </p:spPr>
      </p:pic>
    </p:spTree>
    <p:extLst>
      <p:ext uri="{BB962C8B-B14F-4D97-AF65-F5344CB8AC3E}">
        <p14:creationId xmlns:p14="http://schemas.microsoft.com/office/powerpoint/2010/main" val="566958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C219A-3A58-3D84-EDEA-476EC6940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A61B7-CD1C-5C4D-2C5F-51FA874EEEEA}"/>
              </a:ext>
            </a:extLst>
          </p:cNvPr>
          <p:cNvSpPr>
            <a:spLocks noGrp="1"/>
          </p:cNvSpPr>
          <p:nvPr>
            <p:ph type="title"/>
          </p:nvPr>
        </p:nvSpPr>
        <p:spPr/>
        <p:txBody>
          <a:bodyPr/>
          <a:lstStyle/>
          <a:p>
            <a:r>
              <a:rPr lang="en-US" dirty="0"/>
              <a:t>Discrepancy in fiducial cut</a:t>
            </a:r>
            <a:endParaRPr lang="en-SG" dirty="0"/>
          </a:p>
        </p:txBody>
      </p:sp>
      <p:sp>
        <p:nvSpPr>
          <p:cNvPr id="15" name="TextBox 14">
            <a:extLst>
              <a:ext uri="{FF2B5EF4-FFF2-40B4-BE49-F238E27FC236}">
                <a16:creationId xmlns:a16="http://schemas.microsoft.com/office/drawing/2014/main" id="{B6B387B5-5399-ECFE-1B06-1996434D1850}"/>
              </a:ext>
            </a:extLst>
          </p:cNvPr>
          <p:cNvSpPr txBox="1"/>
          <p:nvPr/>
        </p:nvSpPr>
        <p:spPr>
          <a:xfrm>
            <a:off x="1097280" y="1870839"/>
            <a:ext cx="5802284" cy="5078313"/>
          </a:xfrm>
          <a:prstGeom prst="rect">
            <a:avLst/>
          </a:prstGeom>
          <a:noFill/>
        </p:spPr>
        <p:txBody>
          <a:bodyPr wrap="square">
            <a:spAutoFit/>
          </a:bodyPr>
          <a:lstStyle/>
          <a:p>
            <a:r>
              <a:rPr lang="en-US" b="1" u="sng" dirty="0"/>
              <a:t>The problem</a:t>
            </a:r>
            <a:br>
              <a:rPr lang="en-US" b="1" u="sng" dirty="0"/>
            </a:br>
            <a:endParaRPr lang="en-US" b="1" u="sng" dirty="0"/>
          </a:p>
          <a:p>
            <a:pPr marL="285750" indent="-285750">
              <a:buFont typeface="Arial" panose="020B0604020202020204" pitchFamily="34" charset="0"/>
              <a:buChar char="•"/>
            </a:pPr>
            <a:r>
              <a:rPr lang="en-US" dirty="0"/>
              <a:t>Previously there was a discrepancy found between percentage of </a:t>
            </a:r>
            <a:r>
              <a:rPr lang="en-US" dirty="0" err="1"/>
              <a:t>reco</a:t>
            </a:r>
            <a:r>
              <a:rPr lang="en-US" dirty="0"/>
              <a:t> interactions passing the fiducial cut vs number of true interactions </a:t>
            </a:r>
          </a:p>
          <a:p>
            <a:pPr marL="285750" indent="-285750">
              <a:buFont typeface="Arial" panose="020B0604020202020204" pitchFamily="34" charset="0"/>
              <a:buChar char="•"/>
            </a:pPr>
            <a:r>
              <a:rPr lang="en-US" dirty="0"/>
              <a:t>Justin Mueller suggested discrepancy is due to out-of-time </a:t>
            </a:r>
            <a:r>
              <a:rPr lang="en-US" dirty="0" err="1"/>
              <a:t>cosmics</a:t>
            </a:r>
            <a:r>
              <a:rPr lang="en-US" dirty="0"/>
              <a:t> wrongly reconstructed</a:t>
            </a:r>
            <a:br>
              <a:rPr lang="en-US" dirty="0"/>
            </a:br>
            <a:endParaRPr lang="en-US" dirty="0"/>
          </a:p>
          <a:p>
            <a:r>
              <a:rPr lang="en-US" b="1" u="sng" dirty="0"/>
              <a:t>Testing the hypothesis</a:t>
            </a:r>
            <a:br>
              <a:rPr lang="en-US" b="1" u="sng" dirty="0"/>
            </a:br>
            <a:endParaRPr lang="en-US" dirty="0"/>
          </a:p>
          <a:p>
            <a:pPr marL="285750" indent="-285750">
              <a:buFont typeface="Arial" panose="020B0604020202020204" pitchFamily="34" charset="0"/>
              <a:buChar char="•"/>
            </a:pPr>
            <a:r>
              <a:rPr lang="en-US" dirty="0"/>
              <a:t>Creating a selection in </a:t>
            </a:r>
            <a:r>
              <a:rPr lang="en-US" dirty="0" err="1"/>
              <a:t>reco</a:t>
            </a:r>
            <a:r>
              <a:rPr lang="en-US" dirty="0"/>
              <a:t> and true mode with a true neutrino only cut</a:t>
            </a:r>
          </a:p>
          <a:p>
            <a:pPr marL="285750" indent="-285750">
              <a:buFont typeface="Arial" panose="020B0604020202020204" pitchFamily="34" charset="0"/>
              <a:buChar char="•"/>
            </a:pPr>
            <a:r>
              <a:rPr lang="en-US" dirty="0"/>
              <a:t>Plotting the fiducial cut as a variable </a:t>
            </a:r>
          </a:p>
          <a:p>
            <a:pPr marL="285750" indent="-285750">
              <a:buFont typeface="Arial" panose="020B0604020202020204" pitchFamily="34" charset="0"/>
              <a:buChar char="•"/>
            </a:pPr>
            <a:r>
              <a:rPr lang="en-US" dirty="0"/>
              <a:t>Observing the difference in percentage of interactions passing fiducial cut in selection with no cuts vs selection with neutrino cut</a:t>
            </a:r>
          </a:p>
          <a:p>
            <a:pPr marL="285750" indent="-285750">
              <a:buFont typeface="Arial" panose="020B0604020202020204" pitchFamily="34" charset="0"/>
              <a:buChar char="•"/>
            </a:pPr>
            <a:endParaRPr lang="en-US" dirty="0"/>
          </a:p>
          <a:p>
            <a:endParaRPr lang="en-US" dirty="0"/>
          </a:p>
        </p:txBody>
      </p:sp>
      <p:pic>
        <p:nvPicPr>
          <p:cNvPr id="6" name="Picture 5">
            <a:extLst>
              <a:ext uri="{FF2B5EF4-FFF2-40B4-BE49-F238E27FC236}">
                <a16:creationId xmlns:a16="http://schemas.microsoft.com/office/drawing/2014/main" id="{79F85BD1-DD07-3BD8-E0CA-B22CB24751C6}"/>
              </a:ext>
            </a:extLst>
          </p:cNvPr>
          <p:cNvPicPr>
            <a:picLocks noChangeAspect="1"/>
          </p:cNvPicPr>
          <p:nvPr/>
        </p:nvPicPr>
        <p:blipFill>
          <a:blip r:embed="rId2"/>
          <a:stretch>
            <a:fillRect/>
          </a:stretch>
        </p:blipFill>
        <p:spPr>
          <a:xfrm>
            <a:off x="9154475" y="2011542"/>
            <a:ext cx="2992755" cy="1897010"/>
          </a:xfrm>
          <a:prstGeom prst="rect">
            <a:avLst/>
          </a:prstGeom>
        </p:spPr>
      </p:pic>
      <p:pic>
        <p:nvPicPr>
          <p:cNvPr id="8" name="Picture 7">
            <a:extLst>
              <a:ext uri="{FF2B5EF4-FFF2-40B4-BE49-F238E27FC236}">
                <a16:creationId xmlns:a16="http://schemas.microsoft.com/office/drawing/2014/main" id="{E046A70B-ADB3-0868-6FFF-B81EC5FC2A6B}"/>
              </a:ext>
            </a:extLst>
          </p:cNvPr>
          <p:cNvPicPr>
            <a:picLocks noChangeAspect="1"/>
          </p:cNvPicPr>
          <p:nvPr/>
        </p:nvPicPr>
        <p:blipFill>
          <a:blip r:embed="rId3"/>
          <a:stretch>
            <a:fillRect/>
          </a:stretch>
        </p:blipFill>
        <p:spPr>
          <a:xfrm>
            <a:off x="7705724" y="4366256"/>
            <a:ext cx="2992755" cy="1863670"/>
          </a:xfrm>
          <a:prstGeom prst="rect">
            <a:avLst/>
          </a:prstGeom>
        </p:spPr>
      </p:pic>
      <p:sp>
        <p:nvSpPr>
          <p:cNvPr id="9" name="TextBox 8">
            <a:extLst>
              <a:ext uri="{FF2B5EF4-FFF2-40B4-BE49-F238E27FC236}">
                <a16:creationId xmlns:a16="http://schemas.microsoft.com/office/drawing/2014/main" id="{64E785C6-C2FB-015F-25BF-21B52BBCC0F4}"/>
              </a:ext>
            </a:extLst>
          </p:cNvPr>
          <p:cNvSpPr txBox="1"/>
          <p:nvPr/>
        </p:nvSpPr>
        <p:spPr>
          <a:xfrm>
            <a:off x="9154475" y="1740034"/>
            <a:ext cx="2992755" cy="261610"/>
          </a:xfrm>
          <a:prstGeom prst="rect">
            <a:avLst/>
          </a:prstGeom>
          <a:noFill/>
        </p:spPr>
        <p:txBody>
          <a:bodyPr wrap="square" rtlCol="0">
            <a:spAutoFit/>
          </a:bodyPr>
          <a:lstStyle/>
          <a:p>
            <a:r>
              <a:rPr lang="en-US" sz="1100" dirty="0"/>
              <a:t>Selection with no cut, containing the discrepancy </a:t>
            </a:r>
            <a:endParaRPr lang="en-SG" sz="1100" dirty="0"/>
          </a:p>
        </p:txBody>
      </p:sp>
      <p:sp>
        <p:nvSpPr>
          <p:cNvPr id="10" name="TextBox 9">
            <a:extLst>
              <a:ext uri="{FF2B5EF4-FFF2-40B4-BE49-F238E27FC236}">
                <a16:creationId xmlns:a16="http://schemas.microsoft.com/office/drawing/2014/main" id="{4CAE5DC7-7945-1CF0-0288-78FC49BC1EDF}"/>
              </a:ext>
            </a:extLst>
          </p:cNvPr>
          <p:cNvSpPr txBox="1"/>
          <p:nvPr/>
        </p:nvSpPr>
        <p:spPr>
          <a:xfrm>
            <a:off x="7658098" y="3963944"/>
            <a:ext cx="2992755" cy="430887"/>
          </a:xfrm>
          <a:prstGeom prst="rect">
            <a:avLst/>
          </a:prstGeom>
          <a:noFill/>
        </p:spPr>
        <p:txBody>
          <a:bodyPr wrap="square" rtlCol="0">
            <a:spAutoFit/>
          </a:bodyPr>
          <a:lstStyle/>
          <a:p>
            <a:r>
              <a:rPr lang="en-US" sz="1100" dirty="0"/>
              <a:t>Selection with neutrino cut, discrepancy should significantly reduce if hypothesis is true</a:t>
            </a:r>
            <a:endParaRPr lang="en-SG" sz="1100" dirty="0"/>
          </a:p>
        </p:txBody>
      </p:sp>
    </p:spTree>
    <p:extLst>
      <p:ext uri="{BB962C8B-B14F-4D97-AF65-F5344CB8AC3E}">
        <p14:creationId xmlns:p14="http://schemas.microsoft.com/office/powerpoint/2010/main" val="2560469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B600D-1D0B-1849-DE85-43D491D01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6BFB8-8C93-F696-1130-A6709CC70C73}"/>
              </a:ext>
            </a:extLst>
          </p:cNvPr>
          <p:cNvSpPr>
            <a:spLocks noGrp="1"/>
          </p:cNvSpPr>
          <p:nvPr>
            <p:ph type="title"/>
          </p:nvPr>
        </p:nvSpPr>
        <p:spPr/>
        <p:txBody>
          <a:bodyPr/>
          <a:lstStyle/>
          <a:p>
            <a:r>
              <a:rPr lang="en-US" dirty="0"/>
              <a:t>Preselection total efficiency</a:t>
            </a:r>
            <a:endParaRPr lang="en-SG" b="1" dirty="0"/>
          </a:p>
        </p:txBody>
      </p:sp>
      <p:graphicFrame>
        <p:nvGraphicFramePr>
          <p:cNvPr id="15" name="Table 14">
            <a:extLst>
              <a:ext uri="{FF2B5EF4-FFF2-40B4-BE49-F238E27FC236}">
                <a16:creationId xmlns:a16="http://schemas.microsoft.com/office/drawing/2014/main" id="{5D038EF8-3E6F-C24E-183D-F3821E9935F1}"/>
              </a:ext>
            </a:extLst>
          </p:cNvPr>
          <p:cNvGraphicFramePr>
            <a:graphicFrameLocks noGrp="1"/>
          </p:cNvGraphicFramePr>
          <p:nvPr>
            <p:extLst>
              <p:ext uri="{D42A27DB-BD31-4B8C-83A1-F6EECF244321}">
                <p14:modId xmlns:p14="http://schemas.microsoft.com/office/powerpoint/2010/main" val="3808015742"/>
              </p:ext>
            </p:extLst>
          </p:nvPr>
        </p:nvGraphicFramePr>
        <p:xfrm>
          <a:off x="217974" y="2240376"/>
          <a:ext cx="5678002" cy="3901440"/>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Percentage over tot no. of interactions</a:t>
                      </a:r>
                      <a:endParaRPr lang="en-SG" sz="1400" dirty="0"/>
                    </a:p>
                  </a:txBody>
                  <a:tcPr/>
                </a:tc>
                <a:tc>
                  <a:txBody>
                    <a:bodyPr/>
                    <a:lstStyle/>
                    <a:p>
                      <a:r>
                        <a:rPr lang="en-US" sz="1400" dirty="0"/>
                        <a:t>Discrepancy</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pnfs</a:t>
                      </a:r>
                      <a:r>
                        <a:rPr lang="en-SG" sz="1200" kern="1200" dirty="0">
                          <a:solidFill>
                            <a:schemeClr val="dk1"/>
                          </a:solidFill>
                          <a:effectLst/>
                          <a:latin typeface="+mn-lt"/>
                          <a:ea typeface="+mn-ea"/>
                          <a:cs typeface="+mn-cs"/>
                        </a:rPr>
                        <a:t>/</a:t>
                      </a:r>
                      <a:r>
                        <a:rPr lang="en-SG" sz="1200" kern="1200" dirty="0" err="1">
                          <a:solidFill>
                            <a:schemeClr val="dk1"/>
                          </a:solidFill>
                          <a:effectLst/>
                          <a:latin typeface="+mn-lt"/>
                          <a:ea typeface="+mn-ea"/>
                          <a:cs typeface="+mn-cs"/>
                        </a:rPr>
                        <a:t>icarus</a:t>
                      </a:r>
                      <a:r>
                        <a:rPr lang="en-SG" sz="1200" kern="1200" dirty="0">
                          <a:solidFill>
                            <a:schemeClr val="dk1"/>
                          </a:solidFill>
                          <a:effectLst/>
                          <a:latin typeface="+mn-lt"/>
                          <a:ea typeface="+mn-ea"/>
                          <a:cs typeface="+mn-cs"/>
                        </a:rPr>
                        <a:t>/persistent/users/</a:t>
                      </a:r>
                      <a:r>
                        <a:rPr lang="en-SG" sz="1200" kern="1200" dirty="0" err="1">
                          <a:solidFill>
                            <a:schemeClr val="dk1"/>
                          </a:solidFill>
                          <a:effectLst/>
                          <a:latin typeface="+mn-lt"/>
                          <a:ea typeface="+mn-ea"/>
                          <a:cs typeface="+mn-cs"/>
                        </a:rPr>
                        <a:t>dcarber</a:t>
                      </a:r>
                      <a:r>
                        <a:rPr lang="en-SG" sz="1200" kern="1200" dirty="0">
                          <a:solidFill>
                            <a:schemeClr val="dk1"/>
                          </a:solidFill>
                          <a:effectLst/>
                          <a:latin typeface="+mn-lt"/>
                          <a:ea typeface="+mn-ea"/>
                          <a:cs typeface="+mn-cs"/>
                        </a:rPr>
                        <a:t>/spine/</a:t>
                      </a:r>
                      <a:r>
                        <a:rPr lang="en-SG" sz="1200" kern="1200" dirty="0" err="1">
                          <a:solidFill>
                            <a:schemeClr val="dk1"/>
                          </a:solidFill>
                          <a:effectLst/>
                          <a:latin typeface="+mn-lt"/>
                          <a:ea typeface="+mn-ea"/>
                          <a:cs typeface="+mn-cs"/>
                        </a:rPr>
                        <a:t>combined_files</a:t>
                      </a:r>
                      <a:r>
                        <a:rPr lang="en-SG" sz="1200" kern="1200" dirty="0">
                          <a:solidFill>
                            <a:schemeClr val="dk1"/>
                          </a:solidFill>
                          <a:effectLst/>
                          <a:latin typeface="+mn-lt"/>
                          <a:ea typeface="+mn-ea"/>
                          <a:cs typeface="+mn-cs"/>
                        </a:rPr>
                        <a:t>/NuMI_CV_flat_cafs_2/*.root</a:t>
                      </a:r>
                    </a:p>
                  </a:txBody>
                  <a:tcPr/>
                </a:tc>
                <a:tc hMerge="1">
                  <a:txBody>
                    <a:bodyPr/>
                    <a:lstStyle/>
                    <a:p>
                      <a:endParaRPr lang="en-SG" sz="1400" dirty="0"/>
                    </a:p>
                  </a:txBody>
                  <a:tcPr/>
                </a:tc>
                <a:extLst>
                  <a:ext uri="{0D108BD9-81ED-4DB2-BD59-A6C34878D82A}">
                    <a16:rowId xmlns:a16="http://schemas.microsoft.com/office/drawing/2014/main" val="1405745668"/>
                  </a:ext>
                </a:extLst>
              </a:tr>
              <a:tr h="454792">
                <a:tc>
                  <a:txBody>
                    <a:bodyPr/>
                    <a:lstStyle/>
                    <a:p>
                      <a:r>
                        <a:rPr lang="en-US" sz="1400" b="1" dirty="0"/>
                        <a:t>RECO</a:t>
                      </a:r>
                      <a:r>
                        <a:rPr lang="en-US" sz="1400" dirty="0"/>
                        <a:t> interactions passing fiducial cut </a:t>
                      </a:r>
                      <a:r>
                        <a:rPr lang="en-US" sz="1400" b="1" dirty="0"/>
                        <a:t>(NO CUTS)</a:t>
                      </a:r>
                      <a:endParaRPr lang="en-SG" sz="1400" b="1" dirty="0"/>
                    </a:p>
                  </a:txBody>
                  <a:tcPr/>
                </a:tc>
                <a:tc>
                  <a:txBody>
                    <a:bodyPr/>
                    <a:lstStyle/>
                    <a:p>
                      <a:r>
                        <a:rPr lang="en-US" sz="1400" dirty="0"/>
                        <a:t>36.5%</a:t>
                      </a:r>
                      <a:endParaRPr lang="en-SG" sz="1400" dirty="0"/>
                    </a:p>
                  </a:txBody>
                  <a:tcPr/>
                </a:tc>
                <a:tc rowSpan="2">
                  <a:txBody>
                    <a:bodyPr/>
                    <a:lstStyle/>
                    <a:p>
                      <a:pPr algn="ctr"/>
                      <a:r>
                        <a:rPr lang="en-US" sz="1400" dirty="0"/>
                        <a:t>35.4%</a:t>
                      </a:r>
                      <a:endParaRPr lang="en-SG" sz="1400" dirty="0"/>
                    </a:p>
                  </a:txBody>
                  <a:tcPr anchor="ct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1.1%</a:t>
                      </a:r>
                      <a:endParaRPr lang="en-SG" sz="1400" dirty="0"/>
                    </a:p>
                    <a:p>
                      <a:endParaRPr lang="en-SG" sz="1400" dirty="0"/>
                    </a:p>
                  </a:txBody>
                  <a:tcPr/>
                </a:tc>
                <a:tc vMerge="1">
                  <a:txBody>
                    <a:bodyPr/>
                    <a:lstStyle/>
                    <a:p>
                      <a:endParaRPr lang="en-SG" sz="1400" dirty="0"/>
                    </a:p>
                  </a:txBody>
                  <a:tcPr/>
                </a:tc>
                <a:extLst>
                  <a:ext uri="{0D108BD9-81ED-4DB2-BD59-A6C34878D82A}">
                    <a16:rowId xmlns:a16="http://schemas.microsoft.com/office/drawing/2014/main" val="1699651322"/>
                  </a:ext>
                </a:extLst>
              </a:tr>
              <a:tr h="454792">
                <a:tc>
                  <a:txBody>
                    <a:bodyPr/>
                    <a:lstStyle/>
                    <a:p>
                      <a:r>
                        <a:rPr lang="en-US" sz="1400" b="1" dirty="0"/>
                        <a:t>RECO</a:t>
                      </a:r>
                      <a:r>
                        <a:rPr lang="en-US" sz="1400" dirty="0"/>
                        <a:t> interactions passing fiducial cut </a:t>
                      </a:r>
                      <a:r>
                        <a:rPr lang="en-US" sz="1400" b="1" dirty="0"/>
                        <a:t>(NEUTRINO CUT APPLIED)</a:t>
                      </a:r>
                      <a:endParaRPr lang="en-SG" sz="1400" b="1" dirty="0"/>
                    </a:p>
                  </a:txBody>
                  <a:tcPr/>
                </a:tc>
                <a:tc>
                  <a:txBody>
                    <a:bodyPr/>
                    <a:lstStyle/>
                    <a:p>
                      <a:r>
                        <a:rPr lang="en-US" sz="1400" dirty="0"/>
                        <a:t>53.7%</a:t>
                      </a:r>
                      <a:endParaRPr lang="en-SG" sz="1400" dirty="0"/>
                    </a:p>
                  </a:txBody>
                  <a:tcPr/>
                </a:tc>
                <a:tc rowSpan="2">
                  <a:txBody>
                    <a:bodyPr/>
                    <a:lstStyle/>
                    <a:p>
                      <a:pPr algn="ctr"/>
                      <a:r>
                        <a:rPr lang="en-US" sz="1400" dirty="0"/>
                        <a:t>9.6%</a:t>
                      </a:r>
                      <a:endParaRPr lang="en-SG" sz="1400" dirty="0"/>
                    </a:p>
                  </a:txBody>
                  <a:tcPr anchor="ctr"/>
                </a:tc>
                <a:extLst>
                  <a:ext uri="{0D108BD9-81ED-4DB2-BD59-A6C34878D82A}">
                    <a16:rowId xmlns:a16="http://schemas.microsoft.com/office/drawing/2014/main" val="2250954633"/>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(NEUTRINO CUT APPLIED)</a:t>
                      </a:r>
                      <a:endParaRPr lang="en-SG" sz="1400" b="1" dirty="0"/>
                    </a:p>
                  </a:txBody>
                  <a:tcPr/>
                </a:tc>
                <a:tc>
                  <a:txBody>
                    <a:bodyPr/>
                    <a:lstStyle/>
                    <a:p>
                      <a:r>
                        <a:rPr lang="en-US" sz="1400" dirty="0"/>
                        <a:t>44.1%</a:t>
                      </a:r>
                      <a:endParaRPr lang="en-SG" sz="1400" dirty="0"/>
                    </a:p>
                  </a:txBody>
                  <a:tcPr/>
                </a:tc>
                <a:tc vMerge="1">
                  <a:txBody>
                    <a:bodyPr/>
                    <a:lstStyle/>
                    <a:p>
                      <a:pPr algn="ctr"/>
                      <a:endParaRPr lang="en-SG" sz="1400" dirty="0"/>
                    </a:p>
                  </a:txBody>
                  <a:tcPr anchor="ctr"/>
                </a:tc>
                <a:extLst>
                  <a:ext uri="{0D108BD9-81ED-4DB2-BD59-A6C34878D82A}">
                    <a16:rowId xmlns:a16="http://schemas.microsoft.com/office/drawing/2014/main" val="1002158922"/>
                  </a:ext>
                </a:extLst>
              </a:tr>
            </a:tbl>
          </a:graphicData>
        </a:graphic>
      </p:graphicFrame>
      <p:graphicFrame>
        <p:nvGraphicFramePr>
          <p:cNvPr id="6" name="Table 5">
            <a:extLst>
              <a:ext uri="{FF2B5EF4-FFF2-40B4-BE49-F238E27FC236}">
                <a16:creationId xmlns:a16="http://schemas.microsoft.com/office/drawing/2014/main" id="{F37DD9CA-E52D-E1D7-C06A-3BFB6A7B15FC}"/>
              </a:ext>
            </a:extLst>
          </p:cNvPr>
          <p:cNvGraphicFramePr>
            <a:graphicFrameLocks noGrp="1"/>
          </p:cNvGraphicFramePr>
          <p:nvPr>
            <p:extLst>
              <p:ext uri="{D42A27DB-BD31-4B8C-83A1-F6EECF244321}">
                <p14:modId xmlns:p14="http://schemas.microsoft.com/office/powerpoint/2010/main" val="2382727586"/>
              </p:ext>
            </p:extLst>
          </p:nvPr>
        </p:nvGraphicFramePr>
        <p:xfrm>
          <a:off x="6012873" y="2240376"/>
          <a:ext cx="5678002" cy="3901440"/>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Percentage over tot no. of interactions</a:t>
                      </a:r>
                      <a:endParaRPr lang="en-SG" sz="1400" dirty="0"/>
                    </a:p>
                  </a:txBody>
                  <a:tcPr/>
                </a:tc>
                <a:tc>
                  <a:txBody>
                    <a:bodyPr/>
                    <a:lstStyle/>
                    <a:p>
                      <a:r>
                        <a:rPr lang="en-US" sz="1400" dirty="0"/>
                        <a:t>Discrepancy</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pnfs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icarus</a:t>
                      </a:r>
                      <a:r>
                        <a:rPr lang="fr-FR" sz="1200" kern="1200" dirty="0">
                          <a:solidFill>
                            <a:schemeClr val="dk1"/>
                          </a:solidFill>
                          <a:effectLst/>
                          <a:latin typeface="+mn-lt"/>
                          <a:ea typeface="+mn-ea"/>
                          <a:cs typeface="+mn-cs"/>
                        </a:rPr>
                        <a:t>/persistent/</a:t>
                      </a:r>
                      <a:r>
                        <a:rPr lang="fr-FR" sz="1200" kern="1200" dirty="0" err="1">
                          <a:solidFill>
                            <a:schemeClr val="dk1"/>
                          </a:solidFill>
                          <a:effectLst/>
                          <a:latin typeface="+mn-lt"/>
                          <a:ea typeface="+mn-ea"/>
                          <a:cs typeface="+mn-cs"/>
                        </a:rPr>
                        <a:t>users</a:t>
                      </a:r>
                      <a:r>
                        <a:rPr lang="fr-FR" sz="1200" kern="1200" dirty="0">
                          <a:solidFill>
                            <a:schemeClr val="dk1"/>
                          </a:solidFill>
                          <a:effectLst/>
                          <a:latin typeface="+mn-lt"/>
                          <a:ea typeface="+mn-ea"/>
                          <a:cs typeface="+mn-cs"/>
                        </a:rPr>
                        <a:t>/</a:t>
                      </a:r>
                      <a:r>
                        <a:rPr lang="fr-FR" sz="1200" kern="1200" dirty="0" err="1">
                          <a:solidFill>
                            <a:schemeClr val="dk1"/>
                          </a:solidFill>
                          <a:effectLst/>
                          <a:latin typeface="+mn-lt"/>
                          <a:ea typeface="+mn-ea"/>
                          <a:cs typeface="+mn-cs"/>
                        </a:rPr>
                        <a:t>mueller</a:t>
                      </a:r>
                      <a:r>
                        <a:rPr lang="fr-FR" sz="1200" kern="1200" dirty="0">
                          <a:solidFill>
                            <a:schemeClr val="dk1"/>
                          </a:solidFill>
                          <a:effectLst/>
                          <a:latin typeface="+mn-lt"/>
                          <a:ea typeface="+mn-ea"/>
                          <a:cs typeface="+mn-cs"/>
                        </a:rPr>
                        <a:t>/production/simulation/nominal/input*.</a:t>
                      </a:r>
                      <a:r>
                        <a:rPr lang="fr-FR" sz="1200" kern="1200" dirty="0" err="1">
                          <a:solidFill>
                            <a:schemeClr val="dk1"/>
                          </a:solidFill>
                          <a:effectLst/>
                          <a:latin typeface="+mn-lt"/>
                          <a:ea typeface="+mn-ea"/>
                          <a:cs typeface="+mn-cs"/>
                        </a:rPr>
                        <a:t>flat.root</a:t>
                      </a:r>
                      <a:endParaRPr lang="fr-FR" sz="1200" kern="1200" dirty="0">
                        <a:solidFill>
                          <a:schemeClr val="dk1"/>
                        </a:solidFill>
                        <a:effectLst/>
                        <a:latin typeface="+mn-lt"/>
                        <a:ea typeface="+mn-ea"/>
                        <a:cs typeface="+mn-cs"/>
                      </a:endParaRPr>
                    </a:p>
                  </a:txBody>
                  <a:tcPr/>
                </a:tc>
                <a:tc hMerge="1">
                  <a:txBody>
                    <a:bodyPr/>
                    <a:lstStyle/>
                    <a:p>
                      <a:endParaRPr lang="en-SG" sz="1400" dirty="0"/>
                    </a:p>
                  </a:txBody>
                  <a:tcPr/>
                </a:tc>
                <a:extLst>
                  <a:ext uri="{0D108BD9-81ED-4DB2-BD59-A6C34878D82A}">
                    <a16:rowId xmlns:a16="http://schemas.microsoft.com/office/drawing/2014/main" val="1405745668"/>
                  </a:ext>
                </a:extLst>
              </a:tr>
              <a:tr h="454792">
                <a:tc>
                  <a:txBody>
                    <a:bodyPr/>
                    <a:lstStyle/>
                    <a:p>
                      <a:r>
                        <a:rPr lang="en-US" sz="1400" b="1" dirty="0"/>
                        <a:t>RECO</a:t>
                      </a:r>
                      <a:r>
                        <a:rPr lang="en-US" sz="1400" dirty="0"/>
                        <a:t> interactions passing fiducial cut </a:t>
                      </a:r>
                      <a:r>
                        <a:rPr lang="en-US" sz="1400" b="1" dirty="0"/>
                        <a:t>(NO CUTS)</a:t>
                      </a:r>
                      <a:endParaRPr lang="en-SG" sz="1400" b="1" dirty="0"/>
                    </a:p>
                  </a:txBody>
                  <a:tcPr/>
                </a:tc>
                <a:tc>
                  <a:txBody>
                    <a:bodyPr/>
                    <a:lstStyle/>
                    <a:p>
                      <a:r>
                        <a:rPr lang="en-US" sz="1400" dirty="0"/>
                        <a:t>37%</a:t>
                      </a:r>
                      <a:endParaRPr lang="en-SG" sz="1400" dirty="0"/>
                    </a:p>
                  </a:txBody>
                  <a:tcPr/>
                </a:tc>
                <a:tc rowSpan="2">
                  <a:txBody>
                    <a:bodyPr/>
                    <a:lstStyle/>
                    <a:p>
                      <a:pPr algn="ctr"/>
                      <a:r>
                        <a:rPr lang="en-US" sz="1400" dirty="0"/>
                        <a:t>34.8%</a:t>
                      </a:r>
                      <a:endParaRPr lang="en-SG" sz="1400" dirty="0"/>
                    </a:p>
                  </a:txBody>
                  <a:tcPr anchor="ct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r>
                        <a:rPr lang="en-US" sz="1400" dirty="0"/>
                        <a:t>2.2%</a:t>
                      </a:r>
                      <a:endParaRPr lang="en-SG" sz="1400" dirty="0"/>
                    </a:p>
                  </a:txBody>
                  <a:tcPr/>
                </a:tc>
                <a:tc vMerge="1">
                  <a:txBody>
                    <a:bodyPr/>
                    <a:lstStyle/>
                    <a:p>
                      <a:endParaRPr lang="en-SG" sz="1400" dirty="0"/>
                    </a:p>
                  </a:txBody>
                  <a:tcPr/>
                </a:tc>
                <a:extLst>
                  <a:ext uri="{0D108BD9-81ED-4DB2-BD59-A6C34878D82A}">
                    <a16:rowId xmlns:a16="http://schemas.microsoft.com/office/drawing/2014/main" val="3744653109"/>
                  </a:ext>
                </a:extLst>
              </a:tr>
              <a:tr h="454792">
                <a:tc>
                  <a:txBody>
                    <a:bodyPr/>
                    <a:lstStyle/>
                    <a:p>
                      <a:r>
                        <a:rPr lang="en-US" sz="1400" b="1" dirty="0"/>
                        <a:t>RECO</a:t>
                      </a:r>
                      <a:r>
                        <a:rPr lang="en-US" sz="1400" dirty="0"/>
                        <a:t> interactions passing fiducial cut </a:t>
                      </a:r>
                      <a:r>
                        <a:rPr lang="en-US" sz="1400" b="1" dirty="0"/>
                        <a:t>(NEUTRINO CUT APPLIED)</a:t>
                      </a:r>
                      <a:endParaRPr lang="en-SG" sz="1400" b="1" dirty="0"/>
                    </a:p>
                  </a:txBody>
                  <a:tcPr/>
                </a:tc>
                <a:tc>
                  <a:txBody>
                    <a:bodyPr/>
                    <a:lstStyle/>
                    <a:p>
                      <a:r>
                        <a:rPr lang="en-US" sz="1400" dirty="0"/>
                        <a:t>67%</a:t>
                      </a:r>
                      <a:endParaRPr lang="en-SG" sz="1400" dirty="0"/>
                    </a:p>
                  </a:txBody>
                  <a:tcPr/>
                </a:tc>
                <a:tc rowSpan="2">
                  <a:txBody>
                    <a:bodyPr/>
                    <a:lstStyle/>
                    <a:p>
                      <a:pPr algn="ctr"/>
                      <a:r>
                        <a:rPr lang="en-US" sz="1400" dirty="0"/>
                        <a:t>0.3%</a:t>
                      </a:r>
                      <a:endParaRPr lang="en-SG" sz="1400" dirty="0"/>
                    </a:p>
                  </a:txBody>
                  <a:tcPr anchor="ctr"/>
                </a:tc>
                <a:extLst>
                  <a:ext uri="{0D108BD9-81ED-4DB2-BD59-A6C34878D82A}">
                    <a16:rowId xmlns:a16="http://schemas.microsoft.com/office/drawing/2014/main" val="3714247652"/>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(NEUTRINO CUT APPLIED)</a:t>
                      </a:r>
                      <a:endParaRPr lang="en-SG" sz="1400" b="1" dirty="0"/>
                    </a:p>
                  </a:txBody>
                  <a:tcPr/>
                </a:tc>
                <a:tc>
                  <a:txBody>
                    <a:bodyPr/>
                    <a:lstStyle/>
                    <a:p>
                      <a:r>
                        <a:rPr lang="en-US" sz="1400" dirty="0"/>
                        <a:t>66.7%</a:t>
                      </a:r>
                      <a:endParaRPr lang="en-SG" sz="1400" dirty="0"/>
                    </a:p>
                  </a:txBody>
                  <a:tcPr/>
                </a:tc>
                <a:tc vMerge="1">
                  <a:txBody>
                    <a:bodyPr/>
                    <a:lstStyle/>
                    <a:p>
                      <a:pPr algn="ctr"/>
                      <a:endParaRPr lang="en-SG" sz="1400" dirty="0"/>
                    </a:p>
                  </a:txBody>
                  <a:tcPr anchor="ctr"/>
                </a:tc>
                <a:extLst>
                  <a:ext uri="{0D108BD9-81ED-4DB2-BD59-A6C34878D82A}">
                    <a16:rowId xmlns:a16="http://schemas.microsoft.com/office/drawing/2014/main" val="2359043611"/>
                  </a:ext>
                </a:extLst>
              </a:tr>
            </a:tbl>
          </a:graphicData>
        </a:graphic>
      </p:graphicFrame>
      <p:sp>
        <p:nvSpPr>
          <p:cNvPr id="10" name="TextBox 9">
            <a:extLst>
              <a:ext uri="{FF2B5EF4-FFF2-40B4-BE49-F238E27FC236}">
                <a16:creationId xmlns:a16="http://schemas.microsoft.com/office/drawing/2014/main" id="{19C9C58B-AA39-BD63-502C-EA4E9C089566}"/>
              </a:ext>
            </a:extLst>
          </p:cNvPr>
          <p:cNvSpPr txBox="1"/>
          <p:nvPr/>
        </p:nvSpPr>
        <p:spPr>
          <a:xfrm>
            <a:off x="8758787" y="1778711"/>
            <a:ext cx="752475" cy="461665"/>
          </a:xfrm>
          <a:prstGeom prst="rect">
            <a:avLst/>
          </a:prstGeom>
          <a:noFill/>
        </p:spPr>
        <p:txBody>
          <a:bodyPr wrap="square">
            <a:spAutoFit/>
          </a:bodyPr>
          <a:lstStyle/>
          <a:p>
            <a:r>
              <a:rPr lang="en-US" sz="2400" b="1" dirty="0"/>
              <a:t>BNB</a:t>
            </a:r>
            <a:endParaRPr lang="en-SG" sz="2400" b="1" dirty="0"/>
          </a:p>
        </p:txBody>
      </p:sp>
      <p:sp>
        <p:nvSpPr>
          <p:cNvPr id="12" name="TextBox 11">
            <a:extLst>
              <a:ext uri="{FF2B5EF4-FFF2-40B4-BE49-F238E27FC236}">
                <a16:creationId xmlns:a16="http://schemas.microsoft.com/office/drawing/2014/main" id="{99E06FA7-F91E-1CA3-5AA1-613CC356E250}"/>
              </a:ext>
            </a:extLst>
          </p:cNvPr>
          <p:cNvSpPr txBox="1"/>
          <p:nvPr/>
        </p:nvSpPr>
        <p:spPr>
          <a:xfrm>
            <a:off x="2606644" y="1778711"/>
            <a:ext cx="900661" cy="461665"/>
          </a:xfrm>
          <a:prstGeom prst="rect">
            <a:avLst/>
          </a:prstGeom>
          <a:noFill/>
        </p:spPr>
        <p:txBody>
          <a:bodyPr wrap="square">
            <a:spAutoFit/>
          </a:bodyPr>
          <a:lstStyle/>
          <a:p>
            <a:r>
              <a:rPr lang="en-US" sz="2400" b="1" dirty="0" err="1"/>
              <a:t>NuMI</a:t>
            </a:r>
            <a:endParaRPr lang="en-SG" sz="2400" b="1" dirty="0"/>
          </a:p>
        </p:txBody>
      </p:sp>
    </p:spTree>
    <p:extLst>
      <p:ext uri="{BB962C8B-B14F-4D97-AF65-F5344CB8AC3E}">
        <p14:creationId xmlns:p14="http://schemas.microsoft.com/office/powerpoint/2010/main" val="2896001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15382-9644-0BA1-3A34-C5122A5C6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70EC1-5151-79FC-48BC-8AC24CC9D086}"/>
              </a:ext>
            </a:extLst>
          </p:cNvPr>
          <p:cNvSpPr>
            <a:spLocks noGrp="1"/>
          </p:cNvSpPr>
          <p:nvPr>
            <p:ph type="title"/>
          </p:nvPr>
        </p:nvSpPr>
        <p:spPr/>
        <p:txBody>
          <a:bodyPr/>
          <a:lstStyle/>
          <a:p>
            <a:r>
              <a:rPr lang="en-US" dirty="0"/>
              <a:t>Discussion</a:t>
            </a:r>
            <a:endParaRPr lang="en-SG" dirty="0"/>
          </a:p>
        </p:txBody>
      </p:sp>
      <p:sp>
        <p:nvSpPr>
          <p:cNvPr id="15" name="TextBox 14">
            <a:extLst>
              <a:ext uri="{FF2B5EF4-FFF2-40B4-BE49-F238E27FC236}">
                <a16:creationId xmlns:a16="http://schemas.microsoft.com/office/drawing/2014/main" id="{77AE3BFC-607D-7E8D-C1AB-EC74679D09DB}"/>
              </a:ext>
            </a:extLst>
          </p:cNvPr>
          <p:cNvSpPr txBox="1"/>
          <p:nvPr/>
        </p:nvSpPr>
        <p:spPr>
          <a:xfrm>
            <a:off x="1097280" y="1870839"/>
            <a:ext cx="5802284" cy="4524315"/>
          </a:xfrm>
          <a:prstGeom prst="rect">
            <a:avLst/>
          </a:prstGeom>
          <a:noFill/>
        </p:spPr>
        <p:txBody>
          <a:bodyPr wrap="square">
            <a:spAutoFit/>
          </a:bodyPr>
          <a:lstStyle/>
          <a:p>
            <a:pPr marL="285750" indent="-285750">
              <a:buFont typeface="Arial" panose="020B0604020202020204" pitchFamily="34" charset="0"/>
              <a:buChar char="•"/>
            </a:pPr>
            <a:r>
              <a:rPr lang="en-US" dirty="0"/>
              <a:t>Based on the number of interactions, the neutrino cut does not change how many true interactions pass the fiducial cut</a:t>
            </a:r>
          </a:p>
          <a:p>
            <a:pPr marL="285750" indent="-285750">
              <a:buFont typeface="Arial" panose="020B0604020202020204" pitchFamily="34" charset="0"/>
              <a:buChar char="•"/>
            </a:pPr>
            <a:r>
              <a:rPr lang="en-US" dirty="0"/>
              <a:t>However, the neutrino cut will severely reduce how many </a:t>
            </a:r>
            <a:r>
              <a:rPr lang="en-US" dirty="0" err="1"/>
              <a:t>reco</a:t>
            </a:r>
            <a:r>
              <a:rPr lang="en-US" dirty="0"/>
              <a:t> interactions pass the fiducial cut </a:t>
            </a:r>
          </a:p>
          <a:p>
            <a:pPr marL="285750" indent="-285750">
              <a:buFont typeface="Arial" panose="020B0604020202020204" pitchFamily="34" charset="0"/>
              <a:buChar char="•"/>
            </a:pPr>
            <a:r>
              <a:rPr lang="en-US" dirty="0"/>
              <a:t>This lowers the discrepancy between </a:t>
            </a:r>
            <a:r>
              <a:rPr lang="en-US" dirty="0" err="1"/>
              <a:t>reco</a:t>
            </a:r>
            <a:r>
              <a:rPr lang="en-US" dirty="0"/>
              <a:t> and true fiducial cut percentage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is still a </a:t>
            </a:r>
            <a:r>
              <a:rPr lang="en-US" b="1" dirty="0"/>
              <a:t>9.6% </a:t>
            </a:r>
            <a:r>
              <a:rPr lang="en-US" dirty="0"/>
              <a:t>difference for </a:t>
            </a:r>
            <a:r>
              <a:rPr lang="en-US" b="1" dirty="0" err="1"/>
              <a:t>NuMI</a:t>
            </a:r>
            <a:r>
              <a:rPr lang="en-US" dirty="0"/>
              <a:t> sample compared to only a </a:t>
            </a:r>
            <a:r>
              <a:rPr lang="en-US" b="1" dirty="0"/>
              <a:t>0.3% </a:t>
            </a:r>
            <a:r>
              <a:rPr lang="en-US" dirty="0"/>
              <a:t>difference for </a:t>
            </a:r>
            <a:r>
              <a:rPr lang="en-US" b="1" dirty="0"/>
              <a:t>BNB</a:t>
            </a:r>
            <a:r>
              <a:rPr lang="en-US" dirty="0"/>
              <a:t> sample</a:t>
            </a:r>
            <a:br>
              <a:rPr lang="en-US" dirty="0"/>
            </a:br>
            <a:endParaRPr lang="en-US" dirty="0"/>
          </a:p>
          <a:p>
            <a:r>
              <a:rPr lang="en-US" b="1" u="sng" dirty="0"/>
              <a:t>Conclusion</a:t>
            </a:r>
          </a:p>
          <a:p>
            <a:pPr marL="285750" indent="-285750">
              <a:buFont typeface="Arial" panose="020B0604020202020204" pitchFamily="34" charset="0"/>
              <a:buChar char="•"/>
            </a:pPr>
            <a:r>
              <a:rPr lang="en-US" dirty="0"/>
              <a:t>wrongly reconstructed Out-of-time </a:t>
            </a:r>
            <a:r>
              <a:rPr lang="en-US" dirty="0" err="1"/>
              <a:t>cosmics</a:t>
            </a:r>
            <a:r>
              <a:rPr lang="en-US" dirty="0"/>
              <a:t> are being </a:t>
            </a:r>
            <a:r>
              <a:rPr lang="en-US" dirty="0" err="1"/>
              <a:t>fiducialized</a:t>
            </a:r>
            <a:r>
              <a:rPr lang="en-US" dirty="0"/>
              <a:t>, causing a </a:t>
            </a:r>
            <a:r>
              <a:rPr lang="en-US" dirty="0" err="1"/>
              <a:t>discprecancy</a:t>
            </a:r>
            <a:r>
              <a:rPr lang="en-US" dirty="0"/>
              <a:t> between </a:t>
            </a:r>
            <a:r>
              <a:rPr lang="en-US" dirty="0" err="1"/>
              <a:t>reco</a:t>
            </a:r>
            <a:r>
              <a:rPr lang="en-US" dirty="0"/>
              <a:t> and true percentage</a:t>
            </a:r>
          </a:p>
          <a:p>
            <a:endParaRPr lang="en-US" dirty="0"/>
          </a:p>
        </p:txBody>
      </p:sp>
      <p:pic>
        <p:nvPicPr>
          <p:cNvPr id="6" name="Picture 5">
            <a:extLst>
              <a:ext uri="{FF2B5EF4-FFF2-40B4-BE49-F238E27FC236}">
                <a16:creationId xmlns:a16="http://schemas.microsoft.com/office/drawing/2014/main" id="{820D2047-7B88-BE09-B8C9-A00EFFD104CF}"/>
              </a:ext>
            </a:extLst>
          </p:cNvPr>
          <p:cNvPicPr>
            <a:picLocks noChangeAspect="1"/>
          </p:cNvPicPr>
          <p:nvPr/>
        </p:nvPicPr>
        <p:blipFill>
          <a:blip r:embed="rId2"/>
          <a:stretch>
            <a:fillRect/>
          </a:stretch>
        </p:blipFill>
        <p:spPr>
          <a:xfrm>
            <a:off x="9154475" y="2011542"/>
            <a:ext cx="2992755" cy="1897010"/>
          </a:xfrm>
          <a:prstGeom prst="rect">
            <a:avLst/>
          </a:prstGeom>
        </p:spPr>
      </p:pic>
      <p:pic>
        <p:nvPicPr>
          <p:cNvPr id="8" name="Picture 7">
            <a:extLst>
              <a:ext uri="{FF2B5EF4-FFF2-40B4-BE49-F238E27FC236}">
                <a16:creationId xmlns:a16="http://schemas.microsoft.com/office/drawing/2014/main" id="{74A6650A-1C18-D11D-8C69-BEA916A6D2B3}"/>
              </a:ext>
            </a:extLst>
          </p:cNvPr>
          <p:cNvPicPr>
            <a:picLocks noChangeAspect="1"/>
          </p:cNvPicPr>
          <p:nvPr/>
        </p:nvPicPr>
        <p:blipFill>
          <a:blip r:embed="rId3"/>
          <a:stretch>
            <a:fillRect/>
          </a:stretch>
        </p:blipFill>
        <p:spPr>
          <a:xfrm>
            <a:off x="7705724" y="4366256"/>
            <a:ext cx="2992755" cy="1863670"/>
          </a:xfrm>
          <a:prstGeom prst="rect">
            <a:avLst/>
          </a:prstGeom>
        </p:spPr>
      </p:pic>
      <p:sp>
        <p:nvSpPr>
          <p:cNvPr id="9" name="TextBox 8">
            <a:extLst>
              <a:ext uri="{FF2B5EF4-FFF2-40B4-BE49-F238E27FC236}">
                <a16:creationId xmlns:a16="http://schemas.microsoft.com/office/drawing/2014/main" id="{84E0A156-6738-5A96-3122-8BAA2AFF6E99}"/>
              </a:ext>
            </a:extLst>
          </p:cNvPr>
          <p:cNvSpPr txBox="1"/>
          <p:nvPr/>
        </p:nvSpPr>
        <p:spPr>
          <a:xfrm>
            <a:off x="9154475" y="1740034"/>
            <a:ext cx="2992755" cy="261610"/>
          </a:xfrm>
          <a:prstGeom prst="rect">
            <a:avLst/>
          </a:prstGeom>
          <a:noFill/>
        </p:spPr>
        <p:txBody>
          <a:bodyPr wrap="square" rtlCol="0">
            <a:spAutoFit/>
          </a:bodyPr>
          <a:lstStyle/>
          <a:p>
            <a:r>
              <a:rPr lang="en-US" sz="1100" dirty="0"/>
              <a:t>Selection with no cut, containing the discrepancy </a:t>
            </a:r>
            <a:endParaRPr lang="en-SG" sz="1100" dirty="0"/>
          </a:p>
        </p:txBody>
      </p:sp>
      <p:sp>
        <p:nvSpPr>
          <p:cNvPr id="10" name="TextBox 9">
            <a:extLst>
              <a:ext uri="{FF2B5EF4-FFF2-40B4-BE49-F238E27FC236}">
                <a16:creationId xmlns:a16="http://schemas.microsoft.com/office/drawing/2014/main" id="{809BEB4D-AF5B-E207-C26F-D418B729D435}"/>
              </a:ext>
            </a:extLst>
          </p:cNvPr>
          <p:cNvSpPr txBox="1"/>
          <p:nvPr/>
        </p:nvSpPr>
        <p:spPr>
          <a:xfrm>
            <a:off x="7658098" y="3963944"/>
            <a:ext cx="2992755" cy="430887"/>
          </a:xfrm>
          <a:prstGeom prst="rect">
            <a:avLst/>
          </a:prstGeom>
          <a:noFill/>
        </p:spPr>
        <p:txBody>
          <a:bodyPr wrap="square" rtlCol="0">
            <a:spAutoFit/>
          </a:bodyPr>
          <a:lstStyle/>
          <a:p>
            <a:r>
              <a:rPr lang="en-US" sz="1100" dirty="0"/>
              <a:t>Selection with neutrino cut, discrepancy should significantly reduce if hypothesis is true</a:t>
            </a:r>
            <a:endParaRPr lang="en-SG" sz="1100" dirty="0"/>
          </a:p>
        </p:txBody>
      </p:sp>
    </p:spTree>
    <p:extLst>
      <p:ext uri="{BB962C8B-B14F-4D97-AF65-F5344CB8AC3E}">
        <p14:creationId xmlns:p14="http://schemas.microsoft.com/office/powerpoint/2010/main" val="1995844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199A1-9FA5-90A9-F0EC-DA234D423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8907E-BFFD-B193-CAB7-BA9F31E3918F}"/>
              </a:ext>
            </a:extLst>
          </p:cNvPr>
          <p:cNvSpPr>
            <a:spLocks noGrp="1"/>
          </p:cNvSpPr>
          <p:nvPr>
            <p:ph type="title"/>
          </p:nvPr>
        </p:nvSpPr>
        <p:spPr>
          <a:xfrm>
            <a:off x="1066800" y="3066311"/>
            <a:ext cx="10058400" cy="725378"/>
          </a:xfrm>
        </p:spPr>
        <p:txBody>
          <a:bodyPr/>
          <a:lstStyle/>
          <a:p>
            <a:pPr algn="ctr"/>
            <a:r>
              <a:rPr lang="en-US" b="1" dirty="0"/>
              <a:t>PID preselection</a:t>
            </a:r>
            <a:endParaRPr lang="en-SG" b="1" dirty="0"/>
          </a:p>
        </p:txBody>
      </p:sp>
    </p:spTree>
    <p:extLst>
      <p:ext uri="{BB962C8B-B14F-4D97-AF65-F5344CB8AC3E}">
        <p14:creationId xmlns:p14="http://schemas.microsoft.com/office/powerpoint/2010/main" val="3686823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EBFAA-E62B-AB5F-7A05-6ECC4E59A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986F3A-5164-1139-238B-CC3F3E2CC2B5}"/>
              </a:ext>
            </a:extLst>
          </p:cNvPr>
          <p:cNvSpPr>
            <a:spLocks noGrp="1"/>
          </p:cNvSpPr>
          <p:nvPr>
            <p:ph type="title"/>
          </p:nvPr>
        </p:nvSpPr>
        <p:spPr/>
        <p:txBody>
          <a:bodyPr/>
          <a:lstStyle/>
          <a:p>
            <a:r>
              <a:rPr lang="en-US" dirty="0"/>
              <a:t>Preselection with PID cuts</a:t>
            </a:r>
            <a:endParaRPr lang="en-SG" dirty="0"/>
          </a:p>
        </p:txBody>
      </p:sp>
      <p:sp>
        <p:nvSpPr>
          <p:cNvPr id="15" name="TextBox 14">
            <a:extLst>
              <a:ext uri="{FF2B5EF4-FFF2-40B4-BE49-F238E27FC236}">
                <a16:creationId xmlns:a16="http://schemas.microsoft.com/office/drawing/2014/main" id="{B85672DB-AEB2-A572-271A-45FA25436A36}"/>
              </a:ext>
            </a:extLst>
          </p:cNvPr>
          <p:cNvSpPr txBox="1"/>
          <p:nvPr/>
        </p:nvSpPr>
        <p:spPr>
          <a:xfrm>
            <a:off x="1097280" y="1870839"/>
            <a:ext cx="5802284" cy="2031325"/>
          </a:xfrm>
          <a:prstGeom prst="rect">
            <a:avLst/>
          </a:prstGeom>
          <a:noFill/>
        </p:spPr>
        <p:txBody>
          <a:bodyPr wrap="square">
            <a:spAutoFit/>
          </a:bodyPr>
          <a:lstStyle/>
          <a:p>
            <a:pPr marL="285750" indent="-285750">
              <a:buFont typeface="Arial" panose="020B0604020202020204" pitchFamily="34" charset="0"/>
              <a:buChar char="•"/>
            </a:pPr>
            <a:r>
              <a:rPr lang="en-US" dirty="0"/>
              <a:t>Applying preselection cuts along with a PID cut to select specific particle types</a:t>
            </a:r>
          </a:p>
          <a:p>
            <a:pPr marL="285750" indent="-285750">
              <a:buFont typeface="Arial" panose="020B0604020202020204" pitchFamily="34" charset="0"/>
              <a:buChar char="•"/>
            </a:pPr>
            <a:r>
              <a:rPr lang="en-US" dirty="0"/>
              <a:t>Plotting the truth vs </a:t>
            </a:r>
            <a:r>
              <a:rPr lang="en-US" dirty="0" err="1"/>
              <a:t>reco</a:t>
            </a:r>
            <a:r>
              <a:rPr lang="en-US" dirty="0"/>
              <a:t> matching for the PID variable of the particles</a:t>
            </a:r>
          </a:p>
          <a:p>
            <a:pPr marL="285750" indent="-285750">
              <a:buFont typeface="Arial" panose="020B0604020202020204" pitchFamily="34" charset="0"/>
              <a:buChar char="•"/>
            </a:pPr>
            <a:r>
              <a:rPr lang="en-US" dirty="0"/>
              <a:t>For ‘</a:t>
            </a:r>
            <a:r>
              <a:rPr lang="en-US" dirty="0" err="1"/>
              <a:t>is_pid</a:t>
            </a:r>
            <a:r>
              <a:rPr lang="en-US" dirty="0"/>
              <a:t>’ cut, apply a parameter = [</a:t>
            </a:r>
            <a:r>
              <a:rPr lang="en-US" dirty="0" err="1"/>
              <a:t>i</a:t>
            </a:r>
            <a:r>
              <a:rPr lang="en-US" dirty="0"/>
              <a:t>,] to select specific particle types, following enumeration below</a:t>
            </a:r>
          </a:p>
          <a:p>
            <a:endParaRPr lang="en-US" dirty="0"/>
          </a:p>
        </p:txBody>
      </p:sp>
      <p:pic>
        <p:nvPicPr>
          <p:cNvPr id="4" name="Picture 3">
            <a:extLst>
              <a:ext uri="{FF2B5EF4-FFF2-40B4-BE49-F238E27FC236}">
                <a16:creationId xmlns:a16="http://schemas.microsoft.com/office/drawing/2014/main" id="{2D38142D-E3DC-9824-50C4-4BB5C3CFADF3}"/>
              </a:ext>
            </a:extLst>
          </p:cNvPr>
          <p:cNvPicPr>
            <a:picLocks noChangeAspect="1"/>
          </p:cNvPicPr>
          <p:nvPr/>
        </p:nvPicPr>
        <p:blipFill>
          <a:blip r:embed="rId2"/>
          <a:stretch>
            <a:fillRect/>
          </a:stretch>
        </p:blipFill>
        <p:spPr>
          <a:xfrm>
            <a:off x="7806690" y="1870839"/>
            <a:ext cx="3811541" cy="4025755"/>
          </a:xfrm>
          <a:prstGeom prst="rect">
            <a:avLst/>
          </a:prstGeom>
        </p:spPr>
      </p:pic>
      <p:graphicFrame>
        <p:nvGraphicFramePr>
          <p:cNvPr id="5" name="Table 4">
            <a:extLst>
              <a:ext uri="{FF2B5EF4-FFF2-40B4-BE49-F238E27FC236}">
                <a16:creationId xmlns:a16="http://schemas.microsoft.com/office/drawing/2014/main" id="{695613FF-70BA-B03E-B3D4-EF6DFA7B24F0}"/>
              </a:ext>
            </a:extLst>
          </p:cNvPr>
          <p:cNvGraphicFramePr>
            <a:graphicFrameLocks noGrp="1"/>
          </p:cNvGraphicFramePr>
          <p:nvPr>
            <p:extLst>
              <p:ext uri="{D42A27DB-BD31-4B8C-83A1-F6EECF244321}">
                <p14:modId xmlns:p14="http://schemas.microsoft.com/office/powerpoint/2010/main" val="1154199483"/>
              </p:ext>
            </p:extLst>
          </p:nvPr>
        </p:nvGraphicFramePr>
        <p:xfrm>
          <a:off x="991504" y="3767788"/>
          <a:ext cx="6013836" cy="1010920"/>
        </p:xfrm>
        <a:graphic>
          <a:graphicData uri="http://schemas.openxmlformats.org/drawingml/2006/table">
            <a:tbl>
              <a:tblPr firstRow="1" bandRow="1">
                <a:tableStyleId>{5C22544A-7EE6-4342-B048-85BDC9FD1C3A}</a:tableStyleId>
              </a:tblPr>
              <a:tblGrid>
                <a:gridCol w="1002306">
                  <a:extLst>
                    <a:ext uri="{9D8B030D-6E8A-4147-A177-3AD203B41FA5}">
                      <a16:colId xmlns:a16="http://schemas.microsoft.com/office/drawing/2014/main" val="2630771369"/>
                    </a:ext>
                  </a:extLst>
                </a:gridCol>
                <a:gridCol w="1002306">
                  <a:extLst>
                    <a:ext uri="{9D8B030D-6E8A-4147-A177-3AD203B41FA5}">
                      <a16:colId xmlns:a16="http://schemas.microsoft.com/office/drawing/2014/main" val="768315987"/>
                    </a:ext>
                  </a:extLst>
                </a:gridCol>
                <a:gridCol w="1002306">
                  <a:extLst>
                    <a:ext uri="{9D8B030D-6E8A-4147-A177-3AD203B41FA5}">
                      <a16:colId xmlns:a16="http://schemas.microsoft.com/office/drawing/2014/main" val="1913737133"/>
                    </a:ext>
                  </a:extLst>
                </a:gridCol>
                <a:gridCol w="1002306">
                  <a:extLst>
                    <a:ext uri="{9D8B030D-6E8A-4147-A177-3AD203B41FA5}">
                      <a16:colId xmlns:a16="http://schemas.microsoft.com/office/drawing/2014/main" val="859940901"/>
                    </a:ext>
                  </a:extLst>
                </a:gridCol>
                <a:gridCol w="1002306">
                  <a:extLst>
                    <a:ext uri="{9D8B030D-6E8A-4147-A177-3AD203B41FA5}">
                      <a16:colId xmlns:a16="http://schemas.microsoft.com/office/drawing/2014/main" val="2695000153"/>
                    </a:ext>
                  </a:extLst>
                </a:gridCol>
                <a:gridCol w="1002306">
                  <a:extLst>
                    <a:ext uri="{9D8B030D-6E8A-4147-A177-3AD203B41FA5}">
                      <a16:colId xmlns:a16="http://schemas.microsoft.com/office/drawing/2014/main" val="2820532306"/>
                    </a:ext>
                  </a:extLst>
                </a:gridCol>
              </a:tblGrid>
              <a:tr h="370840">
                <a:tc>
                  <a:txBody>
                    <a:bodyPr/>
                    <a:lstStyle/>
                    <a:p>
                      <a:r>
                        <a:rPr lang="en-US" b="1" dirty="0"/>
                        <a:t>Number </a:t>
                      </a:r>
                      <a:endParaRPr lang="en-SG" b="1" dirty="0"/>
                    </a:p>
                  </a:txBody>
                  <a:tcPr/>
                </a:tc>
                <a:tc>
                  <a:txBody>
                    <a:bodyPr/>
                    <a:lstStyle/>
                    <a:p>
                      <a:r>
                        <a:rPr lang="en-US" dirty="0"/>
                        <a:t>0</a:t>
                      </a:r>
                      <a:endParaRPr lang="en-SG" dirty="0"/>
                    </a:p>
                  </a:txBody>
                  <a:tcPr/>
                </a:tc>
                <a:tc>
                  <a:txBody>
                    <a:bodyPr/>
                    <a:lstStyle/>
                    <a:p>
                      <a:r>
                        <a:rPr lang="en-US" dirty="0"/>
                        <a:t>1</a:t>
                      </a:r>
                      <a:endParaRPr lang="en-SG" dirty="0"/>
                    </a:p>
                  </a:txBody>
                  <a:tcPr/>
                </a:tc>
                <a:tc>
                  <a:txBody>
                    <a:bodyPr/>
                    <a:lstStyle/>
                    <a:p>
                      <a:r>
                        <a:rPr lang="en-US" dirty="0"/>
                        <a:t>2</a:t>
                      </a:r>
                      <a:endParaRPr lang="en-SG" dirty="0"/>
                    </a:p>
                  </a:txBody>
                  <a:tcPr/>
                </a:tc>
                <a:tc>
                  <a:txBody>
                    <a:bodyPr/>
                    <a:lstStyle/>
                    <a:p>
                      <a:r>
                        <a:rPr lang="en-US" dirty="0"/>
                        <a:t>3</a:t>
                      </a:r>
                      <a:endParaRPr lang="en-SG" dirty="0"/>
                    </a:p>
                  </a:txBody>
                  <a:tcPr/>
                </a:tc>
                <a:tc>
                  <a:txBody>
                    <a:bodyPr/>
                    <a:lstStyle/>
                    <a:p>
                      <a:r>
                        <a:rPr lang="en-US" dirty="0"/>
                        <a:t>4</a:t>
                      </a:r>
                      <a:endParaRPr lang="en-SG" dirty="0"/>
                    </a:p>
                  </a:txBody>
                  <a:tcPr/>
                </a:tc>
                <a:extLst>
                  <a:ext uri="{0D108BD9-81ED-4DB2-BD59-A6C34878D82A}">
                    <a16:rowId xmlns:a16="http://schemas.microsoft.com/office/drawing/2014/main" val="3688034187"/>
                  </a:ext>
                </a:extLst>
              </a:tr>
              <a:tr h="370840">
                <a:tc>
                  <a:txBody>
                    <a:bodyPr/>
                    <a:lstStyle/>
                    <a:p>
                      <a:r>
                        <a:rPr lang="en-US" b="1" dirty="0"/>
                        <a:t>Particle type</a:t>
                      </a:r>
                      <a:endParaRPr lang="en-SG" b="1" dirty="0"/>
                    </a:p>
                  </a:txBody>
                  <a:tcPr/>
                </a:tc>
                <a:tc>
                  <a:txBody>
                    <a:bodyPr/>
                    <a:lstStyle/>
                    <a:p>
                      <a:r>
                        <a:rPr lang="en-US" dirty="0"/>
                        <a:t>photon</a:t>
                      </a:r>
                      <a:endParaRPr lang="en-SG" dirty="0"/>
                    </a:p>
                  </a:txBody>
                  <a:tcPr/>
                </a:tc>
                <a:tc>
                  <a:txBody>
                    <a:bodyPr/>
                    <a:lstStyle/>
                    <a:p>
                      <a:r>
                        <a:rPr lang="en-US" dirty="0"/>
                        <a:t>electron</a:t>
                      </a:r>
                      <a:endParaRPr lang="en-SG" dirty="0"/>
                    </a:p>
                  </a:txBody>
                  <a:tcPr/>
                </a:tc>
                <a:tc>
                  <a:txBody>
                    <a:bodyPr/>
                    <a:lstStyle/>
                    <a:p>
                      <a:r>
                        <a:rPr lang="en-US" dirty="0"/>
                        <a:t>muon</a:t>
                      </a:r>
                      <a:endParaRPr lang="en-SG" dirty="0"/>
                    </a:p>
                  </a:txBody>
                  <a:tcPr/>
                </a:tc>
                <a:tc>
                  <a:txBody>
                    <a:bodyPr/>
                    <a:lstStyle/>
                    <a:p>
                      <a:r>
                        <a:rPr lang="en-US" dirty="0"/>
                        <a:t>pion</a:t>
                      </a:r>
                      <a:endParaRPr lang="en-SG" dirty="0"/>
                    </a:p>
                  </a:txBody>
                  <a:tcPr/>
                </a:tc>
                <a:tc>
                  <a:txBody>
                    <a:bodyPr/>
                    <a:lstStyle/>
                    <a:p>
                      <a:r>
                        <a:rPr lang="en-US" dirty="0"/>
                        <a:t>proton</a:t>
                      </a:r>
                      <a:endParaRPr lang="en-SG" dirty="0"/>
                    </a:p>
                  </a:txBody>
                  <a:tcPr/>
                </a:tc>
                <a:extLst>
                  <a:ext uri="{0D108BD9-81ED-4DB2-BD59-A6C34878D82A}">
                    <a16:rowId xmlns:a16="http://schemas.microsoft.com/office/drawing/2014/main" val="1430411261"/>
                  </a:ext>
                </a:extLst>
              </a:tr>
            </a:tbl>
          </a:graphicData>
        </a:graphic>
      </p:graphicFrame>
    </p:spTree>
    <p:extLst>
      <p:ext uri="{BB962C8B-B14F-4D97-AF65-F5344CB8AC3E}">
        <p14:creationId xmlns:p14="http://schemas.microsoft.com/office/powerpoint/2010/main" val="1861196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4291B-BF1F-7EDD-4374-EBE7A6EC3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99621-9ACD-03B8-D0FF-737B10463B6E}"/>
              </a:ext>
            </a:extLst>
          </p:cNvPr>
          <p:cNvSpPr>
            <a:spLocks noGrp="1"/>
          </p:cNvSpPr>
          <p:nvPr>
            <p:ph type="title"/>
          </p:nvPr>
        </p:nvSpPr>
        <p:spPr>
          <a:xfrm>
            <a:off x="748145" y="286603"/>
            <a:ext cx="10407535" cy="1450757"/>
          </a:xfrm>
        </p:spPr>
        <p:txBody>
          <a:bodyPr/>
          <a:lstStyle/>
          <a:p>
            <a:r>
              <a:rPr lang="en-US" b="1" dirty="0" err="1"/>
              <a:t>NuMI</a:t>
            </a:r>
            <a:r>
              <a:rPr lang="en-US" dirty="0"/>
              <a:t> Reco to truth matching </a:t>
            </a:r>
            <a:r>
              <a:rPr lang="en-US" b="1" dirty="0"/>
              <a:t>(Reco mode)</a:t>
            </a:r>
            <a:endParaRPr lang="en-SG" b="1" dirty="0"/>
          </a:p>
        </p:txBody>
      </p:sp>
      <p:graphicFrame>
        <p:nvGraphicFramePr>
          <p:cNvPr id="7" name="Table 6">
            <a:extLst>
              <a:ext uri="{FF2B5EF4-FFF2-40B4-BE49-F238E27FC236}">
                <a16:creationId xmlns:a16="http://schemas.microsoft.com/office/drawing/2014/main" id="{6E5549ED-389E-E95A-3A95-A9D9C7166311}"/>
              </a:ext>
            </a:extLst>
          </p:cNvPr>
          <p:cNvGraphicFramePr>
            <a:graphicFrameLocks noGrp="1"/>
          </p:cNvGraphicFramePr>
          <p:nvPr>
            <p:extLst>
              <p:ext uri="{D42A27DB-BD31-4B8C-83A1-F6EECF244321}">
                <p14:modId xmlns:p14="http://schemas.microsoft.com/office/powerpoint/2010/main" val="2937170991"/>
              </p:ext>
            </p:extLst>
          </p:nvPr>
        </p:nvGraphicFramePr>
        <p:xfrm>
          <a:off x="1340584" y="2316690"/>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photon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photon</a:t>
                      </a:r>
                      <a:endParaRPr lang="en-SG" sz="1400" b="0" dirty="0">
                        <a:solidFill>
                          <a:srgbClr val="FF0000"/>
                        </a:solidFill>
                      </a:endParaRPr>
                    </a:p>
                  </a:txBody>
                  <a:tcPr anchor="ctr">
                    <a:solidFill>
                      <a:schemeClr val="bg2"/>
                    </a:solidFill>
                  </a:tcPr>
                </a:tc>
                <a:tc>
                  <a:txBody>
                    <a:bodyPr/>
                    <a:lstStyle/>
                    <a:p>
                      <a:pPr algn="ctr"/>
                      <a:r>
                        <a:rPr lang="en-US" dirty="0"/>
                        <a:t>74.6%</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photon</a:t>
                      </a:r>
                      <a:endParaRPr lang="en-SG" sz="1400" b="0" dirty="0">
                        <a:solidFill>
                          <a:srgbClr val="FF0000"/>
                        </a:solidFill>
                      </a:endParaRPr>
                    </a:p>
                  </a:txBody>
                  <a:tcPr anchor="ctr">
                    <a:solidFill>
                      <a:schemeClr val="bg2"/>
                    </a:solidFill>
                  </a:tcPr>
                </a:tc>
                <a:tc>
                  <a:txBody>
                    <a:bodyPr/>
                    <a:lstStyle/>
                    <a:p>
                      <a:pPr algn="ctr"/>
                      <a:r>
                        <a:rPr lang="en-US" dirty="0"/>
                        <a:t>25.4%</a:t>
                      </a:r>
                      <a:endParaRPr lang="en-SG" dirty="0"/>
                    </a:p>
                  </a:txBody>
                  <a:tcPr anchor="ctr"/>
                </a:tc>
                <a:extLst>
                  <a:ext uri="{0D108BD9-81ED-4DB2-BD59-A6C34878D82A}">
                    <a16:rowId xmlns:a16="http://schemas.microsoft.com/office/drawing/2014/main" val="2781143425"/>
                  </a:ext>
                </a:extLst>
              </a:tr>
            </a:tbl>
          </a:graphicData>
        </a:graphic>
      </p:graphicFrame>
      <p:sp>
        <p:nvSpPr>
          <p:cNvPr id="8" name="TextBox 7">
            <a:extLst>
              <a:ext uri="{FF2B5EF4-FFF2-40B4-BE49-F238E27FC236}">
                <a16:creationId xmlns:a16="http://schemas.microsoft.com/office/drawing/2014/main" id="{EAD232E2-4E91-3727-C6A5-00A078E3C1CE}"/>
              </a:ext>
            </a:extLst>
          </p:cNvPr>
          <p:cNvSpPr txBox="1"/>
          <p:nvPr/>
        </p:nvSpPr>
        <p:spPr>
          <a:xfrm rot="16200000">
            <a:off x="838888" y="3373758"/>
            <a:ext cx="657609" cy="338554"/>
          </a:xfrm>
          <a:prstGeom prst="rect">
            <a:avLst/>
          </a:prstGeom>
          <a:noFill/>
        </p:spPr>
        <p:txBody>
          <a:bodyPr wrap="square" rtlCol="0">
            <a:spAutoFit/>
          </a:bodyPr>
          <a:lstStyle/>
          <a:p>
            <a:r>
              <a:rPr lang="en-US" sz="1600" dirty="0"/>
              <a:t>Truth</a:t>
            </a:r>
            <a:endParaRPr lang="en-SG" dirty="0"/>
          </a:p>
        </p:txBody>
      </p:sp>
      <p:sp>
        <p:nvSpPr>
          <p:cNvPr id="9" name="TextBox 8">
            <a:extLst>
              <a:ext uri="{FF2B5EF4-FFF2-40B4-BE49-F238E27FC236}">
                <a16:creationId xmlns:a16="http://schemas.microsoft.com/office/drawing/2014/main" id="{9500993D-F137-336B-F482-6944887A23D2}"/>
              </a:ext>
            </a:extLst>
          </p:cNvPr>
          <p:cNvSpPr txBox="1"/>
          <p:nvPr/>
        </p:nvSpPr>
        <p:spPr>
          <a:xfrm>
            <a:off x="1808305" y="1976048"/>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21" name="Table 20">
            <a:extLst>
              <a:ext uri="{FF2B5EF4-FFF2-40B4-BE49-F238E27FC236}">
                <a16:creationId xmlns:a16="http://schemas.microsoft.com/office/drawing/2014/main" id="{EA91E994-6C49-62A7-809A-E42D78ABD26F}"/>
              </a:ext>
            </a:extLst>
          </p:cNvPr>
          <p:cNvGraphicFramePr>
            <a:graphicFrameLocks noGrp="1"/>
          </p:cNvGraphicFramePr>
          <p:nvPr>
            <p:extLst>
              <p:ext uri="{D42A27DB-BD31-4B8C-83A1-F6EECF244321}">
                <p14:modId xmlns:p14="http://schemas.microsoft.com/office/powerpoint/2010/main" val="1916188659"/>
              </p:ext>
            </p:extLst>
          </p:nvPr>
        </p:nvGraphicFramePr>
        <p:xfrm>
          <a:off x="3591800" y="2313303"/>
          <a:ext cx="1673660" cy="2052741"/>
        </p:xfrm>
        <a:graphic>
          <a:graphicData uri="http://schemas.openxmlformats.org/drawingml/2006/table">
            <a:tbl>
              <a:tblPr firstRow="1" bandRow="1">
                <a:tableStyleId>{5940675A-B579-460E-94D1-54222C63F5DA}</a:tableStyleId>
              </a:tblPr>
              <a:tblGrid>
                <a:gridCol w="800821">
                  <a:extLst>
                    <a:ext uri="{9D8B030D-6E8A-4147-A177-3AD203B41FA5}">
                      <a16:colId xmlns:a16="http://schemas.microsoft.com/office/drawing/2014/main" val="2941989956"/>
                    </a:ext>
                  </a:extLst>
                </a:gridCol>
                <a:gridCol w="872839">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electron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electron</a:t>
                      </a:r>
                      <a:endParaRPr lang="en-SG" sz="1400" b="0" dirty="0">
                        <a:solidFill>
                          <a:srgbClr val="FF0000"/>
                        </a:solidFill>
                      </a:endParaRPr>
                    </a:p>
                  </a:txBody>
                  <a:tcPr anchor="ctr">
                    <a:solidFill>
                      <a:schemeClr val="bg2"/>
                    </a:solidFill>
                  </a:tcPr>
                </a:tc>
                <a:tc>
                  <a:txBody>
                    <a:bodyPr/>
                    <a:lstStyle/>
                    <a:p>
                      <a:pPr algn="ctr"/>
                      <a:r>
                        <a:rPr lang="en-US" dirty="0"/>
                        <a:t>56.0%</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electron</a:t>
                      </a:r>
                      <a:endParaRPr lang="en-SG" sz="1400" b="0" dirty="0">
                        <a:solidFill>
                          <a:srgbClr val="FF0000"/>
                        </a:solidFill>
                      </a:endParaRPr>
                    </a:p>
                  </a:txBody>
                  <a:tcPr anchor="ctr">
                    <a:solidFill>
                      <a:schemeClr val="bg2"/>
                    </a:solidFill>
                  </a:tcPr>
                </a:tc>
                <a:tc>
                  <a:txBody>
                    <a:bodyPr/>
                    <a:lstStyle/>
                    <a:p>
                      <a:pPr algn="ctr"/>
                      <a:r>
                        <a:rPr lang="en-US" dirty="0"/>
                        <a:t>44.0%</a:t>
                      </a:r>
                      <a:endParaRPr lang="en-SG" dirty="0"/>
                    </a:p>
                  </a:txBody>
                  <a:tcPr anchor="ctr"/>
                </a:tc>
                <a:extLst>
                  <a:ext uri="{0D108BD9-81ED-4DB2-BD59-A6C34878D82A}">
                    <a16:rowId xmlns:a16="http://schemas.microsoft.com/office/drawing/2014/main" val="2781143425"/>
                  </a:ext>
                </a:extLst>
              </a:tr>
            </a:tbl>
          </a:graphicData>
        </a:graphic>
      </p:graphicFrame>
      <p:sp>
        <p:nvSpPr>
          <p:cNvPr id="22" name="TextBox 21">
            <a:extLst>
              <a:ext uri="{FF2B5EF4-FFF2-40B4-BE49-F238E27FC236}">
                <a16:creationId xmlns:a16="http://schemas.microsoft.com/office/drawing/2014/main" id="{E68AF00D-AB89-7BBA-5356-E79E2838B14C}"/>
              </a:ext>
            </a:extLst>
          </p:cNvPr>
          <p:cNvSpPr txBox="1"/>
          <p:nvPr/>
        </p:nvSpPr>
        <p:spPr>
          <a:xfrm rot="16200000">
            <a:off x="3090104" y="3370371"/>
            <a:ext cx="657609" cy="338554"/>
          </a:xfrm>
          <a:prstGeom prst="rect">
            <a:avLst/>
          </a:prstGeom>
          <a:noFill/>
        </p:spPr>
        <p:txBody>
          <a:bodyPr wrap="square" rtlCol="0">
            <a:spAutoFit/>
          </a:bodyPr>
          <a:lstStyle/>
          <a:p>
            <a:r>
              <a:rPr lang="en-US" sz="1600" dirty="0"/>
              <a:t>Truth</a:t>
            </a:r>
            <a:endParaRPr lang="en-SG" dirty="0"/>
          </a:p>
        </p:txBody>
      </p:sp>
      <p:sp>
        <p:nvSpPr>
          <p:cNvPr id="23" name="TextBox 22">
            <a:extLst>
              <a:ext uri="{FF2B5EF4-FFF2-40B4-BE49-F238E27FC236}">
                <a16:creationId xmlns:a16="http://schemas.microsoft.com/office/drawing/2014/main" id="{DD3B75A6-FA2A-F416-C660-D2F66ABDCF2E}"/>
              </a:ext>
            </a:extLst>
          </p:cNvPr>
          <p:cNvSpPr txBox="1"/>
          <p:nvPr/>
        </p:nvSpPr>
        <p:spPr>
          <a:xfrm>
            <a:off x="4059521" y="1972661"/>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24" name="Table 23">
            <a:extLst>
              <a:ext uri="{FF2B5EF4-FFF2-40B4-BE49-F238E27FC236}">
                <a16:creationId xmlns:a16="http://schemas.microsoft.com/office/drawing/2014/main" id="{4D676D7E-5409-E391-CD5E-DDB6D4EC79DF}"/>
              </a:ext>
            </a:extLst>
          </p:cNvPr>
          <p:cNvGraphicFramePr>
            <a:graphicFrameLocks noGrp="1"/>
          </p:cNvGraphicFramePr>
          <p:nvPr>
            <p:extLst>
              <p:ext uri="{D42A27DB-BD31-4B8C-83A1-F6EECF244321}">
                <p14:modId xmlns:p14="http://schemas.microsoft.com/office/powerpoint/2010/main" val="3493960784"/>
              </p:ext>
            </p:extLst>
          </p:nvPr>
        </p:nvGraphicFramePr>
        <p:xfrm>
          <a:off x="5843016" y="2313303"/>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muon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muon</a:t>
                      </a:r>
                      <a:endParaRPr lang="en-SG" sz="1400" b="0" dirty="0">
                        <a:solidFill>
                          <a:srgbClr val="FF0000"/>
                        </a:solidFill>
                      </a:endParaRPr>
                    </a:p>
                  </a:txBody>
                  <a:tcPr anchor="ctr">
                    <a:solidFill>
                      <a:schemeClr val="bg2"/>
                    </a:solidFill>
                  </a:tcPr>
                </a:tc>
                <a:tc>
                  <a:txBody>
                    <a:bodyPr/>
                    <a:lstStyle/>
                    <a:p>
                      <a:pPr algn="ctr"/>
                      <a:r>
                        <a:rPr lang="en-US" dirty="0"/>
                        <a:t>78.6%</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muon</a:t>
                      </a:r>
                      <a:endParaRPr lang="en-SG" sz="1400" b="0" dirty="0">
                        <a:solidFill>
                          <a:srgbClr val="FF0000"/>
                        </a:solidFill>
                      </a:endParaRPr>
                    </a:p>
                  </a:txBody>
                  <a:tcPr anchor="ctr">
                    <a:solidFill>
                      <a:schemeClr val="bg2"/>
                    </a:solidFill>
                  </a:tcPr>
                </a:tc>
                <a:tc>
                  <a:txBody>
                    <a:bodyPr/>
                    <a:lstStyle/>
                    <a:p>
                      <a:pPr algn="ctr"/>
                      <a:r>
                        <a:rPr lang="en-US" dirty="0"/>
                        <a:t>21.4%</a:t>
                      </a:r>
                      <a:endParaRPr lang="en-SG" dirty="0"/>
                    </a:p>
                  </a:txBody>
                  <a:tcPr anchor="ctr"/>
                </a:tc>
                <a:extLst>
                  <a:ext uri="{0D108BD9-81ED-4DB2-BD59-A6C34878D82A}">
                    <a16:rowId xmlns:a16="http://schemas.microsoft.com/office/drawing/2014/main" val="2781143425"/>
                  </a:ext>
                </a:extLst>
              </a:tr>
            </a:tbl>
          </a:graphicData>
        </a:graphic>
      </p:graphicFrame>
      <p:sp>
        <p:nvSpPr>
          <p:cNvPr id="25" name="TextBox 24">
            <a:extLst>
              <a:ext uri="{FF2B5EF4-FFF2-40B4-BE49-F238E27FC236}">
                <a16:creationId xmlns:a16="http://schemas.microsoft.com/office/drawing/2014/main" id="{E2E21869-B11E-C4BB-E09B-89EF87FFCF95}"/>
              </a:ext>
            </a:extLst>
          </p:cNvPr>
          <p:cNvSpPr txBox="1"/>
          <p:nvPr/>
        </p:nvSpPr>
        <p:spPr>
          <a:xfrm rot="16200000">
            <a:off x="5341320" y="3370371"/>
            <a:ext cx="657609" cy="338554"/>
          </a:xfrm>
          <a:prstGeom prst="rect">
            <a:avLst/>
          </a:prstGeom>
          <a:noFill/>
        </p:spPr>
        <p:txBody>
          <a:bodyPr wrap="square" rtlCol="0">
            <a:spAutoFit/>
          </a:bodyPr>
          <a:lstStyle/>
          <a:p>
            <a:r>
              <a:rPr lang="en-US" sz="1600" dirty="0"/>
              <a:t>Truth</a:t>
            </a:r>
            <a:endParaRPr lang="en-SG" dirty="0"/>
          </a:p>
        </p:txBody>
      </p:sp>
      <p:sp>
        <p:nvSpPr>
          <p:cNvPr id="26" name="TextBox 25">
            <a:extLst>
              <a:ext uri="{FF2B5EF4-FFF2-40B4-BE49-F238E27FC236}">
                <a16:creationId xmlns:a16="http://schemas.microsoft.com/office/drawing/2014/main" id="{79E8786C-FB81-4102-3AE5-0FBBDB9BE78B}"/>
              </a:ext>
            </a:extLst>
          </p:cNvPr>
          <p:cNvSpPr txBox="1"/>
          <p:nvPr/>
        </p:nvSpPr>
        <p:spPr>
          <a:xfrm>
            <a:off x="6310737" y="1972661"/>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27" name="Table 26">
            <a:extLst>
              <a:ext uri="{FF2B5EF4-FFF2-40B4-BE49-F238E27FC236}">
                <a16:creationId xmlns:a16="http://schemas.microsoft.com/office/drawing/2014/main" id="{96096A34-A472-F6D5-6273-A9F6E81FD5CA}"/>
              </a:ext>
            </a:extLst>
          </p:cNvPr>
          <p:cNvGraphicFramePr>
            <a:graphicFrameLocks noGrp="1"/>
          </p:cNvGraphicFramePr>
          <p:nvPr>
            <p:extLst>
              <p:ext uri="{D42A27DB-BD31-4B8C-83A1-F6EECF244321}">
                <p14:modId xmlns:p14="http://schemas.microsoft.com/office/powerpoint/2010/main" val="4016516626"/>
              </p:ext>
            </p:extLst>
          </p:nvPr>
        </p:nvGraphicFramePr>
        <p:xfrm>
          <a:off x="8094232" y="2313303"/>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pion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pion</a:t>
                      </a:r>
                      <a:endParaRPr lang="en-SG" sz="1400" b="0" dirty="0">
                        <a:solidFill>
                          <a:srgbClr val="FF0000"/>
                        </a:solidFill>
                      </a:endParaRPr>
                    </a:p>
                  </a:txBody>
                  <a:tcPr anchor="ctr">
                    <a:solidFill>
                      <a:schemeClr val="bg2"/>
                    </a:solidFill>
                  </a:tcPr>
                </a:tc>
                <a:tc>
                  <a:txBody>
                    <a:bodyPr/>
                    <a:lstStyle/>
                    <a:p>
                      <a:pPr algn="ctr"/>
                      <a:r>
                        <a:rPr lang="en-US" dirty="0"/>
                        <a:t>51.5%</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pion</a:t>
                      </a:r>
                      <a:endParaRPr lang="en-SG" sz="1400" b="0" dirty="0">
                        <a:solidFill>
                          <a:srgbClr val="FF0000"/>
                        </a:solidFill>
                      </a:endParaRPr>
                    </a:p>
                  </a:txBody>
                  <a:tcPr anchor="ctr">
                    <a:solidFill>
                      <a:schemeClr val="bg2"/>
                    </a:solidFill>
                  </a:tcPr>
                </a:tc>
                <a:tc>
                  <a:txBody>
                    <a:bodyPr/>
                    <a:lstStyle/>
                    <a:p>
                      <a:pPr algn="ctr"/>
                      <a:r>
                        <a:rPr lang="en-US" dirty="0"/>
                        <a:t>48.5%</a:t>
                      </a:r>
                      <a:endParaRPr lang="en-SG" dirty="0"/>
                    </a:p>
                  </a:txBody>
                  <a:tcPr anchor="ctr"/>
                </a:tc>
                <a:extLst>
                  <a:ext uri="{0D108BD9-81ED-4DB2-BD59-A6C34878D82A}">
                    <a16:rowId xmlns:a16="http://schemas.microsoft.com/office/drawing/2014/main" val="2781143425"/>
                  </a:ext>
                </a:extLst>
              </a:tr>
            </a:tbl>
          </a:graphicData>
        </a:graphic>
      </p:graphicFrame>
      <p:sp>
        <p:nvSpPr>
          <p:cNvPr id="28" name="TextBox 27">
            <a:extLst>
              <a:ext uri="{FF2B5EF4-FFF2-40B4-BE49-F238E27FC236}">
                <a16:creationId xmlns:a16="http://schemas.microsoft.com/office/drawing/2014/main" id="{D7AC44B4-E8B2-BA9B-8339-9546B2963456}"/>
              </a:ext>
            </a:extLst>
          </p:cNvPr>
          <p:cNvSpPr txBox="1"/>
          <p:nvPr/>
        </p:nvSpPr>
        <p:spPr>
          <a:xfrm rot="16200000">
            <a:off x="7592536" y="3370371"/>
            <a:ext cx="657609" cy="338554"/>
          </a:xfrm>
          <a:prstGeom prst="rect">
            <a:avLst/>
          </a:prstGeom>
          <a:noFill/>
        </p:spPr>
        <p:txBody>
          <a:bodyPr wrap="square" rtlCol="0">
            <a:spAutoFit/>
          </a:bodyPr>
          <a:lstStyle/>
          <a:p>
            <a:r>
              <a:rPr lang="en-US" sz="1600" dirty="0"/>
              <a:t>Truth</a:t>
            </a:r>
            <a:endParaRPr lang="en-SG" dirty="0"/>
          </a:p>
        </p:txBody>
      </p:sp>
      <p:sp>
        <p:nvSpPr>
          <p:cNvPr id="29" name="TextBox 28">
            <a:extLst>
              <a:ext uri="{FF2B5EF4-FFF2-40B4-BE49-F238E27FC236}">
                <a16:creationId xmlns:a16="http://schemas.microsoft.com/office/drawing/2014/main" id="{72DF34DE-7A9D-F93A-1162-612A8C98F34D}"/>
              </a:ext>
            </a:extLst>
          </p:cNvPr>
          <p:cNvSpPr txBox="1"/>
          <p:nvPr/>
        </p:nvSpPr>
        <p:spPr>
          <a:xfrm>
            <a:off x="8561953" y="1972661"/>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30" name="Table 29">
            <a:extLst>
              <a:ext uri="{FF2B5EF4-FFF2-40B4-BE49-F238E27FC236}">
                <a16:creationId xmlns:a16="http://schemas.microsoft.com/office/drawing/2014/main" id="{A2CF3D21-4FD8-CC5D-4B7C-67EE090A5B6F}"/>
              </a:ext>
            </a:extLst>
          </p:cNvPr>
          <p:cNvGraphicFramePr>
            <a:graphicFrameLocks noGrp="1"/>
          </p:cNvGraphicFramePr>
          <p:nvPr>
            <p:extLst>
              <p:ext uri="{D42A27DB-BD31-4B8C-83A1-F6EECF244321}">
                <p14:modId xmlns:p14="http://schemas.microsoft.com/office/powerpoint/2010/main" val="42686188"/>
              </p:ext>
            </p:extLst>
          </p:nvPr>
        </p:nvGraphicFramePr>
        <p:xfrm>
          <a:off x="10345448" y="2313303"/>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proton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proton</a:t>
                      </a:r>
                      <a:endParaRPr lang="en-SG" sz="1400" b="0" dirty="0">
                        <a:solidFill>
                          <a:srgbClr val="FF0000"/>
                        </a:solidFill>
                      </a:endParaRPr>
                    </a:p>
                  </a:txBody>
                  <a:tcPr anchor="ctr">
                    <a:solidFill>
                      <a:schemeClr val="bg2"/>
                    </a:solidFill>
                  </a:tcPr>
                </a:tc>
                <a:tc>
                  <a:txBody>
                    <a:bodyPr/>
                    <a:lstStyle/>
                    <a:p>
                      <a:pPr algn="ctr"/>
                      <a:r>
                        <a:rPr lang="en-US" dirty="0"/>
                        <a:t>92.0%</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proton</a:t>
                      </a:r>
                      <a:endParaRPr lang="en-SG" sz="1400" b="0" dirty="0">
                        <a:solidFill>
                          <a:srgbClr val="FF0000"/>
                        </a:solidFill>
                      </a:endParaRPr>
                    </a:p>
                  </a:txBody>
                  <a:tcPr anchor="ctr">
                    <a:solidFill>
                      <a:schemeClr val="bg2"/>
                    </a:solidFill>
                  </a:tcPr>
                </a:tc>
                <a:tc>
                  <a:txBody>
                    <a:bodyPr/>
                    <a:lstStyle/>
                    <a:p>
                      <a:pPr algn="ctr"/>
                      <a:r>
                        <a:rPr lang="en-US" dirty="0"/>
                        <a:t>8.0%</a:t>
                      </a:r>
                      <a:endParaRPr lang="en-SG" dirty="0"/>
                    </a:p>
                  </a:txBody>
                  <a:tcPr anchor="ctr"/>
                </a:tc>
                <a:extLst>
                  <a:ext uri="{0D108BD9-81ED-4DB2-BD59-A6C34878D82A}">
                    <a16:rowId xmlns:a16="http://schemas.microsoft.com/office/drawing/2014/main" val="2781143425"/>
                  </a:ext>
                </a:extLst>
              </a:tr>
            </a:tbl>
          </a:graphicData>
        </a:graphic>
      </p:graphicFrame>
      <p:sp>
        <p:nvSpPr>
          <p:cNvPr id="31" name="TextBox 30">
            <a:extLst>
              <a:ext uri="{FF2B5EF4-FFF2-40B4-BE49-F238E27FC236}">
                <a16:creationId xmlns:a16="http://schemas.microsoft.com/office/drawing/2014/main" id="{128EDFA2-5E1D-95A0-658B-9CAE2238F4DE}"/>
              </a:ext>
            </a:extLst>
          </p:cNvPr>
          <p:cNvSpPr txBox="1"/>
          <p:nvPr/>
        </p:nvSpPr>
        <p:spPr>
          <a:xfrm rot="16200000">
            <a:off x="9843752" y="3370371"/>
            <a:ext cx="657609" cy="338554"/>
          </a:xfrm>
          <a:prstGeom prst="rect">
            <a:avLst/>
          </a:prstGeom>
          <a:noFill/>
        </p:spPr>
        <p:txBody>
          <a:bodyPr wrap="square" rtlCol="0">
            <a:spAutoFit/>
          </a:bodyPr>
          <a:lstStyle/>
          <a:p>
            <a:r>
              <a:rPr lang="en-US" sz="1600" dirty="0"/>
              <a:t>Truth</a:t>
            </a:r>
            <a:endParaRPr lang="en-SG" dirty="0"/>
          </a:p>
        </p:txBody>
      </p:sp>
      <p:sp>
        <p:nvSpPr>
          <p:cNvPr id="32" name="TextBox 31">
            <a:extLst>
              <a:ext uri="{FF2B5EF4-FFF2-40B4-BE49-F238E27FC236}">
                <a16:creationId xmlns:a16="http://schemas.microsoft.com/office/drawing/2014/main" id="{C9B60D0C-C3D3-23AD-5687-8E9BFFAD3FCC}"/>
              </a:ext>
            </a:extLst>
          </p:cNvPr>
          <p:cNvSpPr txBox="1"/>
          <p:nvPr/>
        </p:nvSpPr>
        <p:spPr>
          <a:xfrm>
            <a:off x="10813169" y="1972661"/>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35" name="Table 34">
            <a:extLst>
              <a:ext uri="{FF2B5EF4-FFF2-40B4-BE49-F238E27FC236}">
                <a16:creationId xmlns:a16="http://schemas.microsoft.com/office/drawing/2014/main" id="{6BF5F0E8-AF9E-B878-BAEF-800B526032DF}"/>
              </a:ext>
            </a:extLst>
          </p:cNvPr>
          <p:cNvGraphicFramePr>
            <a:graphicFrameLocks noGrp="1"/>
          </p:cNvGraphicFramePr>
          <p:nvPr>
            <p:extLst>
              <p:ext uri="{D42A27DB-BD31-4B8C-83A1-F6EECF244321}">
                <p14:modId xmlns:p14="http://schemas.microsoft.com/office/powerpoint/2010/main" val="2561770084"/>
              </p:ext>
            </p:extLst>
          </p:nvPr>
        </p:nvGraphicFramePr>
        <p:xfrm>
          <a:off x="101599" y="4543399"/>
          <a:ext cx="11988801" cy="1188720"/>
        </p:xfrm>
        <a:graphic>
          <a:graphicData uri="http://schemas.openxmlformats.org/drawingml/2006/table">
            <a:tbl>
              <a:tblPr firstRow="1" bandRow="1">
                <a:tableStyleId>{5C22544A-7EE6-4342-B048-85BDC9FD1C3A}</a:tableStyleId>
              </a:tblPr>
              <a:tblGrid>
                <a:gridCol w="1163782">
                  <a:extLst>
                    <a:ext uri="{9D8B030D-6E8A-4147-A177-3AD203B41FA5}">
                      <a16:colId xmlns:a16="http://schemas.microsoft.com/office/drawing/2014/main" val="2630771369"/>
                    </a:ext>
                  </a:extLst>
                </a:gridCol>
                <a:gridCol w="2050473">
                  <a:extLst>
                    <a:ext uri="{9D8B030D-6E8A-4147-A177-3AD203B41FA5}">
                      <a16:colId xmlns:a16="http://schemas.microsoft.com/office/drawing/2014/main" val="768315987"/>
                    </a:ext>
                  </a:extLst>
                </a:gridCol>
                <a:gridCol w="2235200">
                  <a:extLst>
                    <a:ext uri="{9D8B030D-6E8A-4147-A177-3AD203B41FA5}">
                      <a16:colId xmlns:a16="http://schemas.microsoft.com/office/drawing/2014/main" val="1913737133"/>
                    </a:ext>
                  </a:extLst>
                </a:gridCol>
                <a:gridCol w="2244436">
                  <a:extLst>
                    <a:ext uri="{9D8B030D-6E8A-4147-A177-3AD203B41FA5}">
                      <a16:colId xmlns:a16="http://schemas.microsoft.com/office/drawing/2014/main" val="859940901"/>
                    </a:ext>
                  </a:extLst>
                </a:gridCol>
                <a:gridCol w="2272145">
                  <a:extLst>
                    <a:ext uri="{9D8B030D-6E8A-4147-A177-3AD203B41FA5}">
                      <a16:colId xmlns:a16="http://schemas.microsoft.com/office/drawing/2014/main" val="2695000153"/>
                    </a:ext>
                  </a:extLst>
                </a:gridCol>
                <a:gridCol w="2022765">
                  <a:extLst>
                    <a:ext uri="{9D8B030D-6E8A-4147-A177-3AD203B41FA5}">
                      <a16:colId xmlns:a16="http://schemas.microsoft.com/office/drawing/2014/main" val="2820532306"/>
                    </a:ext>
                  </a:extLst>
                </a:gridCol>
              </a:tblGrid>
              <a:tr h="0">
                <a:tc>
                  <a:txBody>
                    <a:bodyPr/>
                    <a:lstStyle/>
                    <a:p>
                      <a:r>
                        <a:rPr lang="en-US" b="1" dirty="0"/>
                        <a:t>type </a:t>
                      </a:r>
                      <a:endParaRPr lang="en-SG" b="1" dirty="0"/>
                    </a:p>
                  </a:txBody>
                  <a:tcPr/>
                </a:tc>
                <a:tc>
                  <a:txBody>
                    <a:bodyPr/>
                    <a:lstStyle/>
                    <a:p>
                      <a:pPr algn="ctr"/>
                      <a:r>
                        <a:rPr lang="en-US" sz="1400" dirty="0"/>
                        <a:t>photon</a:t>
                      </a:r>
                      <a:endParaRPr lang="en-SG" sz="1400" dirty="0"/>
                    </a:p>
                  </a:txBody>
                  <a:tcPr/>
                </a:tc>
                <a:tc>
                  <a:txBody>
                    <a:bodyPr/>
                    <a:lstStyle/>
                    <a:p>
                      <a:pPr algn="ctr"/>
                      <a:r>
                        <a:rPr lang="en-US" sz="1400" dirty="0"/>
                        <a:t>electron</a:t>
                      </a:r>
                      <a:endParaRPr lang="en-SG" sz="1400" dirty="0"/>
                    </a:p>
                  </a:txBody>
                  <a:tcPr/>
                </a:tc>
                <a:tc>
                  <a:txBody>
                    <a:bodyPr/>
                    <a:lstStyle/>
                    <a:p>
                      <a:pPr algn="ctr"/>
                      <a:r>
                        <a:rPr lang="en-US" sz="1400" dirty="0"/>
                        <a:t>muon</a:t>
                      </a:r>
                      <a:endParaRPr lang="en-SG" sz="1400" dirty="0"/>
                    </a:p>
                  </a:txBody>
                  <a:tcPr/>
                </a:tc>
                <a:tc>
                  <a:txBody>
                    <a:bodyPr/>
                    <a:lstStyle/>
                    <a:p>
                      <a:pPr algn="ctr"/>
                      <a:r>
                        <a:rPr lang="en-US" sz="1400" dirty="0"/>
                        <a:t>pion</a:t>
                      </a:r>
                      <a:endParaRPr lang="en-SG" sz="1400" dirty="0"/>
                    </a:p>
                  </a:txBody>
                  <a:tcPr/>
                </a:tc>
                <a:tc>
                  <a:txBody>
                    <a:bodyPr/>
                    <a:lstStyle/>
                    <a:p>
                      <a:pPr algn="ctr"/>
                      <a:r>
                        <a:rPr lang="en-US" sz="1400" dirty="0"/>
                        <a:t>proton</a:t>
                      </a:r>
                      <a:endParaRPr lang="en-SG" sz="1400" dirty="0"/>
                    </a:p>
                  </a:txBody>
                  <a:tcPr/>
                </a:tc>
                <a:extLst>
                  <a:ext uri="{0D108BD9-81ED-4DB2-BD59-A6C34878D82A}">
                    <a16:rowId xmlns:a16="http://schemas.microsoft.com/office/drawing/2014/main" val="3688034187"/>
                  </a:ext>
                </a:extLst>
              </a:tr>
              <a:tr h="370840">
                <a:tc>
                  <a:txBody>
                    <a:bodyPr/>
                    <a:lstStyle/>
                    <a:p>
                      <a:r>
                        <a:rPr lang="en-US" sz="1600" b="1" dirty="0"/>
                        <a:t>Most common wrong PID</a:t>
                      </a:r>
                      <a:endParaRPr lang="en-SG" sz="1600" b="1" dirty="0"/>
                    </a:p>
                  </a:txBody>
                  <a:tcPr/>
                </a:tc>
                <a:tc>
                  <a:txBody>
                    <a:bodyPr/>
                    <a:lstStyle/>
                    <a:p>
                      <a:pPr algn="ctr"/>
                      <a:r>
                        <a:rPr lang="en-US" dirty="0"/>
                        <a:t>Null (19.3%)</a:t>
                      </a:r>
                    </a:p>
                    <a:p>
                      <a:pPr algn="ctr"/>
                      <a:r>
                        <a:rPr lang="en-US" dirty="0"/>
                        <a:t>/ electron (4.6%)</a:t>
                      </a:r>
                      <a:endParaRPr lang="en-SG" dirty="0"/>
                    </a:p>
                  </a:txBody>
                  <a:tcPr/>
                </a:tc>
                <a:tc>
                  <a:txBody>
                    <a:bodyPr/>
                    <a:lstStyle/>
                    <a:p>
                      <a:pPr algn="ctr"/>
                      <a:r>
                        <a:rPr lang="en-US" dirty="0"/>
                        <a:t>Photon (22.8%)</a:t>
                      </a:r>
                      <a:endParaRPr lang="en-SG" dirty="0"/>
                    </a:p>
                  </a:txBody>
                  <a:tcPr/>
                </a:tc>
                <a:tc>
                  <a:txBody>
                    <a:bodyPr/>
                    <a:lstStyle/>
                    <a:p>
                      <a:pPr algn="ctr"/>
                      <a:r>
                        <a:rPr lang="en-US" dirty="0"/>
                        <a:t>Pion (10.2%)</a:t>
                      </a:r>
                      <a:endParaRPr lang="en-SG" dirty="0"/>
                    </a:p>
                  </a:txBody>
                  <a:tcPr/>
                </a:tc>
                <a:tc>
                  <a:txBody>
                    <a:bodyPr/>
                    <a:lstStyle/>
                    <a:p>
                      <a:pPr algn="ctr"/>
                      <a:r>
                        <a:rPr lang="en-US" dirty="0"/>
                        <a:t>Proton (32.7%)</a:t>
                      </a:r>
                      <a:endParaRPr lang="en-SG" dirty="0"/>
                    </a:p>
                  </a:txBody>
                  <a:tcPr/>
                </a:tc>
                <a:tc>
                  <a:txBody>
                    <a:bodyPr/>
                    <a:lstStyle/>
                    <a:p>
                      <a:pPr algn="ctr"/>
                      <a:r>
                        <a:rPr lang="en-US" dirty="0"/>
                        <a:t>Pion (4.2%)</a:t>
                      </a:r>
                      <a:endParaRPr lang="en-SG" dirty="0"/>
                    </a:p>
                  </a:txBody>
                  <a:tcPr/>
                </a:tc>
                <a:extLst>
                  <a:ext uri="{0D108BD9-81ED-4DB2-BD59-A6C34878D82A}">
                    <a16:rowId xmlns:a16="http://schemas.microsoft.com/office/drawing/2014/main" val="1430411261"/>
                  </a:ext>
                </a:extLst>
              </a:tr>
            </a:tbl>
          </a:graphicData>
        </a:graphic>
      </p:graphicFrame>
    </p:spTree>
    <p:extLst>
      <p:ext uri="{BB962C8B-B14F-4D97-AF65-F5344CB8AC3E}">
        <p14:creationId xmlns:p14="http://schemas.microsoft.com/office/powerpoint/2010/main" val="983035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19FBB-15CE-435E-E0E7-4C8CA9A58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72D8D-0F5D-A7F5-C534-FC3E7EC53AB0}"/>
              </a:ext>
            </a:extLst>
          </p:cNvPr>
          <p:cNvSpPr>
            <a:spLocks noGrp="1"/>
          </p:cNvSpPr>
          <p:nvPr>
            <p:ph type="title"/>
          </p:nvPr>
        </p:nvSpPr>
        <p:spPr>
          <a:xfrm>
            <a:off x="914401" y="286603"/>
            <a:ext cx="10241280" cy="1450757"/>
          </a:xfrm>
        </p:spPr>
        <p:txBody>
          <a:bodyPr/>
          <a:lstStyle/>
          <a:p>
            <a:r>
              <a:rPr lang="en-US" b="1" dirty="0" err="1"/>
              <a:t>NuMI</a:t>
            </a:r>
            <a:r>
              <a:rPr lang="en-US" dirty="0"/>
              <a:t> Truth to </a:t>
            </a:r>
            <a:r>
              <a:rPr lang="en-US" dirty="0" err="1"/>
              <a:t>reco</a:t>
            </a:r>
            <a:r>
              <a:rPr lang="en-US" dirty="0"/>
              <a:t> matching </a:t>
            </a:r>
            <a:r>
              <a:rPr lang="en-US" b="1" dirty="0"/>
              <a:t>(True mode)</a:t>
            </a:r>
            <a:endParaRPr lang="en-SG" b="1" dirty="0"/>
          </a:p>
        </p:txBody>
      </p:sp>
      <p:graphicFrame>
        <p:nvGraphicFramePr>
          <p:cNvPr id="7" name="Table 6">
            <a:extLst>
              <a:ext uri="{FF2B5EF4-FFF2-40B4-BE49-F238E27FC236}">
                <a16:creationId xmlns:a16="http://schemas.microsoft.com/office/drawing/2014/main" id="{16D986C8-3A93-8745-C195-F64B27D6E397}"/>
              </a:ext>
            </a:extLst>
          </p:cNvPr>
          <p:cNvGraphicFramePr>
            <a:graphicFrameLocks noGrp="1"/>
          </p:cNvGraphicFramePr>
          <p:nvPr>
            <p:extLst>
              <p:ext uri="{D42A27DB-BD31-4B8C-83A1-F6EECF244321}">
                <p14:modId xmlns:p14="http://schemas.microsoft.com/office/powerpoint/2010/main" val="1943987135"/>
              </p:ext>
            </p:extLst>
          </p:nvPr>
        </p:nvGraphicFramePr>
        <p:xfrm>
          <a:off x="1340584" y="2291434"/>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photon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photon</a:t>
                      </a:r>
                      <a:endParaRPr lang="en-SG" sz="1400" b="0" dirty="0">
                        <a:solidFill>
                          <a:srgbClr val="FF0000"/>
                        </a:solidFill>
                      </a:endParaRPr>
                    </a:p>
                  </a:txBody>
                  <a:tcPr anchor="ctr">
                    <a:solidFill>
                      <a:schemeClr val="bg2"/>
                    </a:solidFill>
                  </a:tcPr>
                </a:tc>
                <a:tc>
                  <a:txBody>
                    <a:bodyPr/>
                    <a:lstStyle/>
                    <a:p>
                      <a:pPr algn="ctr"/>
                      <a:r>
                        <a:rPr lang="en-US" dirty="0"/>
                        <a:t>59.8%</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photon</a:t>
                      </a:r>
                      <a:endParaRPr lang="en-SG" sz="1400" b="0" dirty="0">
                        <a:solidFill>
                          <a:srgbClr val="FF0000"/>
                        </a:solidFill>
                      </a:endParaRPr>
                    </a:p>
                  </a:txBody>
                  <a:tcPr anchor="ctr">
                    <a:solidFill>
                      <a:schemeClr val="bg2"/>
                    </a:solidFill>
                  </a:tcPr>
                </a:tc>
                <a:tc>
                  <a:txBody>
                    <a:bodyPr/>
                    <a:lstStyle/>
                    <a:p>
                      <a:pPr algn="ctr"/>
                      <a:r>
                        <a:rPr lang="en-US" dirty="0"/>
                        <a:t>40.2%</a:t>
                      </a:r>
                      <a:endParaRPr lang="en-SG" dirty="0"/>
                    </a:p>
                  </a:txBody>
                  <a:tcPr anchor="ctr"/>
                </a:tc>
                <a:extLst>
                  <a:ext uri="{0D108BD9-81ED-4DB2-BD59-A6C34878D82A}">
                    <a16:rowId xmlns:a16="http://schemas.microsoft.com/office/drawing/2014/main" val="2781143425"/>
                  </a:ext>
                </a:extLst>
              </a:tr>
            </a:tbl>
          </a:graphicData>
        </a:graphic>
      </p:graphicFrame>
      <p:sp>
        <p:nvSpPr>
          <p:cNvPr id="8" name="TextBox 7">
            <a:extLst>
              <a:ext uri="{FF2B5EF4-FFF2-40B4-BE49-F238E27FC236}">
                <a16:creationId xmlns:a16="http://schemas.microsoft.com/office/drawing/2014/main" id="{3033026C-408B-FE60-0DA8-01A2EEF62B59}"/>
              </a:ext>
            </a:extLst>
          </p:cNvPr>
          <p:cNvSpPr txBox="1"/>
          <p:nvPr/>
        </p:nvSpPr>
        <p:spPr>
          <a:xfrm rot="16200000">
            <a:off x="502118" y="3389257"/>
            <a:ext cx="1425843" cy="338554"/>
          </a:xfrm>
          <a:prstGeom prst="rect">
            <a:avLst/>
          </a:prstGeom>
          <a:noFill/>
        </p:spPr>
        <p:txBody>
          <a:bodyPr wrap="square" rtlCol="0">
            <a:spAutoFit/>
          </a:bodyPr>
          <a:lstStyle/>
          <a:p>
            <a:r>
              <a:rPr lang="en-US" sz="1600" dirty="0"/>
              <a:t>Reconstructed</a:t>
            </a:r>
            <a:endParaRPr lang="en-SG" dirty="0"/>
          </a:p>
        </p:txBody>
      </p:sp>
      <p:sp>
        <p:nvSpPr>
          <p:cNvPr id="9" name="TextBox 8">
            <a:extLst>
              <a:ext uri="{FF2B5EF4-FFF2-40B4-BE49-F238E27FC236}">
                <a16:creationId xmlns:a16="http://schemas.microsoft.com/office/drawing/2014/main" id="{441638CB-BB12-DA4D-B1F6-BB092249AE41}"/>
              </a:ext>
            </a:extLst>
          </p:cNvPr>
          <p:cNvSpPr txBox="1"/>
          <p:nvPr/>
        </p:nvSpPr>
        <p:spPr>
          <a:xfrm>
            <a:off x="1808305" y="1950792"/>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21" name="Table 20">
            <a:extLst>
              <a:ext uri="{FF2B5EF4-FFF2-40B4-BE49-F238E27FC236}">
                <a16:creationId xmlns:a16="http://schemas.microsoft.com/office/drawing/2014/main" id="{BD232C56-C410-B89A-CBC5-1CD3D3C6DAD9}"/>
              </a:ext>
            </a:extLst>
          </p:cNvPr>
          <p:cNvGraphicFramePr>
            <a:graphicFrameLocks noGrp="1"/>
          </p:cNvGraphicFramePr>
          <p:nvPr>
            <p:extLst>
              <p:ext uri="{D42A27DB-BD31-4B8C-83A1-F6EECF244321}">
                <p14:modId xmlns:p14="http://schemas.microsoft.com/office/powerpoint/2010/main" val="38401800"/>
              </p:ext>
            </p:extLst>
          </p:nvPr>
        </p:nvGraphicFramePr>
        <p:xfrm>
          <a:off x="3591800" y="2288047"/>
          <a:ext cx="1673660" cy="2052741"/>
        </p:xfrm>
        <a:graphic>
          <a:graphicData uri="http://schemas.openxmlformats.org/drawingml/2006/table">
            <a:tbl>
              <a:tblPr firstRow="1" bandRow="1">
                <a:tableStyleId>{5940675A-B579-460E-94D1-54222C63F5DA}</a:tableStyleId>
              </a:tblPr>
              <a:tblGrid>
                <a:gridCol w="800821">
                  <a:extLst>
                    <a:ext uri="{9D8B030D-6E8A-4147-A177-3AD203B41FA5}">
                      <a16:colId xmlns:a16="http://schemas.microsoft.com/office/drawing/2014/main" val="2941989956"/>
                    </a:ext>
                  </a:extLst>
                </a:gridCol>
                <a:gridCol w="872839">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electron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electron</a:t>
                      </a:r>
                      <a:endParaRPr lang="en-SG" sz="1400" b="0" dirty="0">
                        <a:solidFill>
                          <a:srgbClr val="FF0000"/>
                        </a:solidFill>
                      </a:endParaRPr>
                    </a:p>
                  </a:txBody>
                  <a:tcPr anchor="ctr">
                    <a:solidFill>
                      <a:schemeClr val="bg2"/>
                    </a:solidFill>
                  </a:tcPr>
                </a:tc>
                <a:tc>
                  <a:txBody>
                    <a:bodyPr/>
                    <a:lstStyle/>
                    <a:p>
                      <a:pPr algn="ctr"/>
                      <a:r>
                        <a:rPr lang="en-US" dirty="0"/>
                        <a:t>85.0%</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electron</a:t>
                      </a:r>
                      <a:endParaRPr lang="en-SG" sz="1400" b="0" dirty="0">
                        <a:solidFill>
                          <a:srgbClr val="FF0000"/>
                        </a:solidFill>
                      </a:endParaRPr>
                    </a:p>
                  </a:txBody>
                  <a:tcPr anchor="ctr">
                    <a:solidFill>
                      <a:schemeClr val="bg2"/>
                    </a:solidFill>
                  </a:tcPr>
                </a:tc>
                <a:tc>
                  <a:txBody>
                    <a:bodyPr/>
                    <a:lstStyle/>
                    <a:p>
                      <a:pPr algn="ctr"/>
                      <a:r>
                        <a:rPr lang="en-US" dirty="0"/>
                        <a:t>15%</a:t>
                      </a:r>
                      <a:endParaRPr lang="en-SG" dirty="0"/>
                    </a:p>
                  </a:txBody>
                  <a:tcPr anchor="ctr"/>
                </a:tc>
                <a:extLst>
                  <a:ext uri="{0D108BD9-81ED-4DB2-BD59-A6C34878D82A}">
                    <a16:rowId xmlns:a16="http://schemas.microsoft.com/office/drawing/2014/main" val="2781143425"/>
                  </a:ext>
                </a:extLst>
              </a:tr>
            </a:tbl>
          </a:graphicData>
        </a:graphic>
      </p:graphicFrame>
      <p:sp>
        <p:nvSpPr>
          <p:cNvPr id="22" name="TextBox 21">
            <a:extLst>
              <a:ext uri="{FF2B5EF4-FFF2-40B4-BE49-F238E27FC236}">
                <a16:creationId xmlns:a16="http://schemas.microsoft.com/office/drawing/2014/main" id="{F303659B-E4FE-0A7C-179A-BBEFCAC2DD3A}"/>
              </a:ext>
            </a:extLst>
          </p:cNvPr>
          <p:cNvSpPr txBox="1"/>
          <p:nvPr/>
        </p:nvSpPr>
        <p:spPr>
          <a:xfrm rot="16200000">
            <a:off x="2753332" y="3389257"/>
            <a:ext cx="1425847" cy="338554"/>
          </a:xfrm>
          <a:prstGeom prst="rect">
            <a:avLst/>
          </a:prstGeom>
          <a:noFill/>
        </p:spPr>
        <p:txBody>
          <a:bodyPr wrap="square" rtlCol="0">
            <a:spAutoFit/>
          </a:bodyPr>
          <a:lstStyle/>
          <a:p>
            <a:r>
              <a:rPr lang="en-US" sz="1600" dirty="0"/>
              <a:t>Reconstructed</a:t>
            </a:r>
            <a:endParaRPr lang="en-SG" dirty="0"/>
          </a:p>
        </p:txBody>
      </p:sp>
      <p:sp>
        <p:nvSpPr>
          <p:cNvPr id="23" name="TextBox 22">
            <a:extLst>
              <a:ext uri="{FF2B5EF4-FFF2-40B4-BE49-F238E27FC236}">
                <a16:creationId xmlns:a16="http://schemas.microsoft.com/office/drawing/2014/main" id="{27487D5F-EA1C-2FDE-678B-26D7952EF96D}"/>
              </a:ext>
            </a:extLst>
          </p:cNvPr>
          <p:cNvSpPr txBox="1"/>
          <p:nvPr/>
        </p:nvSpPr>
        <p:spPr>
          <a:xfrm>
            <a:off x="4059521" y="1947405"/>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24" name="Table 23">
            <a:extLst>
              <a:ext uri="{FF2B5EF4-FFF2-40B4-BE49-F238E27FC236}">
                <a16:creationId xmlns:a16="http://schemas.microsoft.com/office/drawing/2014/main" id="{E1D018EE-2E1A-3FBF-6FE0-892034BBF542}"/>
              </a:ext>
            </a:extLst>
          </p:cNvPr>
          <p:cNvGraphicFramePr>
            <a:graphicFrameLocks noGrp="1"/>
          </p:cNvGraphicFramePr>
          <p:nvPr>
            <p:extLst>
              <p:ext uri="{D42A27DB-BD31-4B8C-83A1-F6EECF244321}">
                <p14:modId xmlns:p14="http://schemas.microsoft.com/office/powerpoint/2010/main" val="696629620"/>
              </p:ext>
            </p:extLst>
          </p:nvPr>
        </p:nvGraphicFramePr>
        <p:xfrm>
          <a:off x="5843016" y="2288047"/>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muon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muon</a:t>
                      </a:r>
                      <a:endParaRPr lang="en-SG" sz="1400" b="0" dirty="0">
                        <a:solidFill>
                          <a:srgbClr val="FF0000"/>
                        </a:solidFill>
                      </a:endParaRPr>
                    </a:p>
                  </a:txBody>
                  <a:tcPr anchor="ctr">
                    <a:solidFill>
                      <a:schemeClr val="bg2"/>
                    </a:solidFill>
                  </a:tcPr>
                </a:tc>
                <a:tc>
                  <a:txBody>
                    <a:bodyPr/>
                    <a:lstStyle/>
                    <a:p>
                      <a:pPr algn="ctr"/>
                      <a:r>
                        <a:rPr lang="en-US" dirty="0"/>
                        <a:t>83.6%</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muon</a:t>
                      </a:r>
                      <a:endParaRPr lang="en-SG" sz="1400" b="0" dirty="0">
                        <a:solidFill>
                          <a:srgbClr val="FF0000"/>
                        </a:solidFill>
                      </a:endParaRPr>
                    </a:p>
                  </a:txBody>
                  <a:tcPr anchor="ctr">
                    <a:solidFill>
                      <a:schemeClr val="bg2"/>
                    </a:solidFill>
                  </a:tcPr>
                </a:tc>
                <a:tc>
                  <a:txBody>
                    <a:bodyPr/>
                    <a:lstStyle/>
                    <a:p>
                      <a:pPr algn="ctr"/>
                      <a:r>
                        <a:rPr lang="en-US" dirty="0"/>
                        <a:t>16.4%</a:t>
                      </a:r>
                      <a:endParaRPr lang="en-SG" dirty="0"/>
                    </a:p>
                  </a:txBody>
                  <a:tcPr anchor="ctr"/>
                </a:tc>
                <a:extLst>
                  <a:ext uri="{0D108BD9-81ED-4DB2-BD59-A6C34878D82A}">
                    <a16:rowId xmlns:a16="http://schemas.microsoft.com/office/drawing/2014/main" val="2781143425"/>
                  </a:ext>
                </a:extLst>
              </a:tr>
            </a:tbl>
          </a:graphicData>
        </a:graphic>
      </p:graphicFrame>
      <p:sp>
        <p:nvSpPr>
          <p:cNvPr id="25" name="TextBox 24">
            <a:extLst>
              <a:ext uri="{FF2B5EF4-FFF2-40B4-BE49-F238E27FC236}">
                <a16:creationId xmlns:a16="http://schemas.microsoft.com/office/drawing/2014/main" id="{87470738-AD8C-E7AF-B01F-DD6E7CF09C5C}"/>
              </a:ext>
            </a:extLst>
          </p:cNvPr>
          <p:cNvSpPr txBox="1"/>
          <p:nvPr/>
        </p:nvSpPr>
        <p:spPr>
          <a:xfrm rot="16200000">
            <a:off x="4996328" y="3376802"/>
            <a:ext cx="1450757" cy="338554"/>
          </a:xfrm>
          <a:prstGeom prst="rect">
            <a:avLst/>
          </a:prstGeom>
          <a:noFill/>
        </p:spPr>
        <p:txBody>
          <a:bodyPr wrap="square" rtlCol="0">
            <a:spAutoFit/>
          </a:bodyPr>
          <a:lstStyle/>
          <a:p>
            <a:r>
              <a:rPr lang="en-US" sz="1600" dirty="0"/>
              <a:t>Reconstructed</a:t>
            </a:r>
            <a:endParaRPr lang="en-SG" dirty="0"/>
          </a:p>
        </p:txBody>
      </p:sp>
      <p:sp>
        <p:nvSpPr>
          <p:cNvPr id="26" name="TextBox 25">
            <a:extLst>
              <a:ext uri="{FF2B5EF4-FFF2-40B4-BE49-F238E27FC236}">
                <a16:creationId xmlns:a16="http://schemas.microsoft.com/office/drawing/2014/main" id="{DC510780-2E70-71F3-A906-6B61E304C589}"/>
              </a:ext>
            </a:extLst>
          </p:cNvPr>
          <p:cNvSpPr txBox="1"/>
          <p:nvPr/>
        </p:nvSpPr>
        <p:spPr>
          <a:xfrm>
            <a:off x="6310737" y="1947405"/>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27" name="Table 26">
            <a:extLst>
              <a:ext uri="{FF2B5EF4-FFF2-40B4-BE49-F238E27FC236}">
                <a16:creationId xmlns:a16="http://schemas.microsoft.com/office/drawing/2014/main" id="{1CD8E39D-4FA1-DF71-5F4B-16402543EBC4}"/>
              </a:ext>
            </a:extLst>
          </p:cNvPr>
          <p:cNvGraphicFramePr>
            <a:graphicFrameLocks noGrp="1"/>
          </p:cNvGraphicFramePr>
          <p:nvPr>
            <p:extLst>
              <p:ext uri="{D42A27DB-BD31-4B8C-83A1-F6EECF244321}">
                <p14:modId xmlns:p14="http://schemas.microsoft.com/office/powerpoint/2010/main" val="2192290165"/>
              </p:ext>
            </p:extLst>
          </p:nvPr>
        </p:nvGraphicFramePr>
        <p:xfrm>
          <a:off x="8094232" y="2288047"/>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pion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pion</a:t>
                      </a:r>
                      <a:endParaRPr lang="en-SG" sz="1400" b="0" dirty="0">
                        <a:solidFill>
                          <a:srgbClr val="FF0000"/>
                        </a:solidFill>
                      </a:endParaRPr>
                    </a:p>
                  </a:txBody>
                  <a:tcPr anchor="ctr">
                    <a:solidFill>
                      <a:schemeClr val="bg2"/>
                    </a:solidFill>
                  </a:tcPr>
                </a:tc>
                <a:tc>
                  <a:txBody>
                    <a:bodyPr/>
                    <a:lstStyle/>
                    <a:p>
                      <a:pPr algn="ctr"/>
                      <a:r>
                        <a:rPr lang="en-US" dirty="0"/>
                        <a:t>67.2%</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pion</a:t>
                      </a:r>
                      <a:endParaRPr lang="en-SG" sz="1400" b="0" dirty="0">
                        <a:solidFill>
                          <a:srgbClr val="FF0000"/>
                        </a:solidFill>
                      </a:endParaRPr>
                    </a:p>
                  </a:txBody>
                  <a:tcPr anchor="ctr">
                    <a:solidFill>
                      <a:schemeClr val="bg2"/>
                    </a:solidFill>
                  </a:tcPr>
                </a:tc>
                <a:tc>
                  <a:txBody>
                    <a:bodyPr/>
                    <a:lstStyle/>
                    <a:p>
                      <a:pPr algn="ctr"/>
                      <a:r>
                        <a:rPr lang="en-US" dirty="0"/>
                        <a:t>32.8%</a:t>
                      </a:r>
                      <a:endParaRPr lang="en-SG" dirty="0"/>
                    </a:p>
                  </a:txBody>
                  <a:tcPr anchor="ctr"/>
                </a:tc>
                <a:extLst>
                  <a:ext uri="{0D108BD9-81ED-4DB2-BD59-A6C34878D82A}">
                    <a16:rowId xmlns:a16="http://schemas.microsoft.com/office/drawing/2014/main" val="2781143425"/>
                  </a:ext>
                </a:extLst>
              </a:tr>
            </a:tbl>
          </a:graphicData>
        </a:graphic>
      </p:graphicFrame>
      <p:sp>
        <p:nvSpPr>
          <p:cNvPr id="28" name="TextBox 27">
            <a:extLst>
              <a:ext uri="{FF2B5EF4-FFF2-40B4-BE49-F238E27FC236}">
                <a16:creationId xmlns:a16="http://schemas.microsoft.com/office/drawing/2014/main" id="{05C2024E-A0C0-1281-6B14-36129F7B2288}"/>
              </a:ext>
            </a:extLst>
          </p:cNvPr>
          <p:cNvSpPr txBox="1"/>
          <p:nvPr/>
        </p:nvSpPr>
        <p:spPr>
          <a:xfrm rot="16200000">
            <a:off x="7263616" y="3389255"/>
            <a:ext cx="1425847" cy="338554"/>
          </a:xfrm>
          <a:prstGeom prst="rect">
            <a:avLst/>
          </a:prstGeom>
          <a:noFill/>
        </p:spPr>
        <p:txBody>
          <a:bodyPr wrap="square" rtlCol="0">
            <a:spAutoFit/>
          </a:bodyPr>
          <a:lstStyle/>
          <a:p>
            <a:r>
              <a:rPr lang="en-US" sz="1600" dirty="0"/>
              <a:t>Reconstructed</a:t>
            </a:r>
            <a:endParaRPr lang="en-SG" dirty="0"/>
          </a:p>
        </p:txBody>
      </p:sp>
      <p:sp>
        <p:nvSpPr>
          <p:cNvPr id="29" name="TextBox 28">
            <a:extLst>
              <a:ext uri="{FF2B5EF4-FFF2-40B4-BE49-F238E27FC236}">
                <a16:creationId xmlns:a16="http://schemas.microsoft.com/office/drawing/2014/main" id="{676FF42C-6215-2614-528C-E1EC5A054FCB}"/>
              </a:ext>
            </a:extLst>
          </p:cNvPr>
          <p:cNvSpPr txBox="1"/>
          <p:nvPr/>
        </p:nvSpPr>
        <p:spPr>
          <a:xfrm>
            <a:off x="8561953" y="1947405"/>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30" name="Table 29">
            <a:extLst>
              <a:ext uri="{FF2B5EF4-FFF2-40B4-BE49-F238E27FC236}">
                <a16:creationId xmlns:a16="http://schemas.microsoft.com/office/drawing/2014/main" id="{D071FC39-8F13-D7DA-5946-C4653A5C22A4}"/>
              </a:ext>
            </a:extLst>
          </p:cNvPr>
          <p:cNvGraphicFramePr>
            <a:graphicFrameLocks noGrp="1"/>
          </p:cNvGraphicFramePr>
          <p:nvPr>
            <p:extLst>
              <p:ext uri="{D42A27DB-BD31-4B8C-83A1-F6EECF244321}">
                <p14:modId xmlns:p14="http://schemas.microsoft.com/office/powerpoint/2010/main" val="124642226"/>
              </p:ext>
            </p:extLst>
          </p:nvPr>
        </p:nvGraphicFramePr>
        <p:xfrm>
          <a:off x="10345448" y="2288047"/>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Is proton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proton</a:t>
                      </a:r>
                      <a:endParaRPr lang="en-SG" sz="1400" b="0" dirty="0">
                        <a:solidFill>
                          <a:srgbClr val="FF0000"/>
                        </a:solidFill>
                      </a:endParaRPr>
                    </a:p>
                  </a:txBody>
                  <a:tcPr anchor="ctr">
                    <a:solidFill>
                      <a:schemeClr val="bg2"/>
                    </a:solidFill>
                  </a:tcPr>
                </a:tc>
                <a:tc>
                  <a:txBody>
                    <a:bodyPr/>
                    <a:lstStyle/>
                    <a:p>
                      <a:pPr algn="ctr"/>
                      <a:r>
                        <a:rPr lang="en-US" dirty="0"/>
                        <a:t>79.6%</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proton</a:t>
                      </a:r>
                      <a:endParaRPr lang="en-SG" sz="1400" b="0" dirty="0">
                        <a:solidFill>
                          <a:srgbClr val="FF0000"/>
                        </a:solidFill>
                      </a:endParaRPr>
                    </a:p>
                  </a:txBody>
                  <a:tcPr anchor="ctr">
                    <a:solidFill>
                      <a:schemeClr val="bg2"/>
                    </a:solidFill>
                  </a:tcPr>
                </a:tc>
                <a:tc>
                  <a:txBody>
                    <a:bodyPr/>
                    <a:lstStyle/>
                    <a:p>
                      <a:pPr algn="ctr"/>
                      <a:r>
                        <a:rPr lang="en-US" dirty="0"/>
                        <a:t>20.4%</a:t>
                      </a:r>
                      <a:endParaRPr lang="en-SG" dirty="0"/>
                    </a:p>
                  </a:txBody>
                  <a:tcPr anchor="ctr"/>
                </a:tc>
                <a:extLst>
                  <a:ext uri="{0D108BD9-81ED-4DB2-BD59-A6C34878D82A}">
                    <a16:rowId xmlns:a16="http://schemas.microsoft.com/office/drawing/2014/main" val="2781143425"/>
                  </a:ext>
                </a:extLst>
              </a:tr>
            </a:tbl>
          </a:graphicData>
        </a:graphic>
      </p:graphicFrame>
      <p:sp>
        <p:nvSpPr>
          <p:cNvPr id="31" name="TextBox 30">
            <a:extLst>
              <a:ext uri="{FF2B5EF4-FFF2-40B4-BE49-F238E27FC236}">
                <a16:creationId xmlns:a16="http://schemas.microsoft.com/office/drawing/2014/main" id="{26F8B37E-07FC-D08E-B5F0-67C15BD715F1}"/>
              </a:ext>
            </a:extLst>
          </p:cNvPr>
          <p:cNvSpPr txBox="1"/>
          <p:nvPr/>
        </p:nvSpPr>
        <p:spPr>
          <a:xfrm rot="16200000">
            <a:off x="9498761" y="3376801"/>
            <a:ext cx="1450758" cy="338554"/>
          </a:xfrm>
          <a:prstGeom prst="rect">
            <a:avLst/>
          </a:prstGeom>
          <a:noFill/>
        </p:spPr>
        <p:txBody>
          <a:bodyPr wrap="square" rtlCol="0">
            <a:spAutoFit/>
          </a:bodyPr>
          <a:lstStyle/>
          <a:p>
            <a:r>
              <a:rPr lang="en-US" sz="1600" dirty="0"/>
              <a:t>Reconstructed</a:t>
            </a:r>
            <a:endParaRPr lang="en-SG" dirty="0"/>
          </a:p>
        </p:txBody>
      </p:sp>
      <p:sp>
        <p:nvSpPr>
          <p:cNvPr id="32" name="TextBox 31">
            <a:extLst>
              <a:ext uri="{FF2B5EF4-FFF2-40B4-BE49-F238E27FC236}">
                <a16:creationId xmlns:a16="http://schemas.microsoft.com/office/drawing/2014/main" id="{E8122CAE-3EDC-91D0-4643-8102F2D5E5B6}"/>
              </a:ext>
            </a:extLst>
          </p:cNvPr>
          <p:cNvSpPr txBox="1"/>
          <p:nvPr/>
        </p:nvSpPr>
        <p:spPr>
          <a:xfrm>
            <a:off x="10813169" y="1947405"/>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4" name="Table 3">
            <a:extLst>
              <a:ext uri="{FF2B5EF4-FFF2-40B4-BE49-F238E27FC236}">
                <a16:creationId xmlns:a16="http://schemas.microsoft.com/office/drawing/2014/main" id="{470F3284-0232-A65D-7071-8A33FF6B43DB}"/>
              </a:ext>
            </a:extLst>
          </p:cNvPr>
          <p:cNvGraphicFramePr>
            <a:graphicFrameLocks noGrp="1"/>
          </p:cNvGraphicFramePr>
          <p:nvPr>
            <p:extLst>
              <p:ext uri="{D42A27DB-BD31-4B8C-83A1-F6EECF244321}">
                <p14:modId xmlns:p14="http://schemas.microsoft.com/office/powerpoint/2010/main" val="3028782602"/>
              </p:ext>
            </p:extLst>
          </p:nvPr>
        </p:nvGraphicFramePr>
        <p:xfrm>
          <a:off x="101600" y="4554221"/>
          <a:ext cx="11988801" cy="1193800"/>
        </p:xfrm>
        <a:graphic>
          <a:graphicData uri="http://schemas.openxmlformats.org/drawingml/2006/table">
            <a:tbl>
              <a:tblPr firstRow="1" bandRow="1">
                <a:tableStyleId>{5C22544A-7EE6-4342-B048-85BDC9FD1C3A}</a:tableStyleId>
              </a:tblPr>
              <a:tblGrid>
                <a:gridCol w="1163782">
                  <a:extLst>
                    <a:ext uri="{9D8B030D-6E8A-4147-A177-3AD203B41FA5}">
                      <a16:colId xmlns:a16="http://schemas.microsoft.com/office/drawing/2014/main" val="2630771369"/>
                    </a:ext>
                  </a:extLst>
                </a:gridCol>
                <a:gridCol w="2050473">
                  <a:extLst>
                    <a:ext uri="{9D8B030D-6E8A-4147-A177-3AD203B41FA5}">
                      <a16:colId xmlns:a16="http://schemas.microsoft.com/office/drawing/2014/main" val="768315987"/>
                    </a:ext>
                  </a:extLst>
                </a:gridCol>
                <a:gridCol w="2235200">
                  <a:extLst>
                    <a:ext uri="{9D8B030D-6E8A-4147-A177-3AD203B41FA5}">
                      <a16:colId xmlns:a16="http://schemas.microsoft.com/office/drawing/2014/main" val="1913737133"/>
                    </a:ext>
                  </a:extLst>
                </a:gridCol>
                <a:gridCol w="2244436">
                  <a:extLst>
                    <a:ext uri="{9D8B030D-6E8A-4147-A177-3AD203B41FA5}">
                      <a16:colId xmlns:a16="http://schemas.microsoft.com/office/drawing/2014/main" val="859940901"/>
                    </a:ext>
                  </a:extLst>
                </a:gridCol>
                <a:gridCol w="2272145">
                  <a:extLst>
                    <a:ext uri="{9D8B030D-6E8A-4147-A177-3AD203B41FA5}">
                      <a16:colId xmlns:a16="http://schemas.microsoft.com/office/drawing/2014/main" val="2695000153"/>
                    </a:ext>
                  </a:extLst>
                </a:gridCol>
                <a:gridCol w="2022765">
                  <a:extLst>
                    <a:ext uri="{9D8B030D-6E8A-4147-A177-3AD203B41FA5}">
                      <a16:colId xmlns:a16="http://schemas.microsoft.com/office/drawing/2014/main" val="2820532306"/>
                    </a:ext>
                  </a:extLst>
                </a:gridCol>
              </a:tblGrid>
              <a:tr h="370840">
                <a:tc>
                  <a:txBody>
                    <a:bodyPr/>
                    <a:lstStyle/>
                    <a:p>
                      <a:r>
                        <a:rPr lang="en-US" b="1" dirty="0"/>
                        <a:t>type </a:t>
                      </a:r>
                      <a:endParaRPr lang="en-SG" b="1" dirty="0"/>
                    </a:p>
                  </a:txBody>
                  <a:tcPr/>
                </a:tc>
                <a:tc>
                  <a:txBody>
                    <a:bodyPr/>
                    <a:lstStyle/>
                    <a:p>
                      <a:pPr algn="ctr"/>
                      <a:r>
                        <a:rPr lang="en-US" sz="1400" dirty="0"/>
                        <a:t>photon</a:t>
                      </a:r>
                      <a:endParaRPr lang="en-SG" sz="1400" dirty="0"/>
                    </a:p>
                  </a:txBody>
                  <a:tcPr/>
                </a:tc>
                <a:tc>
                  <a:txBody>
                    <a:bodyPr/>
                    <a:lstStyle/>
                    <a:p>
                      <a:pPr algn="ctr"/>
                      <a:r>
                        <a:rPr lang="en-US" sz="1400" dirty="0"/>
                        <a:t>electron</a:t>
                      </a:r>
                      <a:endParaRPr lang="en-SG" sz="1400" dirty="0"/>
                    </a:p>
                  </a:txBody>
                  <a:tcPr/>
                </a:tc>
                <a:tc>
                  <a:txBody>
                    <a:bodyPr/>
                    <a:lstStyle/>
                    <a:p>
                      <a:pPr algn="ctr"/>
                      <a:r>
                        <a:rPr lang="en-US" sz="1400" dirty="0"/>
                        <a:t>muon</a:t>
                      </a:r>
                      <a:endParaRPr lang="en-SG" sz="1400" dirty="0"/>
                    </a:p>
                  </a:txBody>
                  <a:tcPr/>
                </a:tc>
                <a:tc>
                  <a:txBody>
                    <a:bodyPr/>
                    <a:lstStyle/>
                    <a:p>
                      <a:pPr algn="ctr"/>
                      <a:r>
                        <a:rPr lang="en-US" sz="1400" dirty="0"/>
                        <a:t>pion</a:t>
                      </a:r>
                      <a:endParaRPr lang="en-SG" sz="1400" dirty="0"/>
                    </a:p>
                  </a:txBody>
                  <a:tcPr/>
                </a:tc>
                <a:tc>
                  <a:txBody>
                    <a:bodyPr/>
                    <a:lstStyle/>
                    <a:p>
                      <a:pPr algn="ctr"/>
                      <a:r>
                        <a:rPr lang="en-US" sz="1400" dirty="0"/>
                        <a:t>proton</a:t>
                      </a:r>
                      <a:endParaRPr lang="en-SG" sz="1400" dirty="0"/>
                    </a:p>
                  </a:txBody>
                  <a:tcPr/>
                </a:tc>
                <a:extLst>
                  <a:ext uri="{0D108BD9-81ED-4DB2-BD59-A6C34878D82A}">
                    <a16:rowId xmlns:a16="http://schemas.microsoft.com/office/drawing/2014/main" val="3688034187"/>
                  </a:ext>
                </a:extLst>
              </a:tr>
              <a:tr h="370840">
                <a:tc>
                  <a:txBody>
                    <a:bodyPr/>
                    <a:lstStyle/>
                    <a:p>
                      <a:r>
                        <a:rPr lang="en-US" sz="1600" b="1" dirty="0"/>
                        <a:t>Most common wrong PID</a:t>
                      </a:r>
                      <a:endParaRPr lang="en-SG" sz="1600" b="1" dirty="0"/>
                    </a:p>
                  </a:txBody>
                  <a:tcPr/>
                </a:tc>
                <a:tc>
                  <a:txBody>
                    <a:bodyPr/>
                    <a:lstStyle/>
                    <a:p>
                      <a:pPr algn="ctr"/>
                      <a:r>
                        <a:rPr lang="en-US" dirty="0"/>
                        <a:t>Null (15.4%)</a:t>
                      </a:r>
                      <a:br>
                        <a:rPr lang="en-US" dirty="0"/>
                      </a:br>
                      <a:r>
                        <a:rPr lang="en-US" dirty="0"/>
                        <a:t>/  Electron (23.8%)</a:t>
                      </a:r>
                      <a:endParaRPr lang="en-SG" dirty="0"/>
                    </a:p>
                  </a:txBody>
                  <a:tcPr/>
                </a:tc>
                <a:tc>
                  <a:txBody>
                    <a:bodyPr/>
                    <a:lstStyle/>
                    <a:p>
                      <a:pPr algn="ctr"/>
                      <a:r>
                        <a:rPr lang="en-US" dirty="0"/>
                        <a:t>Photon (4.4%)</a:t>
                      </a:r>
                    </a:p>
                    <a:p>
                      <a:pPr algn="ctr"/>
                      <a:r>
                        <a:rPr lang="en-US" dirty="0"/>
                        <a:t>/ Muon (7.3%)</a:t>
                      </a:r>
                      <a:endParaRPr lang="en-SG" dirty="0"/>
                    </a:p>
                  </a:txBody>
                  <a:tcPr/>
                </a:tc>
                <a:tc>
                  <a:txBody>
                    <a:bodyPr/>
                    <a:lstStyle/>
                    <a:p>
                      <a:pPr algn="ctr"/>
                      <a:r>
                        <a:rPr lang="en-US" dirty="0"/>
                        <a:t>Pion (10%)</a:t>
                      </a:r>
                      <a:endParaRPr lang="en-SG" dirty="0"/>
                    </a:p>
                  </a:txBody>
                  <a:tcPr/>
                </a:tc>
                <a:tc>
                  <a:txBody>
                    <a:bodyPr/>
                    <a:lstStyle/>
                    <a:p>
                      <a:pPr algn="ctr"/>
                      <a:r>
                        <a:rPr lang="en-US" dirty="0"/>
                        <a:t>Muon (13.5%)</a:t>
                      </a:r>
                    </a:p>
                    <a:p>
                      <a:pPr algn="ctr"/>
                      <a:r>
                        <a:rPr lang="en-US" dirty="0"/>
                        <a:t>/ Proton (16.5%)</a:t>
                      </a:r>
                      <a:endParaRPr lang="en-SG" dirty="0"/>
                    </a:p>
                  </a:txBody>
                  <a:tcPr/>
                </a:tc>
                <a:tc>
                  <a:txBody>
                    <a:bodyPr/>
                    <a:lstStyle/>
                    <a:p>
                      <a:pPr algn="ctr"/>
                      <a:r>
                        <a:rPr lang="en-US" dirty="0"/>
                        <a:t>Pion (13.5%)</a:t>
                      </a:r>
                      <a:endParaRPr lang="en-SG" dirty="0"/>
                    </a:p>
                  </a:txBody>
                  <a:tcPr/>
                </a:tc>
                <a:extLst>
                  <a:ext uri="{0D108BD9-81ED-4DB2-BD59-A6C34878D82A}">
                    <a16:rowId xmlns:a16="http://schemas.microsoft.com/office/drawing/2014/main" val="1430411261"/>
                  </a:ext>
                </a:extLst>
              </a:tr>
            </a:tbl>
          </a:graphicData>
        </a:graphic>
      </p:graphicFrame>
    </p:spTree>
    <p:extLst>
      <p:ext uri="{BB962C8B-B14F-4D97-AF65-F5344CB8AC3E}">
        <p14:creationId xmlns:p14="http://schemas.microsoft.com/office/powerpoint/2010/main" val="4092176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DD729-37DD-9EC4-890E-BA1A402B4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D5A1A-4EE3-04A1-6B95-4CE3C501277A}"/>
              </a:ext>
            </a:extLst>
          </p:cNvPr>
          <p:cNvSpPr>
            <a:spLocks noGrp="1"/>
          </p:cNvSpPr>
          <p:nvPr>
            <p:ph type="title"/>
          </p:nvPr>
        </p:nvSpPr>
        <p:spPr/>
        <p:txBody>
          <a:bodyPr/>
          <a:lstStyle/>
          <a:p>
            <a:r>
              <a:rPr lang="en-US" b="1" dirty="0"/>
              <a:t>BNB</a:t>
            </a:r>
            <a:r>
              <a:rPr lang="en-US" dirty="0"/>
              <a:t> Reco to truth matching </a:t>
            </a:r>
            <a:r>
              <a:rPr lang="en-US" b="1" dirty="0"/>
              <a:t>(Reco mode)</a:t>
            </a:r>
            <a:endParaRPr lang="en-SG" b="1" dirty="0"/>
          </a:p>
        </p:txBody>
      </p:sp>
      <p:graphicFrame>
        <p:nvGraphicFramePr>
          <p:cNvPr id="7" name="Table 6">
            <a:extLst>
              <a:ext uri="{FF2B5EF4-FFF2-40B4-BE49-F238E27FC236}">
                <a16:creationId xmlns:a16="http://schemas.microsoft.com/office/drawing/2014/main" id="{321873F7-E651-C346-141D-24A28804381A}"/>
              </a:ext>
            </a:extLst>
          </p:cNvPr>
          <p:cNvGraphicFramePr>
            <a:graphicFrameLocks noGrp="1"/>
          </p:cNvGraphicFramePr>
          <p:nvPr>
            <p:extLst>
              <p:ext uri="{D42A27DB-BD31-4B8C-83A1-F6EECF244321}">
                <p14:modId xmlns:p14="http://schemas.microsoft.com/office/powerpoint/2010/main" val="1621238501"/>
              </p:ext>
            </p:extLst>
          </p:nvPr>
        </p:nvGraphicFramePr>
        <p:xfrm>
          <a:off x="1340584" y="2316690"/>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t>BNB</a:t>
                      </a:r>
                      <a:endParaRPr lang="en-SG" b="0" dirty="0">
                        <a:solidFill>
                          <a:schemeClr val="tx1"/>
                        </a:solidFill>
                      </a:endParaRPr>
                    </a:p>
                  </a:txBody>
                  <a:tcPr anchor="ctr"/>
                </a:tc>
                <a:tc>
                  <a:txBody>
                    <a:bodyPr/>
                    <a:lstStyle/>
                    <a:p>
                      <a:pPr algn="ctr"/>
                      <a:r>
                        <a:rPr lang="en-US" sz="1400" dirty="0">
                          <a:solidFill>
                            <a:srgbClr val="FF0000"/>
                          </a:solidFill>
                        </a:rPr>
                        <a:t>Is photon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photon</a:t>
                      </a:r>
                      <a:endParaRPr lang="en-SG" sz="1400" b="0" dirty="0">
                        <a:solidFill>
                          <a:srgbClr val="FF0000"/>
                        </a:solidFill>
                      </a:endParaRPr>
                    </a:p>
                  </a:txBody>
                  <a:tcPr anchor="ctr">
                    <a:solidFill>
                      <a:schemeClr val="bg2"/>
                    </a:solidFill>
                  </a:tcPr>
                </a:tc>
                <a:tc>
                  <a:txBody>
                    <a:bodyPr/>
                    <a:lstStyle/>
                    <a:p>
                      <a:pPr algn="ctr"/>
                      <a:r>
                        <a:rPr lang="en-US" dirty="0"/>
                        <a:t>75.9%</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photon</a:t>
                      </a:r>
                      <a:endParaRPr lang="en-SG" sz="1400" b="0" dirty="0">
                        <a:solidFill>
                          <a:srgbClr val="FF0000"/>
                        </a:solidFill>
                      </a:endParaRPr>
                    </a:p>
                  </a:txBody>
                  <a:tcPr anchor="ctr">
                    <a:solidFill>
                      <a:schemeClr val="bg2"/>
                    </a:solidFill>
                  </a:tcPr>
                </a:tc>
                <a:tc>
                  <a:txBody>
                    <a:bodyPr/>
                    <a:lstStyle/>
                    <a:p>
                      <a:pPr algn="ctr"/>
                      <a:r>
                        <a:rPr lang="en-US" dirty="0"/>
                        <a:t>24.1%</a:t>
                      </a:r>
                      <a:endParaRPr lang="en-SG" dirty="0"/>
                    </a:p>
                  </a:txBody>
                  <a:tcPr anchor="ctr"/>
                </a:tc>
                <a:extLst>
                  <a:ext uri="{0D108BD9-81ED-4DB2-BD59-A6C34878D82A}">
                    <a16:rowId xmlns:a16="http://schemas.microsoft.com/office/drawing/2014/main" val="2781143425"/>
                  </a:ext>
                </a:extLst>
              </a:tr>
            </a:tbl>
          </a:graphicData>
        </a:graphic>
      </p:graphicFrame>
      <p:sp>
        <p:nvSpPr>
          <p:cNvPr id="8" name="TextBox 7">
            <a:extLst>
              <a:ext uri="{FF2B5EF4-FFF2-40B4-BE49-F238E27FC236}">
                <a16:creationId xmlns:a16="http://schemas.microsoft.com/office/drawing/2014/main" id="{F5BDA07F-7134-9A4F-3B7E-6CCE971A1F89}"/>
              </a:ext>
            </a:extLst>
          </p:cNvPr>
          <p:cNvSpPr txBox="1"/>
          <p:nvPr/>
        </p:nvSpPr>
        <p:spPr>
          <a:xfrm rot="16200000">
            <a:off x="838888" y="3373758"/>
            <a:ext cx="657609" cy="338554"/>
          </a:xfrm>
          <a:prstGeom prst="rect">
            <a:avLst/>
          </a:prstGeom>
          <a:noFill/>
        </p:spPr>
        <p:txBody>
          <a:bodyPr wrap="square" rtlCol="0">
            <a:spAutoFit/>
          </a:bodyPr>
          <a:lstStyle/>
          <a:p>
            <a:r>
              <a:rPr lang="en-US" sz="1600" dirty="0"/>
              <a:t>Truth</a:t>
            </a:r>
            <a:endParaRPr lang="en-SG" dirty="0"/>
          </a:p>
        </p:txBody>
      </p:sp>
      <p:sp>
        <p:nvSpPr>
          <p:cNvPr id="9" name="TextBox 8">
            <a:extLst>
              <a:ext uri="{FF2B5EF4-FFF2-40B4-BE49-F238E27FC236}">
                <a16:creationId xmlns:a16="http://schemas.microsoft.com/office/drawing/2014/main" id="{670D76DC-911D-8E41-0F8D-A5FC7B7ABAB1}"/>
              </a:ext>
            </a:extLst>
          </p:cNvPr>
          <p:cNvSpPr txBox="1"/>
          <p:nvPr/>
        </p:nvSpPr>
        <p:spPr>
          <a:xfrm>
            <a:off x="1808305" y="1976048"/>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21" name="Table 20">
            <a:extLst>
              <a:ext uri="{FF2B5EF4-FFF2-40B4-BE49-F238E27FC236}">
                <a16:creationId xmlns:a16="http://schemas.microsoft.com/office/drawing/2014/main" id="{E516BCB5-AE67-73AD-3C01-0284D01D8CEE}"/>
              </a:ext>
            </a:extLst>
          </p:cNvPr>
          <p:cNvGraphicFramePr>
            <a:graphicFrameLocks noGrp="1"/>
          </p:cNvGraphicFramePr>
          <p:nvPr>
            <p:extLst>
              <p:ext uri="{D42A27DB-BD31-4B8C-83A1-F6EECF244321}">
                <p14:modId xmlns:p14="http://schemas.microsoft.com/office/powerpoint/2010/main" val="3885154387"/>
              </p:ext>
            </p:extLst>
          </p:nvPr>
        </p:nvGraphicFramePr>
        <p:xfrm>
          <a:off x="3591800" y="2313303"/>
          <a:ext cx="1673660" cy="2052741"/>
        </p:xfrm>
        <a:graphic>
          <a:graphicData uri="http://schemas.openxmlformats.org/drawingml/2006/table">
            <a:tbl>
              <a:tblPr firstRow="1" bandRow="1">
                <a:tableStyleId>{5940675A-B579-460E-94D1-54222C63F5DA}</a:tableStyleId>
              </a:tblPr>
              <a:tblGrid>
                <a:gridCol w="800821">
                  <a:extLst>
                    <a:ext uri="{9D8B030D-6E8A-4147-A177-3AD203B41FA5}">
                      <a16:colId xmlns:a16="http://schemas.microsoft.com/office/drawing/2014/main" val="2941989956"/>
                    </a:ext>
                  </a:extLst>
                </a:gridCol>
                <a:gridCol w="872839">
                  <a:extLst>
                    <a:ext uri="{9D8B030D-6E8A-4147-A177-3AD203B41FA5}">
                      <a16:colId xmlns:a16="http://schemas.microsoft.com/office/drawing/2014/main" val="1069051651"/>
                    </a:ext>
                  </a:extLst>
                </a:gridCol>
              </a:tblGrid>
              <a:tr h="537209">
                <a:tc>
                  <a:txBody>
                    <a:bodyPr/>
                    <a:lstStyle/>
                    <a:p>
                      <a:pPr algn="ctr"/>
                      <a:r>
                        <a:rPr lang="en-US" b="1" dirty="0"/>
                        <a:t>BNB</a:t>
                      </a:r>
                      <a:endParaRPr lang="en-SG" b="1" dirty="0">
                        <a:solidFill>
                          <a:schemeClr val="tx1"/>
                        </a:solidFill>
                      </a:endParaRPr>
                    </a:p>
                  </a:txBody>
                  <a:tcPr anchor="ctr"/>
                </a:tc>
                <a:tc>
                  <a:txBody>
                    <a:bodyPr/>
                    <a:lstStyle/>
                    <a:p>
                      <a:pPr algn="ctr"/>
                      <a:r>
                        <a:rPr lang="en-US" sz="1400" dirty="0">
                          <a:solidFill>
                            <a:srgbClr val="FF0000"/>
                          </a:solidFill>
                        </a:rPr>
                        <a:t>Is electron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electron</a:t>
                      </a:r>
                      <a:endParaRPr lang="en-SG" sz="1400" b="0" dirty="0">
                        <a:solidFill>
                          <a:srgbClr val="FF0000"/>
                        </a:solidFill>
                      </a:endParaRPr>
                    </a:p>
                  </a:txBody>
                  <a:tcPr anchor="ctr">
                    <a:solidFill>
                      <a:schemeClr val="bg2"/>
                    </a:solidFill>
                  </a:tcPr>
                </a:tc>
                <a:tc>
                  <a:txBody>
                    <a:bodyPr/>
                    <a:lstStyle/>
                    <a:p>
                      <a:pPr algn="ctr"/>
                      <a:r>
                        <a:rPr lang="en-US" dirty="0"/>
                        <a:t>66.8%</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electron</a:t>
                      </a:r>
                      <a:endParaRPr lang="en-SG" sz="1400" b="0" dirty="0">
                        <a:solidFill>
                          <a:srgbClr val="FF0000"/>
                        </a:solidFill>
                      </a:endParaRPr>
                    </a:p>
                  </a:txBody>
                  <a:tcPr anchor="ctr">
                    <a:solidFill>
                      <a:schemeClr val="bg2"/>
                    </a:solidFill>
                  </a:tcPr>
                </a:tc>
                <a:tc>
                  <a:txBody>
                    <a:bodyPr/>
                    <a:lstStyle/>
                    <a:p>
                      <a:pPr algn="ctr"/>
                      <a:r>
                        <a:rPr lang="en-US" dirty="0"/>
                        <a:t>33.2%</a:t>
                      </a:r>
                      <a:endParaRPr lang="en-SG" dirty="0"/>
                    </a:p>
                  </a:txBody>
                  <a:tcPr anchor="ctr"/>
                </a:tc>
                <a:extLst>
                  <a:ext uri="{0D108BD9-81ED-4DB2-BD59-A6C34878D82A}">
                    <a16:rowId xmlns:a16="http://schemas.microsoft.com/office/drawing/2014/main" val="2781143425"/>
                  </a:ext>
                </a:extLst>
              </a:tr>
            </a:tbl>
          </a:graphicData>
        </a:graphic>
      </p:graphicFrame>
      <p:sp>
        <p:nvSpPr>
          <p:cNvPr id="22" name="TextBox 21">
            <a:extLst>
              <a:ext uri="{FF2B5EF4-FFF2-40B4-BE49-F238E27FC236}">
                <a16:creationId xmlns:a16="http://schemas.microsoft.com/office/drawing/2014/main" id="{1B27535D-9E08-2291-C15C-3324CFAAA67A}"/>
              </a:ext>
            </a:extLst>
          </p:cNvPr>
          <p:cNvSpPr txBox="1"/>
          <p:nvPr/>
        </p:nvSpPr>
        <p:spPr>
          <a:xfrm rot="16200000">
            <a:off x="3090104" y="3370371"/>
            <a:ext cx="657609" cy="338554"/>
          </a:xfrm>
          <a:prstGeom prst="rect">
            <a:avLst/>
          </a:prstGeom>
          <a:noFill/>
        </p:spPr>
        <p:txBody>
          <a:bodyPr wrap="square" rtlCol="0">
            <a:spAutoFit/>
          </a:bodyPr>
          <a:lstStyle/>
          <a:p>
            <a:r>
              <a:rPr lang="en-US" sz="1600" dirty="0"/>
              <a:t>Truth</a:t>
            </a:r>
            <a:endParaRPr lang="en-SG" dirty="0"/>
          </a:p>
        </p:txBody>
      </p:sp>
      <p:sp>
        <p:nvSpPr>
          <p:cNvPr id="23" name="TextBox 22">
            <a:extLst>
              <a:ext uri="{FF2B5EF4-FFF2-40B4-BE49-F238E27FC236}">
                <a16:creationId xmlns:a16="http://schemas.microsoft.com/office/drawing/2014/main" id="{2B091F22-C193-D6BE-61FA-6912B7CAA24D}"/>
              </a:ext>
            </a:extLst>
          </p:cNvPr>
          <p:cNvSpPr txBox="1"/>
          <p:nvPr/>
        </p:nvSpPr>
        <p:spPr>
          <a:xfrm>
            <a:off x="4059521" y="1972661"/>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24" name="Table 23">
            <a:extLst>
              <a:ext uri="{FF2B5EF4-FFF2-40B4-BE49-F238E27FC236}">
                <a16:creationId xmlns:a16="http://schemas.microsoft.com/office/drawing/2014/main" id="{B5599CC4-A2F2-39EB-1DA7-D3FEF1C20F70}"/>
              </a:ext>
            </a:extLst>
          </p:cNvPr>
          <p:cNvGraphicFramePr>
            <a:graphicFrameLocks noGrp="1"/>
          </p:cNvGraphicFramePr>
          <p:nvPr>
            <p:extLst>
              <p:ext uri="{D42A27DB-BD31-4B8C-83A1-F6EECF244321}">
                <p14:modId xmlns:p14="http://schemas.microsoft.com/office/powerpoint/2010/main" val="1593463033"/>
              </p:ext>
            </p:extLst>
          </p:nvPr>
        </p:nvGraphicFramePr>
        <p:xfrm>
          <a:off x="5843016" y="2313303"/>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t>BNB</a:t>
                      </a:r>
                      <a:endParaRPr lang="en-SG" b="1" dirty="0">
                        <a:solidFill>
                          <a:schemeClr val="tx1"/>
                        </a:solidFill>
                      </a:endParaRPr>
                    </a:p>
                  </a:txBody>
                  <a:tcPr anchor="ctr"/>
                </a:tc>
                <a:tc>
                  <a:txBody>
                    <a:bodyPr/>
                    <a:lstStyle/>
                    <a:p>
                      <a:pPr algn="ctr"/>
                      <a:r>
                        <a:rPr lang="en-US" sz="1400" dirty="0">
                          <a:solidFill>
                            <a:srgbClr val="FF0000"/>
                          </a:solidFill>
                        </a:rPr>
                        <a:t>Is muon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muon</a:t>
                      </a:r>
                      <a:endParaRPr lang="en-SG" sz="1400" b="0" dirty="0">
                        <a:solidFill>
                          <a:srgbClr val="FF0000"/>
                        </a:solidFill>
                      </a:endParaRPr>
                    </a:p>
                  </a:txBody>
                  <a:tcPr anchor="ctr">
                    <a:solidFill>
                      <a:schemeClr val="bg2"/>
                    </a:solidFill>
                  </a:tcPr>
                </a:tc>
                <a:tc>
                  <a:txBody>
                    <a:bodyPr/>
                    <a:lstStyle/>
                    <a:p>
                      <a:pPr algn="ctr"/>
                      <a:r>
                        <a:rPr lang="en-US" dirty="0"/>
                        <a:t>84.4%</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muon</a:t>
                      </a:r>
                      <a:endParaRPr lang="en-SG" sz="1400" b="0" dirty="0">
                        <a:solidFill>
                          <a:srgbClr val="FF0000"/>
                        </a:solidFill>
                      </a:endParaRPr>
                    </a:p>
                  </a:txBody>
                  <a:tcPr anchor="ctr">
                    <a:solidFill>
                      <a:schemeClr val="bg2"/>
                    </a:solidFill>
                  </a:tcPr>
                </a:tc>
                <a:tc>
                  <a:txBody>
                    <a:bodyPr/>
                    <a:lstStyle/>
                    <a:p>
                      <a:pPr algn="ctr"/>
                      <a:r>
                        <a:rPr lang="en-US" dirty="0"/>
                        <a:t>15.6%</a:t>
                      </a:r>
                      <a:endParaRPr lang="en-SG" dirty="0"/>
                    </a:p>
                  </a:txBody>
                  <a:tcPr anchor="ctr"/>
                </a:tc>
                <a:extLst>
                  <a:ext uri="{0D108BD9-81ED-4DB2-BD59-A6C34878D82A}">
                    <a16:rowId xmlns:a16="http://schemas.microsoft.com/office/drawing/2014/main" val="2781143425"/>
                  </a:ext>
                </a:extLst>
              </a:tr>
            </a:tbl>
          </a:graphicData>
        </a:graphic>
      </p:graphicFrame>
      <p:sp>
        <p:nvSpPr>
          <p:cNvPr id="25" name="TextBox 24">
            <a:extLst>
              <a:ext uri="{FF2B5EF4-FFF2-40B4-BE49-F238E27FC236}">
                <a16:creationId xmlns:a16="http://schemas.microsoft.com/office/drawing/2014/main" id="{F5430B91-3D4A-1F74-7C38-DA6C07FB8780}"/>
              </a:ext>
            </a:extLst>
          </p:cNvPr>
          <p:cNvSpPr txBox="1"/>
          <p:nvPr/>
        </p:nvSpPr>
        <p:spPr>
          <a:xfrm rot="16200000">
            <a:off x="5341320" y="3370371"/>
            <a:ext cx="657609" cy="338554"/>
          </a:xfrm>
          <a:prstGeom prst="rect">
            <a:avLst/>
          </a:prstGeom>
          <a:noFill/>
        </p:spPr>
        <p:txBody>
          <a:bodyPr wrap="square" rtlCol="0">
            <a:spAutoFit/>
          </a:bodyPr>
          <a:lstStyle/>
          <a:p>
            <a:r>
              <a:rPr lang="en-US" sz="1600" dirty="0"/>
              <a:t>Truth</a:t>
            </a:r>
            <a:endParaRPr lang="en-SG" dirty="0"/>
          </a:p>
        </p:txBody>
      </p:sp>
      <p:sp>
        <p:nvSpPr>
          <p:cNvPr id="26" name="TextBox 25">
            <a:extLst>
              <a:ext uri="{FF2B5EF4-FFF2-40B4-BE49-F238E27FC236}">
                <a16:creationId xmlns:a16="http://schemas.microsoft.com/office/drawing/2014/main" id="{01222614-3EE8-19DE-B1D8-E73C16ACCF99}"/>
              </a:ext>
            </a:extLst>
          </p:cNvPr>
          <p:cNvSpPr txBox="1"/>
          <p:nvPr/>
        </p:nvSpPr>
        <p:spPr>
          <a:xfrm>
            <a:off x="6310737" y="1972661"/>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27" name="Table 26">
            <a:extLst>
              <a:ext uri="{FF2B5EF4-FFF2-40B4-BE49-F238E27FC236}">
                <a16:creationId xmlns:a16="http://schemas.microsoft.com/office/drawing/2014/main" id="{ED6708AE-472A-EB1B-46D4-5DE9A2ED3D28}"/>
              </a:ext>
            </a:extLst>
          </p:cNvPr>
          <p:cNvGraphicFramePr>
            <a:graphicFrameLocks noGrp="1"/>
          </p:cNvGraphicFramePr>
          <p:nvPr>
            <p:extLst>
              <p:ext uri="{D42A27DB-BD31-4B8C-83A1-F6EECF244321}">
                <p14:modId xmlns:p14="http://schemas.microsoft.com/office/powerpoint/2010/main" val="2473900651"/>
              </p:ext>
            </p:extLst>
          </p:nvPr>
        </p:nvGraphicFramePr>
        <p:xfrm>
          <a:off x="8094232" y="2313303"/>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t>BNB</a:t>
                      </a:r>
                      <a:endParaRPr lang="en-SG" b="1" dirty="0">
                        <a:solidFill>
                          <a:schemeClr val="tx1"/>
                        </a:solidFill>
                      </a:endParaRPr>
                    </a:p>
                  </a:txBody>
                  <a:tcPr anchor="ctr"/>
                </a:tc>
                <a:tc>
                  <a:txBody>
                    <a:bodyPr/>
                    <a:lstStyle/>
                    <a:p>
                      <a:pPr algn="ctr"/>
                      <a:r>
                        <a:rPr lang="en-US" sz="1400" dirty="0">
                          <a:solidFill>
                            <a:srgbClr val="FF0000"/>
                          </a:solidFill>
                        </a:rPr>
                        <a:t>Is pion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pion</a:t>
                      </a:r>
                      <a:endParaRPr lang="en-SG" sz="1400" b="0" dirty="0">
                        <a:solidFill>
                          <a:srgbClr val="FF0000"/>
                        </a:solidFill>
                      </a:endParaRPr>
                    </a:p>
                  </a:txBody>
                  <a:tcPr anchor="ctr">
                    <a:solidFill>
                      <a:schemeClr val="bg2"/>
                    </a:solidFill>
                  </a:tcPr>
                </a:tc>
                <a:tc>
                  <a:txBody>
                    <a:bodyPr/>
                    <a:lstStyle/>
                    <a:p>
                      <a:pPr algn="ctr"/>
                      <a:r>
                        <a:rPr lang="en-US" dirty="0"/>
                        <a:t>47.8%</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pion</a:t>
                      </a:r>
                      <a:endParaRPr lang="en-SG" sz="1400" b="0" dirty="0">
                        <a:solidFill>
                          <a:srgbClr val="FF0000"/>
                        </a:solidFill>
                      </a:endParaRPr>
                    </a:p>
                  </a:txBody>
                  <a:tcPr anchor="ctr">
                    <a:solidFill>
                      <a:schemeClr val="bg2"/>
                    </a:solidFill>
                  </a:tcPr>
                </a:tc>
                <a:tc>
                  <a:txBody>
                    <a:bodyPr/>
                    <a:lstStyle/>
                    <a:p>
                      <a:pPr algn="ctr"/>
                      <a:r>
                        <a:rPr lang="en-US" dirty="0"/>
                        <a:t>52.2%</a:t>
                      </a:r>
                      <a:endParaRPr lang="en-SG" dirty="0"/>
                    </a:p>
                  </a:txBody>
                  <a:tcPr anchor="ctr"/>
                </a:tc>
                <a:extLst>
                  <a:ext uri="{0D108BD9-81ED-4DB2-BD59-A6C34878D82A}">
                    <a16:rowId xmlns:a16="http://schemas.microsoft.com/office/drawing/2014/main" val="2781143425"/>
                  </a:ext>
                </a:extLst>
              </a:tr>
            </a:tbl>
          </a:graphicData>
        </a:graphic>
      </p:graphicFrame>
      <p:sp>
        <p:nvSpPr>
          <p:cNvPr id="28" name="TextBox 27">
            <a:extLst>
              <a:ext uri="{FF2B5EF4-FFF2-40B4-BE49-F238E27FC236}">
                <a16:creationId xmlns:a16="http://schemas.microsoft.com/office/drawing/2014/main" id="{EF8047A1-FB4D-0C59-9F31-9495AD6F1AF4}"/>
              </a:ext>
            </a:extLst>
          </p:cNvPr>
          <p:cNvSpPr txBox="1"/>
          <p:nvPr/>
        </p:nvSpPr>
        <p:spPr>
          <a:xfrm rot="16200000">
            <a:off x="7592536" y="3370371"/>
            <a:ext cx="657609" cy="338554"/>
          </a:xfrm>
          <a:prstGeom prst="rect">
            <a:avLst/>
          </a:prstGeom>
          <a:noFill/>
        </p:spPr>
        <p:txBody>
          <a:bodyPr wrap="square" rtlCol="0">
            <a:spAutoFit/>
          </a:bodyPr>
          <a:lstStyle/>
          <a:p>
            <a:r>
              <a:rPr lang="en-US" sz="1600" dirty="0"/>
              <a:t>Truth</a:t>
            </a:r>
            <a:endParaRPr lang="en-SG" dirty="0"/>
          </a:p>
        </p:txBody>
      </p:sp>
      <p:sp>
        <p:nvSpPr>
          <p:cNvPr id="29" name="TextBox 28">
            <a:extLst>
              <a:ext uri="{FF2B5EF4-FFF2-40B4-BE49-F238E27FC236}">
                <a16:creationId xmlns:a16="http://schemas.microsoft.com/office/drawing/2014/main" id="{22A09674-C84B-FC76-66EA-BEE957339DA6}"/>
              </a:ext>
            </a:extLst>
          </p:cNvPr>
          <p:cNvSpPr txBox="1"/>
          <p:nvPr/>
        </p:nvSpPr>
        <p:spPr>
          <a:xfrm>
            <a:off x="8561953" y="1972661"/>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30" name="Table 29">
            <a:extLst>
              <a:ext uri="{FF2B5EF4-FFF2-40B4-BE49-F238E27FC236}">
                <a16:creationId xmlns:a16="http://schemas.microsoft.com/office/drawing/2014/main" id="{7EB01C0E-3075-0130-8F01-220EF7BF74B2}"/>
              </a:ext>
            </a:extLst>
          </p:cNvPr>
          <p:cNvGraphicFramePr>
            <a:graphicFrameLocks noGrp="1"/>
          </p:cNvGraphicFramePr>
          <p:nvPr>
            <p:extLst>
              <p:ext uri="{D42A27DB-BD31-4B8C-83A1-F6EECF244321}">
                <p14:modId xmlns:p14="http://schemas.microsoft.com/office/powerpoint/2010/main" val="4061053875"/>
              </p:ext>
            </p:extLst>
          </p:nvPr>
        </p:nvGraphicFramePr>
        <p:xfrm>
          <a:off x="10345448" y="2313303"/>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t>BNB</a:t>
                      </a:r>
                      <a:endParaRPr lang="en-SG" b="1" dirty="0">
                        <a:solidFill>
                          <a:schemeClr val="tx1"/>
                        </a:solidFill>
                      </a:endParaRPr>
                    </a:p>
                  </a:txBody>
                  <a:tcPr anchor="ctr"/>
                </a:tc>
                <a:tc>
                  <a:txBody>
                    <a:bodyPr/>
                    <a:lstStyle/>
                    <a:p>
                      <a:pPr algn="ctr"/>
                      <a:r>
                        <a:rPr lang="en-US" sz="1400" dirty="0">
                          <a:solidFill>
                            <a:srgbClr val="FF0000"/>
                          </a:solidFill>
                        </a:rPr>
                        <a:t>Is proton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proton</a:t>
                      </a:r>
                      <a:endParaRPr lang="en-SG" sz="1400" b="0" dirty="0">
                        <a:solidFill>
                          <a:srgbClr val="FF0000"/>
                        </a:solidFill>
                      </a:endParaRPr>
                    </a:p>
                  </a:txBody>
                  <a:tcPr anchor="ctr">
                    <a:solidFill>
                      <a:schemeClr val="bg2"/>
                    </a:solidFill>
                  </a:tcPr>
                </a:tc>
                <a:tc>
                  <a:txBody>
                    <a:bodyPr/>
                    <a:lstStyle/>
                    <a:p>
                      <a:pPr algn="ctr"/>
                      <a:r>
                        <a:rPr lang="en-US" dirty="0"/>
                        <a:t>93.5%</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proton</a:t>
                      </a:r>
                      <a:endParaRPr lang="en-SG" sz="1400" b="0" dirty="0">
                        <a:solidFill>
                          <a:srgbClr val="FF0000"/>
                        </a:solidFill>
                      </a:endParaRPr>
                    </a:p>
                  </a:txBody>
                  <a:tcPr anchor="ctr">
                    <a:solidFill>
                      <a:schemeClr val="bg2"/>
                    </a:solidFill>
                  </a:tcPr>
                </a:tc>
                <a:tc>
                  <a:txBody>
                    <a:bodyPr/>
                    <a:lstStyle/>
                    <a:p>
                      <a:pPr algn="ctr"/>
                      <a:r>
                        <a:rPr lang="en-US" dirty="0"/>
                        <a:t>6.5%</a:t>
                      </a:r>
                      <a:endParaRPr lang="en-SG" dirty="0"/>
                    </a:p>
                  </a:txBody>
                  <a:tcPr anchor="ctr"/>
                </a:tc>
                <a:extLst>
                  <a:ext uri="{0D108BD9-81ED-4DB2-BD59-A6C34878D82A}">
                    <a16:rowId xmlns:a16="http://schemas.microsoft.com/office/drawing/2014/main" val="2781143425"/>
                  </a:ext>
                </a:extLst>
              </a:tr>
            </a:tbl>
          </a:graphicData>
        </a:graphic>
      </p:graphicFrame>
      <p:sp>
        <p:nvSpPr>
          <p:cNvPr id="31" name="TextBox 30">
            <a:extLst>
              <a:ext uri="{FF2B5EF4-FFF2-40B4-BE49-F238E27FC236}">
                <a16:creationId xmlns:a16="http://schemas.microsoft.com/office/drawing/2014/main" id="{68F2A464-2DA5-8079-4087-A2D7A2CED9DE}"/>
              </a:ext>
            </a:extLst>
          </p:cNvPr>
          <p:cNvSpPr txBox="1"/>
          <p:nvPr/>
        </p:nvSpPr>
        <p:spPr>
          <a:xfrm rot="16200000">
            <a:off x="9843752" y="3370371"/>
            <a:ext cx="657609" cy="338554"/>
          </a:xfrm>
          <a:prstGeom prst="rect">
            <a:avLst/>
          </a:prstGeom>
          <a:noFill/>
        </p:spPr>
        <p:txBody>
          <a:bodyPr wrap="square" rtlCol="0">
            <a:spAutoFit/>
          </a:bodyPr>
          <a:lstStyle/>
          <a:p>
            <a:r>
              <a:rPr lang="en-US" sz="1600" dirty="0"/>
              <a:t>Truth</a:t>
            </a:r>
            <a:endParaRPr lang="en-SG" dirty="0"/>
          </a:p>
        </p:txBody>
      </p:sp>
      <p:sp>
        <p:nvSpPr>
          <p:cNvPr id="32" name="TextBox 31">
            <a:extLst>
              <a:ext uri="{FF2B5EF4-FFF2-40B4-BE49-F238E27FC236}">
                <a16:creationId xmlns:a16="http://schemas.microsoft.com/office/drawing/2014/main" id="{976A28D6-9A0B-E6C8-894A-4EEB377FCE91}"/>
              </a:ext>
            </a:extLst>
          </p:cNvPr>
          <p:cNvSpPr txBox="1"/>
          <p:nvPr/>
        </p:nvSpPr>
        <p:spPr>
          <a:xfrm>
            <a:off x="10813169" y="1972661"/>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35" name="Table 34">
            <a:extLst>
              <a:ext uri="{FF2B5EF4-FFF2-40B4-BE49-F238E27FC236}">
                <a16:creationId xmlns:a16="http://schemas.microsoft.com/office/drawing/2014/main" id="{1C9B8CE1-FBB2-EBBB-4D78-E30B59D148EF}"/>
              </a:ext>
            </a:extLst>
          </p:cNvPr>
          <p:cNvGraphicFramePr>
            <a:graphicFrameLocks noGrp="1"/>
          </p:cNvGraphicFramePr>
          <p:nvPr>
            <p:extLst>
              <p:ext uri="{D42A27DB-BD31-4B8C-83A1-F6EECF244321}">
                <p14:modId xmlns:p14="http://schemas.microsoft.com/office/powerpoint/2010/main" val="1633573868"/>
              </p:ext>
            </p:extLst>
          </p:nvPr>
        </p:nvGraphicFramePr>
        <p:xfrm>
          <a:off x="101600" y="4554221"/>
          <a:ext cx="11988801" cy="1193800"/>
        </p:xfrm>
        <a:graphic>
          <a:graphicData uri="http://schemas.openxmlformats.org/drawingml/2006/table">
            <a:tbl>
              <a:tblPr firstRow="1" bandRow="1">
                <a:tableStyleId>{5C22544A-7EE6-4342-B048-85BDC9FD1C3A}</a:tableStyleId>
              </a:tblPr>
              <a:tblGrid>
                <a:gridCol w="1163782">
                  <a:extLst>
                    <a:ext uri="{9D8B030D-6E8A-4147-A177-3AD203B41FA5}">
                      <a16:colId xmlns:a16="http://schemas.microsoft.com/office/drawing/2014/main" val="2630771369"/>
                    </a:ext>
                  </a:extLst>
                </a:gridCol>
                <a:gridCol w="2050473">
                  <a:extLst>
                    <a:ext uri="{9D8B030D-6E8A-4147-A177-3AD203B41FA5}">
                      <a16:colId xmlns:a16="http://schemas.microsoft.com/office/drawing/2014/main" val="768315987"/>
                    </a:ext>
                  </a:extLst>
                </a:gridCol>
                <a:gridCol w="2235200">
                  <a:extLst>
                    <a:ext uri="{9D8B030D-6E8A-4147-A177-3AD203B41FA5}">
                      <a16:colId xmlns:a16="http://schemas.microsoft.com/office/drawing/2014/main" val="1913737133"/>
                    </a:ext>
                  </a:extLst>
                </a:gridCol>
                <a:gridCol w="2244436">
                  <a:extLst>
                    <a:ext uri="{9D8B030D-6E8A-4147-A177-3AD203B41FA5}">
                      <a16:colId xmlns:a16="http://schemas.microsoft.com/office/drawing/2014/main" val="859940901"/>
                    </a:ext>
                  </a:extLst>
                </a:gridCol>
                <a:gridCol w="2272145">
                  <a:extLst>
                    <a:ext uri="{9D8B030D-6E8A-4147-A177-3AD203B41FA5}">
                      <a16:colId xmlns:a16="http://schemas.microsoft.com/office/drawing/2014/main" val="2695000153"/>
                    </a:ext>
                  </a:extLst>
                </a:gridCol>
                <a:gridCol w="2022765">
                  <a:extLst>
                    <a:ext uri="{9D8B030D-6E8A-4147-A177-3AD203B41FA5}">
                      <a16:colId xmlns:a16="http://schemas.microsoft.com/office/drawing/2014/main" val="2820532306"/>
                    </a:ext>
                  </a:extLst>
                </a:gridCol>
              </a:tblGrid>
              <a:tr h="370840">
                <a:tc>
                  <a:txBody>
                    <a:bodyPr/>
                    <a:lstStyle/>
                    <a:p>
                      <a:r>
                        <a:rPr lang="en-US" b="1" dirty="0"/>
                        <a:t>type </a:t>
                      </a:r>
                      <a:endParaRPr lang="en-SG" b="1" dirty="0"/>
                    </a:p>
                  </a:txBody>
                  <a:tcPr/>
                </a:tc>
                <a:tc>
                  <a:txBody>
                    <a:bodyPr/>
                    <a:lstStyle/>
                    <a:p>
                      <a:pPr algn="ctr"/>
                      <a:r>
                        <a:rPr lang="en-US" sz="1400" dirty="0"/>
                        <a:t>photon</a:t>
                      </a:r>
                      <a:endParaRPr lang="en-SG" sz="1400" dirty="0"/>
                    </a:p>
                  </a:txBody>
                  <a:tcPr/>
                </a:tc>
                <a:tc>
                  <a:txBody>
                    <a:bodyPr/>
                    <a:lstStyle/>
                    <a:p>
                      <a:pPr algn="ctr"/>
                      <a:r>
                        <a:rPr lang="en-US" sz="1400" dirty="0"/>
                        <a:t>electron</a:t>
                      </a:r>
                      <a:endParaRPr lang="en-SG" sz="1400" dirty="0"/>
                    </a:p>
                  </a:txBody>
                  <a:tcPr/>
                </a:tc>
                <a:tc>
                  <a:txBody>
                    <a:bodyPr/>
                    <a:lstStyle/>
                    <a:p>
                      <a:pPr algn="ctr"/>
                      <a:r>
                        <a:rPr lang="en-US" sz="1400" dirty="0"/>
                        <a:t>muon</a:t>
                      </a:r>
                      <a:endParaRPr lang="en-SG" sz="1400" dirty="0"/>
                    </a:p>
                  </a:txBody>
                  <a:tcPr/>
                </a:tc>
                <a:tc>
                  <a:txBody>
                    <a:bodyPr/>
                    <a:lstStyle/>
                    <a:p>
                      <a:pPr algn="ctr"/>
                      <a:r>
                        <a:rPr lang="en-US" sz="1400" dirty="0"/>
                        <a:t>pion</a:t>
                      </a:r>
                      <a:endParaRPr lang="en-SG" sz="1400" dirty="0"/>
                    </a:p>
                  </a:txBody>
                  <a:tcPr/>
                </a:tc>
                <a:tc>
                  <a:txBody>
                    <a:bodyPr/>
                    <a:lstStyle/>
                    <a:p>
                      <a:pPr algn="ctr"/>
                      <a:r>
                        <a:rPr lang="en-US" sz="1400" dirty="0"/>
                        <a:t>proton</a:t>
                      </a:r>
                      <a:endParaRPr lang="en-SG" sz="1400" dirty="0"/>
                    </a:p>
                  </a:txBody>
                  <a:tcPr/>
                </a:tc>
                <a:extLst>
                  <a:ext uri="{0D108BD9-81ED-4DB2-BD59-A6C34878D82A}">
                    <a16:rowId xmlns:a16="http://schemas.microsoft.com/office/drawing/2014/main" val="3688034187"/>
                  </a:ext>
                </a:extLst>
              </a:tr>
              <a:tr h="370840">
                <a:tc>
                  <a:txBody>
                    <a:bodyPr/>
                    <a:lstStyle/>
                    <a:p>
                      <a:r>
                        <a:rPr lang="en-US" sz="1600" b="1" dirty="0"/>
                        <a:t>Most common wrong PID</a:t>
                      </a:r>
                      <a:endParaRPr lang="en-SG" sz="1600" b="1" dirty="0"/>
                    </a:p>
                  </a:txBody>
                  <a:tcPr/>
                </a:tc>
                <a:tc>
                  <a:txBody>
                    <a:bodyPr/>
                    <a:lstStyle/>
                    <a:p>
                      <a:pPr algn="ctr"/>
                      <a:r>
                        <a:rPr lang="en-US" dirty="0"/>
                        <a:t>Null (18.4%)</a:t>
                      </a:r>
                    </a:p>
                    <a:p>
                      <a:pPr algn="ctr"/>
                      <a:r>
                        <a:rPr lang="en-US" dirty="0"/>
                        <a:t>/ electron (4.3%)</a:t>
                      </a:r>
                      <a:endParaRPr lang="en-SG" dirty="0"/>
                    </a:p>
                  </a:txBody>
                  <a:tcPr/>
                </a:tc>
                <a:tc>
                  <a:txBody>
                    <a:bodyPr/>
                    <a:lstStyle/>
                    <a:p>
                      <a:pPr algn="ctr"/>
                      <a:r>
                        <a:rPr lang="en-US" dirty="0"/>
                        <a:t>Photon (15.8%)</a:t>
                      </a:r>
                      <a:endParaRPr lang="en-SG" dirty="0"/>
                    </a:p>
                  </a:txBody>
                  <a:tcPr/>
                </a:tc>
                <a:tc>
                  <a:txBody>
                    <a:bodyPr/>
                    <a:lstStyle/>
                    <a:p>
                      <a:pPr algn="ctr"/>
                      <a:r>
                        <a:rPr lang="en-US" dirty="0"/>
                        <a:t>Pion (6.5%)</a:t>
                      </a:r>
                    </a:p>
                    <a:p>
                      <a:pPr algn="ctr"/>
                      <a:r>
                        <a:rPr lang="en-US" dirty="0"/>
                        <a:t>/ Proton (7.1%) </a:t>
                      </a:r>
                      <a:endParaRPr lang="en-SG" dirty="0"/>
                    </a:p>
                  </a:txBody>
                  <a:tcPr/>
                </a:tc>
                <a:tc>
                  <a:txBody>
                    <a:bodyPr/>
                    <a:lstStyle/>
                    <a:p>
                      <a:pPr algn="ctr"/>
                      <a:r>
                        <a:rPr lang="en-US" dirty="0"/>
                        <a:t>Proton (32.3%)</a:t>
                      </a:r>
                      <a:endParaRPr lang="en-SG" dirty="0"/>
                    </a:p>
                  </a:txBody>
                  <a:tcPr/>
                </a:tc>
                <a:tc>
                  <a:txBody>
                    <a:bodyPr/>
                    <a:lstStyle/>
                    <a:p>
                      <a:pPr algn="ctr"/>
                      <a:r>
                        <a:rPr lang="en-US" dirty="0"/>
                        <a:t>Pion (3%) </a:t>
                      </a:r>
                    </a:p>
                    <a:p>
                      <a:pPr algn="ctr"/>
                      <a:r>
                        <a:rPr lang="en-US" dirty="0"/>
                        <a:t>/ Muon (2.2%)</a:t>
                      </a:r>
                      <a:endParaRPr lang="en-SG" dirty="0"/>
                    </a:p>
                  </a:txBody>
                  <a:tcPr/>
                </a:tc>
                <a:extLst>
                  <a:ext uri="{0D108BD9-81ED-4DB2-BD59-A6C34878D82A}">
                    <a16:rowId xmlns:a16="http://schemas.microsoft.com/office/drawing/2014/main" val="1430411261"/>
                  </a:ext>
                </a:extLst>
              </a:tr>
            </a:tbl>
          </a:graphicData>
        </a:graphic>
      </p:graphicFrame>
    </p:spTree>
    <p:extLst>
      <p:ext uri="{BB962C8B-B14F-4D97-AF65-F5344CB8AC3E}">
        <p14:creationId xmlns:p14="http://schemas.microsoft.com/office/powerpoint/2010/main" val="3467538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7724-4916-01AB-FF3E-7CEE5753A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F0C1D-CC1A-B372-F1BA-4C05FAB18FD3}"/>
              </a:ext>
            </a:extLst>
          </p:cNvPr>
          <p:cNvSpPr>
            <a:spLocks noGrp="1"/>
          </p:cNvSpPr>
          <p:nvPr>
            <p:ph type="title"/>
          </p:nvPr>
        </p:nvSpPr>
        <p:spPr/>
        <p:txBody>
          <a:bodyPr/>
          <a:lstStyle/>
          <a:p>
            <a:r>
              <a:rPr lang="en-US" b="1" dirty="0"/>
              <a:t>BNB</a:t>
            </a:r>
            <a:r>
              <a:rPr lang="en-US" dirty="0"/>
              <a:t> Truth to </a:t>
            </a:r>
            <a:r>
              <a:rPr lang="en-US" dirty="0" err="1"/>
              <a:t>reco</a:t>
            </a:r>
            <a:r>
              <a:rPr lang="en-US" dirty="0"/>
              <a:t> matching </a:t>
            </a:r>
            <a:r>
              <a:rPr lang="en-US" b="1" dirty="0"/>
              <a:t>(True mode)</a:t>
            </a:r>
            <a:endParaRPr lang="en-SG" b="1" dirty="0"/>
          </a:p>
        </p:txBody>
      </p:sp>
      <p:graphicFrame>
        <p:nvGraphicFramePr>
          <p:cNvPr id="7" name="Table 6">
            <a:extLst>
              <a:ext uri="{FF2B5EF4-FFF2-40B4-BE49-F238E27FC236}">
                <a16:creationId xmlns:a16="http://schemas.microsoft.com/office/drawing/2014/main" id="{0615098E-37D2-EB7C-4331-EE6F4543EFDD}"/>
              </a:ext>
            </a:extLst>
          </p:cNvPr>
          <p:cNvGraphicFramePr>
            <a:graphicFrameLocks noGrp="1"/>
          </p:cNvGraphicFramePr>
          <p:nvPr>
            <p:extLst>
              <p:ext uri="{D42A27DB-BD31-4B8C-83A1-F6EECF244321}">
                <p14:modId xmlns:p14="http://schemas.microsoft.com/office/powerpoint/2010/main" val="1081760240"/>
              </p:ext>
            </p:extLst>
          </p:nvPr>
        </p:nvGraphicFramePr>
        <p:xfrm>
          <a:off x="1340584" y="2291434"/>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t>BNB</a:t>
                      </a:r>
                      <a:endParaRPr lang="en-SG" b="1" dirty="0">
                        <a:solidFill>
                          <a:schemeClr val="tx1"/>
                        </a:solidFill>
                      </a:endParaRPr>
                    </a:p>
                  </a:txBody>
                  <a:tcPr anchor="ctr"/>
                </a:tc>
                <a:tc>
                  <a:txBody>
                    <a:bodyPr/>
                    <a:lstStyle/>
                    <a:p>
                      <a:pPr algn="ctr"/>
                      <a:r>
                        <a:rPr lang="en-US" sz="1400" dirty="0">
                          <a:solidFill>
                            <a:srgbClr val="FF0000"/>
                          </a:solidFill>
                        </a:rPr>
                        <a:t>Is photon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photon</a:t>
                      </a:r>
                      <a:endParaRPr lang="en-SG" sz="1400" b="0" dirty="0">
                        <a:solidFill>
                          <a:srgbClr val="FF0000"/>
                        </a:solidFill>
                      </a:endParaRPr>
                    </a:p>
                  </a:txBody>
                  <a:tcPr anchor="ctr">
                    <a:solidFill>
                      <a:schemeClr val="bg2"/>
                    </a:solidFill>
                  </a:tcPr>
                </a:tc>
                <a:tc>
                  <a:txBody>
                    <a:bodyPr/>
                    <a:lstStyle/>
                    <a:p>
                      <a:pPr algn="ctr"/>
                      <a:r>
                        <a:rPr lang="en-US" dirty="0"/>
                        <a:t>59.7%</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photon</a:t>
                      </a:r>
                      <a:endParaRPr lang="en-SG" sz="1400" b="0" dirty="0">
                        <a:solidFill>
                          <a:srgbClr val="FF0000"/>
                        </a:solidFill>
                      </a:endParaRPr>
                    </a:p>
                  </a:txBody>
                  <a:tcPr anchor="ctr">
                    <a:solidFill>
                      <a:schemeClr val="bg2"/>
                    </a:solidFill>
                  </a:tcPr>
                </a:tc>
                <a:tc>
                  <a:txBody>
                    <a:bodyPr/>
                    <a:lstStyle/>
                    <a:p>
                      <a:pPr algn="ctr"/>
                      <a:r>
                        <a:rPr lang="en-US" dirty="0"/>
                        <a:t>40.3%</a:t>
                      </a:r>
                      <a:endParaRPr lang="en-SG" dirty="0"/>
                    </a:p>
                  </a:txBody>
                  <a:tcPr anchor="ctr"/>
                </a:tc>
                <a:extLst>
                  <a:ext uri="{0D108BD9-81ED-4DB2-BD59-A6C34878D82A}">
                    <a16:rowId xmlns:a16="http://schemas.microsoft.com/office/drawing/2014/main" val="2781143425"/>
                  </a:ext>
                </a:extLst>
              </a:tr>
            </a:tbl>
          </a:graphicData>
        </a:graphic>
      </p:graphicFrame>
      <p:sp>
        <p:nvSpPr>
          <p:cNvPr id="8" name="TextBox 7">
            <a:extLst>
              <a:ext uri="{FF2B5EF4-FFF2-40B4-BE49-F238E27FC236}">
                <a16:creationId xmlns:a16="http://schemas.microsoft.com/office/drawing/2014/main" id="{7F3E77C2-E742-F305-C75C-DD2C3E4784B3}"/>
              </a:ext>
            </a:extLst>
          </p:cNvPr>
          <p:cNvSpPr txBox="1"/>
          <p:nvPr/>
        </p:nvSpPr>
        <p:spPr>
          <a:xfrm rot="16200000">
            <a:off x="502118" y="3389257"/>
            <a:ext cx="1425843" cy="338554"/>
          </a:xfrm>
          <a:prstGeom prst="rect">
            <a:avLst/>
          </a:prstGeom>
          <a:noFill/>
        </p:spPr>
        <p:txBody>
          <a:bodyPr wrap="square" rtlCol="0">
            <a:spAutoFit/>
          </a:bodyPr>
          <a:lstStyle/>
          <a:p>
            <a:r>
              <a:rPr lang="en-US" sz="1600" dirty="0"/>
              <a:t>Reconstructed</a:t>
            </a:r>
            <a:endParaRPr lang="en-SG" dirty="0"/>
          </a:p>
        </p:txBody>
      </p:sp>
      <p:sp>
        <p:nvSpPr>
          <p:cNvPr id="9" name="TextBox 8">
            <a:extLst>
              <a:ext uri="{FF2B5EF4-FFF2-40B4-BE49-F238E27FC236}">
                <a16:creationId xmlns:a16="http://schemas.microsoft.com/office/drawing/2014/main" id="{5DC3C56D-E6D8-4B21-57E0-C97FBD6FD6E3}"/>
              </a:ext>
            </a:extLst>
          </p:cNvPr>
          <p:cNvSpPr txBox="1"/>
          <p:nvPr/>
        </p:nvSpPr>
        <p:spPr>
          <a:xfrm>
            <a:off x="1808305" y="1950792"/>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21" name="Table 20">
            <a:extLst>
              <a:ext uri="{FF2B5EF4-FFF2-40B4-BE49-F238E27FC236}">
                <a16:creationId xmlns:a16="http://schemas.microsoft.com/office/drawing/2014/main" id="{1B9422F6-D252-D79C-E8FB-DC21122A6BDD}"/>
              </a:ext>
            </a:extLst>
          </p:cNvPr>
          <p:cNvGraphicFramePr>
            <a:graphicFrameLocks noGrp="1"/>
          </p:cNvGraphicFramePr>
          <p:nvPr>
            <p:extLst>
              <p:ext uri="{D42A27DB-BD31-4B8C-83A1-F6EECF244321}">
                <p14:modId xmlns:p14="http://schemas.microsoft.com/office/powerpoint/2010/main" val="430172574"/>
              </p:ext>
            </p:extLst>
          </p:nvPr>
        </p:nvGraphicFramePr>
        <p:xfrm>
          <a:off x="3591800" y="2288047"/>
          <a:ext cx="1673660" cy="2052741"/>
        </p:xfrm>
        <a:graphic>
          <a:graphicData uri="http://schemas.openxmlformats.org/drawingml/2006/table">
            <a:tbl>
              <a:tblPr firstRow="1" bandRow="1">
                <a:tableStyleId>{5940675A-B579-460E-94D1-54222C63F5DA}</a:tableStyleId>
              </a:tblPr>
              <a:tblGrid>
                <a:gridCol w="800821">
                  <a:extLst>
                    <a:ext uri="{9D8B030D-6E8A-4147-A177-3AD203B41FA5}">
                      <a16:colId xmlns:a16="http://schemas.microsoft.com/office/drawing/2014/main" val="2941989956"/>
                    </a:ext>
                  </a:extLst>
                </a:gridCol>
                <a:gridCol w="872839">
                  <a:extLst>
                    <a:ext uri="{9D8B030D-6E8A-4147-A177-3AD203B41FA5}">
                      <a16:colId xmlns:a16="http://schemas.microsoft.com/office/drawing/2014/main" val="1069051651"/>
                    </a:ext>
                  </a:extLst>
                </a:gridCol>
              </a:tblGrid>
              <a:tr h="537209">
                <a:tc>
                  <a:txBody>
                    <a:bodyPr/>
                    <a:lstStyle/>
                    <a:p>
                      <a:pPr algn="ctr"/>
                      <a:r>
                        <a:rPr lang="en-US" b="1" dirty="0"/>
                        <a:t>BNB</a:t>
                      </a:r>
                      <a:endParaRPr lang="en-SG" b="1" dirty="0">
                        <a:solidFill>
                          <a:schemeClr val="tx1"/>
                        </a:solidFill>
                      </a:endParaRPr>
                    </a:p>
                  </a:txBody>
                  <a:tcPr anchor="ctr"/>
                </a:tc>
                <a:tc>
                  <a:txBody>
                    <a:bodyPr/>
                    <a:lstStyle/>
                    <a:p>
                      <a:pPr algn="ctr"/>
                      <a:r>
                        <a:rPr lang="en-US" sz="1400" dirty="0">
                          <a:solidFill>
                            <a:srgbClr val="FF0000"/>
                          </a:solidFill>
                        </a:rPr>
                        <a:t>Is electron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electron</a:t>
                      </a:r>
                      <a:endParaRPr lang="en-SG" sz="1400" b="0" dirty="0">
                        <a:solidFill>
                          <a:srgbClr val="FF0000"/>
                        </a:solidFill>
                      </a:endParaRPr>
                    </a:p>
                  </a:txBody>
                  <a:tcPr anchor="ctr">
                    <a:solidFill>
                      <a:schemeClr val="bg2"/>
                    </a:solidFill>
                  </a:tcPr>
                </a:tc>
                <a:tc>
                  <a:txBody>
                    <a:bodyPr/>
                    <a:lstStyle/>
                    <a:p>
                      <a:pPr algn="ctr"/>
                      <a:r>
                        <a:rPr lang="en-US" dirty="0"/>
                        <a:t>86.0%</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electron</a:t>
                      </a:r>
                      <a:endParaRPr lang="en-SG" sz="1400" b="0" dirty="0">
                        <a:solidFill>
                          <a:srgbClr val="FF0000"/>
                        </a:solidFill>
                      </a:endParaRPr>
                    </a:p>
                  </a:txBody>
                  <a:tcPr anchor="ctr">
                    <a:solidFill>
                      <a:schemeClr val="bg2"/>
                    </a:solidFill>
                  </a:tcPr>
                </a:tc>
                <a:tc>
                  <a:txBody>
                    <a:bodyPr/>
                    <a:lstStyle/>
                    <a:p>
                      <a:pPr algn="ctr"/>
                      <a:r>
                        <a:rPr lang="en-US" dirty="0"/>
                        <a:t>14%</a:t>
                      </a:r>
                      <a:endParaRPr lang="en-SG" dirty="0"/>
                    </a:p>
                  </a:txBody>
                  <a:tcPr anchor="ctr"/>
                </a:tc>
                <a:extLst>
                  <a:ext uri="{0D108BD9-81ED-4DB2-BD59-A6C34878D82A}">
                    <a16:rowId xmlns:a16="http://schemas.microsoft.com/office/drawing/2014/main" val="2781143425"/>
                  </a:ext>
                </a:extLst>
              </a:tr>
            </a:tbl>
          </a:graphicData>
        </a:graphic>
      </p:graphicFrame>
      <p:sp>
        <p:nvSpPr>
          <p:cNvPr id="22" name="TextBox 21">
            <a:extLst>
              <a:ext uri="{FF2B5EF4-FFF2-40B4-BE49-F238E27FC236}">
                <a16:creationId xmlns:a16="http://schemas.microsoft.com/office/drawing/2014/main" id="{812AF110-3914-AC85-1159-D9FB70BFC5A0}"/>
              </a:ext>
            </a:extLst>
          </p:cNvPr>
          <p:cNvSpPr txBox="1"/>
          <p:nvPr/>
        </p:nvSpPr>
        <p:spPr>
          <a:xfrm rot="16200000">
            <a:off x="2753332" y="3389257"/>
            <a:ext cx="1425847" cy="338554"/>
          </a:xfrm>
          <a:prstGeom prst="rect">
            <a:avLst/>
          </a:prstGeom>
          <a:noFill/>
        </p:spPr>
        <p:txBody>
          <a:bodyPr wrap="square" rtlCol="0">
            <a:spAutoFit/>
          </a:bodyPr>
          <a:lstStyle/>
          <a:p>
            <a:r>
              <a:rPr lang="en-US" sz="1600" dirty="0"/>
              <a:t>Reconstructed</a:t>
            </a:r>
            <a:endParaRPr lang="en-SG" dirty="0"/>
          </a:p>
        </p:txBody>
      </p:sp>
      <p:sp>
        <p:nvSpPr>
          <p:cNvPr id="23" name="TextBox 22">
            <a:extLst>
              <a:ext uri="{FF2B5EF4-FFF2-40B4-BE49-F238E27FC236}">
                <a16:creationId xmlns:a16="http://schemas.microsoft.com/office/drawing/2014/main" id="{A00B45C1-B214-F033-1086-2DCE44B4ECB2}"/>
              </a:ext>
            </a:extLst>
          </p:cNvPr>
          <p:cNvSpPr txBox="1"/>
          <p:nvPr/>
        </p:nvSpPr>
        <p:spPr>
          <a:xfrm>
            <a:off x="4059521" y="1947405"/>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24" name="Table 23">
            <a:extLst>
              <a:ext uri="{FF2B5EF4-FFF2-40B4-BE49-F238E27FC236}">
                <a16:creationId xmlns:a16="http://schemas.microsoft.com/office/drawing/2014/main" id="{6D520CEF-4B23-A2A3-B51A-6CE212F55F16}"/>
              </a:ext>
            </a:extLst>
          </p:cNvPr>
          <p:cNvGraphicFramePr>
            <a:graphicFrameLocks noGrp="1"/>
          </p:cNvGraphicFramePr>
          <p:nvPr>
            <p:extLst>
              <p:ext uri="{D42A27DB-BD31-4B8C-83A1-F6EECF244321}">
                <p14:modId xmlns:p14="http://schemas.microsoft.com/office/powerpoint/2010/main" val="2482260343"/>
              </p:ext>
            </p:extLst>
          </p:nvPr>
        </p:nvGraphicFramePr>
        <p:xfrm>
          <a:off x="5843016" y="2288047"/>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t>BNB</a:t>
                      </a:r>
                      <a:endParaRPr lang="en-SG" b="1" dirty="0">
                        <a:solidFill>
                          <a:schemeClr val="tx1"/>
                        </a:solidFill>
                      </a:endParaRPr>
                    </a:p>
                  </a:txBody>
                  <a:tcPr anchor="ctr"/>
                </a:tc>
                <a:tc>
                  <a:txBody>
                    <a:bodyPr/>
                    <a:lstStyle/>
                    <a:p>
                      <a:pPr algn="ctr"/>
                      <a:r>
                        <a:rPr lang="en-US" sz="1400" dirty="0">
                          <a:solidFill>
                            <a:srgbClr val="FF0000"/>
                          </a:solidFill>
                        </a:rPr>
                        <a:t>Is muon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muon</a:t>
                      </a:r>
                      <a:endParaRPr lang="en-SG" sz="1400" b="0" dirty="0">
                        <a:solidFill>
                          <a:srgbClr val="FF0000"/>
                        </a:solidFill>
                      </a:endParaRPr>
                    </a:p>
                  </a:txBody>
                  <a:tcPr anchor="ctr">
                    <a:solidFill>
                      <a:schemeClr val="bg2"/>
                    </a:solidFill>
                  </a:tcPr>
                </a:tc>
                <a:tc>
                  <a:txBody>
                    <a:bodyPr/>
                    <a:lstStyle/>
                    <a:p>
                      <a:pPr algn="ctr"/>
                      <a:r>
                        <a:rPr lang="en-US" dirty="0"/>
                        <a:t>85%</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muon</a:t>
                      </a:r>
                      <a:endParaRPr lang="en-SG" sz="1400" b="0" dirty="0">
                        <a:solidFill>
                          <a:srgbClr val="FF0000"/>
                        </a:solidFill>
                      </a:endParaRPr>
                    </a:p>
                  </a:txBody>
                  <a:tcPr anchor="ctr">
                    <a:solidFill>
                      <a:schemeClr val="bg2"/>
                    </a:solidFill>
                  </a:tcPr>
                </a:tc>
                <a:tc>
                  <a:txBody>
                    <a:bodyPr/>
                    <a:lstStyle/>
                    <a:p>
                      <a:pPr algn="ctr"/>
                      <a:r>
                        <a:rPr lang="en-US" dirty="0"/>
                        <a:t>15%</a:t>
                      </a:r>
                      <a:endParaRPr lang="en-SG" dirty="0"/>
                    </a:p>
                  </a:txBody>
                  <a:tcPr anchor="ctr"/>
                </a:tc>
                <a:extLst>
                  <a:ext uri="{0D108BD9-81ED-4DB2-BD59-A6C34878D82A}">
                    <a16:rowId xmlns:a16="http://schemas.microsoft.com/office/drawing/2014/main" val="2781143425"/>
                  </a:ext>
                </a:extLst>
              </a:tr>
            </a:tbl>
          </a:graphicData>
        </a:graphic>
      </p:graphicFrame>
      <p:sp>
        <p:nvSpPr>
          <p:cNvPr id="25" name="TextBox 24">
            <a:extLst>
              <a:ext uri="{FF2B5EF4-FFF2-40B4-BE49-F238E27FC236}">
                <a16:creationId xmlns:a16="http://schemas.microsoft.com/office/drawing/2014/main" id="{BC556F8D-C913-FC14-7E9B-7E9BA38E5CB7}"/>
              </a:ext>
            </a:extLst>
          </p:cNvPr>
          <p:cNvSpPr txBox="1"/>
          <p:nvPr/>
        </p:nvSpPr>
        <p:spPr>
          <a:xfrm rot="16200000">
            <a:off x="4996328" y="3376802"/>
            <a:ext cx="1450757" cy="338554"/>
          </a:xfrm>
          <a:prstGeom prst="rect">
            <a:avLst/>
          </a:prstGeom>
          <a:noFill/>
        </p:spPr>
        <p:txBody>
          <a:bodyPr wrap="square" rtlCol="0">
            <a:spAutoFit/>
          </a:bodyPr>
          <a:lstStyle/>
          <a:p>
            <a:r>
              <a:rPr lang="en-US" sz="1600" dirty="0"/>
              <a:t>Reconstructed</a:t>
            </a:r>
            <a:endParaRPr lang="en-SG" dirty="0"/>
          </a:p>
        </p:txBody>
      </p:sp>
      <p:sp>
        <p:nvSpPr>
          <p:cNvPr id="26" name="TextBox 25">
            <a:extLst>
              <a:ext uri="{FF2B5EF4-FFF2-40B4-BE49-F238E27FC236}">
                <a16:creationId xmlns:a16="http://schemas.microsoft.com/office/drawing/2014/main" id="{CE6AD3D5-9B73-F7B4-04F3-41DAA36F578F}"/>
              </a:ext>
            </a:extLst>
          </p:cNvPr>
          <p:cNvSpPr txBox="1"/>
          <p:nvPr/>
        </p:nvSpPr>
        <p:spPr>
          <a:xfrm>
            <a:off x="6310737" y="1947405"/>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27" name="Table 26">
            <a:extLst>
              <a:ext uri="{FF2B5EF4-FFF2-40B4-BE49-F238E27FC236}">
                <a16:creationId xmlns:a16="http://schemas.microsoft.com/office/drawing/2014/main" id="{8B9C85CE-D8E8-C49C-5252-7DE28FF39FFF}"/>
              </a:ext>
            </a:extLst>
          </p:cNvPr>
          <p:cNvGraphicFramePr>
            <a:graphicFrameLocks noGrp="1"/>
          </p:cNvGraphicFramePr>
          <p:nvPr>
            <p:extLst>
              <p:ext uri="{D42A27DB-BD31-4B8C-83A1-F6EECF244321}">
                <p14:modId xmlns:p14="http://schemas.microsoft.com/office/powerpoint/2010/main" val="19522707"/>
              </p:ext>
            </p:extLst>
          </p:nvPr>
        </p:nvGraphicFramePr>
        <p:xfrm>
          <a:off x="8094232" y="2288047"/>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t>BNB</a:t>
                      </a:r>
                      <a:endParaRPr lang="en-SG" b="1" dirty="0">
                        <a:solidFill>
                          <a:schemeClr val="tx1"/>
                        </a:solidFill>
                      </a:endParaRPr>
                    </a:p>
                  </a:txBody>
                  <a:tcPr anchor="ctr"/>
                </a:tc>
                <a:tc>
                  <a:txBody>
                    <a:bodyPr/>
                    <a:lstStyle/>
                    <a:p>
                      <a:pPr algn="ctr"/>
                      <a:r>
                        <a:rPr lang="en-US" sz="1400" dirty="0">
                          <a:solidFill>
                            <a:srgbClr val="FF0000"/>
                          </a:solidFill>
                        </a:rPr>
                        <a:t>Is pion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pion</a:t>
                      </a:r>
                      <a:endParaRPr lang="en-SG" sz="1400" b="0" dirty="0">
                        <a:solidFill>
                          <a:srgbClr val="FF0000"/>
                        </a:solidFill>
                      </a:endParaRPr>
                    </a:p>
                  </a:txBody>
                  <a:tcPr anchor="ctr">
                    <a:solidFill>
                      <a:schemeClr val="bg2"/>
                    </a:solidFill>
                  </a:tcPr>
                </a:tc>
                <a:tc>
                  <a:txBody>
                    <a:bodyPr/>
                    <a:lstStyle/>
                    <a:p>
                      <a:pPr algn="ctr"/>
                      <a:r>
                        <a:rPr lang="en-US" dirty="0"/>
                        <a:t>65.7%</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pion</a:t>
                      </a:r>
                      <a:endParaRPr lang="en-SG" sz="1400" b="0" dirty="0">
                        <a:solidFill>
                          <a:srgbClr val="FF0000"/>
                        </a:solidFill>
                      </a:endParaRPr>
                    </a:p>
                  </a:txBody>
                  <a:tcPr anchor="ctr">
                    <a:solidFill>
                      <a:schemeClr val="bg2"/>
                    </a:solidFill>
                  </a:tcPr>
                </a:tc>
                <a:tc>
                  <a:txBody>
                    <a:bodyPr/>
                    <a:lstStyle/>
                    <a:p>
                      <a:pPr algn="ctr"/>
                      <a:r>
                        <a:rPr lang="en-US" dirty="0"/>
                        <a:t>34.3%</a:t>
                      </a:r>
                      <a:endParaRPr lang="en-SG" dirty="0"/>
                    </a:p>
                  </a:txBody>
                  <a:tcPr anchor="ctr"/>
                </a:tc>
                <a:extLst>
                  <a:ext uri="{0D108BD9-81ED-4DB2-BD59-A6C34878D82A}">
                    <a16:rowId xmlns:a16="http://schemas.microsoft.com/office/drawing/2014/main" val="2781143425"/>
                  </a:ext>
                </a:extLst>
              </a:tr>
            </a:tbl>
          </a:graphicData>
        </a:graphic>
      </p:graphicFrame>
      <p:sp>
        <p:nvSpPr>
          <p:cNvPr id="28" name="TextBox 27">
            <a:extLst>
              <a:ext uri="{FF2B5EF4-FFF2-40B4-BE49-F238E27FC236}">
                <a16:creationId xmlns:a16="http://schemas.microsoft.com/office/drawing/2014/main" id="{928889FD-9C01-F38B-69FE-F69E1E130598}"/>
              </a:ext>
            </a:extLst>
          </p:cNvPr>
          <p:cNvSpPr txBox="1"/>
          <p:nvPr/>
        </p:nvSpPr>
        <p:spPr>
          <a:xfrm rot="16200000">
            <a:off x="7263616" y="3389255"/>
            <a:ext cx="1425847" cy="338554"/>
          </a:xfrm>
          <a:prstGeom prst="rect">
            <a:avLst/>
          </a:prstGeom>
          <a:noFill/>
        </p:spPr>
        <p:txBody>
          <a:bodyPr wrap="square" rtlCol="0">
            <a:spAutoFit/>
          </a:bodyPr>
          <a:lstStyle/>
          <a:p>
            <a:r>
              <a:rPr lang="en-US" sz="1600" dirty="0"/>
              <a:t>Reconstructed</a:t>
            </a:r>
            <a:endParaRPr lang="en-SG" dirty="0"/>
          </a:p>
        </p:txBody>
      </p:sp>
      <p:sp>
        <p:nvSpPr>
          <p:cNvPr id="29" name="TextBox 28">
            <a:extLst>
              <a:ext uri="{FF2B5EF4-FFF2-40B4-BE49-F238E27FC236}">
                <a16:creationId xmlns:a16="http://schemas.microsoft.com/office/drawing/2014/main" id="{EFD03067-32B2-324B-054B-250FC96BD15F}"/>
              </a:ext>
            </a:extLst>
          </p:cNvPr>
          <p:cNvSpPr txBox="1"/>
          <p:nvPr/>
        </p:nvSpPr>
        <p:spPr>
          <a:xfrm>
            <a:off x="8561953" y="1947405"/>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30" name="Table 29">
            <a:extLst>
              <a:ext uri="{FF2B5EF4-FFF2-40B4-BE49-F238E27FC236}">
                <a16:creationId xmlns:a16="http://schemas.microsoft.com/office/drawing/2014/main" id="{6D72B85F-B394-DA1C-08F4-8A2FEDCE873C}"/>
              </a:ext>
            </a:extLst>
          </p:cNvPr>
          <p:cNvGraphicFramePr>
            <a:graphicFrameLocks noGrp="1"/>
          </p:cNvGraphicFramePr>
          <p:nvPr>
            <p:extLst>
              <p:ext uri="{D42A27DB-BD31-4B8C-83A1-F6EECF244321}">
                <p14:modId xmlns:p14="http://schemas.microsoft.com/office/powerpoint/2010/main" val="2969876392"/>
              </p:ext>
            </p:extLst>
          </p:nvPr>
        </p:nvGraphicFramePr>
        <p:xfrm>
          <a:off x="10345448" y="2288047"/>
          <a:ext cx="1673660" cy="2052741"/>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t>BNB</a:t>
                      </a:r>
                      <a:endParaRPr lang="en-SG" b="1" dirty="0">
                        <a:solidFill>
                          <a:schemeClr val="tx1"/>
                        </a:solidFill>
                      </a:endParaRPr>
                    </a:p>
                  </a:txBody>
                  <a:tcPr anchor="ctr"/>
                </a:tc>
                <a:tc>
                  <a:txBody>
                    <a:bodyPr/>
                    <a:lstStyle/>
                    <a:p>
                      <a:pPr algn="ctr"/>
                      <a:r>
                        <a:rPr lang="en-US" sz="1400" dirty="0">
                          <a:solidFill>
                            <a:srgbClr val="FF0000"/>
                          </a:solidFill>
                        </a:rPr>
                        <a:t>Is proton</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Is </a:t>
                      </a:r>
                      <a:r>
                        <a:rPr lang="en-US" sz="1400" dirty="0">
                          <a:solidFill>
                            <a:srgbClr val="FF0000"/>
                          </a:solidFill>
                        </a:rPr>
                        <a:t>proton</a:t>
                      </a:r>
                      <a:endParaRPr lang="en-SG" sz="1400" b="0" dirty="0">
                        <a:solidFill>
                          <a:srgbClr val="FF0000"/>
                        </a:solidFill>
                      </a:endParaRPr>
                    </a:p>
                  </a:txBody>
                  <a:tcPr anchor="ctr">
                    <a:solidFill>
                      <a:schemeClr val="bg2"/>
                    </a:solidFill>
                  </a:tcPr>
                </a:tc>
                <a:tc>
                  <a:txBody>
                    <a:bodyPr/>
                    <a:lstStyle/>
                    <a:p>
                      <a:pPr algn="ctr"/>
                      <a:r>
                        <a:rPr lang="en-US" dirty="0"/>
                        <a:t>80.8%</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Is not </a:t>
                      </a:r>
                      <a:r>
                        <a:rPr lang="en-US" sz="1400" dirty="0">
                          <a:solidFill>
                            <a:srgbClr val="FF0000"/>
                          </a:solidFill>
                        </a:rPr>
                        <a:t>proton</a:t>
                      </a:r>
                      <a:endParaRPr lang="en-SG" sz="1400" b="0" dirty="0">
                        <a:solidFill>
                          <a:srgbClr val="FF0000"/>
                        </a:solidFill>
                      </a:endParaRPr>
                    </a:p>
                  </a:txBody>
                  <a:tcPr anchor="ctr">
                    <a:solidFill>
                      <a:schemeClr val="bg2"/>
                    </a:solidFill>
                  </a:tcPr>
                </a:tc>
                <a:tc>
                  <a:txBody>
                    <a:bodyPr/>
                    <a:lstStyle/>
                    <a:p>
                      <a:pPr algn="ctr"/>
                      <a:r>
                        <a:rPr lang="en-US" dirty="0"/>
                        <a:t>19.2%</a:t>
                      </a:r>
                      <a:endParaRPr lang="en-SG" dirty="0"/>
                    </a:p>
                  </a:txBody>
                  <a:tcPr anchor="ctr"/>
                </a:tc>
                <a:extLst>
                  <a:ext uri="{0D108BD9-81ED-4DB2-BD59-A6C34878D82A}">
                    <a16:rowId xmlns:a16="http://schemas.microsoft.com/office/drawing/2014/main" val="2781143425"/>
                  </a:ext>
                </a:extLst>
              </a:tr>
            </a:tbl>
          </a:graphicData>
        </a:graphic>
      </p:graphicFrame>
      <p:sp>
        <p:nvSpPr>
          <p:cNvPr id="31" name="TextBox 30">
            <a:extLst>
              <a:ext uri="{FF2B5EF4-FFF2-40B4-BE49-F238E27FC236}">
                <a16:creationId xmlns:a16="http://schemas.microsoft.com/office/drawing/2014/main" id="{A42464D3-B2E4-7355-99C3-0460846DC712}"/>
              </a:ext>
            </a:extLst>
          </p:cNvPr>
          <p:cNvSpPr txBox="1"/>
          <p:nvPr/>
        </p:nvSpPr>
        <p:spPr>
          <a:xfrm rot="16200000">
            <a:off x="9498761" y="3376801"/>
            <a:ext cx="1450758" cy="338554"/>
          </a:xfrm>
          <a:prstGeom prst="rect">
            <a:avLst/>
          </a:prstGeom>
          <a:noFill/>
        </p:spPr>
        <p:txBody>
          <a:bodyPr wrap="square" rtlCol="0">
            <a:spAutoFit/>
          </a:bodyPr>
          <a:lstStyle/>
          <a:p>
            <a:r>
              <a:rPr lang="en-US" sz="1600" dirty="0"/>
              <a:t>Reconstructed</a:t>
            </a:r>
            <a:endParaRPr lang="en-SG" dirty="0"/>
          </a:p>
        </p:txBody>
      </p:sp>
      <p:sp>
        <p:nvSpPr>
          <p:cNvPr id="32" name="TextBox 31">
            <a:extLst>
              <a:ext uri="{FF2B5EF4-FFF2-40B4-BE49-F238E27FC236}">
                <a16:creationId xmlns:a16="http://schemas.microsoft.com/office/drawing/2014/main" id="{A792E8FE-FFE8-B44A-D9EE-67D831BFF25C}"/>
              </a:ext>
            </a:extLst>
          </p:cNvPr>
          <p:cNvSpPr txBox="1"/>
          <p:nvPr/>
        </p:nvSpPr>
        <p:spPr>
          <a:xfrm>
            <a:off x="10813169" y="1947405"/>
            <a:ext cx="1378831" cy="338554"/>
          </a:xfrm>
          <a:prstGeom prst="rect">
            <a:avLst/>
          </a:prstGeom>
          <a:noFill/>
        </p:spPr>
        <p:txBody>
          <a:bodyPr wrap="square" rtlCol="0">
            <a:spAutoFit/>
          </a:bodyPr>
          <a:lstStyle/>
          <a:p>
            <a:pPr algn="ctr"/>
            <a:r>
              <a:rPr lang="en-US" sz="1600" dirty="0"/>
              <a:t>Truth</a:t>
            </a:r>
            <a:endParaRPr lang="en-SG" sz="1600" dirty="0"/>
          </a:p>
        </p:txBody>
      </p:sp>
      <p:graphicFrame>
        <p:nvGraphicFramePr>
          <p:cNvPr id="4" name="Table 3">
            <a:extLst>
              <a:ext uri="{FF2B5EF4-FFF2-40B4-BE49-F238E27FC236}">
                <a16:creationId xmlns:a16="http://schemas.microsoft.com/office/drawing/2014/main" id="{C9951ED7-F4BD-41ED-94C5-C70E5B9D6D83}"/>
              </a:ext>
            </a:extLst>
          </p:cNvPr>
          <p:cNvGraphicFramePr>
            <a:graphicFrameLocks noGrp="1"/>
          </p:cNvGraphicFramePr>
          <p:nvPr>
            <p:extLst>
              <p:ext uri="{D42A27DB-BD31-4B8C-83A1-F6EECF244321}">
                <p14:modId xmlns:p14="http://schemas.microsoft.com/office/powerpoint/2010/main" val="3799207285"/>
              </p:ext>
            </p:extLst>
          </p:nvPr>
        </p:nvGraphicFramePr>
        <p:xfrm>
          <a:off x="101600" y="4554221"/>
          <a:ext cx="11988801" cy="1193800"/>
        </p:xfrm>
        <a:graphic>
          <a:graphicData uri="http://schemas.openxmlformats.org/drawingml/2006/table">
            <a:tbl>
              <a:tblPr firstRow="1" bandRow="1">
                <a:tableStyleId>{5C22544A-7EE6-4342-B048-85BDC9FD1C3A}</a:tableStyleId>
              </a:tblPr>
              <a:tblGrid>
                <a:gridCol w="1163782">
                  <a:extLst>
                    <a:ext uri="{9D8B030D-6E8A-4147-A177-3AD203B41FA5}">
                      <a16:colId xmlns:a16="http://schemas.microsoft.com/office/drawing/2014/main" val="2630771369"/>
                    </a:ext>
                  </a:extLst>
                </a:gridCol>
                <a:gridCol w="2050473">
                  <a:extLst>
                    <a:ext uri="{9D8B030D-6E8A-4147-A177-3AD203B41FA5}">
                      <a16:colId xmlns:a16="http://schemas.microsoft.com/office/drawing/2014/main" val="768315987"/>
                    </a:ext>
                  </a:extLst>
                </a:gridCol>
                <a:gridCol w="2235200">
                  <a:extLst>
                    <a:ext uri="{9D8B030D-6E8A-4147-A177-3AD203B41FA5}">
                      <a16:colId xmlns:a16="http://schemas.microsoft.com/office/drawing/2014/main" val="1913737133"/>
                    </a:ext>
                  </a:extLst>
                </a:gridCol>
                <a:gridCol w="2244436">
                  <a:extLst>
                    <a:ext uri="{9D8B030D-6E8A-4147-A177-3AD203B41FA5}">
                      <a16:colId xmlns:a16="http://schemas.microsoft.com/office/drawing/2014/main" val="859940901"/>
                    </a:ext>
                  </a:extLst>
                </a:gridCol>
                <a:gridCol w="2272145">
                  <a:extLst>
                    <a:ext uri="{9D8B030D-6E8A-4147-A177-3AD203B41FA5}">
                      <a16:colId xmlns:a16="http://schemas.microsoft.com/office/drawing/2014/main" val="2695000153"/>
                    </a:ext>
                  </a:extLst>
                </a:gridCol>
                <a:gridCol w="2022765">
                  <a:extLst>
                    <a:ext uri="{9D8B030D-6E8A-4147-A177-3AD203B41FA5}">
                      <a16:colId xmlns:a16="http://schemas.microsoft.com/office/drawing/2014/main" val="2820532306"/>
                    </a:ext>
                  </a:extLst>
                </a:gridCol>
              </a:tblGrid>
              <a:tr h="370840">
                <a:tc>
                  <a:txBody>
                    <a:bodyPr/>
                    <a:lstStyle/>
                    <a:p>
                      <a:r>
                        <a:rPr lang="en-US" b="1" dirty="0"/>
                        <a:t>type </a:t>
                      </a:r>
                      <a:endParaRPr lang="en-SG" b="1" dirty="0"/>
                    </a:p>
                  </a:txBody>
                  <a:tcPr/>
                </a:tc>
                <a:tc>
                  <a:txBody>
                    <a:bodyPr/>
                    <a:lstStyle/>
                    <a:p>
                      <a:pPr algn="ctr"/>
                      <a:r>
                        <a:rPr lang="en-US" sz="1400" dirty="0"/>
                        <a:t>photon</a:t>
                      </a:r>
                      <a:endParaRPr lang="en-SG" sz="1400" dirty="0"/>
                    </a:p>
                  </a:txBody>
                  <a:tcPr/>
                </a:tc>
                <a:tc>
                  <a:txBody>
                    <a:bodyPr/>
                    <a:lstStyle/>
                    <a:p>
                      <a:pPr algn="ctr"/>
                      <a:r>
                        <a:rPr lang="en-US" sz="1400" dirty="0"/>
                        <a:t>electron</a:t>
                      </a:r>
                      <a:endParaRPr lang="en-SG" sz="1400" dirty="0"/>
                    </a:p>
                  </a:txBody>
                  <a:tcPr/>
                </a:tc>
                <a:tc>
                  <a:txBody>
                    <a:bodyPr/>
                    <a:lstStyle/>
                    <a:p>
                      <a:pPr algn="ctr"/>
                      <a:r>
                        <a:rPr lang="en-US" sz="1400" dirty="0"/>
                        <a:t>muon</a:t>
                      </a:r>
                      <a:endParaRPr lang="en-SG" sz="1400" dirty="0"/>
                    </a:p>
                  </a:txBody>
                  <a:tcPr/>
                </a:tc>
                <a:tc>
                  <a:txBody>
                    <a:bodyPr/>
                    <a:lstStyle/>
                    <a:p>
                      <a:pPr algn="ctr"/>
                      <a:r>
                        <a:rPr lang="en-US" sz="1400" dirty="0"/>
                        <a:t>pion</a:t>
                      </a:r>
                      <a:endParaRPr lang="en-SG" sz="1400" dirty="0"/>
                    </a:p>
                  </a:txBody>
                  <a:tcPr/>
                </a:tc>
                <a:tc>
                  <a:txBody>
                    <a:bodyPr/>
                    <a:lstStyle/>
                    <a:p>
                      <a:pPr algn="ctr"/>
                      <a:r>
                        <a:rPr lang="en-US" sz="1400" dirty="0"/>
                        <a:t>proton</a:t>
                      </a:r>
                      <a:endParaRPr lang="en-SG" sz="1400" dirty="0"/>
                    </a:p>
                  </a:txBody>
                  <a:tcPr/>
                </a:tc>
                <a:extLst>
                  <a:ext uri="{0D108BD9-81ED-4DB2-BD59-A6C34878D82A}">
                    <a16:rowId xmlns:a16="http://schemas.microsoft.com/office/drawing/2014/main" val="3688034187"/>
                  </a:ext>
                </a:extLst>
              </a:tr>
              <a:tr h="370840">
                <a:tc>
                  <a:txBody>
                    <a:bodyPr/>
                    <a:lstStyle/>
                    <a:p>
                      <a:r>
                        <a:rPr lang="en-US" sz="1600" b="1" dirty="0"/>
                        <a:t>Most common wrong PID</a:t>
                      </a:r>
                      <a:endParaRPr lang="en-SG" sz="1600" b="1" dirty="0"/>
                    </a:p>
                  </a:txBody>
                  <a:tcPr/>
                </a:tc>
                <a:tc>
                  <a:txBody>
                    <a:bodyPr/>
                    <a:lstStyle/>
                    <a:p>
                      <a:pPr algn="ctr"/>
                      <a:r>
                        <a:rPr lang="en-US" dirty="0"/>
                        <a:t>Null (15.9%)</a:t>
                      </a:r>
                      <a:br>
                        <a:rPr lang="en-US" dirty="0"/>
                      </a:br>
                      <a:r>
                        <a:rPr lang="en-US" dirty="0"/>
                        <a:t>/  Electron (23.4%)</a:t>
                      </a:r>
                      <a:endParaRPr lang="en-SG" dirty="0"/>
                    </a:p>
                  </a:txBody>
                  <a:tcPr/>
                </a:tc>
                <a:tc>
                  <a:txBody>
                    <a:bodyPr/>
                    <a:lstStyle/>
                    <a:p>
                      <a:pPr algn="ctr"/>
                      <a:r>
                        <a:rPr lang="en-US" dirty="0"/>
                        <a:t>Photon (2.9%)</a:t>
                      </a:r>
                    </a:p>
                    <a:p>
                      <a:pPr algn="ctr"/>
                      <a:r>
                        <a:rPr lang="en-US" dirty="0"/>
                        <a:t>/ Muon (8.8%)</a:t>
                      </a:r>
                      <a:endParaRPr lang="en-SG" dirty="0"/>
                    </a:p>
                  </a:txBody>
                  <a:tcPr/>
                </a:tc>
                <a:tc>
                  <a:txBody>
                    <a:bodyPr/>
                    <a:lstStyle/>
                    <a:p>
                      <a:pPr algn="ctr"/>
                      <a:r>
                        <a:rPr lang="en-US" dirty="0"/>
                        <a:t>Pion (9%)</a:t>
                      </a:r>
                      <a:endParaRPr lang="en-SG" dirty="0"/>
                    </a:p>
                  </a:txBody>
                  <a:tcPr/>
                </a:tc>
                <a:tc>
                  <a:txBody>
                    <a:bodyPr/>
                    <a:lstStyle/>
                    <a:p>
                      <a:pPr algn="ctr"/>
                      <a:r>
                        <a:rPr lang="en-US" dirty="0"/>
                        <a:t>Muon (15.8%)</a:t>
                      </a:r>
                    </a:p>
                    <a:p>
                      <a:pPr algn="ctr"/>
                      <a:r>
                        <a:rPr lang="en-US" dirty="0"/>
                        <a:t>/ Proton (16.1%)</a:t>
                      </a:r>
                      <a:endParaRPr lang="en-SG" dirty="0"/>
                    </a:p>
                  </a:txBody>
                  <a:tcPr/>
                </a:tc>
                <a:tc>
                  <a:txBody>
                    <a:bodyPr/>
                    <a:lstStyle/>
                    <a:p>
                      <a:pPr algn="ctr"/>
                      <a:r>
                        <a:rPr lang="en-US" dirty="0"/>
                        <a:t>Pion (10.7%)</a:t>
                      </a:r>
                      <a:endParaRPr lang="en-SG" dirty="0"/>
                    </a:p>
                  </a:txBody>
                  <a:tcPr/>
                </a:tc>
                <a:extLst>
                  <a:ext uri="{0D108BD9-81ED-4DB2-BD59-A6C34878D82A}">
                    <a16:rowId xmlns:a16="http://schemas.microsoft.com/office/drawing/2014/main" val="1430411261"/>
                  </a:ext>
                </a:extLst>
              </a:tr>
            </a:tbl>
          </a:graphicData>
        </a:graphic>
      </p:graphicFrame>
    </p:spTree>
    <p:extLst>
      <p:ext uri="{BB962C8B-B14F-4D97-AF65-F5344CB8AC3E}">
        <p14:creationId xmlns:p14="http://schemas.microsoft.com/office/powerpoint/2010/main" val="425618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D7BDB-9701-984E-3B5C-CAFEA31C7093}"/>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3C0CED3-31B0-6492-25DA-D26708DE769D}"/>
              </a:ext>
            </a:extLst>
          </p:cNvPr>
          <p:cNvGraphicFramePr>
            <a:graphicFrameLocks noGrp="1"/>
          </p:cNvGraphicFramePr>
          <p:nvPr/>
        </p:nvGraphicFramePr>
        <p:xfrm>
          <a:off x="7972425" y="2038156"/>
          <a:ext cx="3870036" cy="1859589"/>
        </p:xfrm>
        <a:graphic>
          <a:graphicData uri="http://schemas.openxmlformats.org/drawingml/2006/table">
            <a:tbl>
              <a:tblPr firstRow="1" bandRow="1">
                <a:tableStyleId>{69012ECD-51FC-41F1-AA8D-1B2483CD663E}</a:tableStyleId>
              </a:tblPr>
              <a:tblGrid>
                <a:gridCol w="3870036">
                  <a:extLst>
                    <a:ext uri="{9D8B030D-6E8A-4147-A177-3AD203B41FA5}">
                      <a16:colId xmlns:a16="http://schemas.microsoft.com/office/drawing/2014/main" val="1476473035"/>
                    </a:ext>
                  </a:extLst>
                </a:gridCol>
              </a:tblGrid>
              <a:tr h="619863">
                <a:tc>
                  <a:txBody>
                    <a:bodyPr/>
                    <a:lstStyle/>
                    <a:p>
                      <a:r>
                        <a:rPr lang="en-US" dirty="0"/>
                        <a:t>Created TOML files</a:t>
                      </a:r>
                      <a:endParaRPr lang="en-SG" dirty="0"/>
                    </a:p>
                  </a:txBody>
                  <a:tcPr/>
                </a:tc>
                <a:extLst>
                  <a:ext uri="{0D108BD9-81ED-4DB2-BD59-A6C34878D82A}">
                    <a16:rowId xmlns:a16="http://schemas.microsoft.com/office/drawing/2014/main" val="1553903345"/>
                  </a:ext>
                </a:extLst>
              </a:tr>
              <a:tr h="619863">
                <a:tc>
                  <a:txBody>
                    <a:bodyPr/>
                    <a:lstStyle/>
                    <a:p>
                      <a:endParaRPr lang="en-SG" dirty="0"/>
                    </a:p>
                  </a:txBody>
                  <a:tcPr/>
                </a:tc>
                <a:extLst>
                  <a:ext uri="{0D108BD9-81ED-4DB2-BD59-A6C34878D82A}">
                    <a16:rowId xmlns:a16="http://schemas.microsoft.com/office/drawing/2014/main" val="3745061632"/>
                  </a:ext>
                </a:extLst>
              </a:tr>
              <a:tr h="619863">
                <a:tc>
                  <a:txBody>
                    <a:bodyPr/>
                    <a:lstStyle/>
                    <a:p>
                      <a:endParaRPr lang="en-SG" dirty="0"/>
                    </a:p>
                  </a:txBody>
                  <a:tcPr/>
                </a:tc>
                <a:extLst>
                  <a:ext uri="{0D108BD9-81ED-4DB2-BD59-A6C34878D82A}">
                    <a16:rowId xmlns:a16="http://schemas.microsoft.com/office/drawing/2014/main" val="4282705285"/>
                  </a:ext>
                </a:extLst>
              </a:tr>
            </a:tbl>
          </a:graphicData>
        </a:graphic>
      </p:graphicFrame>
      <p:sp>
        <p:nvSpPr>
          <p:cNvPr id="2" name="Title 1">
            <a:extLst>
              <a:ext uri="{FF2B5EF4-FFF2-40B4-BE49-F238E27FC236}">
                <a16:creationId xmlns:a16="http://schemas.microsoft.com/office/drawing/2014/main" id="{03678366-A442-6703-8E8A-09627C3215C5}"/>
              </a:ext>
            </a:extLst>
          </p:cNvPr>
          <p:cNvSpPr>
            <a:spLocks noGrp="1"/>
          </p:cNvSpPr>
          <p:nvPr>
            <p:ph type="title"/>
          </p:nvPr>
        </p:nvSpPr>
        <p:spPr/>
        <p:txBody>
          <a:bodyPr/>
          <a:lstStyle/>
          <a:p>
            <a:r>
              <a:rPr lang="en-US" dirty="0"/>
              <a:t>Tasks completed (19 Feb) </a:t>
            </a:r>
            <a:endParaRPr lang="en-SG" dirty="0"/>
          </a:p>
        </p:txBody>
      </p:sp>
      <p:sp>
        <p:nvSpPr>
          <p:cNvPr id="3" name="Content Placeholder 2">
            <a:extLst>
              <a:ext uri="{FF2B5EF4-FFF2-40B4-BE49-F238E27FC236}">
                <a16:creationId xmlns:a16="http://schemas.microsoft.com/office/drawing/2014/main" id="{9A3A9378-1C91-D033-6E65-8E0A3680C8BB}"/>
              </a:ext>
            </a:extLst>
          </p:cNvPr>
          <p:cNvSpPr>
            <a:spLocks noGrp="1"/>
          </p:cNvSpPr>
          <p:nvPr>
            <p:ph idx="1"/>
          </p:nvPr>
        </p:nvSpPr>
        <p:spPr>
          <a:xfrm>
            <a:off x="1097280" y="1845734"/>
            <a:ext cx="6494145" cy="4351866"/>
          </a:xfrm>
        </p:spPr>
        <p:txBody>
          <a:bodyPr>
            <a:normAutofit/>
          </a:bodyPr>
          <a:lstStyle/>
          <a:p>
            <a:pPr>
              <a:buFont typeface="Arial" panose="020B0604020202020204" pitchFamily="34" charset="0"/>
              <a:buChar char="•"/>
            </a:pPr>
            <a:r>
              <a:rPr lang="en-US" dirty="0"/>
              <a:t>Extra: particle semantic type reconstruction efficiency confusion matrix</a:t>
            </a:r>
          </a:p>
          <a:p>
            <a:pPr>
              <a:buFont typeface="Arial" panose="020B0604020202020204" pitchFamily="34" charset="0"/>
              <a:buChar char="•"/>
            </a:pPr>
            <a:r>
              <a:rPr lang="en-US" dirty="0"/>
              <a:t>Out-of-time </a:t>
            </a:r>
            <a:r>
              <a:rPr lang="en-US" dirty="0" err="1"/>
              <a:t>cosmics</a:t>
            </a:r>
            <a:r>
              <a:rPr lang="en-US" dirty="0"/>
              <a:t> investigation </a:t>
            </a:r>
            <a:endParaRPr lang="en-SG" dirty="0"/>
          </a:p>
        </p:txBody>
      </p:sp>
      <p:graphicFrame>
        <p:nvGraphicFramePr>
          <p:cNvPr id="6" name="Object 5">
            <a:extLst>
              <a:ext uri="{FF2B5EF4-FFF2-40B4-BE49-F238E27FC236}">
                <a16:creationId xmlns:a16="http://schemas.microsoft.com/office/drawing/2014/main" id="{A94D7B03-D194-3A28-08CA-9FA672F80636}"/>
              </a:ext>
            </a:extLst>
          </p:cNvPr>
          <p:cNvGraphicFramePr>
            <a:graphicFrameLocks noChangeAspect="1"/>
          </p:cNvGraphicFramePr>
          <p:nvPr/>
        </p:nvGraphicFramePr>
        <p:xfrm>
          <a:off x="8324632" y="2710775"/>
          <a:ext cx="3400425" cy="514350"/>
        </p:xfrm>
        <a:graphic>
          <a:graphicData uri="http://schemas.openxmlformats.org/presentationml/2006/ole">
            <mc:AlternateContent xmlns:mc="http://schemas.openxmlformats.org/markup-compatibility/2006">
              <mc:Choice xmlns:v="urn:schemas-microsoft-com:vml" Requires="v">
                <p:oleObj name="Packager Shell Object" showAsIcon="1" r:id="rId3" imgW="3400406" imgH="514350" progId="Package">
                  <p:embed/>
                </p:oleObj>
              </mc:Choice>
              <mc:Fallback>
                <p:oleObj name="Packager Shell Object" showAsIcon="1" r:id="rId3" imgW="3400406" imgH="514350" progId="Package">
                  <p:embed/>
                  <p:pic>
                    <p:nvPicPr>
                      <p:cNvPr id="6" name="Object 5">
                        <a:extLst>
                          <a:ext uri="{FF2B5EF4-FFF2-40B4-BE49-F238E27FC236}">
                            <a16:creationId xmlns:a16="http://schemas.microsoft.com/office/drawing/2014/main" id="{690D7911-666F-6B2D-4494-5F2EFCF321BC}"/>
                          </a:ext>
                        </a:extLst>
                      </p:cNvPr>
                      <p:cNvPicPr/>
                      <p:nvPr/>
                    </p:nvPicPr>
                    <p:blipFill>
                      <a:blip r:embed="rId4"/>
                      <a:stretch>
                        <a:fillRect/>
                      </a:stretch>
                    </p:blipFill>
                    <p:spPr>
                      <a:xfrm>
                        <a:off x="8324632" y="2710775"/>
                        <a:ext cx="3400425" cy="51435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591F0BAD-21D0-F0B7-0A9E-D1CD4429803B}"/>
              </a:ext>
            </a:extLst>
          </p:cNvPr>
          <p:cNvGraphicFramePr>
            <a:graphicFrameLocks noChangeAspect="1"/>
          </p:cNvGraphicFramePr>
          <p:nvPr/>
        </p:nvGraphicFramePr>
        <p:xfrm>
          <a:off x="8305583" y="3354002"/>
          <a:ext cx="3438525" cy="514350"/>
        </p:xfrm>
        <a:graphic>
          <a:graphicData uri="http://schemas.openxmlformats.org/presentationml/2006/ole">
            <mc:AlternateContent xmlns:mc="http://schemas.openxmlformats.org/markup-compatibility/2006">
              <mc:Choice xmlns:v="urn:schemas-microsoft-com:vml" Requires="v">
                <p:oleObj name="Packager Shell Object" showAsIcon="1" r:id="rId5" imgW="3438633" imgH="514350" progId="Package">
                  <p:embed/>
                </p:oleObj>
              </mc:Choice>
              <mc:Fallback>
                <p:oleObj name="Packager Shell Object" showAsIcon="1" r:id="rId5" imgW="3438633" imgH="514350" progId="Package">
                  <p:embed/>
                  <p:pic>
                    <p:nvPicPr>
                      <p:cNvPr id="8" name="Object 7">
                        <a:extLst>
                          <a:ext uri="{FF2B5EF4-FFF2-40B4-BE49-F238E27FC236}">
                            <a16:creationId xmlns:a16="http://schemas.microsoft.com/office/drawing/2014/main" id="{10F1754C-30B9-87F6-82B0-A1837E2AA788}"/>
                          </a:ext>
                        </a:extLst>
                      </p:cNvPr>
                      <p:cNvPicPr/>
                      <p:nvPr/>
                    </p:nvPicPr>
                    <p:blipFill>
                      <a:blip r:embed="rId6"/>
                      <a:stretch>
                        <a:fillRect/>
                      </a:stretch>
                    </p:blipFill>
                    <p:spPr>
                      <a:xfrm>
                        <a:off x="8305583" y="3354002"/>
                        <a:ext cx="3438525" cy="514350"/>
                      </a:xfrm>
                      <a:prstGeom prst="rect">
                        <a:avLst/>
                      </a:prstGeom>
                    </p:spPr>
                  </p:pic>
                </p:oleObj>
              </mc:Fallback>
            </mc:AlternateContent>
          </a:graphicData>
        </a:graphic>
      </p:graphicFrame>
    </p:spTree>
    <p:extLst>
      <p:ext uri="{BB962C8B-B14F-4D97-AF65-F5344CB8AC3E}">
        <p14:creationId xmlns:p14="http://schemas.microsoft.com/office/powerpoint/2010/main" val="2454742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00AE-FE17-9842-E38C-E8B0951264C4}"/>
              </a:ext>
            </a:extLst>
          </p:cNvPr>
          <p:cNvSpPr>
            <a:spLocks noGrp="1"/>
          </p:cNvSpPr>
          <p:nvPr>
            <p:ph type="title"/>
          </p:nvPr>
        </p:nvSpPr>
        <p:spPr/>
        <p:txBody>
          <a:bodyPr/>
          <a:lstStyle/>
          <a:p>
            <a:r>
              <a:rPr lang="en-US" dirty="0"/>
              <a:t>Particle Semantic type Confusion matrix</a:t>
            </a:r>
            <a:endParaRPr lang="en-SG" dirty="0"/>
          </a:p>
        </p:txBody>
      </p:sp>
      <p:sp>
        <p:nvSpPr>
          <p:cNvPr id="3" name="Content Placeholder 2">
            <a:extLst>
              <a:ext uri="{FF2B5EF4-FFF2-40B4-BE49-F238E27FC236}">
                <a16:creationId xmlns:a16="http://schemas.microsoft.com/office/drawing/2014/main" id="{E4A6030E-BD88-F670-7663-6845BFC2121E}"/>
              </a:ext>
            </a:extLst>
          </p:cNvPr>
          <p:cNvSpPr>
            <a:spLocks noGrp="1"/>
          </p:cNvSpPr>
          <p:nvPr>
            <p:ph idx="1"/>
          </p:nvPr>
        </p:nvSpPr>
        <p:spPr>
          <a:xfrm>
            <a:off x="1097280" y="1845734"/>
            <a:ext cx="10058400" cy="4307416"/>
          </a:xfrm>
        </p:spPr>
        <p:txBody>
          <a:bodyPr>
            <a:normAutofit fontScale="92500" lnSpcReduction="10000"/>
          </a:bodyPr>
          <a:lstStyle/>
          <a:p>
            <a:pPr>
              <a:buFont typeface="Arial" panose="020B0604020202020204" pitchFamily="34" charset="0"/>
              <a:buChar char="•"/>
            </a:pPr>
            <a:r>
              <a:rPr lang="en-US" dirty="0"/>
              <a:t>The diagonal elements represent the percentage of particle semantic types classified correctly, while the off-diagonal elements represent the percentage of particles misclassified as another species.</a:t>
            </a:r>
          </a:p>
          <a:p>
            <a:pPr>
              <a:buFont typeface="Arial" panose="020B0604020202020204" pitchFamily="34" charset="0"/>
              <a:buChar char="•"/>
            </a:pPr>
            <a:r>
              <a:rPr lang="en-US" dirty="0"/>
              <a:t>For Reco to Truth tables, they are based on selection in reconstructed mode, with percentages defined as the fraction of a reconstructed particle type matched to the corresponding true PID counterpart</a:t>
            </a:r>
          </a:p>
          <a:p>
            <a:pPr>
              <a:buFont typeface="Arial" panose="020B0604020202020204" pitchFamily="34" charset="0"/>
              <a:buChar char="•"/>
            </a:pPr>
            <a:r>
              <a:rPr lang="en-US" dirty="0"/>
              <a:t>For Truth to Reco tables, they are based on selection in true mode, with percentages defined as the fraction of a true particle type matched to the corresponding reconstructed PID counterpart</a:t>
            </a:r>
          </a:p>
          <a:p>
            <a:pPr>
              <a:buFont typeface="Arial" panose="020B0604020202020204" pitchFamily="34" charset="0"/>
              <a:buChar char="•"/>
            </a:pPr>
            <a:r>
              <a:rPr lang="en-US" dirty="0"/>
              <a:t>The snapshot on the left of the confusion matrix shows the written selection tree used to create the corresponding matrix, with the corresponding cuts shown. Only the ‘</a:t>
            </a:r>
            <a:r>
              <a:rPr lang="en-US" dirty="0" err="1"/>
              <a:t>semantic_type</a:t>
            </a:r>
            <a:r>
              <a:rPr lang="en-US" dirty="0"/>
              <a:t>’ variable from the </a:t>
            </a:r>
            <a:r>
              <a:rPr lang="en-US" dirty="0" err="1"/>
              <a:t>Tbranch</a:t>
            </a:r>
            <a:r>
              <a:rPr lang="en-US" dirty="0"/>
              <a:t> was used for the confusion matrix</a:t>
            </a:r>
          </a:p>
          <a:p>
            <a:pPr>
              <a:buFont typeface="Arial" panose="020B0604020202020204" pitchFamily="34" charset="0"/>
              <a:buChar char="•"/>
            </a:pPr>
            <a:r>
              <a:rPr lang="en-US" dirty="0"/>
              <a:t>A reconstructed semantic type of “null” is intended to represent cases where no activity attributable to the true particle was reconstructed</a:t>
            </a:r>
          </a:p>
          <a:p>
            <a:pPr>
              <a:buFont typeface="Arial" panose="020B0604020202020204" pitchFamily="34" charset="0"/>
              <a:buChar char="•"/>
            </a:pPr>
            <a:r>
              <a:rPr lang="en-US" dirty="0"/>
              <a:t>A true semantic type of “null” is intended to represent cases where no activity attributable to the reconstructed particle was matched</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421381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4291B-BF1F-7EDD-4374-EBE7A6EC3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99621-9ACD-03B8-D0FF-737B10463B6E}"/>
              </a:ext>
            </a:extLst>
          </p:cNvPr>
          <p:cNvSpPr>
            <a:spLocks noGrp="1"/>
          </p:cNvSpPr>
          <p:nvPr>
            <p:ph type="title"/>
          </p:nvPr>
        </p:nvSpPr>
        <p:spPr>
          <a:xfrm>
            <a:off x="748145" y="286603"/>
            <a:ext cx="10407535" cy="1450757"/>
          </a:xfrm>
        </p:spPr>
        <p:txBody>
          <a:bodyPr/>
          <a:lstStyle/>
          <a:p>
            <a:r>
              <a:rPr lang="en-US" b="1" dirty="0" err="1"/>
              <a:t>NuMI</a:t>
            </a:r>
            <a:r>
              <a:rPr lang="en-US" dirty="0"/>
              <a:t> Reco to truth matching </a:t>
            </a:r>
            <a:r>
              <a:rPr lang="en-US" b="1" dirty="0"/>
              <a:t>(Reco mode)</a:t>
            </a:r>
            <a:endParaRPr lang="en-SG" dirty="0"/>
          </a:p>
        </p:txBody>
      </p:sp>
      <p:sp>
        <p:nvSpPr>
          <p:cNvPr id="10" name="TextBox 9">
            <a:extLst>
              <a:ext uri="{FF2B5EF4-FFF2-40B4-BE49-F238E27FC236}">
                <a16:creationId xmlns:a16="http://schemas.microsoft.com/office/drawing/2014/main" id="{5BE35527-3CC2-563A-3357-360982E609BD}"/>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4" name="Picture 3">
            <a:extLst>
              <a:ext uri="{FF2B5EF4-FFF2-40B4-BE49-F238E27FC236}">
                <a16:creationId xmlns:a16="http://schemas.microsoft.com/office/drawing/2014/main" id="{6B3B576D-63A2-5B53-FF0A-04E30AC1430D}"/>
              </a:ext>
            </a:extLst>
          </p:cNvPr>
          <p:cNvPicPr>
            <a:picLocks noChangeAspect="1"/>
          </p:cNvPicPr>
          <p:nvPr/>
        </p:nvPicPr>
        <p:blipFill>
          <a:blip r:embed="rId3"/>
          <a:stretch>
            <a:fillRect/>
          </a:stretch>
        </p:blipFill>
        <p:spPr>
          <a:xfrm>
            <a:off x="1362075" y="2270933"/>
            <a:ext cx="3514725" cy="3910852"/>
          </a:xfrm>
          <a:prstGeom prst="rect">
            <a:avLst/>
          </a:prstGeom>
        </p:spPr>
      </p:pic>
      <p:pic>
        <p:nvPicPr>
          <p:cNvPr id="7" name="Picture 6">
            <a:extLst>
              <a:ext uri="{FF2B5EF4-FFF2-40B4-BE49-F238E27FC236}">
                <a16:creationId xmlns:a16="http://schemas.microsoft.com/office/drawing/2014/main" id="{200CED93-AA47-5819-9276-3D30D55E9800}"/>
              </a:ext>
            </a:extLst>
          </p:cNvPr>
          <p:cNvPicPr>
            <a:picLocks noChangeAspect="1"/>
          </p:cNvPicPr>
          <p:nvPr/>
        </p:nvPicPr>
        <p:blipFill>
          <a:blip r:embed="rId4"/>
          <a:stretch>
            <a:fillRect/>
          </a:stretch>
        </p:blipFill>
        <p:spPr>
          <a:xfrm>
            <a:off x="5695950" y="1836899"/>
            <a:ext cx="6067426" cy="4345663"/>
          </a:xfrm>
          <a:prstGeom prst="rect">
            <a:avLst/>
          </a:prstGeom>
        </p:spPr>
      </p:pic>
    </p:spTree>
    <p:extLst>
      <p:ext uri="{BB962C8B-B14F-4D97-AF65-F5344CB8AC3E}">
        <p14:creationId xmlns:p14="http://schemas.microsoft.com/office/powerpoint/2010/main" val="374094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19FBB-15CE-435E-E0E7-4C8CA9A58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72D8D-0F5D-A7F5-C534-FC3E7EC53AB0}"/>
              </a:ext>
            </a:extLst>
          </p:cNvPr>
          <p:cNvSpPr>
            <a:spLocks noGrp="1"/>
          </p:cNvSpPr>
          <p:nvPr>
            <p:ph type="title"/>
          </p:nvPr>
        </p:nvSpPr>
        <p:spPr>
          <a:xfrm>
            <a:off x="914401" y="286603"/>
            <a:ext cx="10241280" cy="1450757"/>
          </a:xfrm>
        </p:spPr>
        <p:txBody>
          <a:bodyPr/>
          <a:lstStyle/>
          <a:p>
            <a:r>
              <a:rPr lang="en-US" b="1" dirty="0" err="1"/>
              <a:t>NuMI</a:t>
            </a:r>
            <a:r>
              <a:rPr lang="en-US" dirty="0"/>
              <a:t> Truth to </a:t>
            </a:r>
            <a:r>
              <a:rPr lang="en-US" dirty="0" err="1"/>
              <a:t>reco</a:t>
            </a:r>
            <a:r>
              <a:rPr lang="en-US" dirty="0"/>
              <a:t> matching </a:t>
            </a:r>
            <a:r>
              <a:rPr lang="en-US" b="1" dirty="0"/>
              <a:t>(True mode)</a:t>
            </a:r>
            <a:endParaRPr lang="en-SG" b="1" dirty="0"/>
          </a:p>
        </p:txBody>
      </p:sp>
      <p:sp>
        <p:nvSpPr>
          <p:cNvPr id="13" name="TextBox 12">
            <a:extLst>
              <a:ext uri="{FF2B5EF4-FFF2-40B4-BE49-F238E27FC236}">
                <a16:creationId xmlns:a16="http://schemas.microsoft.com/office/drawing/2014/main" id="{CCB5B32E-6273-AFA5-07AD-0266DA7E5737}"/>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4" name="Picture 3">
            <a:extLst>
              <a:ext uri="{FF2B5EF4-FFF2-40B4-BE49-F238E27FC236}">
                <a16:creationId xmlns:a16="http://schemas.microsoft.com/office/drawing/2014/main" id="{9DF10923-275F-A46F-53EE-6452A72F2D37}"/>
              </a:ext>
            </a:extLst>
          </p:cNvPr>
          <p:cNvPicPr>
            <a:picLocks noChangeAspect="1"/>
          </p:cNvPicPr>
          <p:nvPr/>
        </p:nvPicPr>
        <p:blipFill>
          <a:blip r:embed="rId3"/>
          <a:stretch>
            <a:fillRect/>
          </a:stretch>
        </p:blipFill>
        <p:spPr>
          <a:xfrm>
            <a:off x="1385888" y="2270933"/>
            <a:ext cx="3373135" cy="3920317"/>
          </a:xfrm>
          <a:prstGeom prst="rect">
            <a:avLst/>
          </a:prstGeom>
        </p:spPr>
      </p:pic>
      <p:pic>
        <p:nvPicPr>
          <p:cNvPr id="6" name="Picture 5">
            <a:extLst>
              <a:ext uri="{FF2B5EF4-FFF2-40B4-BE49-F238E27FC236}">
                <a16:creationId xmlns:a16="http://schemas.microsoft.com/office/drawing/2014/main" id="{7BC31A69-9784-3702-6A9F-EDE1D2F8E397}"/>
              </a:ext>
            </a:extLst>
          </p:cNvPr>
          <p:cNvPicPr>
            <a:picLocks noChangeAspect="1"/>
          </p:cNvPicPr>
          <p:nvPr/>
        </p:nvPicPr>
        <p:blipFill>
          <a:blip r:embed="rId4"/>
          <a:stretch>
            <a:fillRect/>
          </a:stretch>
        </p:blipFill>
        <p:spPr>
          <a:xfrm>
            <a:off x="5486400" y="1842685"/>
            <a:ext cx="6181725" cy="4427527"/>
          </a:xfrm>
          <a:prstGeom prst="rect">
            <a:avLst/>
          </a:prstGeom>
        </p:spPr>
      </p:pic>
    </p:spTree>
    <p:extLst>
      <p:ext uri="{BB962C8B-B14F-4D97-AF65-F5344CB8AC3E}">
        <p14:creationId xmlns:p14="http://schemas.microsoft.com/office/powerpoint/2010/main" val="1604646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BE8EB-996A-3DCC-D3C7-EA84F158C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D4A18-0A45-262B-ECEC-0A3E1AE77A86}"/>
              </a:ext>
            </a:extLst>
          </p:cNvPr>
          <p:cNvSpPr>
            <a:spLocks noGrp="1"/>
          </p:cNvSpPr>
          <p:nvPr>
            <p:ph type="title"/>
          </p:nvPr>
        </p:nvSpPr>
        <p:spPr>
          <a:xfrm>
            <a:off x="748145" y="286603"/>
            <a:ext cx="10407535" cy="1450757"/>
          </a:xfrm>
        </p:spPr>
        <p:txBody>
          <a:bodyPr/>
          <a:lstStyle/>
          <a:p>
            <a:r>
              <a:rPr lang="en-US" b="1" dirty="0"/>
              <a:t>BNB</a:t>
            </a:r>
            <a:r>
              <a:rPr lang="en-US" dirty="0"/>
              <a:t> Reco to truth matching </a:t>
            </a:r>
            <a:r>
              <a:rPr lang="en-US" b="1" dirty="0"/>
              <a:t>(Reco mode)</a:t>
            </a:r>
            <a:endParaRPr lang="en-SG" dirty="0"/>
          </a:p>
        </p:txBody>
      </p:sp>
      <p:sp>
        <p:nvSpPr>
          <p:cNvPr id="10" name="TextBox 9">
            <a:extLst>
              <a:ext uri="{FF2B5EF4-FFF2-40B4-BE49-F238E27FC236}">
                <a16:creationId xmlns:a16="http://schemas.microsoft.com/office/drawing/2014/main" id="{1D54E9EE-8BDE-CAB5-8DF3-2CF376CB9AE8}"/>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3" name="Picture 2">
            <a:extLst>
              <a:ext uri="{FF2B5EF4-FFF2-40B4-BE49-F238E27FC236}">
                <a16:creationId xmlns:a16="http://schemas.microsoft.com/office/drawing/2014/main" id="{6B9882EE-7809-9BF6-D5EB-0430EF364A00}"/>
              </a:ext>
            </a:extLst>
          </p:cNvPr>
          <p:cNvPicPr>
            <a:picLocks noChangeAspect="1"/>
          </p:cNvPicPr>
          <p:nvPr/>
        </p:nvPicPr>
        <p:blipFill>
          <a:blip r:embed="rId3"/>
          <a:stretch>
            <a:fillRect/>
          </a:stretch>
        </p:blipFill>
        <p:spPr>
          <a:xfrm>
            <a:off x="1362075" y="2270933"/>
            <a:ext cx="3514725" cy="3910852"/>
          </a:xfrm>
          <a:prstGeom prst="rect">
            <a:avLst/>
          </a:prstGeom>
        </p:spPr>
      </p:pic>
      <p:pic>
        <p:nvPicPr>
          <p:cNvPr id="7" name="Picture 6">
            <a:extLst>
              <a:ext uri="{FF2B5EF4-FFF2-40B4-BE49-F238E27FC236}">
                <a16:creationId xmlns:a16="http://schemas.microsoft.com/office/drawing/2014/main" id="{221DA2CB-B624-735D-D7DD-7059312D4F0D}"/>
              </a:ext>
            </a:extLst>
          </p:cNvPr>
          <p:cNvPicPr>
            <a:picLocks noChangeAspect="1"/>
          </p:cNvPicPr>
          <p:nvPr/>
        </p:nvPicPr>
        <p:blipFill>
          <a:blip r:embed="rId4"/>
          <a:stretch>
            <a:fillRect/>
          </a:stretch>
        </p:blipFill>
        <p:spPr>
          <a:xfrm>
            <a:off x="5461935" y="1813559"/>
            <a:ext cx="6330017" cy="4533739"/>
          </a:xfrm>
          <a:prstGeom prst="rect">
            <a:avLst/>
          </a:prstGeom>
        </p:spPr>
      </p:pic>
    </p:spTree>
    <p:extLst>
      <p:ext uri="{BB962C8B-B14F-4D97-AF65-F5344CB8AC3E}">
        <p14:creationId xmlns:p14="http://schemas.microsoft.com/office/powerpoint/2010/main" val="3676437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1BF6D-165A-C323-80B0-D73D4A6C0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C2AEA-A12C-5673-3181-B6FF205D8E8F}"/>
              </a:ext>
            </a:extLst>
          </p:cNvPr>
          <p:cNvSpPr>
            <a:spLocks noGrp="1"/>
          </p:cNvSpPr>
          <p:nvPr>
            <p:ph type="title"/>
          </p:nvPr>
        </p:nvSpPr>
        <p:spPr>
          <a:xfrm>
            <a:off x="914401" y="286603"/>
            <a:ext cx="10241280" cy="1450757"/>
          </a:xfrm>
        </p:spPr>
        <p:txBody>
          <a:bodyPr/>
          <a:lstStyle/>
          <a:p>
            <a:r>
              <a:rPr lang="en-US" b="1" dirty="0"/>
              <a:t>BNB</a:t>
            </a:r>
            <a:r>
              <a:rPr lang="en-US" dirty="0"/>
              <a:t> Truth to </a:t>
            </a:r>
            <a:r>
              <a:rPr lang="en-US" dirty="0" err="1"/>
              <a:t>reco</a:t>
            </a:r>
            <a:r>
              <a:rPr lang="en-US" dirty="0"/>
              <a:t> matching </a:t>
            </a:r>
            <a:r>
              <a:rPr lang="en-US" b="1" dirty="0"/>
              <a:t>(True mode)</a:t>
            </a:r>
            <a:endParaRPr lang="en-SG" b="1" dirty="0"/>
          </a:p>
        </p:txBody>
      </p:sp>
      <p:sp>
        <p:nvSpPr>
          <p:cNvPr id="13" name="TextBox 12">
            <a:extLst>
              <a:ext uri="{FF2B5EF4-FFF2-40B4-BE49-F238E27FC236}">
                <a16:creationId xmlns:a16="http://schemas.microsoft.com/office/drawing/2014/main" id="{EA7851E1-94D7-BE10-A94B-6046F0411A6E}"/>
              </a:ext>
            </a:extLst>
          </p:cNvPr>
          <p:cNvSpPr txBox="1"/>
          <p:nvPr/>
        </p:nvSpPr>
        <p:spPr>
          <a:xfrm>
            <a:off x="1090612" y="1932379"/>
            <a:ext cx="4014135" cy="338554"/>
          </a:xfrm>
          <a:prstGeom prst="rect">
            <a:avLst/>
          </a:prstGeom>
          <a:noFill/>
        </p:spPr>
        <p:txBody>
          <a:bodyPr wrap="square" rtlCol="0">
            <a:spAutoFit/>
          </a:bodyPr>
          <a:lstStyle/>
          <a:p>
            <a:pPr algn="ctr"/>
            <a:r>
              <a:rPr lang="en-US" sz="1600" dirty="0"/>
              <a:t>Corresponding selection tree in TOML file</a:t>
            </a:r>
            <a:endParaRPr lang="en-SG" sz="1600" dirty="0"/>
          </a:p>
        </p:txBody>
      </p:sp>
      <p:pic>
        <p:nvPicPr>
          <p:cNvPr id="3" name="Picture 2">
            <a:extLst>
              <a:ext uri="{FF2B5EF4-FFF2-40B4-BE49-F238E27FC236}">
                <a16:creationId xmlns:a16="http://schemas.microsoft.com/office/drawing/2014/main" id="{F32276ED-B323-561B-0AA1-ECDC50BF395C}"/>
              </a:ext>
            </a:extLst>
          </p:cNvPr>
          <p:cNvPicPr>
            <a:picLocks noChangeAspect="1"/>
          </p:cNvPicPr>
          <p:nvPr/>
        </p:nvPicPr>
        <p:blipFill>
          <a:blip r:embed="rId3"/>
          <a:stretch>
            <a:fillRect/>
          </a:stretch>
        </p:blipFill>
        <p:spPr>
          <a:xfrm>
            <a:off x="1385888" y="2270933"/>
            <a:ext cx="3373135" cy="3920317"/>
          </a:xfrm>
          <a:prstGeom prst="rect">
            <a:avLst/>
          </a:prstGeom>
        </p:spPr>
      </p:pic>
      <p:pic>
        <p:nvPicPr>
          <p:cNvPr id="5" name="Picture 4">
            <a:extLst>
              <a:ext uri="{FF2B5EF4-FFF2-40B4-BE49-F238E27FC236}">
                <a16:creationId xmlns:a16="http://schemas.microsoft.com/office/drawing/2014/main" id="{34AC42FF-A504-F8D6-E0A7-D38F5AD8AE75}"/>
              </a:ext>
            </a:extLst>
          </p:cNvPr>
          <p:cNvPicPr>
            <a:picLocks noChangeAspect="1"/>
          </p:cNvPicPr>
          <p:nvPr/>
        </p:nvPicPr>
        <p:blipFill>
          <a:blip r:embed="rId4"/>
          <a:stretch>
            <a:fillRect/>
          </a:stretch>
        </p:blipFill>
        <p:spPr>
          <a:xfrm>
            <a:off x="5590523" y="1804187"/>
            <a:ext cx="6125228" cy="4387063"/>
          </a:xfrm>
          <a:prstGeom prst="rect">
            <a:avLst/>
          </a:prstGeom>
        </p:spPr>
      </p:pic>
    </p:spTree>
    <p:extLst>
      <p:ext uri="{BB962C8B-B14F-4D97-AF65-F5344CB8AC3E}">
        <p14:creationId xmlns:p14="http://schemas.microsoft.com/office/powerpoint/2010/main" val="2112458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C1751-B148-C9D0-04F1-0BFB7FDF6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F855A-BD6A-6D1B-FE59-4902E345154D}"/>
              </a:ext>
            </a:extLst>
          </p:cNvPr>
          <p:cNvSpPr>
            <a:spLocks noGrp="1"/>
          </p:cNvSpPr>
          <p:nvPr>
            <p:ph type="title"/>
          </p:nvPr>
        </p:nvSpPr>
        <p:spPr/>
        <p:txBody>
          <a:bodyPr/>
          <a:lstStyle/>
          <a:p>
            <a:r>
              <a:rPr lang="en-US" dirty="0"/>
              <a:t>Reducing effect of </a:t>
            </a:r>
            <a:r>
              <a:rPr lang="en-US" dirty="0" err="1"/>
              <a:t>cosmics</a:t>
            </a:r>
            <a:endParaRPr lang="en-SG" dirty="0"/>
          </a:p>
        </p:txBody>
      </p:sp>
      <p:sp>
        <p:nvSpPr>
          <p:cNvPr id="15" name="TextBox 14">
            <a:extLst>
              <a:ext uri="{FF2B5EF4-FFF2-40B4-BE49-F238E27FC236}">
                <a16:creationId xmlns:a16="http://schemas.microsoft.com/office/drawing/2014/main" id="{45F7BBA5-645B-2A3A-A501-2C8361519B1A}"/>
              </a:ext>
            </a:extLst>
          </p:cNvPr>
          <p:cNvSpPr txBox="1"/>
          <p:nvPr/>
        </p:nvSpPr>
        <p:spPr>
          <a:xfrm>
            <a:off x="1097280" y="1870839"/>
            <a:ext cx="5802284" cy="2585323"/>
          </a:xfrm>
          <a:prstGeom prst="rect">
            <a:avLst/>
          </a:prstGeom>
          <a:noFill/>
        </p:spPr>
        <p:txBody>
          <a:bodyPr wrap="square">
            <a:spAutoFit/>
          </a:bodyPr>
          <a:lstStyle/>
          <a:p>
            <a:pPr marL="285750" indent="-285750">
              <a:buFont typeface="Arial" panose="020B0604020202020204" pitchFamily="34" charset="0"/>
              <a:buChar char="•"/>
            </a:pPr>
            <a:r>
              <a:rPr lang="en-US" dirty="0"/>
              <a:t>We are interested in the reconstructed out-of-time </a:t>
            </a:r>
            <a:r>
              <a:rPr lang="en-US" dirty="0" err="1"/>
              <a:t>cosmics</a:t>
            </a:r>
            <a:r>
              <a:rPr lang="en-US" dirty="0"/>
              <a:t> that pass the fiducial cut</a:t>
            </a:r>
          </a:p>
          <a:p>
            <a:pPr marL="742950" lvl="1" indent="-285750">
              <a:buFont typeface="Arial" panose="020B0604020202020204" pitchFamily="34" charset="0"/>
              <a:buChar char="•"/>
            </a:pPr>
            <a:r>
              <a:rPr lang="en-US" dirty="0"/>
              <a:t>However, when looking at their truth information, they should not pass the cut</a:t>
            </a:r>
          </a:p>
          <a:p>
            <a:pPr marL="285750" indent="-285750">
              <a:buFont typeface="Arial" panose="020B0604020202020204" pitchFamily="34" charset="0"/>
              <a:buChar char="•"/>
            </a:pPr>
            <a:r>
              <a:rPr lang="en-US" dirty="0"/>
              <a:t>We need to select these reconstructed and </a:t>
            </a:r>
            <a:r>
              <a:rPr lang="en-US" dirty="0" err="1"/>
              <a:t>fiducialized</a:t>
            </a:r>
            <a:r>
              <a:rPr lang="en-US" dirty="0"/>
              <a:t> out-of-time interactions</a:t>
            </a:r>
          </a:p>
          <a:p>
            <a:pPr marL="285750" indent="-285750">
              <a:buFont typeface="Arial" panose="020B0604020202020204" pitchFamily="34" charset="0"/>
              <a:buChar char="•"/>
            </a:pPr>
            <a:r>
              <a:rPr lang="en-US" dirty="0"/>
              <a:t>We then select in-time </a:t>
            </a:r>
            <a:r>
              <a:rPr lang="en-US" dirty="0" err="1"/>
              <a:t>fiducialized</a:t>
            </a:r>
            <a:r>
              <a:rPr lang="en-US" dirty="0"/>
              <a:t> neutrino interactions, </a:t>
            </a:r>
          </a:p>
          <a:p>
            <a:pPr marL="285750" indent="-285750">
              <a:buFont typeface="Arial" panose="020B0604020202020204" pitchFamily="34" charset="0"/>
              <a:buChar char="•"/>
            </a:pPr>
            <a:r>
              <a:rPr lang="en-US" dirty="0"/>
              <a:t>We then observe the true fiducial cut percentage from these out-of-time </a:t>
            </a:r>
            <a:r>
              <a:rPr lang="en-US" dirty="0" err="1"/>
              <a:t>reco</a:t>
            </a:r>
            <a:r>
              <a:rPr lang="en-US" dirty="0"/>
              <a:t> interactions</a:t>
            </a:r>
          </a:p>
        </p:txBody>
      </p:sp>
    </p:spTree>
    <p:extLst>
      <p:ext uri="{BB962C8B-B14F-4D97-AF65-F5344CB8AC3E}">
        <p14:creationId xmlns:p14="http://schemas.microsoft.com/office/powerpoint/2010/main" val="3780455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57197-3CFA-1DBB-C8E5-E1BE57EE2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BFB8F-98D8-E47C-43CC-DAA32A59F1C3}"/>
              </a:ext>
            </a:extLst>
          </p:cNvPr>
          <p:cNvSpPr>
            <a:spLocks noGrp="1"/>
          </p:cNvSpPr>
          <p:nvPr>
            <p:ph type="title"/>
          </p:nvPr>
        </p:nvSpPr>
        <p:spPr/>
        <p:txBody>
          <a:bodyPr/>
          <a:lstStyle/>
          <a:p>
            <a:r>
              <a:rPr lang="en-US" dirty="0"/>
              <a:t>Reducing effect of </a:t>
            </a:r>
            <a:r>
              <a:rPr lang="en-US" dirty="0" err="1"/>
              <a:t>cosmics</a:t>
            </a:r>
            <a:endParaRPr lang="en-SG" dirty="0"/>
          </a:p>
        </p:txBody>
      </p:sp>
      <p:sp>
        <p:nvSpPr>
          <p:cNvPr id="15" name="TextBox 14">
            <a:extLst>
              <a:ext uri="{FF2B5EF4-FFF2-40B4-BE49-F238E27FC236}">
                <a16:creationId xmlns:a16="http://schemas.microsoft.com/office/drawing/2014/main" id="{94F92460-F3DA-8C93-891A-2E2CAC0E42C9}"/>
              </a:ext>
            </a:extLst>
          </p:cNvPr>
          <p:cNvSpPr txBox="1"/>
          <p:nvPr/>
        </p:nvSpPr>
        <p:spPr>
          <a:xfrm>
            <a:off x="1097280" y="1870839"/>
            <a:ext cx="4598670" cy="4247317"/>
          </a:xfrm>
          <a:prstGeom prst="rect">
            <a:avLst/>
          </a:prstGeom>
          <a:noFill/>
        </p:spPr>
        <p:txBody>
          <a:bodyPr wrap="square">
            <a:spAutoFit/>
          </a:bodyPr>
          <a:lstStyle/>
          <a:p>
            <a:r>
              <a:rPr lang="en-US" b="1" u="sng" dirty="0"/>
              <a:t>How do we select reconstructed out-of-time </a:t>
            </a:r>
            <a:r>
              <a:rPr lang="en-US" b="1" u="sng" dirty="0" err="1"/>
              <a:t>cosmics</a:t>
            </a:r>
            <a:r>
              <a:rPr lang="en-US" b="1" u="sng" dirty="0"/>
              <a:t> that are </a:t>
            </a:r>
            <a:r>
              <a:rPr lang="en-US" b="1" u="sng" dirty="0" err="1"/>
              <a:t>fiducialized</a:t>
            </a:r>
            <a:r>
              <a:rPr lang="en-US" b="1" u="sng" dirty="0"/>
              <a:t>? </a:t>
            </a:r>
          </a:p>
          <a:p>
            <a:pPr marL="285750" indent="-285750">
              <a:buFont typeface="Arial" panose="020B0604020202020204" pitchFamily="34" charset="0"/>
              <a:buChar char="•"/>
            </a:pPr>
            <a:r>
              <a:rPr lang="en-US" dirty="0"/>
              <a:t>Create a selection in reconstructed mode</a:t>
            </a:r>
          </a:p>
          <a:p>
            <a:pPr marL="285750" indent="-285750">
              <a:buFont typeface="Arial" panose="020B0604020202020204" pitchFamily="34" charset="0"/>
              <a:buChar char="•"/>
            </a:pPr>
            <a:r>
              <a:rPr lang="en-US" dirty="0"/>
              <a:t>Apply a </a:t>
            </a:r>
            <a:r>
              <a:rPr lang="en-US" dirty="0" err="1"/>
              <a:t>reco</a:t>
            </a:r>
            <a:r>
              <a:rPr lang="en-US" dirty="0"/>
              <a:t> fiducial cut and </a:t>
            </a:r>
            <a:r>
              <a:rPr lang="en-US" dirty="0" err="1"/>
              <a:t>reco</a:t>
            </a:r>
            <a:r>
              <a:rPr lang="en-US" dirty="0"/>
              <a:t> inverted flash cut</a:t>
            </a:r>
          </a:p>
          <a:p>
            <a:pPr marL="742950" lvl="1" indent="-285750">
              <a:buFont typeface="Arial" panose="020B0604020202020204" pitchFamily="34" charset="0"/>
              <a:buChar char="•"/>
            </a:pPr>
            <a:r>
              <a:rPr lang="en-US" dirty="0"/>
              <a:t>Inverting the flash cut allows us to select any reconstructed interactions that are out-of-time with beam spill </a:t>
            </a:r>
          </a:p>
          <a:p>
            <a:pPr marL="285750" indent="-285750">
              <a:buFont typeface="Arial" panose="020B0604020202020204" pitchFamily="34" charset="0"/>
              <a:buChar char="•"/>
            </a:pPr>
            <a:r>
              <a:rPr lang="en-US" dirty="0"/>
              <a:t>This selection will thus select reconstructed interactions that are out-of-time AND </a:t>
            </a:r>
            <a:r>
              <a:rPr lang="en-US" dirty="0" err="1"/>
              <a:t>fiducialized</a:t>
            </a:r>
            <a:r>
              <a:rPr lang="en-US" dirty="0"/>
              <a:t> </a:t>
            </a:r>
          </a:p>
          <a:p>
            <a:pPr marL="285750" indent="-285750">
              <a:buFont typeface="Arial" panose="020B0604020202020204" pitchFamily="34" charset="0"/>
              <a:buChar char="•"/>
            </a:pPr>
            <a:r>
              <a:rPr lang="en-US" dirty="0"/>
              <a:t>We can select reconstructed and </a:t>
            </a:r>
            <a:r>
              <a:rPr lang="en-US" dirty="0" err="1"/>
              <a:t>fiducialized</a:t>
            </a:r>
            <a:r>
              <a:rPr lang="en-US" dirty="0"/>
              <a:t> neutrino interactions by applying a normal flash cut and fiducial cut</a:t>
            </a:r>
          </a:p>
          <a:p>
            <a:pPr marL="285750" indent="-285750">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257B0C79-C83D-E103-826F-FD5842F2DEC8}"/>
              </a:ext>
            </a:extLst>
          </p:cNvPr>
          <p:cNvPicPr>
            <a:picLocks noChangeAspect="1"/>
          </p:cNvPicPr>
          <p:nvPr/>
        </p:nvPicPr>
        <p:blipFill>
          <a:blip r:embed="rId2"/>
          <a:srcRect b="70980"/>
          <a:stretch>
            <a:fillRect/>
          </a:stretch>
        </p:blipFill>
        <p:spPr>
          <a:xfrm>
            <a:off x="5774487" y="2571750"/>
            <a:ext cx="6222249" cy="1206011"/>
          </a:xfrm>
          <a:prstGeom prst="rect">
            <a:avLst/>
          </a:prstGeom>
        </p:spPr>
      </p:pic>
      <p:pic>
        <p:nvPicPr>
          <p:cNvPr id="6" name="Picture 5">
            <a:extLst>
              <a:ext uri="{FF2B5EF4-FFF2-40B4-BE49-F238E27FC236}">
                <a16:creationId xmlns:a16="http://schemas.microsoft.com/office/drawing/2014/main" id="{21D4B288-1E4E-7157-064E-606452E01172}"/>
              </a:ext>
            </a:extLst>
          </p:cNvPr>
          <p:cNvPicPr>
            <a:picLocks noChangeAspect="1"/>
          </p:cNvPicPr>
          <p:nvPr/>
        </p:nvPicPr>
        <p:blipFill>
          <a:blip r:embed="rId3"/>
          <a:stretch>
            <a:fillRect/>
          </a:stretch>
        </p:blipFill>
        <p:spPr>
          <a:xfrm>
            <a:off x="5774487" y="4802225"/>
            <a:ext cx="6222249" cy="1213911"/>
          </a:xfrm>
          <a:prstGeom prst="rect">
            <a:avLst/>
          </a:prstGeom>
        </p:spPr>
      </p:pic>
    </p:spTree>
    <p:extLst>
      <p:ext uri="{BB962C8B-B14F-4D97-AF65-F5344CB8AC3E}">
        <p14:creationId xmlns:p14="http://schemas.microsoft.com/office/powerpoint/2010/main" val="1443223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54524-2375-EF69-B349-FC7662344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ECA9F1-2B13-4274-F88B-27C4BEAF3C70}"/>
              </a:ext>
            </a:extLst>
          </p:cNvPr>
          <p:cNvSpPr>
            <a:spLocks noGrp="1"/>
          </p:cNvSpPr>
          <p:nvPr>
            <p:ph type="title"/>
          </p:nvPr>
        </p:nvSpPr>
        <p:spPr/>
        <p:txBody>
          <a:bodyPr/>
          <a:lstStyle/>
          <a:p>
            <a:r>
              <a:rPr lang="en-US" dirty="0"/>
              <a:t>Out-of-time cosmic selection</a:t>
            </a:r>
            <a:endParaRPr lang="en-SG" dirty="0"/>
          </a:p>
        </p:txBody>
      </p:sp>
      <p:sp>
        <p:nvSpPr>
          <p:cNvPr id="15" name="TextBox 14">
            <a:extLst>
              <a:ext uri="{FF2B5EF4-FFF2-40B4-BE49-F238E27FC236}">
                <a16:creationId xmlns:a16="http://schemas.microsoft.com/office/drawing/2014/main" id="{0D3AE5AC-5A07-C6ED-E092-3E13ED5FAA6A}"/>
              </a:ext>
            </a:extLst>
          </p:cNvPr>
          <p:cNvSpPr txBox="1"/>
          <p:nvPr/>
        </p:nvSpPr>
        <p:spPr>
          <a:xfrm>
            <a:off x="1097280" y="1870839"/>
            <a:ext cx="4598670" cy="646331"/>
          </a:xfrm>
          <a:prstGeom prst="rect">
            <a:avLst/>
          </a:prstGeom>
          <a:noFill/>
        </p:spPr>
        <p:txBody>
          <a:bodyPr wrap="square">
            <a:spAutoFit/>
          </a:bodyPr>
          <a:lstStyle/>
          <a:p>
            <a:endParaRPr lang="en-US" dirty="0"/>
          </a:p>
          <a:p>
            <a:pPr marL="285750" indent="-285750">
              <a:buFont typeface="Arial" panose="020B0604020202020204" pitchFamily="34" charset="0"/>
              <a:buChar char="•"/>
            </a:pPr>
            <a:endParaRPr lang="en-US" dirty="0"/>
          </a:p>
        </p:txBody>
      </p:sp>
      <p:sp>
        <p:nvSpPr>
          <p:cNvPr id="3" name="TextBox 2">
            <a:extLst>
              <a:ext uri="{FF2B5EF4-FFF2-40B4-BE49-F238E27FC236}">
                <a16:creationId xmlns:a16="http://schemas.microsoft.com/office/drawing/2014/main" id="{57A12DD0-B764-D004-2A8F-83398FEE60C5}"/>
              </a:ext>
            </a:extLst>
          </p:cNvPr>
          <p:cNvSpPr txBox="1"/>
          <p:nvPr/>
        </p:nvSpPr>
        <p:spPr>
          <a:xfrm>
            <a:off x="1097280" y="1870839"/>
            <a:ext cx="5802284" cy="2585323"/>
          </a:xfrm>
          <a:prstGeom prst="rect">
            <a:avLst/>
          </a:prstGeom>
          <a:noFill/>
        </p:spPr>
        <p:txBody>
          <a:bodyPr wrap="square">
            <a:spAutoFit/>
          </a:bodyPr>
          <a:lstStyle/>
          <a:p>
            <a:r>
              <a:rPr lang="en-US" b="1" u="sng" dirty="0"/>
              <a:t>Looking at the selection for reconstructed </a:t>
            </a:r>
            <a:r>
              <a:rPr lang="en-US" b="1" u="sng" dirty="0" err="1"/>
              <a:t>fiducialized</a:t>
            </a:r>
            <a:r>
              <a:rPr lang="en-US" b="1" u="sng" dirty="0"/>
              <a:t> out-of-time interactions</a:t>
            </a:r>
            <a:br>
              <a:rPr lang="en-US" b="1" u="sng" dirty="0"/>
            </a:br>
            <a:endParaRPr lang="en-US" b="1" u="sng" dirty="0"/>
          </a:p>
          <a:p>
            <a:pPr marL="285750" indent="-285750">
              <a:buFont typeface="Arial" panose="020B0604020202020204" pitchFamily="34" charset="0"/>
              <a:buChar char="•"/>
            </a:pPr>
            <a:r>
              <a:rPr lang="en-US" dirty="0"/>
              <a:t>When plotting the true fiducial cut, we can see how many of these reconstructed interactions would have failed the fiducial cut based on their truth data</a:t>
            </a:r>
          </a:p>
          <a:p>
            <a:pPr marL="285750" indent="-285750">
              <a:buFont typeface="Arial" panose="020B0604020202020204" pitchFamily="34" charset="0"/>
              <a:buChar char="•"/>
            </a:pPr>
            <a:r>
              <a:rPr lang="en-US" dirty="0"/>
              <a:t>We can say that out-of-time cosmic interactions are poorly reconstructed based on the large majority of false positives in the true fiducial cut</a:t>
            </a:r>
          </a:p>
        </p:txBody>
      </p:sp>
      <p:graphicFrame>
        <p:nvGraphicFramePr>
          <p:cNvPr id="13" name="Table 12">
            <a:extLst>
              <a:ext uri="{FF2B5EF4-FFF2-40B4-BE49-F238E27FC236}">
                <a16:creationId xmlns:a16="http://schemas.microsoft.com/office/drawing/2014/main" id="{DF840933-A1C6-F893-2098-0BEF86301F53}"/>
              </a:ext>
            </a:extLst>
          </p:cNvPr>
          <p:cNvGraphicFramePr>
            <a:graphicFrameLocks noGrp="1"/>
          </p:cNvGraphicFramePr>
          <p:nvPr>
            <p:extLst>
              <p:ext uri="{D42A27DB-BD31-4B8C-83A1-F6EECF244321}">
                <p14:modId xmlns:p14="http://schemas.microsoft.com/office/powerpoint/2010/main" val="3930054445"/>
              </p:ext>
            </p:extLst>
          </p:nvPr>
        </p:nvGraphicFramePr>
        <p:xfrm>
          <a:off x="7711391" y="2515082"/>
          <a:ext cx="1673660" cy="2810507"/>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Passes fiducial</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0.8%</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fails fiducial</a:t>
                      </a:r>
                      <a:endParaRPr lang="en-SG" sz="1400" b="0" dirty="0">
                        <a:solidFill>
                          <a:srgbClr val="FF0000"/>
                        </a:solidFill>
                      </a:endParaRPr>
                    </a:p>
                  </a:txBody>
                  <a:tcPr anchor="ctr">
                    <a:solidFill>
                      <a:schemeClr val="bg2"/>
                    </a:solidFill>
                  </a:tcPr>
                </a:tc>
                <a:tc>
                  <a:txBody>
                    <a:bodyPr/>
                    <a:lstStyle/>
                    <a:p>
                      <a:pPr algn="ctr"/>
                      <a:r>
                        <a:rPr lang="en-US" dirty="0"/>
                        <a:t>96.6%</a:t>
                      </a:r>
                      <a:endParaRPr lang="en-SG" dirty="0"/>
                    </a:p>
                  </a:txBody>
                  <a:tcPr anchor="ctr"/>
                </a:tc>
                <a:extLst>
                  <a:ext uri="{0D108BD9-81ED-4DB2-BD59-A6C34878D82A}">
                    <a16:rowId xmlns:a16="http://schemas.microsoft.com/office/drawing/2014/main" val="2781143425"/>
                  </a:ext>
                </a:extLst>
              </a:tr>
              <a:tr h="757766">
                <a:tc>
                  <a:txBody>
                    <a:bodyPr/>
                    <a:lstStyle/>
                    <a:p>
                      <a:pPr algn="ctr"/>
                      <a:r>
                        <a:rPr lang="en-US" sz="1400" b="0" dirty="0" err="1">
                          <a:solidFill>
                            <a:srgbClr val="FF0000"/>
                          </a:solidFill>
                        </a:rPr>
                        <a:t>NaN</a:t>
                      </a:r>
                      <a:endParaRPr lang="en-SG" sz="1400" b="0" dirty="0">
                        <a:solidFill>
                          <a:srgbClr val="FF0000"/>
                        </a:solidFill>
                      </a:endParaRPr>
                    </a:p>
                  </a:txBody>
                  <a:tcPr anchor="ctr">
                    <a:solidFill>
                      <a:schemeClr val="bg2"/>
                    </a:solidFill>
                  </a:tcPr>
                </a:tc>
                <a:tc>
                  <a:txBody>
                    <a:bodyPr/>
                    <a:lstStyle/>
                    <a:p>
                      <a:pPr algn="ctr"/>
                      <a:r>
                        <a:rPr lang="en-US" dirty="0"/>
                        <a:t>2.6%</a:t>
                      </a:r>
                      <a:endParaRPr lang="en-SG" dirty="0"/>
                    </a:p>
                  </a:txBody>
                  <a:tcPr anchor="ctr"/>
                </a:tc>
                <a:extLst>
                  <a:ext uri="{0D108BD9-81ED-4DB2-BD59-A6C34878D82A}">
                    <a16:rowId xmlns:a16="http://schemas.microsoft.com/office/drawing/2014/main" val="1805301536"/>
                  </a:ext>
                </a:extLst>
              </a:tr>
            </a:tbl>
          </a:graphicData>
        </a:graphic>
      </p:graphicFrame>
      <p:sp>
        <p:nvSpPr>
          <p:cNvPr id="14" name="TextBox 13">
            <a:extLst>
              <a:ext uri="{FF2B5EF4-FFF2-40B4-BE49-F238E27FC236}">
                <a16:creationId xmlns:a16="http://schemas.microsoft.com/office/drawing/2014/main" id="{3D2934A2-6415-BC09-DD71-E1A1F0F51FC4}"/>
              </a:ext>
            </a:extLst>
          </p:cNvPr>
          <p:cNvSpPr txBox="1"/>
          <p:nvPr/>
        </p:nvSpPr>
        <p:spPr>
          <a:xfrm rot="16200000">
            <a:off x="7221400" y="3751056"/>
            <a:ext cx="657609" cy="338554"/>
          </a:xfrm>
          <a:prstGeom prst="rect">
            <a:avLst/>
          </a:prstGeom>
          <a:noFill/>
        </p:spPr>
        <p:txBody>
          <a:bodyPr wrap="square" rtlCol="0">
            <a:spAutoFit/>
          </a:bodyPr>
          <a:lstStyle/>
          <a:p>
            <a:r>
              <a:rPr lang="en-US" sz="1600" dirty="0"/>
              <a:t>Truth</a:t>
            </a:r>
            <a:endParaRPr lang="en-SG" dirty="0"/>
          </a:p>
        </p:txBody>
      </p:sp>
      <p:sp>
        <p:nvSpPr>
          <p:cNvPr id="16" name="TextBox 15">
            <a:extLst>
              <a:ext uri="{FF2B5EF4-FFF2-40B4-BE49-F238E27FC236}">
                <a16:creationId xmlns:a16="http://schemas.microsoft.com/office/drawing/2014/main" id="{4D7404C0-9CF2-72DF-F6D5-721D655D6D7F}"/>
              </a:ext>
            </a:extLst>
          </p:cNvPr>
          <p:cNvSpPr txBox="1"/>
          <p:nvPr/>
        </p:nvSpPr>
        <p:spPr>
          <a:xfrm>
            <a:off x="8179112" y="2174440"/>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19" name="Table 18">
            <a:extLst>
              <a:ext uri="{FF2B5EF4-FFF2-40B4-BE49-F238E27FC236}">
                <a16:creationId xmlns:a16="http://schemas.microsoft.com/office/drawing/2014/main" id="{C8803E45-BC33-ACA7-42B8-1827E1BFA961}"/>
              </a:ext>
            </a:extLst>
          </p:cNvPr>
          <p:cNvGraphicFramePr>
            <a:graphicFrameLocks noGrp="1"/>
          </p:cNvGraphicFramePr>
          <p:nvPr>
            <p:extLst>
              <p:ext uri="{D42A27DB-BD31-4B8C-83A1-F6EECF244321}">
                <p14:modId xmlns:p14="http://schemas.microsoft.com/office/powerpoint/2010/main" val="764522995"/>
              </p:ext>
            </p:extLst>
          </p:nvPr>
        </p:nvGraphicFramePr>
        <p:xfrm>
          <a:off x="10218610" y="2515082"/>
          <a:ext cx="1673660" cy="2810507"/>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solidFill>
                            <a:schemeClr val="tx1"/>
                          </a:solidFill>
                        </a:rPr>
                        <a:t>BNB</a:t>
                      </a:r>
                      <a:endParaRPr lang="en-SG" b="1" dirty="0">
                        <a:solidFill>
                          <a:schemeClr val="tx1"/>
                        </a:solidFill>
                      </a:endParaRPr>
                    </a:p>
                  </a:txBody>
                  <a:tcPr anchor="ctr"/>
                </a:tc>
                <a:tc>
                  <a:txBody>
                    <a:bodyPr/>
                    <a:lstStyle/>
                    <a:p>
                      <a:pPr algn="ctr"/>
                      <a:r>
                        <a:rPr lang="en-US" sz="1400" dirty="0">
                          <a:solidFill>
                            <a:srgbClr val="FF0000"/>
                          </a:solidFill>
                        </a:rPr>
                        <a:t>Passes fiducial</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1.1%</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fails fiducial</a:t>
                      </a:r>
                      <a:endParaRPr lang="en-SG" sz="1400" b="0" dirty="0">
                        <a:solidFill>
                          <a:srgbClr val="FF0000"/>
                        </a:solidFill>
                      </a:endParaRPr>
                    </a:p>
                  </a:txBody>
                  <a:tcPr anchor="ctr">
                    <a:solidFill>
                      <a:schemeClr val="bg2"/>
                    </a:solidFill>
                  </a:tcPr>
                </a:tc>
                <a:tc>
                  <a:txBody>
                    <a:bodyPr/>
                    <a:lstStyle/>
                    <a:p>
                      <a:pPr algn="ctr"/>
                      <a:r>
                        <a:rPr lang="en-US" dirty="0"/>
                        <a:t>96.3%</a:t>
                      </a:r>
                      <a:endParaRPr lang="en-SG" dirty="0"/>
                    </a:p>
                  </a:txBody>
                  <a:tcPr anchor="ctr"/>
                </a:tc>
                <a:extLst>
                  <a:ext uri="{0D108BD9-81ED-4DB2-BD59-A6C34878D82A}">
                    <a16:rowId xmlns:a16="http://schemas.microsoft.com/office/drawing/2014/main" val="2781143425"/>
                  </a:ext>
                </a:extLst>
              </a:tr>
              <a:tr h="757766">
                <a:tc>
                  <a:txBody>
                    <a:bodyPr/>
                    <a:lstStyle/>
                    <a:p>
                      <a:pPr algn="ctr"/>
                      <a:r>
                        <a:rPr lang="en-US" sz="1400" b="0" dirty="0" err="1">
                          <a:solidFill>
                            <a:srgbClr val="FF0000"/>
                          </a:solidFill>
                        </a:rPr>
                        <a:t>NaN</a:t>
                      </a:r>
                      <a:endParaRPr lang="en-SG" sz="1400" b="0" dirty="0">
                        <a:solidFill>
                          <a:srgbClr val="FF0000"/>
                        </a:solidFill>
                      </a:endParaRPr>
                    </a:p>
                  </a:txBody>
                  <a:tcPr anchor="ctr">
                    <a:solidFill>
                      <a:schemeClr val="bg2"/>
                    </a:solidFill>
                  </a:tcPr>
                </a:tc>
                <a:tc>
                  <a:txBody>
                    <a:bodyPr/>
                    <a:lstStyle/>
                    <a:p>
                      <a:pPr algn="ctr"/>
                      <a:r>
                        <a:rPr lang="en-US" dirty="0"/>
                        <a:t>2.5%</a:t>
                      </a:r>
                      <a:endParaRPr lang="en-SG" dirty="0"/>
                    </a:p>
                  </a:txBody>
                  <a:tcPr anchor="ctr"/>
                </a:tc>
                <a:extLst>
                  <a:ext uri="{0D108BD9-81ED-4DB2-BD59-A6C34878D82A}">
                    <a16:rowId xmlns:a16="http://schemas.microsoft.com/office/drawing/2014/main" val="1805301536"/>
                  </a:ext>
                </a:extLst>
              </a:tr>
            </a:tbl>
          </a:graphicData>
        </a:graphic>
      </p:graphicFrame>
      <p:sp>
        <p:nvSpPr>
          <p:cNvPr id="20" name="TextBox 19">
            <a:extLst>
              <a:ext uri="{FF2B5EF4-FFF2-40B4-BE49-F238E27FC236}">
                <a16:creationId xmlns:a16="http://schemas.microsoft.com/office/drawing/2014/main" id="{76BCFBBE-1545-E313-F9F4-D48DF14CAB29}"/>
              </a:ext>
            </a:extLst>
          </p:cNvPr>
          <p:cNvSpPr txBox="1"/>
          <p:nvPr/>
        </p:nvSpPr>
        <p:spPr>
          <a:xfrm rot="16200000">
            <a:off x="9720529" y="3751057"/>
            <a:ext cx="657609" cy="338554"/>
          </a:xfrm>
          <a:prstGeom prst="rect">
            <a:avLst/>
          </a:prstGeom>
          <a:noFill/>
        </p:spPr>
        <p:txBody>
          <a:bodyPr wrap="square" rtlCol="0">
            <a:spAutoFit/>
          </a:bodyPr>
          <a:lstStyle/>
          <a:p>
            <a:r>
              <a:rPr lang="en-US" sz="1600" dirty="0"/>
              <a:t>Truth</a:t>
            </a:r>
            <a:endParaRPr lang="en-SG" dirty="0"/>
          </a:p>
        </p:txBody>
      </p:sp>
      <p:sp>
        <p:nvSpPr>
          <p:cNvPr id="21" name="TextBox 20">
            <a:extLst>
              <a:ext uri="{FF2B5EF4-FFF2-40B4-BE49-F238E27FC236}">
                <a16:creationId xmlns:a16="http://schemas.microsoft.com/office/drawing/2014/main" id="{50EDCD94-83CE-2BAC-912F-A2A4B4DC0E8D}"/>
              </a:ext>
            </a:extLst>
          </p:cNvPr>
          <p:cNvSpPr txBox="1"/>
          <p:nvPr/>
        </p:nvSpPr>
        <p:spPr>
          <a:xfrm>
            <a:off x="10686331" y="2174440"/>
            <a:ext cx="1378831" cy="338554"/>
          </a:xfrm>
          <a:prstGeom prst="rect">
            <a:avLst/>
          </a:prstGeom>
          <a:noFill/>
        </p:spPr>
        <p:txBody>
          <a:bodyPr wrap="square" rtlCol="0">
            <a:spAutoFit/>
          </a:bodyPr>
          <a:lstStyle/>
          <a:p>
            <a:r>
              <a:rPr lang="en-US" sz="1600" dirty="0"/>
              <a:t>Reconstructed</a:t>
            </a:r>
            <a:endParaRPr lang="en-SG" sz="1600" dirty="0"/>
          </a:p>
        </p:txBody>
      </p:sp>
    </p:spTree>
    <p:extLst>
      <p:ext uri="{BB962C8B-B14F-4D97-AF65-F5344CB8AC3E}">
        <p14:creationId xmlns:p14="http://schemas.microsoft.com/office/powerpoint/2010/main" val="1244590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E054A-7B09-66B7-4D02-546FEB7565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0D0E3-F056-0B3F-198D-4FB1BBFF2554}"/>
              </a:ext>
            </a:extLst>
          </p:cNvPr>
          <p:cNvSpPr>
            <a:spLocks noGrp="1"/>
          </p:cNvSpPr>
          <p:nvPr>
            <p:ph type="title"/>
          </p:nvPr>
        </p:nvSpPr>
        <p:spPr/>
        <p:txBody>
          <a:bodyPr/>
          <a:lstStyle/>
          <a:p>
            <a:r>
              <a:rPr lang="en-US" dirty="0"/>
              <a:t>Out-of-time cosmic selection</a:t>
            </a:r>
            <a:endParaRPr lang="en-SG" dirty="0"/>
          </a:p>
        </p:txBody>
      </p:sp>
      <p:sp>
        <p:nvSpPr>
          <p:cNvPr id="15" name="TextBox 14">
            <a:extLst>
              <a:ext uri="{FF2B5EF4-FFF2-40B4-BE49-F238E27FC236}">
                <a16:creationId xmlns:a16="http://schemas.microsoft.com/office/drawing/2014/main" id="{AE38403B-F296-16C0-2BDF-DCF6491A97C3}"/>
              </a:ext>
            </a:extLst>
          </p:cNvPr>
          <p:cNvSpPr txBox="1"/>
          <p:nvPr/>
        </p:nvSpPr>
        <p:spPr>
          <a:xfrm>
            <a:off x="1097280" y="1870839"/>
            <a:ext cx="4598670" cy="646331"/>
          </a:xfrm>
          <a:prstGeom prst="rect">
            <a:avLst/>
          </a:prstGeom>
          <a:noFill/>
        </p:spPr>
        <p:txBody>
          <a:bodyPr wrap="square">
            <a:spAutoFit/>
          </a:bodyPr>
          <a:lstStyle/>
          <a:p>
            <a:endParaRPr lang="en-US" dirty="0"/>
          </a:p>
          <a:p>
            <a:pPr marL="285750" indent="-28575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36DF29A9-90B5-77DC-C25C-31E54D1D66B5}"/>
              </a:ext>
            </a:extLst>
          </p:cNvPr>
          <p:cNvPicPr>
            <a:picLocks noChangeAspect="1"/>
          </p:cNvPicPr>
          <p:nvPr/>
        </p:nvPicPr>
        <p:blipFill>
          <a:blip r:embed="rId2"/>
          <a:stretch>
            <a:fillRect/>
          </a:stretch>
        </p:blipFill>
        <p:spPr>
          <a:xfrm>
            <a:off x="253713" y="1854253"/>
            <a:ext cx="3662059" cy="2643856"/>
          </a:xfrm>
          <a:prstGeom prst="rect">
            <a:avLst/>
          </a:prstGeom>
        </p:spPr>
      </p:pic>
      <p:pic>
        <p:nvPicPr>
          <p:cNvPr id="7" name="Picture 6">
            <a:extLst>
              <a:ext uri="{FF2B5EF4-FFF2-40B4-BE49-F238E27FC236}">
                <a16:creationId xmlns:a16="http://schemas.microsoft.com/office/drawing/2014/main" id="{FBAF8B83-7E7D-BAAD-F59E-BA0DB8202CD2}"/>
              </a:ext>
            </a:extLst>
          </p:cNvPr>
          <p:cNvPicPr>
            <a:picLocks noChangeAspect="1"/>
          </p:cNvPicPr>
          <p:nvPr/>
        </p:nvPicPr>
        <p:blipFill>
          <a:blip r:embed="rId3"/>
          <a:stretch>
            <a:fillRect/>
          </a:stretch>
        </p:blipFill>
        <p:spPr>
          <a:xfrm>
            <a:off x="3915772" y="1870839"/>
            <a:ext cx="4266976" cy="2468365"/>
          </a:xfrm>
          <a:prstGeom prst="rect">
            <a:avLst/>
          </a:prstGeom>
        </p:spPr>
      </p:pic>
      <p:sp>
        <p:nvSpPr>
          <p:cNvPr id="8" name="TextBox 7">
            <a:extLst>
              <a:ext uri="{FF2B5EF4-FFF2-40B4-BE49-F238E27FC236}">
                <a16:creationId xmlns:a16="http://schemas.microsoft.com/office/drawing/2014/main" id="{206AAFC5-ADCE-3BE5-34EF-C82520D9981D}"/>
              </a:ext>
            </a:extLst>
          </p:cNvPr>
          <p:cNvSpPr txBox="1"/>
          <p:nvPr/>
        </p:nvSpPr>
        <p:spPr>
          <a:xfrm>
            <a:off x="887730" y="5194836"/>
            <a:ext cx="11050557" cy="923330"/>
          </a:xfrm>
          <a:prstGeom prst="rect">
            <a:avLst/>
          </a:prstGeom>
          <a:noFill/>
        </p:spPr>
        <p:txBody>
          <a:bodyPr wrap="square">
            <a:spAutoFit/>
          </a:bodyPr>
          <a:lstStyle/>
          <a:p>
            <a:br>
              <a:rPr lang="en-US" b="1" u="sng" dirty="0"/>
            </a:br>
            <a:endParaRPr lang="en-US" b="1" u="sng" dirty="0"/>
          </a:p>
          <a:p>
            <a:pPr marL="285750" indent="-285750">
              <a:buFont typeface="Arial" panose="020B0604020202020204" pitchFamily="34" charset="0"/>
              <a:buChar char="•"/>
            </a:pPr>
            <a:r>
              <a:rPr lang="en-US" dirty="0"/>
              <a:t>There are large differences between true and </a:t>
            </a:r>
            <a:r>
              <a:rPr lang="en-US" dirty="0" err="1"/>
              <a:t>reco</a:t>
            </a:r>
            <a:r>
              <a:rPr lang="en-US" dirty="0"/>
              <a:t> interaction vertex positions</a:t>
            </a:r>
          </a:p>
        </p:txBody>
      </p:sp>
      <p:pic>
        <p:nvPicPr>
          <p:cNvPr id="10" name="Picture 9">
            <a:extLst>
              <a:ext uri="{FF2B5EF4-FFF2-40B4-BE49-F238E27FC236}">
                <a16:creationId xmlns:a16="http://schemas.microsoft.com/office/drawing/2014/main" id="{C768DC2C-D7C6-B7E9-02AC-DF4D267F2754}"/>
              </a:ext>
            </a:extLst>
          </p:cNvPr>
          <p:cNvPicPr>
            <a:picLocks noChangeAspect="1"/>
          </p:cNvPicPr>
          <p:nvPr/>
        </p:nvPicPr>
        <p:blipFill>
          <a:blip r:embed="rId4"/>
          <a:stretch>
            <a:fillRect/>
          </a:stretch>
        </p:blipFill>
        <p:spPr>
          <a:xfrm>
            <a:off x="8305414" y="1870839"/>
            <a:ext cx="3539393" cy="3005961"/>
          </a:xfrm>
          <a:prstGeom prst="rect">
            <a:avLst/>
          </a:prstGeom>
        </p:spPr>
      </p:pic>
    </p:spTree>
    <p:extLst>
      <p:ext uri="{BB962C8B-B14F-4D97-AF65-F5344CB8AC3E}">
        <p14:creationId xmlns:p14="http://schemas.microsoft.com/office/powerpoint/2010/main" val="3701502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0ECDD-7B7E-DD4B-2775-142114541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CB509-5058-D25E-E0AE-0119E8C6E29E}"/>
              </a:ext>
            </a:extLst>
          </p:cNvPr>
          <p:cNvSpPr>
            <a:spLocks noGrp="1"/>
          </p:cNvSpPr>
          <p:nvPr>
            <p:ph type="title"/>
          </p:nvPr>
        </p:nvSpPr>
        <p:spPr/>
        <p:txBody>
          <a:bodyPr/>
          <a:lstStyle/>
          <a:p>
            <a:r>
              <a:rPr lang="en-US" dirty="0"/>
              <a:t>Out-of-time cosmic selection</a:t>
            </a:r>
            <a:endParaRPr lang="en-SG" dirty="0"/>
          </a:p>
        </p:txBody>
      </p:sp>
      <p:sp>
        <p:nvSpPr>
          <p:cNvPr id="15" name="TextBox 14">
            <a:extLst>
              <a:ext uri="{FF2B5EF4-FFF2-40B4-BE49-F238E27FC236}">
                <a16:creationId xmlns:a16="http://schemas.microsoft.com/office/drawing/2014/main" id="{AAD1D6C4-09B8-79CB-18EC-1645FDC8DE51}"/>
              </a:ext>
            </a:extLst>
          </p:cNvPr>
          <p:cNvSpPr txBox="1"/>
          <p:nvPr/>
        </p:nvSpPr>
        <p:spPr>
          <a:xfrm>
            <a:off x="1097280" y="1870839"/>
            <a:ext cx="4598670" cy="646331"/>
          </a:xfrm>
          <a:prstGeom prst="rect">
            <a:avLst/>
          </a:prstGeom>
          <a:noFill/>
        </p:spPr>
        <p:txBody>
          <a:bodyPr wrap="square">
            <a:spAutoFit/>
          </a:bodyPr>
          <a:lstStyle/>
          <a:p>
            <a:endParaRPr lang="en-US" dirty="0"/>
          </a:p>
          <a:p>
            <a:pPr marL="285750" indent="-285750">
              <a:buFont typeface="Arial" panose="020B0604020202020204" pitchFamily="34" charset="0"/>
              <a:buChar char="•"/>
            </a:pPr>
            <a:endParaRPr lang="en-US" dirty="0"/>
          </a:p>
        </p:txBody>
      </p:sp>
      <p:sp>
        <p:nvSpPr>
          <p:cNvPr id="14" name="TextBox 13">
            <a:extLst>
              <a:ext uri="{FF2B5EF4-FFF2-40B4-BE49-F238E27FC236}">
                <a16:creationId xmlns:a16="http://schemas.microsoft.com/office/drawing/2014/main" id="{EFD2E41C-54DB-93C8-26AB-0B509B0B7EC1}"/>
              </a:ext>
            </a:extLst>
          </p:cNvPr>
          <p:cNvSpPr txBox="1"/>
          <p:nvPr/>
        </p:nvSpPr>
        <p:spPr>
          <a:xfrm>
            <a:off x="1097279" y="1870839"/>
            <a:ext cx="8942647" cy="3139321"/>
          </a:xfrm>
          <a:prstGeom prst="rect">
            <a:avLst/>
          </a:prstGeom>
          <a:noFill/>
        </p:spPr>
        <p:txBody>
          <a:bodyPr wrap="square">
            <a:spAutoFit/>
          </a:bodyPr>
          <a:lstStyle/>
          <a:p>
            <a:r>
              <a:rPr lang="en-US" b="1" u="sng" dirty="0"/>
              <a:t>Referring back to </a:t>
            </a:r>
            <a:r>
              <a:rPr lang="en-US" b="1" u="sng" dirty="0" err="1"/>
              <a:t>NuMI</a:t>
            </a:r>
            <a:r>
              <a:rPr lang="en-US" b="1" u="sng" dirty="0"/>
              <a:t> fiducial cut discrepancy</a:t>
            </a:r>
          </a:p>
          <a:p>
            <a:pPr marL="285750" indent="-285750">
              <a:buFont typeface="Arial" panose="020B0604020202020204" pitchFamily="34" charset="0"/>
              <a:buChar char="•"/>
            </a:pPr>
            <a:r>
              <a:rPr lang="en-US" dirty="0"/>
              <a:t>The reconstructed out-of-time and </a:t>
            </a:r>
            <a:r>
              <a:rPr lang="en-US" dirty="0" err="1"/>
              <a:t>fiducialized</a:t>
            </a:r>
            <a:r>
              <a:rPr lang="en-US" dirty="0"/>
              <a:t> interactions account for 97% of wrongly </a:t>
            </a:r>
            <a:r>
              <a:rPr lang="en-US" dirty="0" err="1"/>
              <a:t>fiducialized</a:t>
            </a:r>
            <a:r>
              <a:rPr lang="en-US" dirty="0"/>
              <a:t> reconstructed interactions</a:t>
            </a:r>
          </a:p>
          <a:p>
            <a:pPr marL="285750" indent="-285750">
              <a:buFont typeface="Arial" panose="020B0604020202020204" pitchFamily="34" charset="0"/>
              <a:buChar char="•"/>
            </a:pPr>
            <a:r>
              <a:rPr lang="en-US" dirty="0"/>
              <a:t>Removing these interactions using a </a:t>
            </a:r>
            <a:r>
              <a:rPr lang="en-US" dirty="0" err="1"/>
              <a:t>flash_cut</a:t>
            </a:r>
            <a:r>
              <a:rPr lang="en-US" dirty="0"/>
              <a:t> will select 123209 reconstructed </a:t>
            </a:r>
            <a:r>
              <a:rPr lang="en-US" dirty="0" err="1"/>
              <a:t>fiducialized</a:t>
            </a:r>
            <a:r>
              <a:rPr lang="en-US" dirty="0"/>
              <a:t> interactions, which will give a percentage of 2.9% of all reconstructed interactions </a:t>
            </a:r>
            <a:r>
              <a:rPr lang="en-US" dirty="0" err="1"/>
              <a:t>fiducialized</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Discrepancy between percentage of interactions passing </a:t>
            </a:r>
            <a:r>
              <a:rPr lang="en-US" dirty="0" err="1"/>
              <a:t>reco</a:t>
            </a:r>
            <a:r>
              <a:rPr lang="en-US" dirty="0"/>
              <a:t> vs true fiducial cut thus reduces from 35.4% to 1.8%</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For BNB, discrepancy reduces from 34.8% to 0.5%</a:t>
            </a:r>
          </a:p>
        </p:txBody>
      </p:sp>
    </p:spTree>
    <p:extLst>
      <p:ext uri="{BB962C8B-B14F-4D97-AF65-F5344CB8AC3E}">
        <p14:creationId xmlns:p14="http://schemas.microsoft.com/office/powerpoint/2010/main" val="171983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C84E9-11F2-A968-2493-E923C0DBB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653E7-B3FA-127B-E819-75911F25F31B}"/>
              </a:ext>
            </a:extLst>
          </p:cNvPr>
          <p:cNvSpPr>
            <a:spLocks noGrp="1"/>
          </p:cNvSpPr>
          <p:nvPr>
            <p:ph type="title"/>
          </p:nvPr>
        </p:nvSpPr>
        <p:spPr/>
        <p:txBody>
          <a:bodyPr/>
          <a:lstStyle/>
          <a:p>
            <a:r>
              <a:rPr lang="en-US" dirty="0"/>
              <a:t>Preselection total efficiency</a:t>
            </a:r>
            <a:endParaRPr lang="en-SG" b="1" dirty="0"/>
          </a:p>
        </p:txBody>
      </p:sp>
      <p:graphicFrame>
        <p:nvGraphicFramePr>
          <p:cNvPr id="15" name="Table 14">
            <a:extLst>
              <a:ext uri="{FF2B5EF4-FFF2-40B4-BE49-F238E27FC236}">
                <a16:creationId xmlns:a16="http://schemas.microsoft.com/office/drawing/2014/main" id="{409CF758-FBC3-DE0A-EE7E-0F2A83D2F283}"/>
              </a:ext>
            </a:extLst>
          </p:cNvPr>
          <p:cNvGraphicFramePr>
            <a:graphicFrameLocks noGrp="1"/>
          </p:cNvGraphicFramePr>
          <p:nvPr>
            <p:extLst>
              <p:ext uri="{D42A27DB-BD31-4B8C-83A1-F6EECF244321}">
                <p14:modId xmlns:p14="http://schemas.microsoft.com/office/powerpoint/2010/main" val="3901570775"/>
              </p:ext>
            </p:extLst>
          </p:nvPr>
        </p:nvGraphicFramePr>
        <p:xfrm>
          <a:off x="217974" y="2240376"/>
          <a:ext cx="5678002" cy="3845527"/>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Percentage over tot no. of ALL interactions</a:t>
                      </a:r>
                      <a:endParaRPr lang="en-SG" sz="1400" dirty="0"/>
                    </a:p>
                  </a:txBody>
                  <a:tcPr/>
                </a:tc>
                <a:tc>
                  <a:txBody>
                    <a:bodyPr/>
                    <a:lstStyle/>
                    <a:p>
                      <a:r>
                        <a:rPr lang="en-US" sz="1400" dirty="0"/>
                        <a:t>Discrepancy</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Sample Root file used</a:t>
                      </a:r>
                      <a:endParaRPr lang="en-SG" sz="1400" dirty="0"/>
                    </a:p>
                  </a:txBody>
                  <a:tcPr/>
                </a:tc>
                <a:tc gridSpan="2">
                  <a:txBody>
                    <a:bodyPr/>
                    <a:lstStyle/>
                    <a:p>
                      <a:pPr algn="ctr"/>
                      <a:r>
                        <a:rPr lang="en-SG" sz="1200" b="1" kern="1200" dirty="0" err="1">
                          <a:solidFill>
                            <a:schemeClr val="dk1"/>
                          </a:solidFill>
                          <a:effectLst/>
                          <a:latin typeface="+mn-lt"/>
                          <a:ea typeface="+mn-ea"/>
                          <a:cs typeface="+mn-cs"/>
                        </a:rPr>
                        <a:t>NuMI</a:t>
                      </a:r>
                      <a:r>
                        <a:rPr lang="en-SG" sz="1200" b="1" kern="1200" dirty="0">
                          <a:solidFill>
                            <a:schemeClr val="dk1"/>
                          </a:solidFill>
                          <a:effectLst/>
                          <a:latin typeface="+mn-lt"/>
                          <a:ea typeface="+mn-ea"/>
                          <a:cs typeface="+mn-cs"/>
                        </a:rPr>
                        <a:t> </a:t>
                      </a:r>
                    </a:p>
                  </a:txBody>
                  <a:tcPr/>
                </a:tc>
                <a:tc hMerge="1">
                  <a:txBody>
                    <a:bodyPr/>
                    <a:lstStyle/>
                    <a:p>
                      <a:endParaRPr lang="en-SG" sz="1400" dirty="0"/>
                    </a:p>
                  </a:txBody>
                  <a:tcPr/>
                </a:tc>
                <a:extLst>
                  <a:ext uri="{0D108BD9-81ED-4DB2-BD59-A6C34878D82A}">
                    <a16:rowId xmlns:a16="http://schemas.microsoft.com/office/drawing/2014/main" val="1405745668"/>
                  </a:ext>
                </a:extLst>
              </a:tr>
              <a:tr h="454792">
                <a:tc>
                  <a:txBody>
                    <a:bodyPr/>
                    <a:lstStyle/>
                    <a:p>
                      <a:r>
                        <a:rPr lang="en-US" sz="1400" b="1" dirty="0"/>
                        <a:t>RECO</a:t>
                      </a:r>
                      <a:r>
                        <a:rPr lang="en-US" sz="1400" dirty="0"/>
                        <a:t> interactions passing fiducial cut </a:t>
                      </a:r>
                      <a:r>
                        <a:rPr lang="en-US" sz="1400" b="1" dirty="0"/>
                        <a:t>(NO CUTS)</a:t>
                      </a:r>
                      <a:endParaRPr lang="en-SG" sz="1400" b="1" dirty="0"/>
                    </a:p>
                  </a:txBody>
                  <a:tcPr/>
                </a:tc>
                <a:tc>
                  <a:txBody>
                    <a:bodyPr/>
                    <a:lstStyle/>
                    <a:p>
                      <a:r>
                        <a:rPr lang="en-US" sz="1400" dirty="0"/>
                        <a:t>36.5%</a:t>
                      </a:r>
                      <a:endParaRPr lang="en-SG" sz="1400" dirty="0"/>
                    </a:p>
                  </a:txBody>
                  <a:tcPr/>
                </a:tc>
                <a:tc rowSpan="2">
                  <a:txBody>
                    <a:bodyPr/>
                    <a:lstStyle/>
                    <a:p>
                      <a:pPr algn="ctr"/>
                      <a:r>
                        <a:rPr lang="en-US" sz="1400" dirty="0"/>
                        <a:t>35.4%</a:t>
                      </a:r>
                      <a:endParaRPr lang="en-SG" sz="1400" dirty="0"/>
                    </a:p>
                  </a:txBody>
                  <a:tcPr anchor="ct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1.1%</a:t>
                      </a:r>
                      <a:endParaRPr lang="en-SG" sz="1400" dirty="0"/>
                    </a:p>
                    <a:p>
                      <a:endParaRPr lang="en-SG" sz="1400" dirty="0"/>
                    </a:p>
                  </a:txBody>
                  <a:tcPr/>
                </a:tc>
                <a:tc vMerge="1">
                  <a:txBody>
                    <a:bodyPr/>
                    <a:lstStyle/>
                    <a:p>
                      <a:endParaRPr lang="en-SG" sz="1400" dirty="0"/>
                    </a:p>
                  </a:txBody>
                  <a:tcPr/>
                </a:tc>
                <a:extLst>
                  <a:ext uri="{0D108BD9-81ED-4DB2-BD59-A6C34878D82A}">
                    <a16:rowId xmlns:a16="http://schemas.microsoft.com/office/drawing/2014/main" val="1699651322"/>
                  </a:ext>
                </a:extLst>
              </a:tr>
              <a:tr h="454792">
                <a:tc>
                  <a:txBody>
                    <a:bodyPr/>
                    <a:lstStyle/>
                    <a:p>
                      <a:r>
                        <a:rPr lang="en-US" sz="1400" b="1" dirty="0"/>
                        <a:t>RECO</a:t>
                      </a:r>
                      <a:r>
                        <a:rPr lang="en-US" sz="1400" dirty="0"/>
                        <a:t> interactions passing fiducial cut </a:t>
                      </a:r>
                      <a:r>
                        <a:rPr lang="en-US" sz="1400" b="1" dirty="0"/>
                        <a:t>(FLASH CUT APPLIED)</a:t>
                      </a:r>
                      <a:endParaRPr lang="en-SG" sz="1400" b="1" dirty="0"/>
                    </a:p>
                  </a:txBody>
                  <a:tcPr/>
                </a:tc>
                <a:tc>
                  <a:txBody>
                    <a:bodyPr/>
                    <a:lstStyle/>
                    <a:p>
                      <a:r>
                        <a:rPr lang="en-US" sz="1400" dirty="0"/>
                        <a:t>2.9%</a:t>
                      </a:r>
                      <a:endParaRPr lang="en-SG" sz="1400" dirty="0"/>
                    </a:p>
                  </a:txBody>
                  <a:tcPr/>
                </a:tc>
                <a:tc rowSpan="2">
                  <a:txBody>
                    <a:bodyPr/>
                    <a:lstStyle/>
                    <a:p>
                      <a:pPr algn="ctr"/>
                      <a:r>
                        <a:rPr lang="en-US" sz="1400" dirty="0"/>
                        <a:t>1.8%</a:t>
                      </a:r>
                      <a:endParaRPr lang="en-SG" sz="1400" dirty="0"/>
                    </a:p>
                  </a:txBody>
                  <a:tcPr anchor="ctr"/>
                </a:tc>
                <a:extLst>
                  <a:ext uri="{0D108BD9-81ED-4DB2-BD59-A6C34878D82A}">
                    <a16:rowId xmlns:a16="http://schemas.microsoft.com/office/drawing/2014/main" val="2250954633"/>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r>
                        <a:rPr lang="en-US" sz="1400" dirty="0"/>
                        <a:t>1.1%</a:t>
                      </a:r>
                      <a:endParaRPr lang="en-SG" sz="1400" dirty="0"/>
                    </a:p>
                  </a:txBody>
                  <a:tcPr/>
                </a:tc>
                <a:tc vMerge="1">
                  <a:txBody>
                    <a:bodyPr/>
                    <a:lstStyle/>
                    <a:p>
                      <a:pPr algn="ctr"/>
                      <a:endParaRPr lang="en-SG" sz="1400" dirty="0"/>
                    </a:p>
                  </a:txBody>
                  <a:tcPr anchor="ctr"/>
                </a:tc>
                <a:extLst>
                  <a:ext uri="{0D108BD9-81ED-4DB2-BD59-A6C34878D82A}">
                    <a16:rowId xmlns:a16="http://schemas.microsoft.com/office/drawing/2014/main" val="1002158922"/>
                  </a:ext>
                </a:extLst>
              </a:tr>
            </a:tbl>
          </a:graphicData>
        </a:graphic>
      </p:graphicFrame>
      <p:graphicFrame>
        <p:nvGraphicFramePr>
          <p:cNvPr id="6" name="Table 5">
            <a:extLst>
              <a:ext uri="{FF2B5EF4-FFF2-40B4-BE49-F238E27FC236}">
                <a16:creationId xmlns:a16="http://schemas.microsoft.com/office/drawing/2014/main" id="{1C03B748-8443-9A76-7E0E-2FFB551B337E}"/>
              </a:ext>
            </a:extLst>
          </p:cNvPr>
          <p:cNvGraphicFramePr>
            <a:graphicFrameLocks noGrp="1"/>
          </p:cNvGraphicFramePr>
          <p:nvPr>
            <p:extLst>
              <p:ext uri="{D42A27DB-BD31-4B8C-83A1-F6EECF244321}">
                <p14:modId xmlns:p14="http://schemas.microsoft.com/office/powerpoint/2010/main" val="2086428053"/>
              </p:ext>
            </p:extLst>
          </p:nvPr>
        </p:nvGraphicFramePr>
        <p:xfrm>
          <a:off x="6012873" y="2240376"/>
          <a:ext cx="5678002" cy="3845527"/>
        </p:xfrm>
        <a:graphic>
          <a:graphicData uri="http://schemas.openxmlformats.org/drawingml/2006/table">
            <a:tbl>
              <a:tblPr firstRow="1" bandRow="1">
                <a:tableStyleId>{5C22544A-7EE6-4342-B048-85BDC9FD1C3A}</a:tableStyleId>
              </a:tblPr>
              <a:tblGrid>
                <a:gridCol w="2326115">
                  <a:extLst>
                    <a:ext uri="{9D8B030D-6E8A-4147-A177-3AD203B41FA5}">
                      <a16:colId xmlns:a16="http://schemas.microsoft.com/office/drawing/2014/main" val="3682903481"/>
                    </a:ext>
                  </a:extLst>
                </a:gridCol>
                <a:gridCol w="1459220">
                  <a:extLst>
                    <a:ext uri="{9D8B030D-6E8A-4147-A177-3AD203B41FA5}">
                      <a16:colId xmlns:a16="http://schemas.microsoft.com/office/drawing/2014/main" val="3311962917"/>
                    </a:ext>
                  </a:extLst>
                </a:gridCol>
                <a:gridCol w="1892667">
                  <a:extLst>
                    <a:ext uri="{9D8B030D-6E8A-4147-A177-3AD203B41FA5}">
                      <a16:colId xmlns:a16="http://schemas.microsoft.com/office/drawing/2014/main" val="1281504000"/>
                    </a:ext>
                  </a:extLst>
                </a:gridCol>
              </a:tblGrid>
              <a:tr h="454792">
                <a:tc>
                  <a:txBody>
                    <a:bodyPr/>
                    <a:lstStyle/>
                    <a:p>
                      <a:r>
                        <a:rPr lang="en-US" sz="1400" dirty="0"/>
                        <a:t>Parameter</a:t>
                      </a:r>
                      <a:endParaRPr lang="en-SG" sz="1400" dirty="0"/>
                    </a:p>
                  </a:txBody>
                  <a:tcPr/>
                </a:tc>
                <a:tc>
                  <a:txBody>
                    <a:bodyPr/>
                    <a:lstStyle/>
                    <a:p>
                      <a:r>
                        <a:rPr lang="en-US" sz="1400" dirty="0"/>
                        <a:t>Percentage over tot no. of interactions</a:t>
                      </a:r>
                      <a:endParaRPr lang="en-SG" sz="1400" dirty="0"/>
                    </a:p>
                  </a:txBody>
                  <a:tcPr/>
                </a:tc>
                <a:tc>
                  <a:txBody>
                    <a:bodyPr/>
                    <a:lstStyle/>
                    <a:p>
                      <a:r>
                        <a:rPr lang="en-US" sz="1400" dirty="0"/>
                        <a:t>Discrepancy</a:t>
                      </a:r>
                      <a:endParaRPr lang="en-SG" sz="1400" dirty="0"/>
                    </a:p>
                  </a:txBody>
                  <a:tcPr/>
                </a:tc>
                <a:extLst>
                  <a:ext uri="{0D108BD9-81ED-4DB2-BD59-A6C34878D82A}">
                    <a16:rowId xmlns:a16="http://schemas.microsoft.com/office/drawing/2014/main" val="804877316"/>
                  </a:ext>
                </a:extLst>
              </a:tr>
              <a:tr h="401287">
                <a:tc>
                  <a:txBody>
                    <a:bodyPr/>
                    <a:lstStyle/>
                    <a:p>
                      <a:r>
                        <a:rPr lang="en-US" sz="1400" dirty="0"/>
                        <a:t>Root file used</a:t>
                      </a:r>
                      <a:endParaRPr lang="en-SG" sz="1400" dirty="0"/>
                    </a:p>
                  </a:txBody>
                  <a:tcPr/>
                </a:tc>
                <a:tc gridSpan="2">
                  <a:txBody>
                    <a:bodyPr/>
                    <a:lstStyle/>
                    <a:p>
                      <a:pPr algn="ctr"/>
                      <a:r>
                        <a:rPr lang="fr-FR" sz="1200" b="1" kern="1200" dirty="0">
                          <a:solidFill>
                            <a:schemeClr val="dk1"/>
                          </a:solidFill>
                          <a:effectLst/>
                          <a:latin typeface="+mn-lt"/>
                          <a:ea typeface="+mn-ea"/>
                          <a:cs typeface="+mn-cs"/>
                        </a:rPr>
                        <a:t>BNB</a:t>
                      </a:r>
                    </a:p>
                  </a:txBody>
                  <a:tcPr/>
                </a:tc>
                <a:tc hMerge="1">
                  <a:txBody>
                    <a:bodyPr/>
                    <a:lstStyle/>
                    <a:p>
                      <a:endParaRPr lang="en-SG" sz="1400" dirty="0"/>
                    </a:p>
                  </a:txBody>
                  <a:tcPr/>
                </a:tc>
                <a:extLst>
                  <a:ext uri="{0D108BD9-81ED-4DB2-BD59-A6C34878D82A}">
                    <a16:rowId xmlns:a16="http://schemas.microsoft.com/office/drawing/2014/main" val="1405745668"/>
                  </a:ext>
                </a:extLst>
              </a:tr>
              <a:tr h="454792">
                <a:tc>
                  <a:txBody>
                    <a:bodyPr/>
                    <a:lstStyle/>
                    <a:p>
                      <a:r>
                        <a:rPr lang="en-US" sz="1400" b="1" dirty="0"/>
                        <a:t>RECO</a:t>
                      </a:r>
                      <a:r>
                        <a:rPr lang="en-US" sz="1400" dirty="0"/>
                        <a:t> interactions passing fiducial cut </a:t>
                      </a:r>
                      <a:r>
                        <a:rPr lang="en-US" sz="1400" b="1" dirty="0"/>
                        <a:t>(NO CUTS)</a:t>
                      </a:r>
                      <a:endParaRPr lang="en-SG" sz="1400" b="1" dirty="0"/>
                    </a:p>
                  </a:txBody>
                  <a:tcPr/>
                </a:tc>
                <a:tc>
                  <a:txBody>
                    <a:bodyPr/>
                    <a:lstStyle/>
                    <a:p>
                      <a:r>
                        <a:rPr lang="en-US" sz="1400" dirty="0"/>
                        <a:t>37%</a:t>
                      </a:r>
                      <a:endParaRPr lang="en-SG" sz="1400" dirty="0"/>
                    </a:p>
                  </a:txBody>
                  <a:tcPr/>
                </a:tc>
                <a:tc rowSpan="2">
                  <a:txBody>
                    <a:bodyPr/>
                    <a:lstStyle/>
                    <a:p>
                      <a:pPr algn="ctr"/>
                      <a:r>
                        <a:rPr lang="en-US" sz="1400" dirty="0"/>
                        <a:t>34.8%</a:t>
                      </a:r>
                      <a:endParaRPr lang="en-SG" sz="1400" dirty="0"/>
                    </a:p>
                  </a:txBody>
                  <a:tcPr anchor="ctr"/>
                </a:tc>
                <a:extLst>
                  <a:ext uri="{0D108BD9-81ED-4DB2-BD59-A6C34878D82A}">
                    <a16:rowId xmlns:a16="http://schemas.microsoft.com/office/drawing/2014/main" val="115071748"/>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r>
                        <a:rPr lang="en-US" sz="1400" dirty="0"/>
                        <a:t>2.2%</a:t>
                      </a:r>
                      <a:endParaRPr lang="en-SG" sz="1400" dirty="0"/>
                    </a:p>
                  </a:txBody>
                  <a:tcPr/>
                </a:tc>
                <a:tc vMerge="1">
                  <a:txBody>
                    <a:bodyPr/>
                    <a:lstStyle/>
                    <a:p>
                      <a:endParaRPr lang="en-SG" sz="1400" dirty="0"/>
                    </a:p>
                  </a:txBody>
                  <a:tcPr/>
                </a:tc>
                <a:extLst>
                  <a:ext uri="{0D108BD9-81ED-4DB2-BD59-A6C34878D82A}">
                    <a16:rowId xmlns:a16="http://schemas.microsoft.com/office/drawing/2014/main" val="3744653109"/>
                  </a:ext>
                </a:extLst>
              </a:tr>
              <a:tr h="454792">
                <a:tc>
                  <a:txBody>
                    <a:bodyPr/>
                    <a:lstStyle/>
                    <a:p>
                      <a:r>
                        <a:rPr lang="en-US" sz="1400" b="1" dirty="0"/>
                        <a:t>RECO</a:t>
                      </a:r>
                      <a:r>
                        <a:rPr lang="en-US" sz="1400" dirty="0"/>
                        <a:t> interactions passing fiducial cut </a:t>
                      </a:r>
                      <a:r>
                        <a:rPr lang="en-US" sz="1400" b="1" dirty="0"/>
                        <a:t>(FLASH CUT APPLIED)</a:t>
                      </a:r>
                      <a:endParaRPr lang="en-SG" sz="1400" b="1" dirty="0"/>
                    </a:p>
                  </a:txBody>
                  <a:tcPr/>
                </a:tc>
                <a:tc>
                  <a:txBody>
                    <a:bodyPr/>
                    <a:lstStyle/>
                    <a:p>
                      <a:r>
                        <a:rPr lang="en-US" sz="1400" dirty="0"/>
                        <a:t>1.7%</a:t>
                      </a:r>
                      <a:endParaRPr lang="en-SG" sz="1400" dirty="0"/>
                    </a:p>
                  </a:txBody>
                  <a:tcPr/>
                </a:tc>
                <a:tc rowSpan="2">
                  <a:txBody>
                    <a:bodyPr/>
                    <a:lstStyle/>
                    <a:p>
                      <a:pPr algn="ctr"/>
                      <a:r>
                        <a:rPr lang="en-US" sz="1400" dirty="0"/>
                        <a:t>0.5%</a:t>
                      </a:r>
                      <a:endParaRPr lang="en-SG" sz="1400" dirty="0"/>
                    </a:p>
                  </a:txBody>
                  <a:tcPr anchor="ctr"/>
                </a:tc>
                <a:extLst>
                  <a:ext uri="{0D108BD9-81ED-4DB2-BD59-A6C34878D82A}">
                    <a16:rowId xmlns:a16="http://schemas.microsoft.com/office/drawing/2014/main" val="3714247652"/>
                  </a:ext>
                </a:extLst>
              </a:tr>
              <a:tr h="4547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TRUE</a:t>
                      </a:r>
                      <a:r>
                        <a:rPr lang="en-US" sz="1400" dirty="0"/>
                        <a:t> interactions passing fiducial cut </a:t>
                      </a:r>
                      <a:r>
                        <a:rPr lang="en-US" sz="1400" b="1" dirty="0"/>
                        <a:t>(NO CUTS APPLIED)</a:t>
                      </a:r>
                      <a:endParaRPr lang="en-SG" sz="1400" b="1" dirty="0"/>
                    </a:p>
                  </a:txBody>
                  <a:tcPr/>
                </a:tc>
                <a:tc>
                  <a:txBody>
                    <a:bodyPr/>
                    <a:lstStyle/>
                    <a:p>
                      <a:r>
                        <a:rPr lang="en-US" sz="1400" dirty="0"/>
                        <a:t>2.2%</a:t>
                      </a:r>
                      <a:endParaRPr lang="en-SG" sz="1400" dirty="0"/>
                    </a:p>
                  </a:txBody>
                  <a:tcPr/>
                </a:tc>
                <a:tc vMerge="1">
                  <a:txBody>
                    <a:bodyPr/>
                    <a:lstStyle/>
                    <a:p>
                      <a:pPr algn="ctr"/>
                      <a:endParaRPr lang="en-SG" sz="1400" dirty="0"/>
                    </a:p>
                  </a:txBody>
                  <a:tcPr anchor="ctr"/>
                </a:tc>
                <a:extLst>
                  <a:ext uri="{0D108BD9-81ED-4DB2-BD59-A6C34878D82A}">
                    <a16:rowId xmlns:a16="http://schemas.microsoft.com/office/drawing/2014/main" val="2359043611"/>
                  </a:ext>
                </a:extLst>
              </a:tr>
            </a:tbl>
          </a:graphicData>
        </a:graphic>
      </p:graphicFrame>
      <p:sp>
        <p:nvSpPr>
          <p:cNvPr id="10" name="TextBox 9">
            <a:extLst>
              <a:ext uri="{FF2B5EF4-FFF2-40B4-BE49-F238E27FC236}">
                <a16:creationId xmlns:a16="http://schemas.microsoft.com/office/drawing/2014/main" id="{38A76CB3-96B4-ABD7-EA5D-31F7415B9F90}"/>
              </a:ext>
            </a:extLst>
          </p:cNvPr>
          <p:cNvSpPr txBox="1"/>
          <p:nvPr/>
        </p:nvSpPr>
        <p:spPr>
          <a:xfrm>
            <a:off x="8758787" y="1778711"/>
            <a:ext cx="752475" cy="461665"/>
          </a:xfrm>
          <a:prstGeom prst="rect">
            <a:avLst/>
          </a:prstGeom>
          <a:noFill/>
        </p:spPr>
        <p:txBody>
          <a:bodyPr wrap="square">
            <a:spAutoFit/>
          </a:bodyPr>
          <a:lstStyle/>
          <a:p>
            <a:r>
              <a:rPr lang="en-US" sz="2400" b="1" dirty="0"/>
              <a:t>BNB</a:t>
            </a:r>
            <a:endParaRPr lang="en-SG" sz="2400" b="1" dirty="0"/>
          </a:p>
        </p:txBody>
      </p:sp>
      <p:sp>
        <p:nvSpPr>
          <p:cNvPr id="12" name="TextBox 11">
            <a:extLst>
              <a:ext uri="{FF2B5EF4-FFF2-40B4-BE49-F238E27FC236}">
                <a16:creationId xmlns:a16="http://schemas.microsoft.com/office/drawing/2014/main" id="{D18215FA-F8FD-CF03-0377-6461B912E7A8}"/>
              </a:ext>
            </a:extLst>
          </p:cNvPr>
          <p:cNvSpPr txBox="1"/>
          <p:nvPr/>
        </p:nvSpPr>
        <p:spPr>
          <a:xfrm>
            <a:off x="2606644" y="1778711"/>
            <a:ext cx="900661" cy="461665"/>
          </a:xfrm>
          <a:prstGeom prst="rect">
            <a:avLst/>
          </a:prstGeom>
          <a:noFill/>
        </p:spPr>
        <p:txBody>
          <a:bodyPr wrap="square">
            <a:spAutoFit/>
          </a:bodyPr>
          <a:lstStyle/>
          <a:p>
            <a:r>
              <a:rPr lang="en-US" sz="2400" b="1" dirty="0" err="1"/>
              <a:t>NuMI</a:t>
            </a:r>
            <a:endParaRPr lang="en-SG" sz="2400" b="1" dirty="0"/>
          </a:p>
        </p:txBody>
      </p:sp>
    </p:spTree>
    <p:extLst>
      <p:ext uri="{BB962C8B-B14F-4D97-AF65-F5344CB8AC3E}">
        <p14:creationId xmlns:p14="http://schemas.microsoft.com/office/powerpoint/2010/main" val="2917714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7AC09-7663-7B66-37CA-F2C89D671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96C62-B16D-F699-64FC-104F4F91FF0D}"/>
              </a:ext>
            </a:extLst>
          </p:cNvPr>
          <p:cNvSpPr>
            <a:spLocks noGrp="1"/>
          </p:cNvSpPr>
          <p:nvPr>
            <p:ph type="title"/>
          </p:nvPr>
        </p:nvSpPr>
        <p:spPr/>
        <p:txBody>
          <a:bodyPr/>
          <a:lstStyle/>
          <a:p>
            <a:r>
              <a:rPr lang="en-US" dirty="0"/>
              <a:t>In-time interaction selection</a:t>
            </a:r>
            <a:endParaRPr lang="en-SG" dirty="0"/>
          </a:p>
        </p:txBody>
      </p:sp>
      <p:sp>
        <p:nvSpPr>
          <p:cNvPr id="15" name="TextBox 14">
            <a:extLst>
              <a:ext uri="{FF2B5EF4-FFF2-40B4-BE49-F238E27FC236}">
                <a16:creationId xmlns:a16="http://schemas.microsoft.com/office/drawing/2014/main" id="{0E44D190-6931-4B34-6C9A-559468076174}"/>
              </a:ext>
            </a:extLst>
          </p:cNvPr>
          <p:cNvSpPr txBox="1"/>
          <p:nvPr/>
        </p:nvSpPr>
        <p:spPr>
          <a:xfrm>
            <a:off x="1097280" y="1870839"/>
            <a:ext cx="4598670" cy="646331"/>
          </a:xfrm>
          <a:prstGeom prst="rect">
            <a:avLst/>
          </a:prstGeom>
          <a:noFill/>
        </p:spPr>
        <p:txBody>
          <a:bodyPr wrap="square">
            <a:spAutoFit/>
          </a:bodyPr>
          <a:lstStyle/>
          <a:p>
            <a:endParaRPr lang="en-US" dirty="0"/>
          </a:p>
          <a:p>
            <a:pPr marL="285750" indent="-285750">
              <a:buFont typeface="Arial" panose="020B0604020202020204" pitchFamily="34" charset="0"/>
              <a:buChar char="•"/>
            </a:pPr>
            <a:endParaRPr lang="en-US" dirty="0"/>
          </a:p>
        </p:txBody>
      </p:sp>
      <p:sp>
        <p:nvSpPr>
          <p:cNvPr id="14" name="TextBox 13">
            <a:extLst>
              <a:ext uri="{FF2B5EF4-FFF2-40B4-BE49-F238E27FC236}">
                <a16:creationId xmlns:a16="http://schemas.microsoft.com/office/drawing/2014/main" id="{6EAD062D-7D67-959A-39B2-C490357B0381}"/>
              </a:ext>
            </a:extLst>
          </p:cNvPr>
          <p:cNvSpPr txBox="1"/>
          <p:nvPr/>
        </p:nvSpPr>
        <p:spPr>
          <a:xfrm>
            <a:off x="1097279" y="1870839"/>
            <a:ext cx="5617557" cy="2308324"/>
          </a:xfrm>
          <a:prstGeom prst="rect">
            <a:avLst/>
          </a:prstGeom>
          <a:noFill/>
        </p:spPr>
        <p:txBody>
          <a:bodyPr wrap="square">
            <a:spAutoFit/>
          </a:bodyPr>
          <a:lstStyle/>
          <a:p>
            <a:r>
              <a:rPr lang="en-US" b="1" u="sng" dirty="0"/>
              <a:t>Selection with reconstructed interactions that are in-time and </a:t>
            </a:r>
            <a:r>
              <a:rPr lang="en-US" b="1" u="sng" dirty="0" err="1"/>
              <a:t>fiducialized</a:t>
            </a:r>
            <a:endParaRPr lang="en-US" b="1" u="sng" dirty="0"/>
          </a:p>
          <a:p>
            <a:r>
              <a:rPr lang="en-US" b="1" u="sng" dirty="0"/>
              <a:t> </a:t>
            </a:r>
          </a:p>
          <a:p>
            <a:pPr marL="285750" indent="-285750">
              <a:buFont typeface="Arial" panose="020B0604020202020204" pitchFamily="34" charset="0"/>
              <a:buChar char="•"/>
            </a:pPr>
            <a:r>
              <a:rPr lang="en-US" dirty="0"/>
              <a:t>We look at the percentage of interactions that pass the fiducial cut based on truth data</a:t>
            </a:r>
          </a:p>
          <a:p>
            <a:pPr marL="285750" indent="-285750">
              <a:buFont typeface="Arial" panose="020B0604020202020204" pitchFamily="34" charset="0"/>
              <a:buChar char="•"/>
            </a:pPr>
            <a:r>
              <a:rPr lang="en-US" dirty="0"/>
              <a:t>27.6% of </a:t>
            </a:r>
            <a:r>
              <a:rPr lang="en-US" dirty="0" err="1"/>
              <a:t>NuMI</a:t>
            </a:r>
            <a:r>
              <a:rPr lang="en-US" dirty="0"/>
              <a:t> reconstructed interactions would fail the cut when comparing to their true data</a:t>
            </a:r>
          </a:p>
          <a:p>
            <a:pPr marL="285750" indent="-285750">
              <a:buFont typeface="Arial" panose="020B0604020202020204" pitchFamily="34" charset="0"/>
              <a:buChar char="•"/>
            </a:pPr>
            <a:endParaRPr lang="en-US" dirty="0"/>
          </a:p>
        </p:txBody>
      </p:sp>
      <p:graphicFrame>
        <p:nvGraphicFramePr>
          <p:cNvPr id="8" name="Table 7">
            <a:extLst>
              <a:ext uri="{FF2B5EF4-FFF2-40B4-BE49-F238E27FC236}">
                <a16:creationId xmlns:a16="http://schemas.microsoft.com/office/drawing/2014/main" id="{D6E8D688-2B66-265E-A978-F9B1DB7BAC93}"/>
              </a:ext>
            </a:extLst>
          </p:cNvPr>
          <p:cNvGraphicFramePr>
            <a:graphicFrameLocks noGrp="1"/>
          </p:cNvGraphicFramePr>
          <p:nvPr>
            <p:extLst>
              <p:ext uri="{D42A27DB-BD31-4B8C-83A1-F6EECF244321}">
                <p14:modId xmlns:p14="http://schemas.microsoft.com/office/powerpoint/2010/main" val="4031674824"/>
              </p:ext>
            </p:extLst>
          </p:nvPr>
        </p:nvGraphicFramePr>
        <p:xfrm>
          <a:off x="7711391" y="2515082"/>
          <a:ext cx="1673660" cy="2810507"/>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err="1">
                          <a:solidFill>
                            <a:schemeClr val="tx1"/>
                          </a:solidFill>
                        </a:rPr>
                        <a:t>NuMI</a:t>
                      </a:r>
                      <a:endParaRPr lang="en-SG" b="1" dirty="0">
                        <a:solidFill>
                          <a:schemeClr val="tx1"/>
                        </a:solidFill>
                      </a:endParaRPr>
                    </a:p>
                  </a:txBody>
                  <a:tcPr anchor="ctr"/>
                </a:tc>
                <a:tc>
                  <a:txBody>
                    <a:bodyPr/>
                    <a:lstStyle/>
                    <a:p>
                      <a:pPr algn="ctr"/>
                      <a:r>
                        <a:rPr lang="en-US" sz="1400" dirty="0">
                          <a:solidFill>
                            <a:srgbClr val="FF0000"/>
                          </a:solidFill>
                        </a:rPr>
                        <a:t>Passes fiducial</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70.5%</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fails fiducial</a:t>
                      </a:r>
                      <a:endParaRPr lang="en-SG" sz="1400" b="0" dirty="0">
                        <a:solidFill>
                          <a:srgbClr val="FF0000"/>
                        </a:solidFill>
                      </a:endParaRPr>
                    </a:p>
                  </a:txBody>
                  <a:tcPr anchor="ctr">
                    <a:solidFill>
                      <a:schemeClr val="bg2"/>
                    </a:solidFill>
                  </a:tcPr>
                </a:tc>
                <a:tc>
                  <a:txBody>
                    <a:bodyPr/>
                    <a:lstStyle/>
                    <a:p>
                      <a:pPr algn="ctr"/>
                      <a:r>
                        <a:rPr lang="en-US" dirty="0"/>
                        <a:t>27.6%</a:t>
                      </a:r>
                      <a:endParaRPr lang="en-SG" dirty="0"/>
                    </a:p>
                  </a:txBody>
                  <a:tcPr anchor="ctr"/>
                </a:tc>
                <a:extLst>
                  <a:ext uri="{0D108BD9-81ED-4DB2-BD59-A6C34878D82A}">
                    <a16:rowId xmlns:a16="http://schemas.microsoft.com/office/drawing/2014/main" val="2781143425"/>
                  </a:ext>
                </a:extLst>
              </a:tr>
              <a:tr h="757766">
                <a:tc>
                  <a:txBody>
                    <a:bodyPr/>
                    <a:lstStyle/>
                    <a:p>
                      <a:pPr algn="ctr"/>
                      <a:r>
                        <a:rPr lang="en-US" sz="1400" b="0" dirty="0" err="1">
                          <a:solidFill>
                            <a:srgbClr val="FF0000"/>
                          </a:solidFill>
                        </a:rPr>
                        <a:t>NaN</a:t>
                      </a:r>
                      <a:endParaRPr lang="en-SG" sz="1400" b="0" dirty="0">
                        <a:solidFill>
                          <a:srgbClr val="FF0000"/>
                        </a:solidFill>
                      </a:endParaRPr>
                    </a:p>
                  </a:txBody>
                  <a:tcPr anchor="ctr">
                    <a:solidFill>
                      <a:schemeClr val="bg2"/>
                    </a:solidFill>
                  </a:tcPr>
                </a:tc>
                <a:tc>
                  <a:txBody>
                    <a:bodyPr/>
                    <a:lstStyle/>
                    <a:p>
                      <a:pPr algn="ctr"/>
                      <a:r>
                        <a:rPr lang="en-US" dirty="0"/>
                        <a:t>1.9%</a:t>
                      </a:r>
                      <a:endParaRPr lang="en-SG" dirty="0"/>
                    </a:p>
                  </a:txBody>
                  <a:tcPr anchor="ctr"/>
                </a:tc>
                <a:extLst>
                  <a:ext uri="{0D108BD9-81ED-4DB2-BD59-A6C34878D82A}">
                    <a16:rowId xmlns:a16="http://schemas.microsoft.com/office/drawing/2014/main" val="1805301536"/>
                  </a:ext>
                </a:extLst>
              </a:tr>
            </a:tbl>
          </a:graphicData>
        </a:graphic>
      </p:graphicFrame>
      <p:sp>
        <p:nvSpPr>
          <p:cNvPr id="9" name="TextBox 8">
            <a:extLst>
              <a:ext uri="{FF2B5EF4-FFF2-40B4-BE49-F238E27FC236}">
                <a16:creationId xmlns:a16="http://schemas.microsoft.com/office/drawing/2014/main" id="{AF30BF48-6709-879B-503D-D489F2FB3650}"/>
              </a:ext>
            </a:extLst>
          </p:cNvPr>
          <p:cNvSpPr txBox="1"/>
          <p:nvPr/>
        </p:nvSpPr>
        <p:spPr>
          <a:xfrm rot="16200000">
            <a:off x="7221400" y="3751056"/>
            <a:ext cx="657609" cy="338554"/>
          </a:xfrm>
          <a:prstGeom prst="rect">
            <a:avLst/>
          </a:prstGeom>
          <a:noFill/>
        </p:spPr>
        <p:txBody>
          <a:bodyPr wrap="square" rtlCol="0">
            <a:spAutoFit/>
          </a:bodyPr>
          <a:lstStyle/>
          <a:p>
            <a:r>
              <a:rPr lang="en-US" sz="1600" dirty="0"/>
              <a:t>Truth</a:t>
            </a:r>
            <a:endParaRPr lang="en-SG" dirty="0"/>
          </a:p>
        </p:txBody>
      </p:sp>
      <p:sp>
        <p:nvSpPr>
          <p:cNvPr id="10" name="TextBox 9">
            <a:extLst>
              <a:ext uri="{FF2B5EF4-FFF2-40B4-BE49-F238E27FC236}">
                <a16:creationId xmlns:a16="http://schemas.microsoft.com/office/drawing/2014/main" id="{95438552-263A-0B75-5370-6CE543A8C05F}"/>
              </a:ext>
            </a:extLst>
          </p:cNvPr>
          <p:cNvSpPr txBox="1"/>
          <p:nvPr/>
        </p:nvSpPr>
        <p:spPr>
          <a:xfrm>
            <a:off x="8179112" y="2174440"/>
            <a:ext cx="1378831" cy="338554"/>
          </a:xfrm>
          <a:prstGeom prst="rect">
            <a:avLst/>
          </a:prstGeom>
          <a:noFill/>
        </p:spPr>
        <p:txBody>
          <a:bodyPr wrap="square" rtlCol="0">
            <a:spAutoFit/>
          </a:bodyPr>
          <a:lstStyle/>
          <a:p>
            <a:r>
              <a:rPr lang="en-US" sz="1600" dirty="0"/>
              <a:t>Reconstructed</a:t>
            </a:r>
            <a:endParaRPr lang="en-SG" sz="1600" dirty="0"/>
          </a:p>
        </p:txBody>
      </p:sp>
      <p:graphicFrame>
        <p:nvGraphicFramePr>
          <p:cNvPr id="11" name="Table 10">
            <a:extLst>
              <a:ext uri="{FF2B5EF4-FFF2-40B4-BE49-F238E27FC236}">
                <a16:creationId xmlns:a16="http://schemas.microsoft.com/office/drawing/2014/main" id="{2F84DD27-2A12-C605-882E-956BCA919D07}"/>
              </a:ext>
            </a:extLst>
          </p:cNvPr>
          <p:cNvGraphicFramePr>
            <a:graphicFrameLocks noGrp="1"/>
          </p:cNvGraphicFramePr>
          <p:nvPr>
            <p:extLst>
              <p:ext uri="{D42A27DB-BD31-4B8C-83A1-F6EECF244321}">
                <p14:modId xmlns:p14="http://schemas.microsoft.com/office/powerpoint/2010/main" val="1651927892"/>
              </p:ext>
            </p:extLst>
          </p:nvPr>
        </p:nvGraphicFramePr>
        <p:xfrm>
          <a:off x="10218610" y="2515082"/>
          <a:ext cx="1673660" cy="2810507"/>
        </p:xfrm>
        <a:graphic>
          <a:graphicData uri="http://schemas.openxmlformats.org/drawingml/2006/table">
            <a:tbl>
              <a:tblPr firstRow="1" bandRow="1">
                <a:tableStyleId>{5940675A-B579-460E-94D1-54222C63F5DA}</a:tableStyleId>
              </a:tblPr>
              <a:tblGrid>
                <a:gridCol w="733316">
                  <a:extLst>
                    <a:ext uri="{9D8B030D-6E8A-4147-A177-3AD203B41FA5}">
                      <a16:colId xmlns:a16="http://schemas.microsoft.com/office/drawing/2014/main" val="2941989956"/>
                    </a:ext>
                  </a:extLst>
                </a:gridCol>
                <a:gridCol w="940344">
                  <a:extLst>
                    <a:ext uri="{9D8B030D-6E8A-4147-A177-3AD203B41FA5}">
                      <a16:colId xmlns:a16="http://schemas.microsoft.com/office/drawing/2014/main" val="1069051651"/>
                    </a:ext>
                  </a:extLst>
                </a:gridCol>
              </a:tblGrid>
              <a:tr h="537209">
                <a:tc>
                  <a:txBody>
                    <a:bodyPr/>
                    <a:lstStyle/>
                    <a:p>
                      <a:pPr algn="ctr"/>
                      <a:r>
                        <a:rPr lang="en-US" b="1" dirty="0">
                          <a:solidFill>
                            <a:schemeClr val="tx1"/>
                          </a:solidFill>
                        </a:rPr>
                        <a:t>BNB</a:t>
                      </a:r>
                      <a:endParaRPr lang="en-SG" b="1" dirty="0">
                        <a:solidFill>
                          <a:schemeClr val="tx1"/>
                        </a:solidFill>
                      </a:endParaRPr>
                    </a:p>
                  </a:txBody>
                  <a:tcPr anchor="ctr"/>
                </a:tc>
                <a:tc>
                  <a:txBody>
                    <a:bodyPr/>
                    <a:lstStyle/>
                    <a:p>
                      <a:pPr algn="ctr"/>
                      <a:r>
                        <a:rPr lang="en-US" sz="1400" dirty="0">
                          <a:solidFill>
                            <a:srgbClr val="FF0000"/>
                          </a:solidFill>
                        </a:rPr>
                        <a:t>Passes fiducial</a:t>
                      </a:r>
                      <a:endParaRPr lang="en-SG" sz="1400" dirty="0">
                        <a:solidFill>
                          <a:srgbClr val="FF0000"/>
                        </a:solidFill>
                      </a:endParaRPr>
                    </a:p>
                  </a:txBody>
                  <a:tcPr anchor="ctr">
                    <a:solidFill>
                      <a:schemeClr val="bg2"/>
                    </a:solidFill>
                  </a:tcPr>
                </a:tc>
                <a:extLst>
                  <a:ext uri="{0D108BD9-81ED-4DB2-BD59-A6C34878D82A}">
                    <a16:rowId xmlns:a16="http://schemas.microsoft.com/office/drawing/2014/main" val="3964585593"/>
                  </a:ext>
                </a:extLst>
              </a:tr>
              <a:tr h="757766">
                <a:tc>
                  <a:txBody>
                    <a:bodyPr/>
                    <a:lstStyle/>
                    <a:p>
                      <a:pPr algn="ctr"/>
                      <a:r>
                        <a:rPr lang="en-US" sz="1400" b="0" dirty="0">
                          <a:solidFill>
                            <a:srgbClr val="FF0000"/>
                          </a:solidFill>
                        </a:rPr>
                        <a:t>Passes fiducial</a:t>
                      </a:r>
                      <a:endParaRPr lang="en-SG" sz="1400" b="0" dirty="0">
                        <a:solidFill>
                          <a:srgbClr val="FF0000"/>
                        </a:solidFill>
                      </a:endParaRPr>
                    </a:p>
                  </a:txBody>
                  <a:tcPr anchor="ctr">
                    <a:solidFill>
                      <a:schemeClr val="bg2"/>
                    </a:solidFill>
                  </a:tcPr>
                </a:tc>
                <a:tc>
                  <a:txBody>
                    <a:bodyPr/>
                    <a:lstStyle/>
                    <a:p>
                      <a:pPr algn="ctr"/>
                      <a:r>
                        <a:rPr lang="en-US" dirty="0"/>
                        <a:t>90.3%</a:t>
                      </a:r>
                      <a:endParaRPr lang="en-SG" dirty="0"/>
                    </a:p>
                  </a:txBody>
                  <a:tcPr anchor="ctr"/>
                </a:tc>
                <a:extLst>
                  <a:ext uri="{0D108BD9-81ED-4DB2-BD59-A6C34878D82A}">
                    <a16:rowId xmlns:a16="http://schemas.microsoft.com/office/drawing/2014/main" val="2778877775"/>
                  </a:ext>
                </a:extLst>
              </a:tr>
              <a:tr h="757766">
                <a:tc>
                  <a:txBody>
                    <a:bodyPr/>
                    <a:lstStyle/>
                    <a:p>
                      <a:pPr algn="ctr"/>
                      <a:r>
                        <a:rPr lang="en-US" sz="1400" b="0" dirty="0">
                          <a:solidFill>
                            <a:srgbClr val="FF0000"/>
                          </a:solidFill>
                        </a:rPr>
                        <a:t>fails fiducial</a:t>
                      </a:r>
                      <a:endParaRPr lang="en-SG" sz="1400" b="0" dirty="0">
                        <a:solidFill>
                          <a:srgbClr val="FF0000"/>
                        </a:solidFill>
                      </a:endParaRPr>
                    </a:p>
                  </a:txBody>
                  <a:tcPr anchor="ctr">
                    <a:solidFill>
                      <a:schemeClr val="bg2"/>
                    </a:solidFill>
                  </a:tcPr>
                </a:tc>
                <a:tc>
                  <a:txBody>
                    <a:bodyPr/>
                    <a:lstStyle/>
                    <a:p>
                      <a:pPr algn="ctr"/>
                      <a:r>
                        <a:rPr lang="en-US" dirty="0"/>
                        <a:t>8.9%</a:t>
                      </a:r>
                      <a:endParaRPr lang="en-SG" dirty="0"/>
                    </a:p>
                  </a:txBody>
                  <a:tcPr anchor="ctr"/>
                </a:tc>
                <a:extLst>
                  <a:ext uri="{0D108BD9-81ED-4DB2-BD59-A6C34878D82A}">
                    <a16:rowId xmlns:a16="http://schemas.microsoft.com/office/drawing/2014/main" val="2781143425"/>
                  </a:ext>
                </a:extLst>
              </a:tr>
              <a:tr h="757766">
                <a:tc>
                  <a:txBody>
                    <a:bodyPr/>
                    <a:lstStyle/>
                    <a:p>
                      <a:pPr algn="ctr"/>
                      <a:r>
                        <a:rPr lang="en-US" sz="1400" b="0" dirty="0" err="1">
                          <a:solidFill>
                            <a:srgbClr val="FF0000"/>
                          </a:solidFill>
                        </a:rPr>
                        <a:t>NaN</a:t>
                      </a:r>
                      <a:endParaRPr lang="en-SG" sz="1400" b="0" dirty="0">
                        <a:solidFill>
                          <a:srgbClr val="FF0000"/>
                        </a:solidFill>
                      </a:endParaRPr>
                    </a:p>
                  </a:txBody>
                  <a:tcPr anchor="ctr">
                    <a:solidFill>
                      <a:schemeClr val="bg2"/>
                    </a:solidFill>
                  </a:tcPr>
                </a:tc>
                <a:tc>
                  <a:txBody>
                    <a:bodyPr/>
                    <a:lstStyle/>
                    <a:p>
                      <a:pPr algn="ctr"/>
                      <a:r>
                        <a:rPr lang="en-US" dirty="0"/>
                        <a:t>0.8%</a:t>
                      </a:r>
                      <a:endParaRPr lang="en-SG" dirty="0"/>
                    </a:p>
                  </a:txBody>
                  <a:tcPr anchor="ctr"/>
                </a:tc>
                <a:extLst>
                  <a:ext uri="{0D108BD9-81ED-4DB2-BD59-A6C34878D82A}">
                    <a16:rowId xmlns:a16="http://schemas.microsoft.com/office/drawing/2014/main" val="1805301536"/>
                  </a:ext>
                </a:extLst>
              </a:tr>
            </a:tbl>
          </a:graphicData>
        </a:graphic>
      </p:graphicFrame>
      <p:sp>
        <p:nvSpPr>
          <p:cNvPr id="12" name="TextBox 11">
            <a:extLst>
              <a:ext uri="{FF2B5EF4-FFF2-40B4-BE49-F238E27FC236}">
                <a16:creationId xmlns:a16="http://schemas.microsoft.com/office/drawing/2014/main" id="{51825016-D75A-CD71-31E1-F61A0EEE3F49}"/>
              </a:ext>
            </a:extLst>
          </p:cNvPr>
          <p:cNvSpPr txBox="1"/>
          <p:nvPr/>
        </p:nvSpPr>
        <p:spPr>
          <a:xfrm rot="16200000">
            <a:off x="9720529" y="3751057"/>
            <a:ext cx="657609" cy="338554"/>
          </a:xfrm>
          <a:prstGeom prst="rect">
            <a:avLst/>
          </a:prstGeom>
          <a:noFill/>
        </p:spPr>
        <p:txBody>
          <a:bodyPr wrap="square" rtlCol="0">
            <a:spAutoFit/>
          </a:bodyPr>
          <a:lstStyle/>
          <a:p>
            <a:r>
              <a:rPr lang="en-US" sz="1600" dirty="0"/>
              <a:t>Truth</a:t>
            </a:r>
            <a:endParaRPr lang="en-SG" dirty="0"/>
          </a:p>
        </p:txBody>
      </p:sp>
      <p:sp>
        <p:nvSpPr>
          <p:cNvPr id="13" name="TextBox 12">
            <a:extLst>
              <a:ext uri="{FF2B5EF4-FFF2-40B4-BE49-F238E27FC236}">
                <a16:creationId xmlns:a16="http://schemas.microsoft.com/office/drawing/2014/main" id="{7297773B-6F3E-9B18-BF61-86492ED2F207}"/>
              </a:ext>
            </a:extLst>
          </p:cNvPr>
          <p:cNvSpPr txBox="1"/>
          <p:nvPr/>
        </p:nvSpPr>
        <p:spPr>
          <a:xfrm>
            <a:off x="10686331" y="2174440"/>
            <a:ext cx="1378831" cy="338554"/>
          </a:xfrm>
          <a:prstGeom prst="rect">
            <a:avLst/>
          </a:prstGeom>
          <a:noFill/>
        </p:spPr>
        <p:txBody>
          <a:bodyPr wrap="square" rtlCol="0">
            <a:spAutoFit/>
          </a:bodyPr>
          <a:lstStyle/>
          <a:p>
            <a:r>
              <a:rPr lang="en-US" sz="1600" dirty="0"/>
              <a:t>Reconstructed</a:t>
            </a:r>
            <a:endParaRPr lang="en-SG" sz="1600" dirty="0"/>
          </a:p>
        </p:txBody>
      </p:sp>
    </p:spTree>
    <p:extLst>
      <p:ext uri="{BB962C8B-B14F-4D97-AF65-F5344CB8AC3E}">
        <p14:creationId xmlns:p14="http://schemas.microsoft.com/office/powerpoint/2010/main" val="119785523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5491</TotalTime>
  <Words>2694</Words>
  <Application>Microsoft Office PowerPoint</Application>
  <PresentationFormat>Widescreen</PresentationFormat>
  <Paragraphs>468</Paragraphs>
  <Slides>24</Slides>
  <Notes>13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0" baseType="lpstr">
      <vt:lpstr>Aptos</vt:lpstr>
      <vt:lpstr>Arial</vt:lpstr>
      <vt:lpstr>Calibri</vt:lpstr>
      <vt:lpstr>Calibri Light</vt:lpstr>
      <vt:lpstr>Retrospect</vt:lpstr>
      <vt:lpstr>Packager Shell Object</vt:lpstr>
      <vt:lpstr>Tasks completed (19 Feb) </vt:lpstr>
      <vt:lpstr>Mistake</vt:lpstr>
      <vt:lpstr>Discrepancy in fiducial cut</vt:lpstr>
      <vt:lpstr>Preselection total efficiency</vt:lpstr>
      <vt:lpstr>Discussion</vt:lpstr>
      <vt:lpstr>PID preselection</vt:lpstr>
      <vt:lpstr>Preselection with PID cuts</vt:lpstr>
      <vt:lpstr>NuMI Reco to truth matching (Reco mode)</vt:lpstr>
      <vt:lpstr>NuMI Truth to reco matching (True mode)</vt:lpstr>
      <vt:lpstr>BNB Reco to truth matching (Reco mode)</vt:lpstr>
      <vt:lpstr>BNB Truth to reco matching (True mode)</vt:lpstr>
      <vt:lpstr>Tasks completed (19 Feb) </vt:lpstr>
      <vt:lpstr>Particle Semantic type Confusion matrix</vt:lpstr>
      <vt:lpstr>NuMI Reco to truth matching (Reco mode)</vt:lpstr>
      <vt:lpstr>NuMI Truth to reco matching (True mode)</vt:lpstr>
      <vt:lpstr>BNB Reco to truth matching (Reco mode)</vt:lpstr>
      <vt:lpstr>BNB Truth to reco matching (True mode)</vt:lpstr>
      <vt:lpstr>Reducing effect of cosmics</vt:lpstr>
      <vt:lpstr>Reducing effect of cosmics</vt:lpstr>
      <vt:lpstr>Out-of-time cosmic selection</vt:lpstr>
      <vt:lpstr>Out-of-time cosmic selection</vt:lpstr>
      <vt:lpstr>Out-of-time cosmic selection</vt:lpstr>
      <vt:lpstr>Preselection total efficiency</vt:lpstr>
      <vt:lpstr>In-time interaction selection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#JORDON KOH JIN CHEN#</dc:creator>
  <cp:lastModifiedBy>#JORDON KOH JIN CHEN#</cp:lastModifiedBy>
  <cp:revision>23</cp:revision>
  <dcterms:created xsi:type="dcterms:W3CDTF">2025-11-12T13:24:12Z</dcterms:created>
  <dcterms:modified xsi:type="dcterms:W3CDTF">2026-02-24T17:01:40Z</dcterms:modified>
</cp:coreProperties>
</file>