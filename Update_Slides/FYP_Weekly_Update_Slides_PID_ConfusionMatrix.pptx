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1"/>
  </p:notesMasterIdLst>
  <p:sldIdLst>
    <p:sldId id="357" r:id="rId2"/>
    <p:sldId id="347" r:id="rId3"/>
    <p:sldId id="351" r:id="rId4"/>
    <p:sldId id="348" r:id="rId5"/>
    <p:sldId id="352" r:id="rId6"/>
    <p:sldId id="353" r:id="rId7"/>
    <p:sldId id="354" r:id="rId8"/>
    <p:sldId id="355" r:id="rId9"/>
    <p:sldId id="35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>
        <p:scale>
          <a:sx n="100" d="100"/>
          <a:sy n="100" d="100"/>
        </p:scale>
        <p:origin x="10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865F-2013-0D2C-8CFC-96EF6146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46697-B0D7-33B5-437D-124448040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76C5A-FB02-62ED-4043-68530EA00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8CA15-1F08-99A3-A5AA-878FD149C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2671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80966-604D-B1AE-B58E-C4C64502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C9DB7-6715-4DBF-FC56-A6A1DDBE2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8C060-E7E5-CED7-D420-B7A1F4464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86BA1-FD05-4F65-1825-4B5174546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2210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2C04-963E-E0D8-BB40-2097BEA8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66B96-8CA2-0C9F-F56B-296F42369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B189D-993B-DC64-6350-35BC09F3E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AF85F-40F1-558C-6B29-80A882095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5199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D364-D605-CEC7-A20E-C5BE3DFE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F0ED6-8F43-A480-BEC6-37EFD9939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50241-967D-E195-4F4B-E990CF734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170C1-2BE8-3849-F15E-655AD46E7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3811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E70A-AF1A-4B32-0724-C22995D5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92574-EBE9-1633-3D31-EB4DE9563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45399-18E4-E3CE-8D98-3BAD77E31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FA6FC-011F-8482-3210-2D8EBB3D4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3710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DCFC-2A50-4B6C-2834-57847D07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90543-C78E-E07B-FB35-2B61A6E07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B25AC-20D6-2CE9-8D28-66E30E24D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52B6E-A6BE-9AAD-7728-D2F151BDB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9896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7DED-9939-F280-9BE7-DC7704A3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59B91-2EA3-4655-D87D-77BFE7B7B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8F270-EB8D-B903-BB75-5F97692F6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5EA8A-01AD-5BAD-4EBD-43E75B19A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0135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014C3-3037-F877-89B3-E7866D5E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783DE-E925-4CC0-1689-69DED3EA0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7B308-B534-04D5-62BB-1B3D73397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the true selection with all 3 cuts applied as cuts and placed as variables as well. Therefore, only particles that pass all 3 of the cuts together will be plotted. </a:t>
            </a:r>
          </a:p>
          <a:p>
            <a:endParaRPr lang="en-US" dirty="0"/>
          </a:p>
          <a:p>
            <a:r>
              <a:rPr lang="en-US" dirty="0"/>
              <a:t>When the cuts are plotted as variables in </a:t>
            </a:r>
            <a:r>
              <a:rPr lang="en-US" dirty="0" err="1"/>
              <a:t>reco</a:t>
            </a:r>
            <a:r>
              <a:rPr lang="en-US" dirty="0"/>
              <a:t> mode. This allows us to see the false positives of each cut, meaning we can see the number of true particles that passed the cut, but </a:t>
            </a:r>
            <a:r>
              <a:rPr lang="en-US" dirty="0" err="1"/>
              <a:t>should’nt</a:t>
            </a:r>
            <a:r>
              <a:rPr lang="en-US" dirty="0"/>
              <a:t> have when considering their </a:t>
            </a:r>
            <a:r>
              <a:rPr lang="en-US" dirty="0" err="1"/>
              <a:t>reco</a:t>
            </a:r>
            <a:r>
              <a:rPr lang="en-US" dirty="0"/>
              <a:t> particle information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E862-C768-F21F-CC76-EEF34D0A0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546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21/2/2026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00AE-FE17-9842-E38C-E8B09512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of Confusion matrix creation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6030E-BD88-F670-7663-6845BFC2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0741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diagonal elements represent the percentage of particles classified correctly, while the off-diagonal elements represent the percentage of particles misclassified as another species.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Reco to Truth tables, they are based on selection in reconstructed mode, with percentages defined as the fraction of a reconstructed particle type matched to the corresponding true PID counterpart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Truth to Reco tables, they are based on selection in true mode, with percentages defined as the fraction of a true particle type matched to the corresponding reconstructed PID counterpart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are two types </a:t>
            </a:r>
            <a:r>
              <a:rPr lang="en-US" dirty="0" err="1"/>
              <a:t>preselections</a:t>
            </a:r>
            <a:r>
              <a:rPr lang="en-US" dirty="0"/>
              <a:t>, ones using a </a:t>
            </a:r>
            <a:r>
              <a:rPr lang="en-US" dirty="0" err="1"/>
              <a:t>reco</a:t>
            </a:r>
            <a:r>
              <a:rPr lang="en-US" dirty="0"/>
              <a:t> </a:t>
            </a:r>
            <a:r>
              <a:rPr lang="en-US" dirty="0" err="1"/>
              <a:t>flashmatch</a:t>
            </a:r>
            <a:r>
              <a:rPr lang="en-US" dirty="0"/>
              <a:t> cut, and one using a true neutrino cut. Confusion matrices for both types of selections have been plotted and labelled with the corresponding cut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snapshot on the left of the confusion matrix shows the written selection tree used to create the corresponding matrix, with the corresponding cuts shown. Only the ‘</a:t>
            </a:r>
            <a:r>
              <a:rPr lang="en-US" dirty="0" err="1"/>
              <a:t>pid</a:t>
            </a:r>
            <a:r>
              <a:rPr lang="en-US" dirty="0"/>
              <a:t>’ variable from the </a:t>
            </a:r>
            <a:r>
              <a:rPr lang="en-US" dirty="0" err="1"/>
              <a:t>Tbranch</a:t>
            </a:r>
            <a:r>
              <a:rPr lang="en-US" dirty="0"/>
              <a:t> was used for the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42138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291B-BF1F-7EDD-4374-EBE7A6EC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9621-9ACD-03B8-D0FF-737B1046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286603"/>
            <a:ext cx="10407535" cy="1450757"/>
          </a:xfrm>
        </p:spPr>
        <p:txBody>
          <a:bodyPr/>
          <a:lstStyle/>
          <a:p>
            <a:r>
              <a:rPr lang="en-US" b="1" dirty="0" err="1"/>
              <a:t>NuMI</a:t>
            </a:r>
            <a:r>
              <a:rPr lang="en-US" dirty="0"/>
              <a:t> Reco to truth matching </a:t>
            </a:r>
            <a:r>
              <a:rPr lang="en-US" b="1" dirty="0"/>
              <a:t>(Reco mode)</a:t>
            </a:r>
            <a:br>
              <a:rPr lang="en-US" b="1" dirty="0"/>
            </a:br>
            <a:r>
              <a:rPr lang="en-US" sz="3200" b="1" dirty="0"/>
              <a:t>- </a:t>
            </a:r>
            <a:r>
              <a:rPr lang="en-US" sz="3200" dirty="0"/>
              <a:t>using </a:t>
            </a:r>
            <a:r>
              <a:rPr lang="en-US" sz="3200" dirty="0" err="1"/>
              <a:t>reco</a:t>
            </a:r>
            <a:r>
              <a:rPr lang="en-US" sz="3200" dirty="0"/>
              <a:t> </a:t>
            </a:r>
            <a:r>
              <a:rPr lang="en-US" sz="3200" dirty="0" err="1"/>
              <a:t>valid_flashmatch</a:t>
            </a:r>
            <a:r>
              <a:rPr lang="en-US" sz="3200" dirty="0"/>
              <a:t> cut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9A426-B3B7-FD4D-8E42-6BF3F2799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2270933"/>
            <a:ext cx="4014135" cy="3495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E35527-3CC2-563A-3357-360982E609BD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5CC4A1-93EE-2A36-9758-6655910B2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175" y="1846654"/>
            <a:ext cx="5915026" cy="423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3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42AD-EEF3-E54E-E4FD-B63EAFC0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64082-3C1F-8BE0-50C4-37EA6857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286603"/>
            <a:ext cx="10407535" cy="1450757"/>
          </a:xfrm>
        </p:spPr>
        <p:txBody>
          <a:bodyPr/>
          <a:lstStyle/>
          <a:p>
            <a:r>
              <a:rPr lang="en-US" b="1" dirty="0" err="1"/>
              <a:t>NuMI</a:t>
            </a:r>
            <a:r>
              <a:rPr lang="en-US" dirty="0"/>
              <a:t> Reco to truth matching </a:t>
            </a:r>
            <a:r>
              <a:rPr lang="en-US" b="1" dirty="0"/>
              <a:t>(Reco mode)</a:t>
            </a:r>
            <a:br>
              <a:rPr lang="en-US" b="1" dirty="0"/>
            </a:br>
            <a:r>
              <a:rPr lang="en-US" sz="3200" b="1" dirty="0"/>
              <a:t>- </a:t>
            </a:r>
            <a:r>
              <a:rPr lang="en-US" sz="3200" dirty="0"/>
              <a:t>using true neutrino cut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94C10-BA05-08AE-3A69-EE0700C38BEC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BB395-984A-62D2-C4E1-6DEFCF15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29" y="2270933"/>
            <a:ext cx="4130500" cy="36059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674702-F87F-813D-5E57-80CD08924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1827604"/>
            <a:ext cx="6070252" cy="434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34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9FBB-15CE-435E-E0E7-4C8CA9A5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2D8D-0F5D-A7F5-C534-FC3E7EC5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86603"/>
            <a:ext cx="10241280" cy="1450757"/>
          </a:xfrm>
        </p:spPr>
        <p:txBody>
          <a:bodyPr/>
          <a:lstStyle/>
          <a:p>
            <a:r>
              <a:rPr lang="en-US" b="1" dirty="0" err="1"/>
              <a:t>NuMI</a:t>
            </a:r>
            <a:r>
              <a:rPr lang="en-US" dirty="0"/>
              <a:t> Truth to </a:t>
            </a:r>
            <a:r>
              <a:rPr lang="en-US" dirty="0" err="1"/>
              <a:t>reco</a:t>
            </a:r>
            <a:r>
              <a:rPr lang="en-US" dirty="0"/>
              <a:t> matching </a:t>
            </a:r>
            <a:r>
              <a:rPr lang="en-US" b="1" dirty="0"/>
              <a:t>(True mode)</a:t>
            </a:r>
            <a:br>
              <a:rPr lang="en-US" b="1" dirty="0"/>
            </a:br>
            <a:r>
              <a:rPr kumimoji="0" lang="en-US" sz="3200" b="1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 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using </a:t>
            </a:r>
            <a:r>
              <a:rPr kumimoji="0" lang="en-US" sz="3200" b="0" i="0" u="none" strike="noStrike" kern="1200" cap="none" spc="-5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reco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3200" b="0" i="0" u="none" strike="noStrike" kern="1200" cap="none" spc="-5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valid_flashmatch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cut</a:t>
            </a:r>
            <a:endParaRPr lang="en-SG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5DE698-2B84-371F-5668-16F1181D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06" y="2270933"/>
            <a:ext cx="4064745" cy="3561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B5B32E-6273-AFA5-07AD-0266DA7E5737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9FF1F48-3DD1-9BE8-8BF6-324BB9961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608" y="1827777"/>
            <a:ext cx="6105590" cy="437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7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4ED1-98CF-4151-ED95-4848B7D8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3F4A-999C-7C5A-9E7B-35067160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86603"/>
            <a:ext cx="10241280" cy="1450757"/>
          </a:xfrm>
        </p:spPr>
        <p:txBody>
          <a:bodyPr/>
          <a:lstStyle/>
          <a:p>
            <a:r>
              <a:rPr lang="en-US" b="1" dirty="0" err="1"/>
              <a:t>NuMI</a:t>
            </a:r>
            <a:r>
              <a:rPr lang="en-US" dirty="0"/>
              <a:t> Truth to </a:t>
            </a:r>
            <a:r>
              <a:rPr lang="en-US" dirty="0" err="1"/>
              <a:t>reco</a:t>
            </a:r>
            <a:r>
              <a:rPr lang="en-US" dirty="0"/>
              <a:t> matching </a:t>
            </a:r>
            <a:r>
              <a:rPr lang="en-US" b="1" dirty="0"/>
              <a:t>(True mode)</a:t>
            </a:r>
            <a:br>
              <a:rPr lang="en-US" b="1" dirty="0"/>
            </a:br>
            <a:r>
              <a:rPr kumimoji="0" lang="en-US" sz="3200" b="1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 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using true neutrino cut</a:t>
            </a:r>
            <a:endParaRPr lang="en-SG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7DAF1-A06B-BC8D-9BFC-8CDBDECBA439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1CF10-3184-6CC9-C667-8224439FF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35" y="2270933"/>
            <a:ext cx="4088888" cy="36345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B352DF-CB3D-EEB6-60E9-FBC46DC2E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301" y="1809749"/>
            <a:ext cx="6197256" cy="443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4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BE8EB-996A-3DCC-D3C7-EA84F158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4A18-0A45-262B-ECEC-0A3E1AE7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286603"/>
            <a:ext cx="10407535" cy="1450757"/>
          </a:xfrm>
        </p:spPr>
        <p:txBody>
          <a:bodyPr/>
          <a:lstStyle/>
          <a:p>
            <a:r>
              <a:rPr lang="en-US" b="1" dirty="0"/>
              <a:t>BNB</a:t>
            </a:r>
            <a:r>
              <a:rPr lang="en-US" dirty="0"/>
              <a:t> Reco to truth matching </a:t>
            </a:r>
            <a:r>
              <a:rPr lang="en-US" b="1" dirty="0"/>
              <a:t>(Reco mode)</a:t>
            </a:r>
            <a:br>
              <a:rPr lang="en-US" b="1" dirty="0"/>
            </a:br>
            <a:r>
              <a:rPr lang="en-US" sz="3200" b="1" dirty="0"/>
              <a:t>- </a:t>
            </a:r>
            <a:r>
              <a:rPr lang="en-US" sz="3200" dirty="0"/>
              <a:t>using </a:t>
            </a:r>
            <a:r>
              <a:rPr lang="en-US" sz="3200" dirty="0" err="1"/>
              <a:t>reco</a:t>
            </a:r>
            <a:r>
              <a:rPr lang="en-US" sz="3200" dirty="0"/>
              <a:t> </a:t>
            </a:r>
            <a:r>
              <a:rPr lang="en-US" sz="3200" dirty="0" err="1"/>
              <a:t>valid_flashmatch</a:t>
            </a:r>
            <a:r>
              <a:rPr lang="en-US" sz="3200" dirty="0"/>
              <a:t> cut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4E9EE-8BDE-CAB5-8DF3-2CF376CB9AE8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0868A-298A-8020-9CFB-915962D29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449" y="1816404"/>
            <a:ext cx="6167676" cy="4417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FA7838-CDE1-B209-9B21-3BC9818F3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12" y="2270933"/>
            <a:ext cx="401413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37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D1072-ECC1-C543-DF96-6489531D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4B88-33D0-B05A-1439-01CF32B2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286603"/>
            <a:ext cx="10407535" cy="1450757"/>
          </a:xfrm>
        </p:spPr>
        <p:txBody>
          <a:bodyPr/>
          <a:lstStyle/>
          <a:p>
            <a:r>
              <a:rPr lang="en-US" b="1" dirty="0"/>
              <a:t>BNB</a:t>
            </a:r>
            <a:r>
              <a:rPr lang="en-US" dirty="0"/>
              <a:t> Reco to truth matching </a:t>
            </a:r>
            <a:r>
              <a:rPr lang="en-US" b="1" dirty="0"/>
              <a:t>(Reco mode)</a:t>
            </a:r>
            <a:br>
              <a:rPr lang="en-US" b="1" dirty="0"/>
            </a:br>
            <a:r>
              <a:rPr lang="en-US" sz="3200" b="1" dirty="0"/>
              <a:t>- </a:t>
            </a:r>
            <a:r>
              <a:rPr lang="en-US" sz="3200" dirty="0"/>
              <a:t>using true neutrino cut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E047A-C6F9-E080-6D15-54B9EC4AA69B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3D21B-7A51-AECE-F5ED-52BCCCB3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29" y="2270933"/>
            <a:ext cx="4130500" cy="36059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9BB2A7-0A22-1166-0D1A-FD88B1285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534" y="1808554"/>
            <a:ext cx="6145728" cy="440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7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1BF6D-165A-C323-80B0-D73D4A6C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2AEA-A12C-5673-3181-B6FF205D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86603"/>
            <a:ext cx="10241280" cy="1450757"/>
          </a:xfrm>
        </p:spPr>
        <p:txBody>
          <a:bodyPr/>
          <a:lstStyle/>
          <a:p>
            <a:r>
              <a:rPr lang="en-US" b="1" dirty="0"/>
              <a:t>BNB</a:t>
            </a:r>
            <a:r>
              <a:rPr lang="en-US" dirty="0"/>
              <a:t> Truth to </a:t>
            </a:r>
            <a:r>
              <a:rPr lang="en-US" dirty="0" err="1"/>
              <a:t>reco</a:t>
            </a:r>
            <a:r>
              <a:rPr lang="en-US" dirty="0"/>
              <a:t> matching </a:t>
            </a:r>
            <a:r>
              <a:rPr lang="en-US" b="1" dirty="0"/>
              <a:t>(True mode)</a:t>
            </a:r>
            <a:br>
              <a:rPr lang="en-US" b="1" dirty="0"/>
            </a:br>
            <a:r>
              <a:rPr kumimoji="0" lang="en-US" sz="3200" b="1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 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using </a:t>
            </a:r>
            <a:r>
              <a:rPr kumimoji="0" lang="en-US" sz="3200" b="0" i="0" u="none" strike="noStrike" kern="1200" cap="none" spc="-5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reco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3200" b="0" i="0" u="none" strike="noStrike" kern="1200" cap="none" spc="-5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valid_flashmatch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cut</a:t>
            </a:r>
            <a:endParaRPr lang="en-SG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1095F2-6CF3-D41D-95F4-A6A310C1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06" y="2270933"/>
            <a:ext cx="4064745" cy="3561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7851E1-94D7-BE10-A94B-6046F0411A6E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D1D48C-2E3D-B426-5444-E09E162DB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025" y="1788261"/>
            <a:ext cx="6211794" cy="444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5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66E3-92B1-24BC-F0A0-5548D4EC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0085-F0F2-A4B0-815B-3F826CC4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86603"/>
            <a:ext cx="10241280" cy="1450757"/>
          </a:xfrm>
        </p:spPr>
        <p:txBody>
          <a:bodyPr/>
          <a:lstStyle/>
          <a:p>
            <a:r>
              <a:rPr lang="en-US" b="1" dirty="0"/>
              <a:t>BNB</a:t>
            </a:r>
            <a:r>
              <a:rPr lang="en-US" dirty="0"/>
              <a:t> Truth to </a:t>
            </a:r>
            <a:r>
              <a:rPr lang="en-US" dirty="0" err="1"/>
              <a:t>reco</a:t>
            </a:r>
            <a:r>
              <a:rPr lang="en-US" dirty="0"/>
              <a:t> matching </a:t>
            </a:r>
            <a:r>
              <a:rPr lang="en-US" b="1" dirty="0"/>
              <a:t>(True mode)</a:t>
            </a:r>
            <a:br>
              <a:rPr lang="en-US" b="1" dirty="0"/>
            </a:br>
            <a:r>
              <a:rPr kumimoji="0" lang="en-US" sz="3200" b="1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 </a:t>
            </a:r>
            <a:r>
              <a:rPr kumimoji="0" lang="en-US" sz="32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using true neutrino cut</a:t>
            </a:r>
            <a:endParaRPr lang="en-SG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0F9B8F-E6B3-8530-799C-80266CE316AC}"/>
              </a:ext>
            </a:extLst>
          </p:cNvPr>
          <p:cNvSpPr txBox="1"/>
          <p:nvPr/>
        </p:nvSpPr>
        <p:spPr>
          <a:xfrm>
            <a:off x="1090612" y="1932379"/>
            <a:ext cx="4014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Corresponding selection tree in TOML file</a:t>
            </a:r>
            <a:endParaRPr lang="en-SG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F545A-7A2C-18EB-A060-A7BDF821F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35" y="2270933"/>
            <a:ext cx="4088888" cy="36345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60EA0E-C6E5-3341-4E80-4BB8DA3E6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607" y="1816562"/>
            <a:ext cx="6161144" cy="44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10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3912</TotalTime>
  <Words>1016</Words>
  <Application>Microsoft Office PowerPoint</Application>
  <PresentationFormat>Widescreen</PresentationFormat>
  <Paragraphs>54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Retrospect</vt:lpstr>
      <vt:lpstr>Details of Confusion matrix creation</vt:lpstr>
      <vt:lpstr>NuMI Reco to truth matching (Reco mode) - using reco valid_flashmatch cut</vt:lpstr>
      <vt:lpstr>NuMI Reco to truth matching (Reco mode) - using true neutrino cut</vt:lpstr>
      <vt:lpstr>NuMI Truth to reco matching (True mode) - using reco valid_flashmatch cut</vt:lpstr>
      <vt:lpstr>NuMI Truth to reco matching (True mode) - using true neutrino cut</vt:lpstr>
      <vt:lpstr>BNB Reco to truth matching (Reco mode) - using reco valid_flashmatch cut</vt:lpstr>
      <vt:lpstr>BNB Reco to truth matching (Reco mode) - using true neutrino cut</vt:lpstr>
      <vt:lpstr>BNB Truth to reco matching (True mode) - using reco valid_flashmatch cut</vt:lpstr>
      <vt:lpstr>BNB Truth to reco matching (True mode) - using true neutrino cut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22</cp:revision>
  <dcterms:created xsi:type="dcterms:W3CDTF">2025-11-12T13:24:12Z</dcterms:created>
  <dcterms:modified xsi:type="dcterms:W3CDTF">2026-02-20T18:09:50Z</dcterms:modified>
</cp:coreProperties>
</file>