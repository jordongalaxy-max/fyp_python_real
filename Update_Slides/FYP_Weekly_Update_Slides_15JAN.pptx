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79" r:id="rId3"/>
    <p:sldId id="280" r:id="rId4"/>
    <p:sldId id="281" r:id="rId5"/>
    <p:sldId id="282" r:id="rId6"/>
    <p:sldId id="284" r:id="rId7"/>
    <p:sldId id="283" r:id="rId8"/>
    <p:sldId id="285" r:id="rId9"/>
    <p:sldId id="286" r:id="rId10"/>
    <p:sldId id="288" r:id="rId11"/>
    <p:sldId id="289" r:id="rId12"/>
    <p:sldId id="287" r:id="rId13"/>
    <p:sldId id="290" r:id="rId14"/>
    <p:sldId id="293" r:id="rId15"/>
    <p:sldId id="295" r:id="rId16"/>
    <p:sldId id="296" r:id="rId17"/>
    <p:sldId id="29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3630" autoAdjust="0"/>
  </p:normalViewPr>
  <p:slideViewPr>
    <p:cSldViewPr snapToGrid="0">
      <p:cViewPr varScale="1">
        <p:scale>
          <a:sx n="104" d="100"/>
          <a:sy n="104" d="100"/>
        </p:scale>
        <p:origin x="11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9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780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0304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259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201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8138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5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3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1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6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AFE32E-95B7-4367-9495-9CBC389572F3}" type="datetimeFigureOut">
              <a:rPr lang="en-SG" smtClean="0"/>
              <a:t>15/1/2026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BCD8743-5A53-4A98-BC6F-5DFD6CC2F469}" type="slidenum">
              <a:rPr lang="en-SG" smtClean="0"/>
              <a:t>‹#›</a:t>
            </a:fld>
            <a:endParaRPr lang="en-SG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7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54AD-F993-DA76-EA2F-21A289A29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1272" y="758952"/>
            <a:ext cx="5244407" cy="3566160"/>
          </a:xfrm>
        </p:spPr>
        <p:txBody>
          <a:bodyPr>
            <a:normAutofit fontScale="90000"/>
          </a:bodyPr>
          <a:lstStyle/>
          <a:p>
            <a:r>
              <a:rPr lang="en-US" dirty="0"/>
              <a:t>Weekly FYP update meeting slides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1538C-A342-2B85-0AF8-CC17751009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Jordon </a:t>
            </a:r>
            <a:r>
              <a:rPr lang="en-US" dirty="0" err="1"/>
              <a:t>koh</a:t>
            </a:r>
            <a:r>
              <a:rPr lang="en-US" dirty="0"/>
              <a:t> </a:t>
            </a:r>
            <a:r>
              <a:rPr lang="en-US" dirty="0" err="1"/>
              <a:t>ntu</a:t>
            </a:r>
            <a:r>
              <a:rPr lang="en-US" dirty="0"/>
              <a:t>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5388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87606-FF01-6963-C5B6-18435D3C3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9ED9-36C4-43B0-D426-43164595A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completed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5BC18-81C0-E1AD-4096-F203D29B5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Wrote/modified my own TOML file to select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1muon1proton interactions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Specific particles according to PID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Specific semantic types (</a:t>
            </a:r>
            <a:r>
              <a:rPr lang="en-SG" dirty="0" err="1"/>
              <a:t>michel</a:t>
            </a:r>
            <a:r>
              <a:rPr lang="en-SG" dirty="0"/>
              <a:t>, showers)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SG" dirty="0"/>
              <a:t>Ran it through BNB and </a:t>
            </a:r>
            <a:r>
              <a:rPr lang="en-SG" dirty="0" err="1"/>
              <a:t>NuMI</a:t>
            </a:r>
            <a:r>
              <a:rPr lang="en-SG" dirty="0"/>
              <a:t> simulation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Compared reconstructed and true efficiencies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Compared differences in particle variable distributions for each particle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dirty="0"/>
              <a:t>Writing Mid-Progress report for Final Year Project</a:t>
            </a:r>
          </a:p>
        </p:txBody>
      </p:sp>
    </p:spTree>
    <p:extLst>
      <p:ext uri="{BB962C8B-B14F-4D97-AF65-F5344CB8AC3E}">
        <p14:creationId xmlns:p14="http://schemas.microsoft.com/office/powerpoint/2010/main" val="68981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F773-4AA8-5C8E-8D57-4F4144E0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AA741-41BF-318D-63CE-FD76D1A1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reconstruction efficiency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ED18-1CB9-F234-4D83-B474A5A02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4538207" cy="444573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Pid variable for </a:t>
            </a:r>
            <a:r>
              <a:rPr lang="en-US" dirty="0" err="1"/>
              <a:t>NuMI</a:t>
            </a:r>
            <a:r>
              <a:rPr lang="en-US" dirty="0"/>
              <a:t> simulation particles, reconstructed and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 is set to true, runs the selection on true interactions within each event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Cuts applied on true interactions only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Neutrino interactions only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PID cut to select specific particle types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Containment cut on true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Fiducial cut on true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Branch variables are both true and reconstructed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Reconstructed branches show reconstructed interactions that are matched to a true interaction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634006-84EA-8C5B-6462-CBC4D0980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068174"/>
              </p:ext>
            </p:extLst>
          </p:nvPr>
        </p:nvGraphicFramePr>
        <p:xfrm>
          <a:off x="5792303" y="1974943"/>
          <a:ext cx="3659810" cy="229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905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829905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4667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X-axis number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Particle type 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Photon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Electron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246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204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4E3B-4AEC-2EBE-5CF4-B42BC3FE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59AD-99FC-FA60-737D-ED4F484D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electron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3057B4-47E8-0E6F-B39D-44AF35BE33E4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57C6BA-5F7F-69E7-94A4-5D817B50ACA9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D381201-9421-0939-5A6E-40221BEB9F30}"/>
              </a:ext>
            </a:extLst>
          </p:cNvPr>
          <p:cNvGraphicFramePr>
            <a:graphicFrameLocks noGrp="1"/>
          </p:cNvGraphicFramePr>
          <p:nvPr/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DD8BB33-7139-815E-EDA0-26DD9E7E38AE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41A661D9-DFC0-270C-37E4-8C8D9252A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67" y="2087835"/>
            <a:ext cx="6102624" cy="33588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873616-0B8F-04DF-5D6C-0C1BB4839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986" y="2689808"/>
            <a:ext cx="2550456" cy="3117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100E98-FDA5-9AA5-92C0-80FBCE909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685" y="2723555"/>
            <a:ext cx="2550456" cy="308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2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35ACF-725D-2A52-23B1-744342BE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EF17-1231-126E-88FB-BA789023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photon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EA38B2-EA63-81D4-742F-1BBB6F91868F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CB080F-EFAB-2C3B-D6F5-E8CD3488361B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2F53C15-7E3D-72B0-1977-835975A08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641170"/>
              </p:ext>
            </p:extLst>
          </p:nvPr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A9559AA-3EE3-B7F9-C3D9-4FFD2378F2AE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19A875-C29B-E76B-43E8-B0BD65136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234" y="2784474"/>
            <a:ext cx="2459960" cy="3022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82AC91-6121-9360-ABA9-6C5434F5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573" y="2750580"/>
            <a:ext cx="2523083" cy="30568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E88F63-B6CC-8826-A94B-16D03EF34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30" y="2238768"/>
            <a:ext cx="5433495" cy="320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8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DAE3-8E4A-C968-7D6B-236F76DB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69E9-932E-5279-A0EC-21A43BA7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muon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748744-2003-C640-626C-54E8ABB69DFB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64FB0C-86FB-EEF0-7DBE-2CBC9B6AD5D8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91430EF-E964-C63D-EBF5-452464629A1C}"/>
              </a:ext>
            </a:extLst>
          </p:cNvPr>
          <p:cNvGraphicFramePr>
            <a:graphicFrameLocks noGrp="1"/>
          </p:cNvGraphicFramePr>
          <p:nvPr/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D52823A-756E-B558-94B6-89DD045A03A6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5" name="Picture 4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E643A9E3-1A34-B6AA-ECFD-03191E054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9" y="2389758"/>
            <a:ext cx="6330713" cy="30568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D93D9A-9BBB-1F03-DB42-2A2BEFCBD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866" y="2712563"/>
            <a:ext cx="2520418" cy="3103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D3E1AE-24A6-6D2D-DB45-16968D56B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622" y="2712563"/>
            <a:ext cx="2612579" cy="320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BAD4-117C-11A1-5163-52AA0A4DB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5A6E-C145-47FB-6D9F-77AFCFAD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pion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679CB0-98D8-E1BB-5818-6D39194A3A37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2AD9C-0E44-1034-0FD8-5E7E9112CECF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33E9FF6-B8F1-5F7E-B225-6262F2026567}"/>
              </a:ext>
            </a:extLst>
          </p:cNvPr>
          <p:cNvGraphicFramePr>
            <a:graphicFrameLocks noGrp="1"/>
          </p:cNvGraphicFramePr>
          <p:nvPr/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EED46F5-4759-0FFD-B4C7-507618635369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4C6716E9-044C-ED35-6384-9F5FE5151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81" y="2484783"/>
            <a:ext cx="6064130" cy="2969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17E104-0C10-DD39-5DCF-B61397080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950" y="2697535"/>
            <a:ext cx="2516527" cy="30568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8E0976-9DC9-A625-049B-3D1078764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928" y="2712563"/>
            <a:ext cx="2516527" cy="310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04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396B-81F4-6629-4580-58CC3F97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55E00-FD96-9E21-AD20-59D25A8CF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proton only selection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0B79E-1F11-62BB-B9DE-366A08A134E5}"/>
              </a:ext>
            </a:extLst>
          </p:cNvPr>
          <p:cNvSpPr txBox="1"/>
          <p:nvPr/>
        </p:nvSpPr>
        <p:spPr>
          <a:xfrm>
            <a:off x="2209585" y="5446644"/>
            <a:ext cx="375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Reconstruction efficiency, red is true, blue is </a:t>
            </a:r>
            <a:r>
              <a:rPr lang="en-US" sz="1400" dirty="0" err="1"/>
              <a:t>reco</a:t>
            </a:r>
            <a:endParaRPr lang="en-SG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287112-1150-FBD6-22E3-13EFF344E6E0}"/>
              </a:ext>
            </a:extLst>
          </p:cNvPr>
          <p:cNvSpPr txBox="1"/>
          <p:nvPr/>
        </p:nvSpPr>
        <p:spPr>
          <a:xfrm>
            <a:off x="10153818" y="5807466"/>
            <a:ext cx="1390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True particle PID</a:t>
            </a:r>
            <a:endParaRPr lang="en-SG" sz="14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85483B-B5CB-A860-7D82-EB997E1E9FD4}"/>
              </a:ext>
            </a:extLst>
          </p:cNvPr>
          <p:cNvGraphicFramePr>
            <a:graphicFrameLocks noGrp="1"/>
          </p:cNvGraphicFramePr>
          <p:nvPr/>
        </p:nvGraphicFramePr>
        <p:xfrm>
          <a:off x="9573685" y="99285"/>
          <a:ext cx="2434860" cy="153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430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217430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27277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Particle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Photon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Electron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Muon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160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050" dirty="0"/>
                        <a:t>Proton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83A2403-B6CF-B203-C3BF-CAFFAA378A38}"/>
              </a:ext>
            </a:extLst>
          </p:cNvPr>
          <p:cNvSpPr txBox="1"/>
          <p:nvPr/>
        </p:nvSpPr>
        <p:spPr>
          <a:xfrm>
            <a:off x="7113725" y="5816410"/>
            <a:ext cx="21189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Reconstructed particle PID</a:t>
            </a:r>
            <a:endParaRPr lang="en-SG" sz="1400" dirty="0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B52BD2A0-D388-0AC8-4E04-EE4EB4252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85" y="2214397"/>
            <a:ext cx="5475586" cy="3271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C02C72-2935-B984-5B11-16F1E600B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186" y="2712563"/>
            <a:ext cx="2407144" cy="3103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6E592-487A-9BEF-A33D-3477BF7AF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869" y="2734410"/>
            <a:ext cx="2529636" cy="310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76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E248-2583-00EB-D7C9-ABDAFAFE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8A882-992D-773C-2B36-DFF7EE6C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particle type reconstruction efficiency 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35FA765-3427-C067-C69C-5BFCD5954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037050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From the reconstruction efficiency graphs. the order of best reconstruction efficiency to worst are as follows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1. electron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2. muon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3. proton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4. pion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5. photon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Photon was noticeably shown to be worse compared to other particle types, with a significant possibility of misidentification of the photon into an electron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particle shown to have the second worse reconstruction efficiency was the pion. This is to be expected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029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3B05-9050-A802-8306-8E260D7D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6E82-3990-3844-05F0-8FAC40EF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Type reconstruction efficiency</a:t>
            </a:r>
            <a:endParaRPr lang="en-S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4FBD62-484A-0665-ECB1-125640D6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5" y="1923472"/>
            <a:ext cx="3890600" cy="21341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DB966F-04BE-6421-8E1A-338859F29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940" y="1969377"/>
            <a:ext cx="3730119" cy="20423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6C09A0-4B77-F09E-89BB-A472C32D5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394" y="1893128"/>
            <a:ext cx="3890600" cy="21186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E274D1-71C7-DDFD-DE53-43EECC4DA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05" y="4167561"/>
            <a:ext cx="3810000" cy="20687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1B99EB-A9C6-2597-3D50-782DA9AF3E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940" y="4073899"/>
            <a:ext cx="3717784" cy="2093483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77B58F8-D28A-833D-B4FF-C2DEF3C51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264271"/>
              </p:ext>
            </p:extLst>
          </p:nvPr>
        </p:nvGraphicFramePr>
        <p:xfrm>
          <a:off x="8591550" y="4333875"/>
          <a:ext cx="2962276" cy="189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138">
                  <a:extLst>
                    <a:ext uri="{9D8B030D-6E8A-4147-A177-3AD203B41FA5}">
                      <a16:colId xmlns:a16="http://schemas.microsoft.com/office/drawing/2014/main" val="3189684218"/>
                    </a:ext>
                  </a:extLst>
                </a:gridCol>
                <a:gridCol w="1481138">
                  <a:extLst>
                    <a:ext uri="{9D8B030D-6E8A-4147-A177-3AD203B41FA5}">
                      <a16:colId xmlns:a16="http://schemas.microsoft.com/office/drawing/2014/main" val="3069506815"/>
                    </a:ext>
                  </a:extLst>
                </a:gridCol>
              </a:tblGrid>
              <a:tr h="19016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X-axis number</a:t>
                      </a:r>
                      <a:endParaRPr lang="en-SG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Semantic type 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099918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 Shower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41563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Track</a:t>
                      </a:r>
                      <a:endParaRPr lang="en-SG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966752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</a:t>
                      </a:r>
                      <a:r>
                        <a:rPr lang="en-SG" sz="1050" dirty="0" err="1"/>
                        <a:t>ichel</a:t>
                      </a:r>
                      <a:r>
                        <a:rPr lang="en-SG" sz="1050" dirty="0"/>
                        <a:t> electron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84187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D</a:t>
                      </a:r>
                      <a:r>
                        <a:rPr lang="en-SG" sz="1050" dirty="0" err="1"/>
                        <a:t>elta</a:t>
                      </a:r>
                      <a:r>
                        <a:rPr lang="en-SG" sz="1050" dirty="0"/>
                        <a:t> electron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17004"/>
                  </a:ext>
                </a:extLst>
              </a:tr>
              <a:tr h="3286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05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L</a:t>
                      </a:r>
                      <a:r>
                        <a:rPr lang="en-SG" sz="1050" dirty="0"/>
                        <a:t>ow-energy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76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21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BD22C-860D-04B6-C4A7-D46251DD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C3396-CC3D-31FF-88ED-15A950D2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semantic type reconstruction efficiency 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2970719-F53E-6DC9-04C0-127F4A6D6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037050" cy="402336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From the reconstruction efficiency graphs. the order of best reconstruction efficiency to worst are as follows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1. muon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2. proton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3. pion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4. electron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5. photon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Photon was noticeably shown to be worse compared to other particle types, with most low-energy semantic types identified to be showers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particle shown to have the second worse reconstruction efficiency was the electron, with some being classified as tracks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612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00858-A24C-E021-AFCD-6FE35273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distributions for each particle type – Kinetic Energy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C3269-CA3C-E94B-EA3A-8DA62814F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70" y="2162175"/>
            <a:ext cx="3213070" cy="1857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30672F-5642-EB59-2E48-D73D80333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834" y="2059021"/>
            <a:ext cx="3455292" cy="20636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E13A47-52EF-8042-3695-5C7E395F9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819" y="2062279"/>
            <a:ext cx="3455291" cy="2060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CEDFF9-CA58-4889-0840-3985ABAA09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7753" y="4239100"/>
            <a:ext cx="3346773" cy="19516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316B85-39D2-E280-9918-988D70814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510" y="4183096"/>
            <a:ext cx="3529231" cy="20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38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7671-10C1-3C43-6023-50846751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F46B-09A4-F85A-AD45-FE034F9A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KE distributions for each particle</a:t>
            </a:r>
            <a:endParaRPr lang="en-SG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CBF1BCB-59A7-824D-07FD-21B963300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603705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For electrons and photons, their kinetic energy distributions is very </a:t>
            </a:r>
            <a:r>
              <a:rPr lang="en-US" dirty="0" err="1">
                <a:solidFill>
                  <a:schemeClr val="tx1"/>
                </a:solidFill>
              </a:rPr>
              <a:t>centralised</a:t>
            </a:r>
            <a:r>
              <a:rPr lang="en-US" dirty="0">
                <a:solidFill>
                  <a:schemeClr val="tx1"/>
                </a:solidFill>
              </a:rPr>
              <a:t> into a specific range. With a large majority of electrons and photons with kinetic energies between 0.55 to 117 and 1 to 79 MeV respectively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Muons have a wide kinetic energy spread, with majority within 4 to 279 MeV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Pions</a:t>
            </a:r>
            <a:r>
              <a:rPr lang="en-US" dirty="0">
                <a:solidFill>
                  <a:schemeClr val="tx1"/>
                </a:solidFill>
              </a:rPr>
              <a:t> and protons are similar to muons but with a narrower energy spread, and kinetic energies within 0.27 to 198 and 0.72 to 111 MeV respectively. </a:t>
            </a:r>
            <a:r>
              <a:rPr lang="en-US" dirty="0" err="1">
                <a:solidFill>
                  <a:schemeClr val="tx1"/>
                </a:solidFill>
              </a:rPr>
              <a:t>Pions</a:t>
            </a:r>
            <a:r>
              <a:rPr lang="en-US" dirty="0">
                <a:solidFill>
                  <a:schemeClr val="tx1"/>
                </a:solidFill>
              </a:rPr>
              <a:t> thus have a wider energy spread compared to protons, which is one way to tell them apart.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408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453B-9476-DB9C-8EB9-749FDF6C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EC0FA-4B8A-25ED-606E-3FB5904C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level – 1u1p signal graphs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973B1-3207-57EF-516B-C47536609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36" y="2104932"/>
            <a:ext cx="2916246" cy="20467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19F8E8-2F56-1574-29A7-C097E1712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488" y="2006063"/>
            <a:ext cx="2788084" cy="19378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D8615F-3FAF-F054-0A6E-4F295880B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926" y="2104932"/>
            <a:ext cx="2939571" cy="2046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AADD3D-6038-5452-E54B-88B04E439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803" y="4239799"/>
            <a:ext cx="2916246" cy="20182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3FC20F-5F98-AD1C-BC23-9D3230234E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0488" y="4151709"/>
            <a:ext cx="2835571" cy="193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31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715A6-E6C3-B03E-E57C-BAE157DB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2B547-1F9A-6DEF-B7F3-8A571D2D0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level – 1u1p signal graphs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3C0A3-3B44-08BD-4DF0-EAD1AAE6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613" y="1922934"/>
            <a:ext cx="4381079" cy="3096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27979F-3C4F-8F23-D824-29BCA309B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26" y="1922934"/>
            <a:ext cx="4549163" cy="31977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745A08-4AA1-2251-1159-7EE6815699C6}"/>
              </a:ext>
            </a:extLst>
          </p:cNvPr>
          <p:cNvSpPr txBox="1"/>
          <p:nvPr/>
        </p:nvSpPr>
        <p:spPr>
          <a:xfrm>
            <a:off x="3048000" y="522678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total visible energy of the interaction by summing the energy of all particles that are identified as counting towards the final state of the interaction.</a:t>
            </a:r>
          </a:p>
        </p:txBody>
      </p:sp>
    </p:spTree>
    <p:extLst>
      <p:ext uri="{BB962C8B-B14F-4D97-AF65-F5344CB8AC3E}">
        <p14:creationId xmlns:p14="http://schemas.microsoft.com/office/powerpoint/2010/main" val="2253902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77FD-7E7D-0BC8-8B27-7473364A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A5C6-0622-3218-48C7-B84C1AB5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Shower selection </a:t>
            </a:r>
            <a:endParaRPr lang="en-SG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DEBFD6-6EBD-EDBB-F5D6-3B9BA4C0E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684684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Attempted to create a Ttree containing only reconstructed particles with shower semantic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Flashmatch</a:t>
            </a:r>
            <a:r>
              <a:rPr lang="en-US" dirty="0">
                <a:solidFill>
                  <a:schemeClr val="tx1"/>
                </a:solidFill>
              </a:rPr>
              <a:t> cut to reduce </a:t>
            </a:r>
            <a:r>
              <a:rPr lang="en-US" dirty="0" err="1">
                <a:solidFill>
                  <a:schemeClr val="tx1"/>
                </a:solidFill>
              </a:rPr>
              <a:t>cosmics</a:t>
            </a:r>
            <a:r>
              <a:rPr lang="en-US" dirty="0">
                <a:solidFill>
                  <a:schemeClr val="tx1"/>
                </a:solidFill>
              </a:rPr>
              <a:t>, testing size cut meant to reduce noise or reconstruction artefacts</a:t>
            </a: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554E42-0FF5-3CB6-3630-72C0F2ADA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098" y="2096221"/>
            <a:ext cx="55530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03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C3178-B07C-5C6E-0DBF-F8465CC7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2889-47BB-45BD-09EE-E668BBAF5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Shower selection 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91912A-757D-BF87-CD40-8B928ED2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33" y="2107474"/>
            <a:ext cx="4636013" cy="31526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3F0527-7B81-31AC-435B-7649C53F4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567" y="2107181"/>
            <a:ext cx="4636013" cy="315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349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1095</TotalTime>
  <Words>704</Words>
  <Application>Microsoft Office PowerPoint</Application>
  <PresentationFormat>Widescreen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Retrospect</vt:lpstr>
      <vt:lpstr>Weekly FYP update meeting slides</vt:lpstr>
      <vt:lpstr>Tasks completed </vt:lpstr>
      <vt:lpstr>PID reconstruction efficiency</vt:lpstr>
      <vt:lpstr>Results of electron only selection </vt:lpstr>
      <vt:lpstr>Results of photon only selection </vt:lpstr>
      <vt:lpstr>Results of muon only selection </vt:lpstr>
      <vt:lpstr>Results of pion only selection </vt:lpstr>
      <vt:lpstr>Results of proton only selection </vt:lpstr>
      <vt:lpstr>Discussion of particle type reconstruction efficiency </vt:lpstr>
      <vt:lpstr>Semantic Type reconstruction efficiency</vt:lpstr>
      <vt:lpstr>Discussion of semantic type reconstruction efficiency </vt:lpstr>
      <vt:lpstr>Comparing distributions for each particle type – Kinetic Energy</vt:lpstr>
      <vt:lpstr>Discussion of KE distributions for each particle</vt:lpstr>
      <vt:lpstr>Interaction level – 1u1p signal graphs</vt:lpstr>
      <vt:lpstr>Interaction level – 1u1p signal graphs</vt:lpstr>
      <vt:lpstr>Shower selection </vt:lpstr>
      <vt:lpstr>Shower selection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#JORDON KOH JIN CHEN#</dc:creator>
  <cp:lastModifiedBy>#JORDON KOH JIN CHEN#</cp:lastModifiedBy>
  <cp:revision>9</cp:revision>
  <dcterms:created xsi:type="dcterms:W3CDTF">2025-11-12T13:24:12Z</dcterms:created>
  <dcterms:modified xsi:type="dcterms:W3CDTF">2026-01-15T14:45:38Z</dcterms:modified>
</cp:coreProperties>
</file>