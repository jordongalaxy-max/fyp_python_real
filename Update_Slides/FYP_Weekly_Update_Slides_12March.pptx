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34"/>
  </p:notesMasterIdLst>
  <p:sldIdLst>
    <p:sldId id="351" r:id="rId2"/>
    <p:sldId id="371" r:id="rId3"/>
    <p:sldId id="377" r:id="rId4"/>
    <p:sldId id="408" r:id="rId5"/>
    <p:sldId id="410" r:id="rId6"/>
    <p:sldId id="379" r:id="rId7"/>
    <p:sldId id="378" r:id="rId8"/>
    <p:sldId id="381" r:id="rId9"/>
    <p:sldId id="383" r:id="rId10"/>
    <p:sldId id="384" r:id="rId11"/>
    <p:sldId id="385" r:id="rId12"/>
    <p:sldId id="386" r:id="rId13"/>
    <p:sldId id="387" r:id="rId14"/>
    <p:sldId id="388" r:id="rId15"/>
    <p:sldId id="390" r:id="rId16"/>
    <p:sldId id="391" r:id="rId17"/>
    <p:sldId id="392" r:id="rId18"/>
    <p:sldId id="393" r:id="rId19"/>
    <p:sldId id="394" r:id="rId20"/>
    <p:sldId id="395" r:id="rId21"/>
    <p:sldId id="396" r:id="rId22"/>
    <p:sldId id="397" r:id="rId23"/>
    <p:sldId id="398" r:id="rId24"/>
    <p:sldId id="399" r:id="rId25"/>
    <p:sldId id="400" r:id="rId26"/>
    <p:sldId id="401" r:id="rId27"/>
    <p:sldId id="402" r:id="rId28"/>
    <p:sldId id="403" r:id="rId29"/>
    <p:sldId id="404" r:id="rId30"/>
    <p:sldId id="405" r:id="rId31"/>
    <p:sldId id="406" r:id="rId32"/>
    <p:sldId id="40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3630" autoAdjust="0"/>
  </p:normalViewPr>
  <p:slideViewPr>
    <p:cSldViewPr snapToGrid="0">
      <p:cViewPr varScale="1">
        <p:scale>
          <a:sx n="104" d="100"/>
          <a:sy n="104" d="100"/>
        </p:scale>
        <p:origin x="88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3BD9BC-DEF3-4382-83D6-5C0A0444C18A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B5FDCB-33CC-4AD4-B363-617329C34B9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61102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FA4BA-4D29-A8DF-B57D-85882B6D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C80DA-365B-C047-1DEC-58D6D5B2F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B8D1C-17EA-F430-CF55-D15A23D18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C0B01-45D4-6BF3-1074-6D74E0E73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39299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951A-563B-D311-3D49-198C0A660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85703-33B1-2256-F1D7-D73DEC544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E123F-554C-05F8-756F-F086409E0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1FFC4-39F6-4380-F35D-2A4EE699B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017987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9931-1315-8DA5-7C71-4A96A87E9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D0F1C8-9067-2B92-CD7F-12667FF5D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FFD7D-7716-CBE8-AA30-0FCD12CE6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BB827-6C18-8D77-23A6-9B610F653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B5FDCB-33CC-4AD4-B363-617329C34B90}" type="slidenum">
              <a:rPr lang="en-SG" smtClean="0"/>
              <a:t>13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43058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1951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7805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9563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0304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259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2012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388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545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348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1928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6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EAFE32E-95B7-4367-9495-9CBC389572F3}" type="datetimeFigureOut">
              <a:rPr lang="en-SG" smtClean="0"/>
              <a:t>16/3/2026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BCD8743-5A53-4A98-BC6F-5DFD6CC2F469}" type="slidenum">
              <a:rPr lang="en-SG" smtClean="0"/>
              <a:t>‹#›</a:t>
            </a:fld>
            <a:endParaRPr lang="en-SG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97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D7BDB-9701-984E-3B5C-CAFEA31C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78366-A442-6703-8E8A-09627C32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Tasks completed (12 Mar)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A9378-1C91-D033-6E65-8E0A3680C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651375" cy="435186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Conducted selection using previous configuration on </a:t>
            </a:r>
            <a:r>
              <a:rPr lang="en-US" dirty="0" err="1"/>
              <a:t>NuMI</a:t>
            </a:r>
            <a:r>
              <a:rPr lang="en-US" dirty="0"/>
              <a:t> </a:t>
            </a:r>
            <a:r>
              <a:rPr lang="en-US" i="1" dirty="0"/>
              <a:t>v </a:t>
            </a:r>
            <a:r>
              <a:rPr lang="en-US" dirty="0"/>
              <a:t>+ </a:t>
            </a:r>
            <a:r>
              <a:rPr lang="en-US" dirty="0" err="1"/>
              <a:t>cosmics</a:t>
            </a:r>
            <a:r>
              <a:rPr lang="en-US" dirty="0"/>
              <a:t> sample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SG" dirty="0">
                <a:solidFill>
                  <a:srgbClr val="FF0000"/>
                </a:solidFill>
              </a:rPr>
              <a:t>/</a:t>
            </a:r>
            <a:r>
              <a:rPr lang="en-SG" dirty="0" err="1">
                <a:solidFill>
                  <a:srgbClr val="FF0000"/>
                </a:solidFill>
              </a:rPr>
              <a:t>pnfs</a:t>
            </a:r>
            <a:r>
              <a:rPr lang="en-SG" dirty="0">
                <a:solidFill>
                  <a:srgbClr val="FF0000"/>
                </a:solidFill>
              </a:rPr>
              <a:t>/</a:t>
            </a:r>
            <a:r>
              <a:rPr lang="en-SG" dirty="0" err="1">
                <a:solidFill>
                  <a:srgbClr val="FF0000"/>
                </a:solidFill>
              </a:rPr>
              <a:t>icarus</a:t>
            </a:r>
            <a:r>
              <a:rPr lang="en-SG" dirty="0">
                <a:solidFill>
                  <a:srgbClr val="FF0000"/>
                </a:solidFill>
              </a:rPr>
              <a:t>/persistent/users/</a:t>
            </a:r>
            <a:r>
              <a:rPr lang="en-SG" dirty="0" err="1">
                <a:solidFill>
                  <a:srgbClr val="FF0000"/>
                </a:solidFill>
              </a:rPr>
              <a:t>dcarber</a:t>
            </a:r>
            <a:r>
              <a:rPr lang="en-SG" dirty="0">
                <a:solidFill>
                  <a:srgbClr val="FF0000"/>
                </a:solidFill>
              </a:rPr>
              <a:t>/spine/</a:t>
            </a:r>
            <a:r>
              <a:rPr lang="en-SG" dirty="0" err="1">
                <a:solidFill>
                  <a:srgbClr val="FF0000"/>
                </a:solidFill>
              </a:rPr>
              <a:t>combined_files</a:t>
            </a:r>
            <a:r>
              <a:rPr lang="en-SG" dirty="0">
                <a:solidFill>
                  <a:srgbClr val="FF0000"/>
                </a:solidFill>
              </a:rPr>
              <a:t>/NuMI_CV_flat_cafs_2/*.root</a:t>
            </a:r>
          </a:p>
          <a:p>
            <a:pPr marL="201168" lvl="1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54742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B572-32EC-1ABD-4D5C-10544EF4A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6526D-69BD-6957-2605-22AFE579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NuMI</a:t>
            </a:r>
            <a:r>
              <a:rPr lang="en-US" dirty="0"/>
              <a:t> vs BNB simulation sample</a:t>
            </a:r>
            <a:endParaRPr lang="en-S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CDA1676-B196-D320-6594-D9FBDDC2A2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220565"/>
              </p:ext>
            </p:extLst>
          </p:nvPr>
        </p:nvGraphicFramePr>
        <p:xfrm>
          <a:off x="2276763" y="2123594"/>
          <a:ext cx="7638474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158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546158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Parameter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Pot Size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147e20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174e20 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Number of reconstructed selected interactions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3566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4249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202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Number of true signal interactions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3815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5532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796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5201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0050A-7551-AB7A-7512-FE8CFB61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99ED5-2811-1D20-9076-D9AB08FD1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Categorizing interactions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8F7A9-B4F6-CA72-D5E3-EED0DA6CCEC8}"/>
              </a:ext>
            </a:extLst>
          </p:cNvPr>
          <p:cNvSpPr txBox="1"/>
          <p:nvPr/>
        </p:nvSpPr>
        <p:spPr>
          <a:xfrm>
            <a:off x="1097280" y="1815053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easier analysis of truth-level information of the reconstructed interactions, a </a:t>
            </a:r>
            <a:r>
              <a:rPr lang="en-US" dirty="0" err="1"/>
              <a:t>variablE</a:t>
            </a:r>
            <a:r>
              <a:rPr lang="en-US" dirty="0"/>
              <a:t> known as category_topology_ccpi0_simple2 was extracted. This variable tells us which of the following 5 categories does the reconstructed interaction fall under based on its matched true interaction</a:t>
            </a:r>
            <a:endParaRPr lang="en-SG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080C7-F761-609D-D7F2-B59A3E0C80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120337"/>
              </p:ext>
            </p:extLst>
          </p:nvPr>
        </p:nvGraphicFramePr>
        <p:xfrm>
          <a:off x="771236" y="2917676"/>
          <a:ext cx="10649527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716">
                  <a:extLst>
                    <a:ext uri="{9D8B030D-6E8A-4147-A177-3AD203B41FA5}">
                      <a16:colId xmlns:a16="http://schemas.microsoft.com/office/drawing/2014/main" val="649620636"/>
                    </a:ext>
                  </a:extLst>
                </a:gridCol>
                <a:gridCol w="9136811">
                  <a:extLst>
                    <a:ext uri="{9D8B030D-6E8A-4147-A177-3AD203B41FA5}">
                      <a16:colId xmlns:a16="http://schemas.microsoft.com/office/drawing/2014/main" val="37516364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definition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80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1 primary neutral pion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096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</a:t>
                      </a:r>
                      <a:r>
                        <a:rPr lang="en-US" b="1" dirty="0"/>
                        <a:t>i</a:t>
                      </a:r>
                      <a:r>
                        <a:rPr lang="en-US" dirty="0"/>
                        <a:t>nteraction with 1 primary muon, 0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2 or more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735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Neutrino interaction with 1 primary muon, 1 or more primary charged </a:t>
                      </a:r>
                      <a:r>
                        <a:rPr lang="en-US" dirty="0" err="1"/>
                        <a:t>pions</a:t>
                      </a:r>
                      <a:r>
                        <a:rPr lang="en-US" dirty="0"/>
                        <a:t>, and any number of primary neutral </a:t>
                      </a:r>
                      <a:r>
                        <a:rPr lang="en-US" dirty="0" err="1"/>
                        <a:t>pions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70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 with 0 primary muons, and 1 or more primary neutral </a:t>
                      </a:r>
                      <a:r>
                        <a:rPr lang="en-US" dirty="0" err="1"/>
                        <a:t>pions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617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Neutrino interactions that do not fall within these categories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363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cosmics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3219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756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A2A56-A6B4-6BFF-9FF9-2E2112D32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24B2E-A3CE-51B5-C517-6E0B50CC7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 vs BNB: </a:t>
            </a:r>
            <a:r>
              <a:rPr lang="en-US" dirty="0"/>
              <a:t>Interaction category type percentage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019477-A02B-390C-A04D-1297D1ABB1ED}"/>
              </a:ext>
            </a:extLst>
          </p:cNvPr>
          <p:cNvSpPr txBox="1"/>
          <p:nvPr/>
        </p:nvSpPr>
        <p:spPr>
          <a:xfrm>
            <a:off x="1097280" y="1815053"/>
            <a:ext cx="89149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Differences between the percentage of selected reconstructed interactions within the interaction categories</a:t>
            </a:r>
            <a:endParaRPr lang="en-SG" b="1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9049CF-8946-04FA-F70C-1833CD491E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937342"/>
              </p:ext>
            </p:extLst>
          </p:nvPr>
        </p:nvGraphicFramePr>
        <p:xfrm>
          <a:off x="1344612" y="2677795"/>
          <a:ext cx="9502776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6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3756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Category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NuMI</a:t>
                      </a:r>
                      <a:r>
                        <a:rPr lang="en-US" dirty="0"/>
                        <a:t>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BNB (%)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BNB (%) (Lane’s paper)</a:t>
                      </a:r>
                      <a:endParaRPr lang="en-SG" dirty="0"/>
                    </a:p>
                    <a:p>
                      <a:pPr algn="ctr"/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0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68.3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88.8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1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2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5.1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5.3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3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1.1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4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/>
                        <a:t>NaN</a:t>
                      </a:r>
                      <a:endParaRPr lang="en-SG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0.3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494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3115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06E7-311A-FC74-5CC8-8A9981035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C2F03-7007-04CF-4256-797E36B1B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NuMI</a:t>
            </a:r>
            <a:r>
              <a:rPr lang="en-US" b="1" dirty="0"/>
              <a:t>: </a:t>
            </a:r>
            <a:r>
              <a:rPr lang="en-US" dirty="0"/>
              <a:t>Looking into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248076-16FC-FD22-F0BA-FA7D2A807E83}"/>
              </a:ext>
            </a:extLst>
          </p:cNvPr>
          <p:cNvSpPr txBox="1"/>
          <p:nvPr/>
        </p:nvSpPr>
        <p:spPr>
          <a:xfrm>
            <a:off x="1097279" y="1815053"/>
            <a:ext cx="1036129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Due to the large percentage for the ‘other v’ interaction category, looked further into what type of interactions fall into this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Table below shows the 5 most common interaction types within the ‘other </a:t>
            </a:r>
            <a:r>
              <a:rPr lang="en-US" i="1" dirty="0"/>
              <a:t>v</a:t>
            </a:r>
            <a:r>
              <a:rPr lang="en-US" dirty="0"/>
              <a:t>’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Anti-neutrino interactions account for ~78% of all ‘other v’ interactions (</a:t>
            </a:r>
            <a:r>
              <a:rPr lang="en-SG" b="1" dirty="0"/>
              <a:t>547 out of 694)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dirty="0"/>
              <a:t>Much larger amount of anti-neutrino interactions in </a:t>
            </a:r>
            <a:r>
              <a:rPr lang="en-SG" dirty="0" err="1"/>
              <a:t>NuMI</a:t>
            </a:r>
            <a:r>
              <a:rPr lang="en-SG" dirty="0"/>
              <a:t> selection compared to BNB (566 vs 31)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171CE0-C66D-1643-A51A-9AE650EC38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731243"/>
              </p:ext>
            </p:extLst>
          </p:nvPr>
        </p:nvGraphicFramePr>
        <p:xfrm>
          <a:off x="587692" y="3429000"/>
          <a:ext cx="11077576" cy="27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9394">
                  <a:extLst>
                    <a:ext uri="{9D8B030D-6E8A-4147-A177-3AD203B41FA5}">
                      <a16:colId xmlns:a16="http://schemas.microsoft.com/office/drawing/2014/main" val="2802435026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2797951521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851634423"/>
                    </a:ext>
                  </a:extLst>
                </a:gridCol>
                <a:gridCol w="2769394">
                  <a:extLst>
                    <a:ext uri="{9D8B030D-6E8A-4147-A177-3AD203B41FA5}">
                      <a16:colId xmlns:a16="http://schemas.microsoft.com/office/drawing/2014/main" val="3517730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Interaction type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PDG code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Fiducialized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of ‘other </a:t>
                      </a:r>
                      <a:r>
                        <a:rPr lang="en-US" i="1" dirty="0" err="1"/>
                        <a:t>v</a:t>
                      </a:r>
                      <a:r>
                        <a:rPr lang="en-US" i="0" dirty="0" err="1"/>
                        <a:t>’interactions</a:t>
                      </a:r>
                      <a:r>
                        <a:rPr lang="en-US" dirty="0"/>
                        <a:t> falling into this type (%)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1924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60.5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28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 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5010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459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4.0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303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1u0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r>
                        <a:rPr lang="en-SG" sz="1800" b="1" i="0" kern="1200" baseline="300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SG" sz="1800" b="1" i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l-GR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π</a:t>
                      </a:r>
                      <a:endParaRPr lang="en-SG" sz="1800" b="1" i="0" kern="1200" baseline="300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3.6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726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8827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76505-366B-3071-13B9-B0186282D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36B37-DF93-2900-1C2D-80BF8A2F6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Initial selection: </a:t>
            </a:r>
            <a:r>
              <a:rPr lang="en-US" dirty="0"/>
              <a:t>neutral pion mass distribution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727EAE-A771-3C99-0087-8E9B17E5C5E0}"/>
              </a:ext>
            </a:extLst>
          </p:cNvPr>
          <p:cNvSpPr txBox="1"/>
          <p:nvPr/>
        </p:nvSpPr>
        <p:spPr>
          <a:xfrm>
            <a:off x="1097279" y="1815053"/>
            <a:ext cx="109021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plot of the reconstructed neutral pion mass distribution for reconstructed interactions split into their true interaction categories is shown</a:t>
            </a:r>
            <a:endParaRPr lang="en-SG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3505F4-87D5-9F87-22BA-23F4BCFEA3BE}"/>
              </a:ext>
            </a:extLst>
          </p:cNvPr>
          <p:cNvSpPr txBox="1"/>
          <p:nvPr/>
        </p:nvSpPr>
        <p:spPr>
          <a:xfrm>
            <a:off x="436103" y="5674957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neutral pion mass plot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ECC95-6159-0502-7A59-4AAFAD06552D}"/>
              </a:ext>
            </a:extLst>
          </p:cNvPr>
          <p:cNvSpPr txBox="1"/>
          <p:nvPr/>
        </p:nvSpPr>
        <p:spPr>
          <a:xfrm>
            <a:off x="6712689" y="5674957"/>
            <a:ext cx="4855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Reconstructed neutral pion mass plot from my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562C6B-89AA-A159-3461-108938311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107" y="2539077"/>
            <a:ext cx="5017769" cy="31952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FD2C72-4BBD-E1AD-7F50-EA113C719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124" y="2494554"/>
            <a:ext cx="5017769" cy="322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08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209E2-47C9-8963-261A-95A047003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3081-8CAC-285E-81DA-962AEC404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Shower energy correction: </a:t>
            </a:r>
            <a:r>
              <a:rPr lang="en-US" dirty="0"/>
              <a:t>Crystal ball fitting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DD1871-A860-19EF-2262-4E69558D8D53}"/>
              </a:ext>
            </a:extLst>
          </p:cNvPr>
          <p:cNvSpPr txBox="1"/>
          <p:nvPr/>
        </p:nvSpPr>
        <p:spPr>
          <a:xfrm>
            <a:off x="1097279" y="1815053"/>
            <a:ext cx="103465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Applying a quick single sided crystal ball function from </a:t>
            </a:r>
            <a:r>
              <a:rPr lang="en-US" dirty="0" err="1"/>
              <a:t>scipy</a:t>
            </a:r>
            <a:r>
              <a:rPr lang="en-US" dirty="0"/>
              <a:t> in python to the reconstructed neutral pion mass distribution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FC79AA-7562-F5DD-B8C7-A14E39204FBA}"/>
              </a:ext>
            </a:extLst>
          </p:cNvPr>
          <p:cNvSpPr txBox="1"/>
          <p:nvPr/>
        </p:nvSpPr>
        <p:spPr>
          <a:xfrm>
            <a:off x="1007389" y="5572921"/>
            <a:ext cx="4068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Crystal ball fitting plot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6609D8-2D26-608B-42EA-C1865B652DCA}"/>
              </a:ext>
            </a:extLst>
          </p:cNvPr>
          <p:cNvSpPr txBox="1"/>
          <p:nvPr/>
        </p:nvSpPr>
        <p:spPr>
          <a:xfrm>
            <a:off x="7511132" y="5572922"/>
            <a:ext cx="3443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Crystal ball fitting plot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E78843-2321-4C26-A471-BA9BD836F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716" y="2873581"/>
            <a:ext cx="5517270" cy="27377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EE24F4-DE3A-0CA3-2777-E7D999BD2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14" y="2881140"/>
            <a:ext cx="5517270" cy="273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46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18EBA-B50B-2E34-9B7B-E4142FCC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F267C-9532-8CAA-BF00-D53BB1B2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Cuts on reconstructed neutral pion mass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32292-3979-8FA1-314D-9995387EEFE6}"/>
              </a:ext>
            </a:extLst>
          </p:cNvPr>
          <p:cNvSpPr txBox="1"/>
          <p:nvPr/>
        </p:nvSpPr>
        <p:spPr>
          <a:xfrm>
            <a:off x="1097279" y="1815053"/>
            <a:ext cx="11159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. Pi0 mass distribution between 0 to 80 MeV and 220 to 600 MeV still contain primarily non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dirty="0" err="1"/>
              <a:t>NuMI</a:t>
            </a:r>
            <a:r>
              <a:rPr lang="en-US" dirty="0"/>
              <a:t>, a more suitable pi0 mass cut would be at 80 MeV and 220 MeV, as opposed to 60 MeV and 300 MeV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7234C-BE19-723D-8B73-87DB35EF801B}"/>
              </a:ext>
            </a:extLst>
          </p:cNvPr>
          <p:cNvSpPr txBox="1"/>
          <p:nvPr/>
        </p:nvSpPr>
        <p:spPr>
          <a:xfrm>
            <a:off x="926028" y="5979586"/>
            <a:ext cx="4402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D5C88E-09AE-7981-E0F1-3B8FC21CDB7D}"/>
              </a:ext>
            </a:extLst>
          </p:cNvPr>
          <p:cNvSpPr txBox="1"/>
          <p:nvPr/>
        </p:nvSpPr>
        <p:spPr>
          <a:xfrm>
            <a:off x="6774593" y="5979586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Reconstructed Pi0 mass plot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94562C-D8E4-D596-F967-B4F34891E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0301" y="2959213"/>
            <a:ext cx="4783426" cy="30460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24BE88-EE01-5C73-E0C6-28454843F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72" y="2930362"/>
            <a:ext cx="4778141" cy="3074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346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0F106-E4D2-6390-7BFF-5B251E684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B8137-7C0C-BCC7-B32A-D9F8B8606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Selection performance analysis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711633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B4144-36F2-840B-8590-F00E22E3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F9056-A598-1597-35F3-A324DC3A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Efficiency and Purity analysis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F267A1-6DDE-E38A-5349-210EB6C2ACB5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Efficiency defined as fraction of true signal interactions that are matched to selected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Purity defined as the fraction of selected interactions that are matched to true signal interactions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54442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110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6311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414EE5EB-2216-C1EB-781E-057499EA2EB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4013560"/>
                  </p:ext>
                </p:extLst>
              </p:nvPr>
            </p:nvGraphicFramePr>
            <p:xfrm>
              <a:off x="6696365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9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3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97.1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2.7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96.6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4.0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90.9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5.9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83.4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6.5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70.4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79.5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68.9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82.4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20B0FF2-8672-142F-7451-861ABCBEC5CD}"/>
              </a:ext>
            </a:extLst>
          </p:cNvPr>
          <p:cNvSpPr txBox="1"/>
          <p:nvPr/>
        </p:nvSpPr>
        <p:spPr>
          <a:xfrm>
            <a:off x="7055046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227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2619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823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  <m:t>𝛾𝛾</m:t>
                                  </m:r>
                                </m:sub>
                              </m:sSub>
                              <m:r>
                                <a:rPr lang="ar-AE" sz="1600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["/>
                                  <m:endChr m:val="]"/>
                                  <m:sepChr m:val=",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60</m:t>
                                  </m:r>
                                </m:e>
                                <m:e>
                                  <m:r>
                                    <a:rPr lang="ar-AE" sz="1600" i="0">
                                      <a:latin typeface="Cambria Math" panose="02040503050406030204" pitchFamily="18" charset="0"/>
                                    </a:rPr>
                                    <m:t>300</m:t>
                                  </m:r>
                                </m:e>
                              </m:d>
                            </m:oMath>
                          </a14:m>
                          <a:r>
                            <a:rPr lang="ar-AE" sz="1600">
                              <a:effectLst/>
                            </a:rPr>
                            <a:t>﻿ </a:t>
                          </a:r>
                          <a:r>
                            <a:rPr lang="en-SG" sz="1600">
                              <a:effectLst/>
                            </a:rPr>
                            <a:t>MeV/c2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94F782-75AC-D48C-F4B8-C596F7ACC6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67801246"/>
                  </p:ext>
                </p:extLst>
              </p:nvPr>
            </p:nvGraphicFramePr>
            <p:xfrm>
              <a:off x="203432" y="2588471"/>
              <a:ext cx="5292204" cy="325031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64068">
                      <a:extLst>
                        <a:ext uri="{9D8B030D-6E8A-4147-A177-3AD203B41FA5}">
                          <a16:colId xmlns:a16="http://schemas.microsoft.com/office/drawing/2014/main" val="600944633"/>
                        </a:ext>
                      </a:extLst>
                    </a:gridCol>
                    <a:gridCol w="1600754">
                      <a:extLst>
                        <a:ext uri="{9D8B030D-6E8A-4147-A177-3AD203B41FA5}">
                          <a16:colId xmlns:a16="http://schemas.microsoft.com/office/drawing/2014/main" val="1151758864"/>
                        </a:ext>
                      </a:extLst>
                    </a:gridCol>
                    <a:gridCol w="1927382">
                      <a:extLst>
                        <a:ext uri="{9D8B030D-6E8A-4147-A177-3AD203B41FA5}">
                          <a16:colId xmlns:a16="http://schemas.microsoft.com/office/drawing/2014/main" val="3768504631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Selection Cut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>
                              <a:effectLst/>
                            </a:rPr>
                            <a:t>Cumulative efficiency (%)</a:t>
                          </a:r>
                          <a:endParaRPr lang="en-SG" sz="1800">
                            <a:effectLst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800" b="1" dirty="0">
                              <a:effectLst/>
                            </a:rPr>
                            <a:t>Cumulative Purity (%)</a:t>
                          </a:r>
                          <a:endParaRPr lang="en-SG" sz="18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0366490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cut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100.0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0.0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87423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In-Time Flash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95.4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1</a:t>
                          </a:r>
                          <a:r>
                            <a:rPr lang="en-SG" sz="1600" dirty="0">
                              <a:effectLst/>
                            </a:rPr>
                            <a:t>.5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1989517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Fiducial Volume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93.7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3</a:t>
                          </a:r>
                          <a:r>
                            <a:rPr lang="en-SG" sz="1600" dirty="0">
                              <a:effectLst/>
                            </a:rPr>
                            <a:t>.1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843120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Single Muon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8</a:t>
                          </a:r>
                          <a:r>
                            <a:rPr lang="en-SG" sz="1600" dirty="0">
                              <a:effectLst/>
                            </a:rPr>
                            <a:t>8.6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4</a:t>
                          </a:r>
                          <a:r>
                            <a:rPr lang="en-SG" sz="1600" dirty="0">
                              <a:effectLst/>
                            </a:rPr>
                            <a:t>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34497719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No charged Pions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7</a:t>
                          </a:r>
                          <a:r>
                            <a:rPr lang="en-SG" sz="1600" dirty="0">
                              <a:effectLst/>
                            </a:rPr>
                            <a:t>8.1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718993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>
                              <a:effectLst/>
                            </a:rPr>
                            <a:t>Two Photons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</a:t>
                          </a:r>
                          <a:r>
                            <a:rPr lang="en-SG" sz="1600" dirty="0">
                              <a:effectLst/>
                            </a:rPr>
                            <a:t>5.1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5</a:t>
                          </a:r>
                          <a:r>
                            <a:rPr lang="en-SG" sz="1600" dirty="0">
                              <a:effectLst/>
                            </a:rPr>
                            <a:t>9.6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1167627"/>
                      </a:ext>
                    </a:extLst>
                  </a:tr>
                  <a:tr h="59855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45" t="-450000" r="-201034" b="-132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SG" sz="1600" dirty="0">
                              <a:effectLst/>
                            </a:rPr>
                            <a:t>63.0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600" dirty="0">
                              <a:effectLst/>
                            </a:rPr>
                            <a:t>63.33</a:t>
                          </a:r>
                          <a:endParaRPr lang="en-SG" sz="160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94177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9B3E57-ED6D-9BA8-63AC-EF8ADCBC7838}"/>
              </a:ext>
            </a:extLst>
          </p:cNvPr>
          <p:cNvSpPr txBox="1"/>
          <p:nvPr/>
        </p:nvSpPr>
        <p:spPr>
          <a:xfrm>
            <a:off x="339921" y="587206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Efficiency and Purity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3768856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CDCFD-44DF-F70A-70F3-FA4F47CCC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B3994-68A0-96C1-082F-5B4F794F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Truth to Reco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046E30-6369-82EF-83B2-78046C0EF136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inefficiency is due to true final state protons misidentified as muons or </a:t>
            </a:r>
            <a:r>
              <a:rPr lang="en-US" dirty="0" err="1"/>
              <a:t>pions</a:t>
            </a:r>
            <a:endParaRPr lang="en-SG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DAD5A3-CE1E-D132-5441-8A4C72AA7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262" y="2594442"/>
            <a:ext cx="4799646" cy="343764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3725E21-478B-5DFF-5DD2-A77C7156B4AE}"/>
              </a:ext>
            </a:extLst>
          </p:cNvPr>
          <p:cNvSpPr txBox="1"/>
          <p:nvPr/>
        </p:nvSpPr>
        <p:spPr>
          <a:xfrm>
            <a:off x="114251" y="6020576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8B177-BE44-DC23-79B6-67E6D68C8D55}"/>
              </a:ext>
            </a:extLst>
          </p:cNvPr>
          <p:cNvSpPr txBox="1"/>
          <p:nvPr/>
        </p:nvSpPr>
        <p:spPr>
          <a:xfrm>
            <a:off x="6826664" y="6020577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Truth to Reco confusion matrix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BF8B37-A3E6-E684-713B-2636FAA79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93" y="2563884"/>
            <a:ext cx="4799646" cy="343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475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47F81-FD92-BDE9-2A40-1F2BB6AE1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2A35-60E0-DC0E-629F-E627A2402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PID Reco to Truth confusion matrix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AD1D2-7FBF-BDFE-7A9A-8576786B3882}"/>
              </a:ext>
            </a:extLst>
          </p:cNvPr>
          <p:cNvSpPr txBox="1"/>
          <p:nvPr/>
        </p:nvSpPr>
        <p:spPr>
          <a:xfrm>
            <a:off x="1097279" y="1815053"/>
            <a:ext cx="103993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Plotting confusion matrix for PID particle type for true signal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reason for impurity is due to misidentification of true </a:t>
            </a:r>
            <a:r>
              <a:rPr lang="en-US" dirty="0" err="1"/>
              <a:t>pions</a:t>
            </a:r>
            <a:r>
              <a:rPr lang="en-US" dirty="0"/>
              <a:t> as protons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40C7CF-39BA-CD16-707F-8969B8E02F3F}"/>
              </a:ext>
            </a:extLst>
          </p:cNvPr>
          <p:cNvSpPr txBox="1"/>
          <p:nvPr/>
        </p:nvSpPr>
        <p:spPr>
          <a:xfrm>
            <a:off x="208832" y="6021354"/>
            <a:ext cx="59273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1E6F2-EE49-4410-B7A2-4C944965C230}"/>
              </a:ext>
            </a:extLst>
          </p:cNvPr>
          <p:cNvSpPr txBox="1"/>
          <p:nvPr/>
        </p:nvSpPr>
        <p:spPr>
          <a:xfrm>
            <a:off x="6728772" y="6003414"/>
            <a:ext cx="45748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Reco to Truth confusion matrix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37E546-1A73-9A61-EF98-A9CAD6CBF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450" y="2628887"/>
            <a:ext cx="4735486" cy="33916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F254D1-93A3-EBED-46CD-BC0C96DDE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3" y="2628886"/>
            <a:ext cx="4735488" cy="33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61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A389D-3D0E-62FA-82A7-0BE95A46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4EE8-598F-D98F-163A-1A169890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3066311"/>
            <a:ext cx="10058400" cy="725378"/>
          </a:xfrm>
        </p:spPr>
        <p:txBody>
          <a:bodyPr/>
          <a:lstStyle/>
          <a:p>
            <a:pPr algn="ctr"/>
            <a:r>
              <a:rPr lang="en-US" b="1" dirty="0"/>
              <a:t>Reconstructed observables in simulation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954178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9A9C6-7DC1-9143-EB75-3F68E135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B67D8-0EFE-876B-EC5B-42C455B75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Reconstructed observables in simulation</a:t>
            </a:r>
            <a:endParaRPr lang="en-SG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F78CD3-C611-5B0F-B390-ECDB3B55DCC7}"/>
              </a:ext>
            </a:extLst>
          </p:cNvPr>
          <p:cNvSpPr txBox="1"/>
          <p:nvPr/>
        </p:nvSpPr>
        <p:spPr>
          <a:xfrm>
            <a:off x="1097280" y="1815053"/>
            <a:ext cx="891493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The following observables relevant to the analysis are </a:t>
            </a:r>
            <a:r>
              <a:rPr lang="en-US" b="1" dirty="0" err="1"/>
              <a:t>seperated</a:t>
            </a:r>
            <a:r>
              <a:rPr lang="en-US" b="1" dirty="0"/>
              <a:t> into the following </a:t>
            </a:r>
            <a:br>
              <a:rPr lang="en-US" b="1" dirty="0"/>
            </a:b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Low-level observables to assess basic reconstruction performance and eventually data/simulation agreement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Transverse kinematic imbalance (TKI) observables that are sensitive to nuclear effects like FSI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Observables related to four-momentum transfer and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Neutral pion mass observables relevant to calibration of electromagnetic showers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Cross section analysis observables for which single differential cross section will be extracted as a function of</a:t>
            </a:r>
          </a:p>
          <a:p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646142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6E5DC-28D5-887E-9A95-DF11435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D4689-3714-8A5D-988A-DEE53D30B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43BBF-3E05-E858-42D1-C21D9FFE08A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x-axis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215E12-2502-2938-8C61-CD7CFFBC0DEE}"/>
              </a:ext>
            </a:extLst>
          </p:cNvPr>
          <p:cNvSpPr txBox="1"/>
          <p:nvPr/>
        </p:nvSpPr>
        <p:spPr>
          <a:xfrm>
            <a:off x="1270507" y="5871234"/>
            <a:ext cx="3961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x-axis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F1D43A-44A6-EA88-46E8-F09498A5DF4D}"/>
              </a:ext>
            </a:extLst>
          </p:cNvPr>
          <p:cNvSpPr txBox="1"/>
          <p:nvPr/>
        </p:nvSpPr>
        <p:spPr>
          <a:xfrm>
            <a:off x="7054801" y="5907549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Interaction vertex in x-axis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AA2A3D-282B-5648-1C73-F45FFFDA3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610" y="2548181"/>
            <a:ext cx="5220225" cy="3359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5382A52-CDB0-9294-3E07-FC994D273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65" y="2548180"/>
            <a:ext cx="5220226" cy="3359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704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876F5-4D87-9D15-F35D-58704F6B3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C0805-BB38-961C-B7D7-7E3BD7767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3CD90-D7E3-497D-B1C2-48E97748C324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Y-axis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068F92-5FC1-2421-1B13-570CACDAA7A6}"/>
              </a:ext>
            </a:extLst>
          </p:cNvPr>
          <p:cNvSpPr txBox="1"/>
          <p:nvPr/>
        </p:nvSpPr>
        <p:spPr>
          <a:xfrm>
            <a:off x="1135348" y="5835656"/>
            <a:ext cx="41647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Y-axis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2E8263-23B4-4977-CB48-8DD9DC933A89}"/>
              </a:ext>
            </a:extLst>
          </p:cNvPr>
          <p:cNvSpPr txBox="1"/>
          <p:nvPr/>
        </p:nvSpPr>
        <p:spPr>
          <a:xfrm>
            <a:off x="7088361" y="5841137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Y-axis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1A537E-6C57-AA90-4EED-C15327314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462" y="2609565"/>
            <a:ext cx="5021641" cy="32315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9CCDF0-39A9-4AEB-D808-89F1A5A52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99" y="2609564"/>
            <a:ext cx="5021640" cy="323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140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0F2E6-9608-6F41-406D-16EDC1BFB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D0E6-44E7-91D8-B181-0442FA380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32678-7D24-0D8F-9C64-55E20AE5F18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Interaction vertex in Z-axis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3255E6-7253-42A3-F126-5D1F5FF6AEC8}"/>
              </a:ext>
            </a:extLst>
          </p:cNvPr>
          <p:cNvSpPr txBox="1"/>
          <p:nvPr/>
        </p:nvSpPr>
        <p:spPr>
          <a:xfrm>
            <a:off x="1107493" y="5866687"/>
            <a:ext cx="40261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Z-axis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FEE368-A1B5-C9FC-11A0-D4C1E3625D4A}"/>
              </a:ext>
            </a:extLst>
          </p:cNvPr>
          <p:cNvSpPr txBox="1"/>
          <p:nvPr/>
        </p:nvSpPr>
        <p:spPr>
          <a:xfrm>
            <a:off x="7185489" y="5868283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Interaction vertex in Z-axis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EF778C-26CD-6627-08BC-EB1E9CB97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5457" y="2512673"/>
            <a:ext cx="5211906" cy="33540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AD9C73-7EAD-FE79-2C27-D31A5E49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638" y="2512673"/>
            <a:ext cx="5211906" cy="3354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706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6A3F-C6C8-1D7F-D9D2-3601994E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AA12-0C38-E248-D1E1-0F4D7E32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610AC7-EB65-2F21-5DEB-B3716049AF01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primary Muon length</a:t>
            </a:r>
            <a:endParaRPr lang="en-SG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49B300-F803-0121-D70C-A7F6C0D04560}"/>
              </a:ext>
            </a:extLst>
          </p:cNvPr>
          <p:cNvSpPr txBox="1"/>
          <p:nvPr/>
        </p:nvSpPr>
        <p:spPr>
          <a:xfrm>
            <a:off x="1499402" y="5907549"/>
            <a:ext cx="35551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Muon length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644CE0-1277-8675-D3F5-B7CE90175BBC}"/>
              </a:ext>
            </a:extLst>
          </p:cNvPr>
          <p:cNvSpPr txBox="1"/>
          <p:nvPr/>
        </p:nvSpPr>
        <p:spPr>
          <a:xfrm>
            <a:off x="7137458" y="5907550"/>
            <a:ext cx="377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Muon length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3A016E-0351-067D-ABEE-19B9AC3FA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680" y="2440601"/>
            <a:ext cx="5387398" cy="34669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166726-0193-EC34-7411-FB81D1325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23" y="2440601"/>
            <a:ext cx="5387398" cy="34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596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50F7-F043-8697-177C-452ADAD4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2337F-5243-4404-4107-5A2DCD0B2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BAEB6-8C41-914D-E405-530406411486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41DED7-A850-3EFF-FB53-FC547C0225D4}"/>
              </a:ext>
            </a:extLst>
          </p:cNvPr>
          <p:cNvSpPr txBox="1"/>
          <p:nvPr/>
        </p:nvSpPr>
        <p:spPr>
          <a:xfrm>
            <a:off x="937866" y="5891438"/>
            <a:ext cx="46200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leading photon conversion distance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630DAA-89BD-6EE0-D630-96C8A448F224}"/>
              </a:ext>
            </a:extLst>
          </p:cNvPr>
          <p:cNvSpPr txBox="1"/>
          <p:nvPr/>
        </p:nvSpPr>
        <p:spPr>
          <a:xfrm>
            <a:off x="6726039" y="5891438"/>
            <a:ext cx="4436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leading photon conversion distance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EF0C49-FF93-5F64-0E88-D4C661644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564" y="2696363"/>
            <a:ext cx="5105110" cy="31950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37EEDE-04A5-5590-BDF3-B89471CD0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26" y="2696363"/>
            <a:ext cx="5105111" cy="319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33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C307C-CEF7-9EE2-FBBA-B8152F255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68124-E43F-7CA4-DB93-C19A4E9B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Low-level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DF1B1-6D3F-D7E9-C9DB-C59A7C06EF90}"/>
              </a:ext>
            </a:extLst>
          </p:cNvPr>
          <p:cNvSpPr txBox="1"/>
          <p:nvPr/>
        </p:nvSpPr>
        <p:spPr>
          <a:xfrm>
            <a:off x="1097279" y="1815053"/>
            <a:ext cx="103993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Plotting Reconstructed sub</a:t>
            </a:r>
            <a:r>
              <a:rPr lang="en-SG" sz="2400" b="1" dirty="0"/>
              <a:t>leading photon conversion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98D66D-E0BA-22C9-B35C-E61B063A52F1}"/>
              </a:ext>
            </a:extLst>
          </p:cNvPr>
          <p:cNvSpPr txBox="1"/>
          <p:nvPr/>
        </p:nvSpPr>
        <p:spPr>
          <a:xfrm>
            <a:off x="488156" y="5815233"/>
            <a:ext cx="49987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668CF6-165B-85B8-0F80-D96ADBE2D305}"/>
              </a:ext>
            </a:extLst>
          </p:cNvPr>
          <p:cNvSpPr txBox="1"/>
          <p:nvPr/>
        </p:nvSpPr>
        <p:spPr>
          <a:xfrm>
            <a:off x="6787727" y="5815233"/>
            <a:ext cx="4833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photon conversion distance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07AAA6-304F-AF8B-9AF5-8D26B0D07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239" y="2410965"/>
            <a:ext cx="5526490" cy="34042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29B5CD-612C-4B71-1F79-ACBA533A0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72" y="2410965"/>
            <a:ext cx="5526490" cy="340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338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8860A-BE5C-2C84-A9DF-BBEB12E74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D063B-3872-4F3C-505E-A5485A0B2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56E33F-F8F8-66E5-5E24-CCF2DFFC1D75}"/>
              </a:ext>
            </a:extLst>
          </p:cNvPr>
          <p:cNvSpPr txBox="1"/>
          <p:nvPr/>
        </p:nvSpPr>
        <p:spPr>
          <a:xfrm>
            <a:off x="377287" y="5908218"/>
            <a:ext cx="5224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 err="1"/>
              <a:t>subleading</a:t>
            </a:r>
            <a:r>
              <a:rPr lang="en-SG" sz="1400" b="1" dirty="0"/>
              <a:t> </a:t>
            </a:r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3EA246-FF48-B759-6A0F-05D54FEC5097}"/>
              </a:ext>
            </a:extLst>
          </p:cNvPr>
          <p:cNvSpPr txBox="1"/>
          <p:nvPr/>
        </p:nvSpPr>
        <p:spPr>
          <a:xfrm>
            <a:off x="6589827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 err="1"/>
              <a:t>subleading</a:t>
            </a:r>
            <a:r>
              <a:rPr lang="en-SG" sz="1400" b="1" dirty="0"/>
              <a:t> </a:t>
            </a:r>
            <a:r>
              <a:rPr lang="en-US" sz="1400" b="1" dirty="0"/>
              <a:t>Transverse momentum imbalance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10A3DA-35A3-0643-177A-101E6E6D0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961" y="2763366"/>
            <a:ext cx="4986619" cy="31280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89EE1C-A6DB-5E04-2418-F4563CE3DE96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 imbalance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9EF2CE-609E-0D09-EC83-7F95AD086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424" y="2780145"/>
            <a:ext cx="4986617" cy="3128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437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17CD-2B79-C0E2-ED05-B20E0A98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1D7F9-78D6-7214-6671-B5E66C27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29FEED-4E20-4D28-6D19-5E8E9A818EB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Transverse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5F234-CA16-6B70-C19A-9D7C872A2C21}"/>
              </a:ext>
            </a:extLst>
          </p:cNvPr>
          <p:cNvSpPr txBox="1"/>
          <p:nvPr/>
        </p:nvSpPr>
        <p:spPr>
          <a:xfrm>
            <a:off x="776179" y="581523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Transverse momentum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CDF4AF-A61E-E18E-955E-D70B597EC620}"/>
              </a:ext>
            </a:extLst>
          </p:cNvPr>
          <p:cNvSpPr txBox="1"/>
          <p:nvPr/>
        </p:nvSpPr>
        <p:spPr>
          <a:xfrm>
            <a:off x="6559265" y="581523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/>
              <a:t>Transverse momentum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504486-42CB-5989-717E-5EDB0D54A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211" y="2288846"/>
            <a:ext cx="5479761" cy="35263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BE56F6-C684-3891-6D74-6AE5420B9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28" y="2288846"/>
            <a:ext cx="5479761" cy="352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308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60372-D754-89D6-C90E-38795223B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923C-225C-1FA5-D9CD-BD4E8A31A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Transverse kinematic imbalance observables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F761D6-7B22-C26D-DC67-97EBCD1BF593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Reconstructed  transverse boosting angle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Transverse boosting angle, or the angle between the transverse momentum imbalance  vector  and  the  negative  transverse  momentum  of  the  muon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035EA4-F102-3DC7-B182-BDDF5C4F97F3}"/>
              </a:ext>
            </a:extLst>
          </p:cNvPr>
          <p:cNvSpPr txBox="1"/>
          <p:nvPr/>
        </p:nvSpPr>
        <p:spPr>
          <a:xfrm>
            <a:off x="934602" y="5919305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Boosting angle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04D43C-4318-575C-E0F8-D28A72C93CB8}"/>
              </a:ext>
            </a:extLst>
          </p:cNvPr>
          <p:cNvSpPr txBox="1"/>
          <p:nvPr/>
        </p:nvSpPr>
        <p:spPr>
          <a:xfrm>
            <a:off x="6402413" y="591810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Boosting angle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14619B-68B7-C1FE-2A3C-3273F0E14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263" y="2763366"/>
            <a:ext cx="4860809" cy="31280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27BD2-64D5-F2AC-1819-DFEAA83F8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927" y="2763366"/>
            <a:ext cx="4860809" cy="3128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169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441E9-D6D7-0498-A8A6-09113930D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047A1-8676-6E11-D4E8-26D6819A3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C97DAB-5418-8A8E-A6AB-3E5A1B399A9B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Four-Momentum Transfer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Squared four-momentum transfer to target nucleon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E4DAE9-6711-D902-C851-CA84A189BB51}"/>
              </a:ext>
            </a:extLst>
          </p:cNvPr>
          <p:cNvSpPr txBox="1"/>
          <p:nvPr/>
        </p:nvSpPr>
        <p:spPr>
          <a:xfrm>
            <a:off x="1188401" y="5891439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Four-Momentum Transfer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77DE49-E970-13CA-B8E2-73B68DEB6FDD}"/>
              </a:ext>
            </a:extLst>
          </p:cNvPr>
          <p:cNvSpPr txBox="1"/>
          <p:nvPr/>
        </p:nvSpPr>
        <p:spPr>
          <a:xfrm>
            <a:off x="6217519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Four-Momentum Transfer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976C6-C9BC-9E96-7317-9AA833E26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976" y="2673773"/>
            <a:ext cx="4877790" cy="31390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81B034-99B9-7C99-5477-092147175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35" y="2673773"/>
            <a:ext cx="4877790" cy="313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728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48746-BB39-6F9E-0ABA-DADE8D612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E5D79-BFFE-EA73-78DF-3321F6EE9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Four-Momentum Transfer and Hadronic Invariant Mass observables </a:t>
            </a:r>
            <a:endParaRPr lang="en-SG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2A1A5-952D-BAFC-2822-3C039ECDDA2D}"/>
              </a:ext>
            </a:extLst>
          </p:cNvPr>
          <p:cNvSpPr txBox="1"/>
          <p:nvPr/>
        </p:nvSpPr>
        <p:spPr>
          <a:xfrm>
            <a:off x="1097279" y="1815053"/>
            <a:ext cx="103993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Hadronic Invariant Mass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Hadronic invariant mass of the ﬁnal state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285F44-E328-A8FF-8A75-F4E7A7F6F7DD}"/>
              </a:ext>
            </a:extLst>
          </p:cNvPr>
          <p:cNvSpPr txBox="1"/>
          <p:nvPr/>
        </p:nvSpPr>
        <p:spPr>
          <a:xfrm>
            <a:off x="1193404" y="5895880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Hadronic Invariant Mass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E83911-DCF8-8C82-3045-4330FD139A07}"/>
              </a:ext>
            </a:extLst>
          </p:cNvPr>
          <p:cNvSpPr txBox="1"/>
          <p:nvPr/>
        </p:nvSpPr>
        <p:spPr>
          <a:xfrm>
            <a:off x="6169755" y="589588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Hadronic Invariant Mass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A2A85A6-0380-70B9-2FB7-9AF8158FD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6338" y="2774903"/>
            <a:ext cx="5141343" cy="31777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4CABB4-C75A-0BFA-ADEF-20E4651E7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604" y="2774903"/>
            <a:ext cx="5089059" cy="31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045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A6347-9C27-81D9-AD60-A8DAEC959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D92CF-F033-7100-EC9D-1E9DB96DF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AFF91B-F2F8-1945-A9DC-73E42C54B88B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leading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F4EF03-2649-F9E9-EE01-4704B5ADF59B}"/>
              </a:ext>
            </a:extLst>
          </p:cNvPr>
          <p:cNvSpPr txBox="1"/>
          <p:nvPr/>
        </p:nvSpPr>
        <p:spPr>
          <a:xfrm>
            <a:off x="1069112" y="5822442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leading photon KE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12C430-5726-6287-0BCB-84ECEBE2BC01}"/>
              </a:ext>
            </a:extLst>
          </p:cNvPr>
          <p:cNvSpPr txBox="1"/>
          <p:nvPr/>
        </p:nvSpPr>
        <p:spPr>
          <a:xfrm>
            <a:off x="6559265" y="5822442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/>
              <a:t>leading photon KE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036284D-8F17-DFFD-A450-E9BEC0450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976" y="2435951"/>
            <a:ext cx="5116368" cy="32580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07EBC76-D3BF-94FA-9783-70DB37069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57" y="2401454"/>
            <a:ext cx="5116368" cy="329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1327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80585-D932-E9CA-8CD2-EAFFF34A5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0AC5D-273B-B953-D97E-603B3DC3A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B821F-9F17-EDA7-8AF2-8F83DF1DC04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US" sz="1600" b="1" dirty="0" err="1"/>
              <a:t>subleading</a:t>
            </a:r>
            <a:r>
              <a:rPr lang="en-US" sz="1600" b="1" dirty="0"/>
              <a:t> photon KE</a:t>
            </a:r>
            <a:endParaRPr lang="en-SG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7D140E-32ED-2FC1-5DBE-B13691A9298E}"/>
              </a:ext>
            </a:extLst>
          </p:cNvPr>
          <p:cNvSpPr txBox="1"/>
          <p:nvPr/>
        </p:nvSpPr>
        <p:spPr>
          <a:xfrm>
            <a:off x="759174" y="5920814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/>
              <a:t>subleading</a:t>
            </a:r>
            <a:r>
              <a:rPr lang="en-US" sz="1400" b="1" dirty="0"/>
              <a:t> photon KE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50EF55-615D-9E09-3F63-B326AAA62A3F}"/>
              </a:ext>
            </a:extLst>
          </p:cNvPr>
          <p:cNvSpPr txBox="1"/>
          <p:nvPr/>
        </p:nvSpPr>
        <p:spPr>
          <a:xfrm>
            <a:off x="6559265" y="5920815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/>
              <a:t>subleading</a:t>
            </a:r>
            <a:r>
              <a:rPr lang="en-US" sz="1400" b="1" dirty="0"/>
              <a:t> photon KE 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D5CAB4-58AE-A513-8C65-9105D6AD4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697" y="2490761"/>
            <a:ext cx="5408756" cy="34006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DD5E30-D166-9B24-31E0-9EACBA4DC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02" y="2490761"/>
            <a:ext cx="5352803" cy="34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11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097A-F892-7511-E064-7CF53821C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147FE-AE52-C439-A0B7-E23868622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Neutral Pion Mass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81793E-E307-035A-0A89-B98867A929CC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di-photon opening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C4D605-EB23-2142-58C8-A5F087CA549C}"/>
              </a:ext>
            </a:extLst>
          </p:cNvPr>
          <p:cNvSpPr txBox="1"/>
          <p:nvPr/>
        </p:nvSpPr>
        <p:spPr>
          <a:xfrm>
            <a:off x="860530" y="5891439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di-photon opening angle</a:t>
            </a:r>
            <a:r>
              <a:rPr lang="en-US" sz="1400" b="1" dirty="0"/>
              <a:t> 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39D3A6-185E-9397-30EF-6F8787C33928}"/>
              </a:ext>
            </a:extLst>
          </p:cNvPr>
          <p:cNvSpPr txBox="1"/>
          <p:nvPr/>
        </p:nvSpPr>
        <p:spPr>
          <a:xfrm>
            <a:off x="6476487" y="5891439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di-photon opening angle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263FC1-F432-C367-4E63-59804BCF3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710" y="2583381"/>
            <a:ext cx="5340063" cy="33080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982CF8-9DEC-DC74-2037-D87916B39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227" y="2583381"/>
            <a:ext cx="5340065" cy="330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027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4B71B-1B85-F48B-82A5-433DEBD2D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7254-89DA-6BF6-5AE2-FEDE594E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56F726-3A71-8F03-221C-F1C9C46D1175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53F3FC-8738-A417-A9D4-482F79F93DF6}"/>
              </a:ext>
            </a:extLst>
          </p:cNvPr>
          <p:cNvSpPr txBox="1"/>
          <p:nvPr/>
        </p:nvSpPr>
        <p:spPr>
          <a:xfrm>
            <a:off x="773753" y="5884511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momentum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2370CD-828D-D96C-AFB2-6AFE232A165E}"/>
              </a:ext>
            </a:extLst>
          </p:cNvPr>
          <p:cNvSpPr txBox="1"/>
          <p:nvPr/>
        </p:nvSpPr>
        <p:spPr>
          <a:xfrm>
            <a:off x="6882791" y="5884511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momentum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0B7626F-B325-FE99-2ACC-D2CD39395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265" y="2549414"/>
            <a:ext cx="5182508" cy="33350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6D097D-0C64-8A9A-5A11-394C77AD3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28" y="2549414"/>
            <a:ext cx="5182509" cy="333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088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31508-02F2-CC11-5640-422992898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8738A-75AA-3C95-8691-93BE0003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F0B84D-06BE-35A1-BC9D-AA5EDEA4FD2D}"/>
              </a:ext>
            </a:extLst>
          </p:cNvPr>
          <p:cNvSpPr txBox="1"/>
          <p:nvPr/>
        </p:nvSpPr>
        <p:spPr>
          <a:xfrm>
            <a:off x="1097279" y="1815053"/>
            <a:ext cx="1039939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Muon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angle the true muon makes with the beam</a:t>
            </a:r>
            <a:endParaRPr lang="en-SG" sz="1600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B6C6D6-1254-BFF7-3477-C714B760A9A4}"/>
              </a:ext>
            </a:extLst>
          </p:cNvPr>
          <p:cNvSpPr txBox="1"/>
          <p:nvPr/>
        </p:nvSpPr>
        <p:spPr>
          <a:xfrm>
            <a:off x="930211" y="591810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EDFC-454C-629A-F12D-72C4A3B29379}"/>
              </a:ext>
            </a:extLst>
          </p:cNvPr>
          <p:cNvSpPr txBox="1"/>
          <p:nvPr/>
        </p:nvSpPr>
        <p:spPr>
          <a:xfrm>
            <a:off x="6434588" y="5918103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Muon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my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665F59D-51B9-D67E-B380-E4EA71ADC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397" y="2542495"/>
            <a:ext cx="5302890" cy="33768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6D387F-7E2E-B908-A850-E50973174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75" y="2542495"/>
            <a:ext cx="5247330" cy="3376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556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38C87-20A0-D3C8-784A-ACA872D6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D0EE3-1BE3-58BB-17C8-A11E8AEA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0BA43-8605-E9DE-A6A5-53744CDABAA3}"/>
              </a:ext>
            </a:extLst>
          </p:cNvPr>
          <p:cNvSpPr txBox="1"/>
          <p:nvPr/>
        </p:nvSpPr>
        <p:spPr>
          <a:xfrm>
            <a:off x="1097279" y="1815053"/>
            <a:ext cx="10399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momentum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45997C-BCD1-D99A-DDF4-CAF6B3E8A356}"/>
              </a:ext>
            </a:extLst>
          </p:cNvPr>
          <p:cNvSpPr txBox="1"/>
          <p:nvPr/>
        </p:nvSpPr>
        <p:spPr>
          <a:xfrm>
            <a:off x="1001598" y="5958561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momentum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93353-6E10-ECF1-4F4F-E09598E8E353}"/>
              </a:ext>
            </a:extLst>
          </p:cNvPr>
          <p:cNvSpPr txBox="1"/>
          <p:nvPr/>
        </p:nvSpPr>
        <p:spPr>
          <a:xfrm>
            <a:off x="6335419" y="5958560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momentum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893B3D5-074D-8C1F-0C52-A536699B3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89" y="2546717"/>
            <a:ext cx="5301769" cy="3411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F40B0A-B005-DD72-FDD9-E2BED75E4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43" y="2546717"/>
            <a:ext cx="5301769" cy="341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02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2595-0E1D-815B-6B8B-180F564D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ED3F-8072-2AEE-2D03-422F212F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dirty="0"/>
              <a:t>Cross Section Analysis Observables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C2AC3C-21B7-CC1C-B7CD-65A6B025B2EC}"/>
              </a:ext>
            </a:extLst>
          </p:cNvPr>
          <p:cNvSpPr txBox="1"/>
          <p:nvPr/>
        </p:nvSpPr>
        <p:spPr>
          <a:xfrm>
            <a:off x="1097279" y="1815053"/>
            <a:ext cx="1039939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Plotting </a:t>
            </a:r>
            <a:r>
              <a:rPr lang="en-SG" sz="1600" b="1" dirty="0"/>
              <a:t>pi0 beam </a:t>
            </a:r>
            <a:r>
              <a:rPr lang="en-SG" sz="1600" b="1" dirty="0" err="1"/>
              <a:t>costheta</a:t>
            </a:r>
            <a:endParaRPr lang="en-SG" sz="1600" b="1" dirty="0"/>
          </a:p>
          <a:p>
            <a:r>
              <a:rPr lang="en-US" sz="1600" dirty="0"/>
              <a:t>angle the true neutral pion makes with the beam</a:t>
            </a:r>
            <a:endParaRPr lang="en-SG" sz="1600" dirty="0"/>
          </a:p>
          <a:p>
            <a:endParaRPr lang="en-SG" sz="1600" b="1" dirty="0"/>
          </a:p>
          <a:p>
            <a:endParaRPr lang="en-SG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DA1B97-6D0B-2192-B584-069B6CC87FE7}"/>
              </a:ext>
            </a:extLst>
          </p:cNvPr>
          <p:cNvSpPr txBox="1"/>
          <p:nvPr/>
        </p:nvSpPr>
        <p:spPr>
          <a:xfrm>
            <a:off x="686537" y="5927653"/>
            <a:ext cx="45354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 err="1">
                <a:solidFill>
                  <a:srgbClr val="FF0000"/>
                </a:solidFill>
              </a:rPr>
              <a:t>NuMI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F6E676-CA6A-5AF6-6FDA-7BCE9C59B09A}"/>
              </a:ext>
            </a:extLst>
          </p:cNvPr>
          <p:cNvSpPr txBox="1"/>
          <p:nvPr/>
        </p:nvSpPr>
        <p:spPr>
          <a:xfrm>
            <a:off x="6395408" y="5891438"/>
            <a:ext cx="5174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SG" sz="1400" b="1" dirty="0"/>
              <a:t>pi0 beam </a:t>
            </a:r>
            <a:r>
              <a:rPr lang="en-SG" sz="1400" b="1" dirty="0" err="1"/>
              <a:t>costheta</a:t>
            </a:r>
            <a:r>
              <a:rPr lang="en-SG" sz="1400" b="1" dirty="0"/>
              <a:t> </a:t>
            </a:r>
            <a:r>
              <a:rPr lang="en-US" sz="1400" b="1" dirty="0"/>
              <a:t>from </a:t>
            </a:r>
            <a:r>
              <a:rPr lang="en-US" b="1" dirty="0">
                <a:solidFill>
                  <a:srgbClr val="FF0000"/>
                </a:solidFill>
              </a:rPr>
              <a:t>BNB</a:t>
            </a:r>
            <a:r>
              <a:rPr lang="en-US" sz="1400" b="1" dirty="0"/>
              <a:t> selection</a:t>
            </a:r>
            <a:endParaRPr lang="en-SG" sz="14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9D4212B-D1B2-C1DB-A9BE-DB2C73E4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976" y="2471017"/>
            <a:ext cx="5371373" cy="34204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37F535-CEA2-254E-2799-EE9EBF7F7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580" y="2471017"/>
            <a:ext cx="5371372" cy="3456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018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6418</TotalTime>
  <Words>1301</Words>
  <Application>Microsoft Office PowerPoint</Application>
  <PresentationFormat>Widescreen</PresentationFormat>
  <Paragraphs>256</Paragraphs>
  <Slides>32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Arial</vt:lpstr>
      <vt:lpstr>Calibri</vt:lpstr>
      <vt:lpstr>Calibri Light</vt:lpstr>
      <vt:lpstr>Cambria Math</vt:lpstr>
      <vt:lpstr>Retrospect</vt:lpstr>
      <vt:lpstr>Tasks completed (12 Mar) </vt:lpstr>
      <vt:lpstr>NuMI vs BNB simulation sample</vt:lpstr>
      <vt:lpstr>Categorizing interactions</vt:lpstr>
      <vt:lpstr>NuMI vs BNB: Interaction category type percentage</vt:lpstr>
      <vt:lpstr>NuMI: Looking into ‘other v’ category</vt:lpstr>
      <vt:lpstr>Initial selection: neutral pion mass distribution</vt:lpstr>
      <vt:lpstr>Shower energy correction: Crystal ball fitting</vt:lpstr>
      <vt:lpstr>Cuts on reconstructed neutral pion mass</vt:lpstr>
      <vt:lpstr>Selection performance analysis</vt:lpstr>
      <vt:lpstr>Efficiency and Purity analysis</vt:lpstr>
      <vt:lpstr>PID Truth to Reco confusion matrix</vt:lpstr>
      <vt:lpstr>PID Reco to Truth confusion matrix</vt:lpstr>
      <vt:lpstr>Reconstructed observables in simulation</vt:lpstr>
      <vt:lpstr>Reconstructed observables in simulation</vt:lpstr>
      <vt:lpstr>Low-level observables</vt:lpstr>
      <vt:lpstr>Low-level observables</vt:lpstr>
      <vt:lpstr>Low-level observables</vt:lpstr>
      <vt:lpstr>Low-level observables</vt:lpstr>
      <vt:lpstr>Low-level observables</vt:lpstr>
      <vt:lpstr>Low-level observables</vt:lpstr>
      <vt:lpstr>Transverse kinematic imbalance observables</vt:lpstr>
      <vt:lpstr>Transverse kinematic imbalance observables</vt:lpstr>
      <vt:lpstr>Transverse kinematic imbalance observables</vt:lpstr>
      <vt:lpstr>Four-Momentum Transfer and Hadronic Invariant Mass observables </vt:lpstr>
      <vt:lpstr>Four-Momentum Transfer and Hadronic Invariant Mass observables </vt:lpstr>
      <vt:lpstr>Neutral Pion Mass observables</vt:lpstr>
      <vt:lpstr>Neutral Pion Mass observables</vt:lpstr>
      <vt:lpstr>Neutral Pion Mass observables</vt:lpstr>
      <vt:lpstr>Cross Section Analysis Observables</vt:lpstr>
      <vt:lpstr>Cross Section Analysis Observables</vt:lpstr>
      <vt:lpstr>Cross Section Analysis Observables</vt:lpstr>
      <vt:lpstr>Cross Section Analysis Observables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#JORDON KOH JIN CHEN#</dc:creator>
  <cp:lastModifiedBy>#JORDON KOH JIN CHEN#</cp:lastModifiedBy>
  <cp:revision>32</cp:revision>
  <dcterms:created xsi:type="dcterms:W3CDTF">2025-11-12T13:24:12Z</dcterms:created>
  <dcterms:modified xsi:type="dcterms:W3CDTF">2026-03-16T11:34:35Z</dcterms:modified>
</cp:coreProperties>
</file>