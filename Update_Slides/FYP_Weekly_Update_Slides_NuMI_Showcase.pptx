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0" r:id="rId1"/>
  </p:sldMasterIdLst>
  <p:notesMasterIdLst>
    <p:notesMasterId r:id="rId16"/>
  </p:notesMasterIdLst>
  <p:sldIdLst>
    <p:sldId id="415" r:id="rId2"/>
    <p:sldId id="351" r:id="rId3"/>
    <p:sldId id="416" r:id="rId4"/>
    <p:sldId id="417" r:id="rId5"/>
    <p:sldId id="419" r:id="rId6"/>
    <p:sldId id="418" r:id="rId7"/>
    <p:sldId id="420" r:id="rId8"/>
    <p:sldId id="421" r:id="rId9"/>
    <p:sldId id="423" r:id="rId10"/>
    <p:sldId id="424" r:id="rId11"/>
    <p:sldId id="425" r:id="rId12"/>
    <p:sldId id="426" r:id="rId13"/>
    <p:sldId id="427" r:id="rId14"/>
    <p:sldId id="428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838" autoAdjust="0"/>
    <p:restoredTop sz="93630" autoAdjust="0"/>
  </p:normalViewPr>
  <p:slideViewPr>
    <p:cSldViewPr snapToGrid="0">
      <p:cViewPr varScale="1">
        <p:scale>
          <a:sx n="104" d="100"/>
          <a:sy n="104" d="100"/>
        </p:scale>
        <p:origin x="882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SG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03BD9BC-DEF3-4382-83D6-5C0A0444C18A}" type="datetimeFigureOut">
              <a:rPr lang="en-SG" smtClean="0"/>
              <a:t>24/3/2026</a:t>
            </a:fld>
            <a:endParaRPr lang="en-SG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SG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S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2B5FDCB-33CC-4AD4-B363-617329C34B90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6611022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4FA4BA-4D29-A8DF-B57D-85882B6D3C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A9C80DA-365B-C047-1DEC-58D6D5B2F47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B8B8D1C-17EA-F430-CF55-D15A23D189E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B8C0B01-45D4-6BF3-1074-6D74E0E73FA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B5FDCB-33CC-4AD4-B363-617329C34B90}" type="slidenum">
              <a:rPr lang="en-SG" smtClean="0"/>
              <a:t>2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63929929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CB4791-2B0C-B0FF-37E5-15066CB37D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87D74B4-5A9F-F32D-59FA-607DAA396AB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0EDD9F1-EEB7-BE44-3E5B-20CB3E35BFF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263E2B5-069F-3A0C-0310-3F272A86AAF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B5FDCB-33CC-4AD4-B363-617329C34B90}" type="slidenum">
              <a:rPr lang="en-SG" smtClean="0"/>
              <a:t>3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50294807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253C6E-A9FB-EB3F-01E4-0562A986A9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1E3D360-FE34-1626-72BE-3102543347A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CD6ADEE-EE95-4EF9-34C7-273AE387589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C25A49A-D07D-CBF8-3730-F2B530DB1AC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B5FDCB-33CC-4AD4-B363-617329C34B90}" type="slidenum">
              <a:rPr lang="en-SG" smtClean="0"/>
              <a:t>4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50399560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902DCF-53A0-FA01-953D-913ED09242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F938DD8-E5A4-47B5-743D-869B8D3A0E0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1EFA1D3-DB14-AAC2-6127-4A0765FDE51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7DA0DF1-2FBA-EC81-8428-D9B4A2E021F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B5FDCB-33CC-4AD4-B363-617329C34B90}" type="slidenum">
              <a:rPr lang="en-SG" smtClean="0"/>
              <a:t>5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65539252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04FF31-6C81-2BEF-DC0E-351A07E24C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9A8FF50-797F-F668-BCC0-15607F53D3D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02BDEE6-2488-D74B-9C53-23D49D7F699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D8E4514-34A4-763F-F426-914A4C2181A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B5FDCB-33CC-4AD4-B363-617329C34B90}" type="slidenum">
              <a:rPr lang="en-SG" smtClean="0"/>
              <a:t>8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1416968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3A5836-8139-8709-69EE-923D94EDD5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42F5F29-5AE2-3333-6457-D156D01342B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9BB3ECE-F868-5E44-1A9D-3B84D540853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C3D67CE-7270-A8CA-6F49-780ED29DDDB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B5FDCB-33CC-4AD4-B363-617329C34B90}" type="slidenum">
              <a:rPr lang="en-SG" smtClean="0"/>
              <a:t>13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21879378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SG"/>
          </a:p>
        </p:txBody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SG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AFE32E-95B7-4367-9495-9CBC389572F3}" type="datetimeFigureOut">
              <a:rPr lang="en-SG" smtClean="0"/>
              <a:t>24/3/2026</a:t>
            </a:fld>
            <a:endParaRPr lang="en-S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CD8743-5A53-4A98-BC6F-5DFD6CC2F469}" type="slidenum">
              <a:rPr lang="en-SG" smtClean="0"/>
              <a:t>‹#›</a:t>
            </a:fld>
            <a:endParaRPr lang="en-SG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519519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AFE32E-95B7-4367-9495-9CBC389572F3}" type="datetimeFigureOut">
              <a:rPr lang="en-SG" smtClean="0"/>
              <a:t>24/3/2026</a:t>
            </a:fld>
            <a:endParaRPr lang="en-S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CD8743-5A53-4A98-BC6F-5DFD6CC2F469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4678056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AFE32E-95B7-4367-9495-9CBC389572F3}" type="datetimeFigureOut">
              <a:rPr lang="en-SG" smtClean="0"/>
              <a:t>24/3/2026</a:t>
            </a:fld>
            <a:endParaRPr lang="en-S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CD8743-5A53-4A98-BC6F-5DFD6CC2F469}" type="slidenum">
              <a:rPr lang="en-SG" smtClean="0"/>
              <a:t>‹#›</a:t>
            </a:fld>
            <a:endParaRPr lang="en-SG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095631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AFE32E-95B7-4367-9495-9CBC389572F3}" type="datetimeFigureOut">
              <a:rPr lang="en-SG" smtClean="0"/>
              <a:t>24/3/2026</a:t>
            </a:fld>
            <a:endParaRPr lang="en-S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CD8743-5A53-4A98-BC6F-5DFD6CC2F469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7703045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AFE32E-95B7-4367-9495-9CBC389572F3}" type="datetimeFigureOut">
              <a:rPr lang="en-SG" smtClean="0"/>
              <a:t>24/3/2026</a:t>
            </a:fld>
            <a:endParaRPr lang="en-SG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CD8743-5A53-4A98-BC6F-5DFD6CC2F469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5225995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AFE32E-95B7-4367-9495-9CBC389572F3}" type="datetimeFigureOut">
              <a:rPr lang="en-SG" smtClean="0"/>
              <a:t>24/3/2026</a:t>
            </a:fld>
            <a:endParaRPr lang="en-SG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CD8743-5A53-4A98-BC6F-5DFD6CC2F469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7720122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AFE32E-95B7-4367-9495-9CBC389572F3}" type="datetimeFigureOut">
              <a:rPr lang="en-SG" smtClean="0"/>
              <a:t>24/3/2026</a:t>
            </a:fld>
            <a:endParaRPr lang="en-SG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SG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CD8743-5A53-4A98-BC6F-5DFD6CC2F469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0813885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0EAFE32E-95B7-4367-9495-9CBC389572F3}" type="datetimeFigureOut">
              <a:rPr lang="en-SG" smtClean="0"/>
              <a:t>24/3/2026</a:t>
            </a:fld>
            <a:endParaRPr lang="en-S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S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BBCD8743-5A53-4A98-BC6F-5DFD6CC2F469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41054550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AFE32E-95B7-4367-9495-9CBC389572F3}" type="datetimeFigureOut">
              <a:rPr lang="en-SG" smtClean="0"/>
              <a:t>24/3/2026</a:t>
            </a:fld>
            <a:endParaRPr lang="en-S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CD8743-5A53-4A98-BC6F-5DFD6CC2F469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523483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AFE32E-95B7-4367-9495-9CBC389572F3}" type="datetimeFigureOut">
              <a:rPr lang="en-SG" smtClean="0"/>
              <a:t>24/3/2026</a:t>
            </a:fld>
            <a:endParaRPr lang="en-S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CD8743-5A53-4A98-BC6F-5DFD6CC2F469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2192881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AFE32E-95B7-4367-9495-9CBC389572F3}" type="datetimeFigureOut">
              <a:rPr lang="en-SG" smtClean="0"/>
              <a:t>24/3/2026</a:t>
            </a:fld>
            <a:endParaRPr lang="en-S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CD8743-5A53-4A98-BC6F-5DFD6CC2F469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6930673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SG"/>
          </a:p>
        </p:txBody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SG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0EAFE32E-95B7-4367-9495-9CBC389572F3}" type="datetimeFigureOut">
              <a:rPr lang="en-SG" smtClean="0"/>
              <a:t>24/3/2026</a:t>
            </a:fld>
            <a:endParaRPr lang="en-S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S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BBCD8743-5A53-4A98-BC6F-5DFD6CC2F469}" type="slidenum">
              <a:rPr lang="en-SG" smtClean="0"/>
              <a:t>‹#›</a:t>
            </a:fld>
            <a:endParaRPr lang="en-SG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859773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  <p:sldLayoutId id="2147483692" r:id="rId2"/>
    <p:sldLayoutId id="2147483693" r:id="rId3"/>
    <p:sldLayoutId id="2147483694" r:id="rId4"/>
    <p:sldLayoutId id="2147483695" r:id="rId5"/>
    <p:sldLayoutId id="2147483696" r:id="rId6"/>
    <p:sldLayoutId id="2147483697" r:id="rId7"/>
    <p:sldLayoutId id="2147483698" r:id="rId8"/>
    <p:sldLayoutId id="2147483699" r:id="rId9"/>
    <p:sldLayoutId id="2147483700" r:id="rId10"/>
    <p:sldLayoutId id="2147483701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Relationship Id="rId9" Type="http://schemas.openxmlformats.org/officeDocument/2006/relationships/image" Target="../media/image19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image" Target="../media/image7.png"/><Relationship Id="rId7" Type="http://schemas.openxmlformats.org/officeDocument/2006/relationships/image" Target="../media/image24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Relationship Id="rId9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png"/><Relationship Id="rId3" Type="http://schemas.openxmlformats.org/officeDocument/2006/relationships/image" Target="../media/image27.png"/><Relationship Id="rId7" Type="http://schemas.openxmlformats.org/officeDocument/2006/relationships/image" Target="../media/image31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image" Target="../media/image28.png"/><Relationship Id="rId9" Type="http://schemas.openxmlformats.org/officeDocument/2006/relationships/image" Target="../media/image3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7" Type="http://schemas.openxmlformats.org/officeDocument/2006/relationships/image" Target="../media/image39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8.png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7" Type="http://schemas.openxmlformats.org/officeDocument/2006/relationships/image" Target="../media/image45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4.png"/><Relationship Id="rId5" Type="http://schemas.openxmlformats.org/officeDocument/2006/relationships/image" Target="../media/image43.png"/><Relationship Id="rId4" Type="http://schemas.openxmlformats.org/officeDocument/2006/relationships/image" Target="../media/image42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DAC4A4-1ABF-D84E-77AE-1336A4D0FA5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Two-shower selection of HNL candidates</a:t>
            </a:r>
            <a:endParaRPr lang="en-SG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C2FF7D7-4FED-B2CE-418E-FE906F99186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Jordon </a:t>
            </a:r>
            <a:r>
              <a:rPr lang="en-US" dirty="0" err="1"/>
              <a:t>koh</a:t>
            </a:r>
            <a:r>
              <a:rPr lang="en-US" dirty="0"/>
              <a:t>, Nanyang technological university</a:t>
            </a: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38873696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6D7BDB-9701-984E-3B5C-CAFEA31C70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678366-A442-6703-8E8A-09627C3215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Background</a:t>
            </a:r>
            <a:endParaRPr lang="en-S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3A9378-1C91-D033-6E65-8E0A3680C8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845734"/>
            <a:ext cx="10651375" cy="4351866"/>
          </a:xfrm>
        </p:spPr>
        <p:txBody>
          <a:bodyPr>
            <a:normAutofit/>
          </a:bodyPr>
          <a:lstStyle/>
          <a:p>
            <a:pPr marL="201168" lvl="1" indent="0">
              <a:buNone/>
            </a:pPr>
            <a:r>
              <a:rPr lang="en-US" dirty="0"/>
              <a:t>			</a:t>
            </a:r>
          </a:p>
          <a:p>
            <a:pPr marL="0" indent="0">
              <a:buNone/>
            </a:pPr>
            <a:endParaRPr lang="en-SG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D4D2DD50-F74D-F46C-EEE7-7F2E8C6B0064}"/>
                  </a:ext>
                </a:extLst>
              </p:cNvPr>
              <p:cNvSpPr txBox="1"/>
              <p:nvPr/>
            </p:nvSpPr>
            <p:spPr>
              <a:xfrm>
                <a:off x="1097280" y="1815053"/>
                <a:ext cx="5728393" cy="369331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2400" b="1" dirty="0"/>
                  <a:t>Looking for Heavy Neutral Leptons (HNLs) decay product candidates 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Focusing on </a:t>
                </a:r>
                <a:r>
                  <a:rPr lang="en-US" dirty="0" err="1"/>
                  <a:t>NuMI</a:t>
                </a:r>
                <a:r>
                  <a:rPr lang="en-US" dirty="0"/>
                  <a:t> beam and ICARUS detector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Particularly looking at final state two-shower particles </a:t>
                </a:r>
              </a:p>
              <a:p>
                <a:endParaRPr lang="en-US" dirty="0"/>
              </a:p>
              <a:p>
                <a:r>
                  <a:rPr lang="en-US" sz="2400" b="1" dirty="0"/>
                  <a:t>Examples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Di-electron shower (</a:t>
                </a:r>
                <a:r>
                  <a:rPr lang="en-US" i="1" dirty="0" err="1"/>
                  <a:t>eev</a:t>
                </a:r>
                <a:r>
                  <a:rPr lang="en-US" i="1" dirty="0"/>
                  <a:t>)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Di-photon shower from neutral pion production channel (</a:t>
                </a:r>
                <a:r>
                  <a:rPr lang="en-US" i="1" dirty="0"/>
                  <a:t>v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l-GR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l-GR" i="1"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p>
                    </m:sSup>
                  </m:oMath>
                </a14:m>
                <a:r>
                  <a:rPr lang="en-US" dirty="0"/>
                  <a:t>)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endParaRPr lang="en-US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dirty="0"/>
              </a:p>
              <a:p>
                <a:endParaRPr lang="en-SG" b="1" dirty="0"/>
              </a:p>
            </p:txBody>
          </p:sp>
        </mc:Choice>
        <mc:Fallback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D4D2DD50-F74D-F46C-EEE7-7F2E8C6B006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97280" y="1815053"/>
                <a:ext cx="5728393" cy="3693319"/>
              </a:xfrm>
              <a:prstGeom prst="rect">
                <a:avLst/>
              </a:prstGeom>
              <a:blipFill>
                <a:blip r:embed="rId3"/>
                <a:stretch>
                  <a:fillRect l="-1596" t="-1320" r="-1277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Picture 5">
            <a:extLst>
              <a:ext uri="{FF2B5EF4-FFF2-40B4-BE49-F238E27FC236}">
                <a16:creationId xmlns:a16="http://schemas.microsoft.com/office/drawing/2014/main" id="{D0B74264-0CAE-1276-60A0-FB3A5D41A1F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21601" y="1988271"/>
            <a:ext cx="3898178" cy="315148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95ECE92-3C21-D601-BB29-EC523FEF1232}"/>
              </a:ext>
            </a:extLst>
          </p:cNvPr>
          <p:cNvSpPr txBox="1"/>
          <p:nvPr/>
        </p:nvSpPr>
        <p:spPr>
          <a:xfrm>
            <a:off x="7784484" y="5139756"/>
            <a:ext cx="377241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dirty="0"/>
              <a:t>Most relevant HNL decay channels into SM particles, from (Chatterjee et al., 2025) </a:t>
            </a:r>
            <a:endParaRPr lang="en-SG" sz="1400" dirty="0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3E9CD772-3EF5-869F-2343-82A2639EEAE4}"/>
              </a:ext>
            </a:extLst>
          </p:cNvPr>
          <p:cNvSpPr/>
          <p:nvPr/>
        </p:nvSpPr>
        <p:spPr>
          <a:xfrm>
            <a:off x="8617527" y="3429000"/>
            <a:ext cx="480291" cy="348673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AB0486DA-C949-F3C4-59AA-E0C0CF76226F}"/>
              </a:ext>
            </a:extLst>
          </p:cNvPr>
          <p:cNvSpPr/>
          <p:nvPr/>
        </p:nvSpPr>
        <p:spPr>
          <a:xfrm>
            <a:off x="8617526" y="3783585"/>
            <a:ext cx="480291" cy="348673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9A168A28-9160-2174-EC71-DAA422C557F8}"/>
              </a:ext>
            </a:extLst>
          </p:cNvPr>
          <p:cNvSpPr/>
          <p:nvPr/>
        </p:nvSpPr>
        <p:spPr>
          <a:xfrm>
            <a:off x="8617526" y="2601750"/>
            <a:ext cx="480291" cy="348673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848D424E-A74E-36B0-18E9-DE78DCEC8457}"/>
              </a:ext>
            </a:extLst>
          </p:cNvPr>
          <p:cNvSpPr/>
          <p:nvPr/>
        </p:nvSpPr>
        <p:spPr>
          <a:xfrm>
            <a:off x="8617526" y="3003752"/>
            <a:ext cx="480291" cy="348673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4547421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BAB677-3F1E-B058-2833-45741004A3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6298F4-D01B-D251-9722-671611468C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Motivations</a:t>
            </a:r>
            <a:endParaRPr lang="en-S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522F9E-B332-9841-A067-B97A2B72FB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845734"/>
            <a:ext cx="10651375" cy="4351866"/>
          </a:xfrm>
        </p:spPr>
        <p:txBody>
          <a:bodyPr>
            <a:normAutofit/>
          </a:bodyPr>
          <a:lstStyle/>
          <a:p>
            <a:pPr marL="201168" lvl="1" indent="0">
              <a:buNone/>
            </a:pPr>
            <a:r>
              <a:rPr lang="en-US" dirty="0"/>
              <a:t>			</a:t>
            </a:r>
          </a:p>
          <a:p>
            <a:pPr>
              <a:buFont typeface="Arial" panose="020B0604020202020204" pitchFamily="34" charset="0"/>
              <a:buChar char="•"/>
            </a:pPr>
            <a:endParaRPr lang="en-SG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DB4F0BB-D074-9811-26A7-6FD74DEC6AC8}"/>
              </a:ext>
            </a:extLst>
          </p:cNvPr>
          <p:cNvSpPr txBox="1"/>
          <p:nvPr/>
        </p:nvSpPr>
        <p:spPr>
          <a:xfrm>
            <a:off x="1097280" y="1815053"/>
            <a:ext cx="9589193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u="sng" dirty="0"/>
              <a:t>Reasons for choosing ICARUS and </a:t>
            </a:r>
            <a:r>
              <a:rPr lang="en-US" sz="2400" b="1" u="sng" dirty="0" err="1"/>
              <a:t>NuMI</a:t>
            </a:r>
            <a:r>
              <a:rPr lang="en-US" sz="2400" b="1" u="sng" dirty="0"/>
              <a:t>  beam</a:t>
            </a:r>
            <a:endParaRPr lang="en-US" b="1" u="sng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Higher energy of </a:t>
            </a:r>
            <a:r>
              <a:rPr lang="en-US" dirty="0" err="1"/>
              <a:t>NuMI</a:t>
            </a:r>
            <a:r>
              <a:rPr lang="en-US" dirty="0"/>
              <a:t> beam compared to BNB beam results in greater meson production rate and potentially increased HNL production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NuMI</a:t>
            </a:r>
            <a:r>
              <a:rPr lang="en-US" dirty="0"/>
              <a:t> beam is directed off-axis to ICARUS, thus neutrino background is significantly lower than that of on-axis BNB beam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ICARUS is the largest operational </a:t>
            </a:r>
            <a:r>
              <a:rPr lang="en-US" dirty="0" err="1"/>
              <a:t>LArTPC</a:t>
            </a:r>
            <a:r>
              <a:rPr lang="en-US" dirty="0"/>
              <a:t> detector with excellent calorimetric and Particle PID reconstruction, enabling identification of all promising decay channels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endParaRPr lang="en-SG" b="1" dirty="0"/>
          </a:p>
        </p:txBody>
      </p:sp>
    </p:spTree>
    <p:extLst>
      <p:ext uri="{BB962C8B-B14F-4D97-AF65-F5344CB8AC3E}">
        <p14:creationId xmlns:p14="http://schemas.microsoft.com/office/powerpoint/2010/main" val="12181236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2B9375-E165-D792-07E9-A887AD7ED9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3708E6-21C1-9002-AB94-BCA2C6025E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Event selection plan</a:t>
            </a:r>
            <a:endParaRPr lang="en-S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4D1A27-3F10-8545-24F8-824185EC93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845734"/>
            <a:ext cx="10651375" cy="4351866"/>
          </a:xfrm>
        </p:spPr>
        <p:txBody>
          <a:bodyPr>
            <a:normAutofit/>
          </a:bodyPr>
          <a:lstStyle/>
          <a:p>
            <a:pPr marL="201168" lvl="1" indent="0">
              <a:buNone/>
            </a:pPr>
            <a:r>
              <a:rPr lang="en-US" dirty="0"/>
              <a:t>			</a:t>
            </a:r>
          </a:p>
          <a:p>
            <a:pPr>
              <a:buFont typeface="Arial" panose="020B0604020202020204" pitchFamily="34" charset="0"/>
              <a:buChar char="•"/>
            </a:pPr>
            <a:endParaRPr lang="en-SG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BC6C4AA-05E2-A40A-51DD-5F3208DF66B3}"/>
              </a:ext>
            </a:extLst>
          </p:cNvPr>
          <p:cNvSpPr txBox="1"/>
          <p:nvPr/>
        </p:nvSpPr>
        <p:spPr>
          <a:xfrm>
            <a:off x="1097280" y="1815053"/>
            <a:ext cx="6347229" cy="54476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/>
              <a:t>For Di-photon shower selection</a:t>
            </a:r>
            <a:br>
              <a:rPr lang="en-US" b="1" dirty="0"/>
            </a:br>
            <a:endParaRPr lang="en-US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Referencing and verifying Lane </a:t>
            </a:r>
            <a:r>
              <a:rPr lang="en-US" dirty="0" err="1"/>
              <a:t>Kashur’s</a:t>
            </a:r>
            <a:r>
              <a:rPr lang="en-US" dirty="0"/>
              <a:t> thesis work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Lane’s work focused on BNB beam data and MC sample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Eventually recreate selection for </a:t>
            </a:r>
            <a:r>
              <a:rPr lang="en-US" dirty="0" err="1"/>
              <a:t>NuMI</a:t>
            </a:r>
            <a:r>
              <a:rPr lang="en-US" dirty="0"/>
              <a:t> beam data and MC sample and compare distributions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r>
              <a:rPr lang="en-US" b="1" dirty="0"/>
              <a:t>Differences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Used much smaller MC BNB sample for recreation (1.68e21 vs 1.74e20)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Only focused on MC sample, no data comparison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Some data and beam quality cuts not applied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Binning may be slightly different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endParaRPr lang="en-SG" b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608CCD7-7B27-1E7F-60FA-918AC42E70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29130" y="3289650"/>
            <a:ext cx="3819525" cy="533400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D75001D3-F83A-CAA0-3149-937642DAC7B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44509" y="1982441"/>
            <a:ext cx="4651951" cy="13192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68353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94136F-3C88-11B6-E8BC-F4D0616A8E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5D33EC-53CA-6232-BA89-D11E7CD386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Signal and Selected definitions</a:t>
            </a:r>
            <a:endParaRPr lang="en-SG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9AD4609-0522-B37E-A405-119B1C97C913}"/>
              </a:ext>
            </a:extLst>
          </p:cNvPr>
          <p:cNvSpPr txBox="1"/>
          <p:nvPr/>
        </p:nvSpPr>
        <p:spPr>
          <a:xfrm>
            <a:off x="995680" y="1815053"/>
            <a:ext cx="4915593" cy="4801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Signal: defined as a true Charged Current muon neutrino interaction that is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 err="1"/>
              <a:t>Fiducialized</a:t>
            </a:r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Not within the region deﬁning the central 200 cm of the detector (z-axis not within -100cm to 100cm in detector coordinates)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Exactly one primary muon (KE ≥ 143.425 MeV)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Zero primary charged </a:t>
            </a:r>
            <a:r>
              <a:rPr lang="en-US" dirty="0" err="1"/>
              <a:t>pions</a:t>
            </a:r>
            <a:r>
              <a:rPr lang="en-US" dirty="0"/>
              <a:t>  (KE ≥ 25 MeV)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Exactly one neutral pion (no KE threshold)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Any number of particles that are not muons or </a:t>
            </a:r>
            <a:r>
              <a:rPr lang="en-US" dirty="0" err="1"/>
              <a:t>pions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endParaRPr lang="en-SG" b="1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C94E430-6263-5708-3B21-091B53744F12}"/>
              </a:ext>
            </a:extLst>
          </p:cNvPr>
          <p:cNvSpPr txBox="1"/>
          <p:nvPr/>
        </p:nvSpPr>
        <p:spPr>
          <a:xfrm>
            <a:off x="6280729" y="1815053"/>
            <a:ext cx="4915593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Selection: Cuts applied for selection of reconstructed interactions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Fiducial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z-axis not within -100cm to 100cm in detector coordinates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Flash time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Single primary muon (KE ≥ 143.425 MeV)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No primary charged </a:t>
            </a:r>
            <a:r>
              <a:rPr lang="en-US" dirty="0" err="1"/>
              <a:t>pions</a:t>
            </a:r>
            <a:r>
              <a:rPr lang="en-US" dirty="0"/>
              <a:t> (KE ≥ 25 MeV)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Two primary photons (KE ≥ 25 MeV)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Pi0 mass cut </a:t>
            </a:r>
          </a:p>
        </p:txBody>
      </p:sp>
    </p:spTree>
    <p:extLst>
      <p:ext uri="{BB962C8B-B14F-4D97-AF65-F5344CB8AC3E}">
        <p14:creationId xmlns:p14="http://schemas.microsoft.com/office/powerpoint/2010/main" val="41404838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F7B572-32EC-1ABD-4D5C-10544EF4AE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56526D-69BD-6957-2605-22AFE579FD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Plot comparison</a:t>
            </a:r>
            <a:endParaRPr lang="en-SG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7A167A7-B63E-781A-FEA9-9A432F72EC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2811" y="2011154"/>
            <a:ext cx="3408499" cy="178227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F9CF99C-E7C4-BEE9-5575-1AC4F34C89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61310" y="1958640"/>
            <a:ext cx="3110937" cy="188730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E549279-BD60-3BE5-A8CB-C7E405C4B2B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7569" y="4435695"/>
            <a:ext cx="1822359" cy="173887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22CFA421-AC46-3BBA-FAA8-81EC82C9E25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86399" y="4415480"/>
            <a:ext cx="2795064" cy="1788187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0E2954D0-F0A2-A854-8194-66E6FF083ED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97570" y="2085329"/>
            <a:ext cx="1871375" cy="1785647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AB3329FE-0462-9F78-50DD-B3BC14EFF0B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68945" y="2030411"/>
            <a:ext cx="2870244" cy="1836285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39D7392C-DEA4-8ADD-8879-86482F7B45E7}"/>
              </a:ext>
            </a:extLst>
          </p:cNvPr>
          <p:cNvSpPr txBox="1"/>
          <p:nvPr/>
        </p:nvSpPr>
        <p:spPr>
          <a:xfrm>
            <a:off x="8033759" y="1757721"/>
            <a:ext cx="333188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b="1" u="sng" dirty="0"/>
              <a:t>Reconstructed Hadronic Invariant Mass</a:t>
            </a:r>
            <a:endParaRPr lang="en-SG" sz="1400" b="1" u="sng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F77E1EC-BB6D-D296-05DA-590B28704E28}"/>
              </a:ext>
            </a:extLst>
          </p:cNvPr>
          <p:cNvSpPr txBox="1"/>
          <p:nvPr/>
        </p:nvSpPr>
        <p:spPr>
          <a:xfrm>
            <a:off x="7533114" y="3772449"/>
            <a:ext cx="134850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b="1" dirty="0"/>
              <a:t>lane’s paper</a:t>
            </a:r>
            <a:endParaRPr lang="en-SG" sz="140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4BFE2CD-20ED-26C8-461D-D29AFACC6988}"/>
              </a:ext>
            </a:extLst>
          </p:cNvPr>
          <p:cNvSpPr txBox="1"/>
          <p:nvPr/>
        </p:nvSpPr>
        <p:spPr>
          <a:xfrm>
            <a:off x="10017134" y="3772449"/>
            <a:ext cx="134850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b="1" dirty="0"/>
              <a:t>My selection</a:t>
            </a:r>
            <a:endParaRPr lang="en-SG" sz="1400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E0EDEBB-E92C-E06A-B368-0D1EE43AFC76}"/>
              </a:ext>
            </a:extLst>
          </p:cNvPr>
          <p:cNvSpPr txBox="1"/>
          <p:nvPr/>
        </p:nvSpPr>
        <p:spPr>
          <a:xfrm>
            <a:off x="1240146" y="3712807"/>
            <a:ext cx="134850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b="1" dirty="0"/>
              <a:t>lane’s paper</a:t>
            </a:r>
            <a:endParaRPr lang="en-SG" sz="1400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3E1DD11-71E3-B817-9D35-F88A9490957D}"/>
              </a:ext>
            </a:extLst>
          </p:cNvPr>
          <p:cNvSpPr txBox="1"/>
          <p:nvPr/>
        </p:nvSpPr>
        <p:spPr>
          <a:xfrm>
            <a:off x="4542523" y="3712807"/>
            <a:ext cx="134850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b="1" dirty="0"/>
              <a:t>My selection</a:t>
            </a:r>
            <a:endParaRPr lang="en-SG" sz="1400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A8A7898-A003-7E6C-2C8F-6B21F3E2516C}"/>
              </a:ext>
            </a:extLst>
          </p:cNvPr>
          <p:cNvSpPr txBox="1"/>
          <p:nvPr/>
        </p:nvSpPr>
        <p:spPr>
          <a:xfrm>
            <a:off x="2156746" y="1720369"/>
            <a:ext cx="300912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b="1" u="sng" dirty="0"/>
              <a:t>Reconstructed neutral pion mass</a:t>
            </a:r>
            <a:endParaRPr lang="en-SG" sz="1400" b="1" u="sng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62A1738-E49C-1466-B58C-DEBDF99D8707}"/>
              </a:ext>
            </a:extLst>
          </p:cNvPr>
          <p:cNvSpPr txBox="1"/>
          <p:nvPr/>
        </p:nvSpPr>
        <p:spPr>
          <a:xfrm>
            <a:off x="1763346" y="4119735"/>
            <a:ext cx="333188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b="1" u="sng" dirty="0"/>
              <a:t>Reconstructed primary muon length</a:t>
            </a:r>
            <a:endParaRPr lang="en-SG" sz="1400" b="1" u="sng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4D8CA14-4724-3819-7754-A9E7380B80E1}"/>
              </a:ext>
            </a:extLst>
          </p:cNvPr>
          <p:cNvSpPr txBox="1"/>
          <p:nvPr/>
        </p:nvSpPr>
        <p:spPr>
          <a:xfrm>
            <a:off x="1389274" y="6107082"/>
            <a:ext cx="134850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b="1" dirty="0"/>
              <a:t>lane’s paper</a:t>
            </a:r>
            <a:endParaRPr lang="en-SG" sz="1400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8C6E040-F980-79BE-33FB-B9F9ED945AC4}"/>
              </a:ext>
            </a:extLst>
          </p:cNvPr>
          <p:cNvSpPr txBox="1"/>
          <p:nvPr/>
        </p:nvSpPr>
        <p:spPr>
          <a:xfrm>
            <a:off x="3834444" y="6107081"/>
            <a:ext cx="134850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b="1" dirty="0"/>
              <a:t>My selection</a:t>
            </a:r>
            <a:endParaRPr lang="en-SG" sz="1400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4440C8D-F709-9ECC-16CA-34E56BE8DB48}"/>
              </a:ext>
            </a:extLst>
          </p:cNvPr>
          <p:cNvSpPr txBox="1"/>
          <p:nvPr/>
        </p:nvSpPr>
        <p:spPr>
          <a:xfrm>
            <a:off x="7877098" y="4078607"/>
            <a:ext cx="333188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b="1" u="sng" dirty="0"/>
              <a:t>Reconstructed boosting angle</a:t>
            </a:r>
            <a:endParaRPr lang="en-SG" sz="1400" b="1" u="sng" dirty="0"/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332054FD-0588-4019-E390-52B47C21671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97570" y="4381274"/>
            <a:ext cx="1779171" cy="1738876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28630B71-8E4D-9E14-9251-D57F0CCC7BC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192481" y="4359174"/>
            <a:ext cx="2795064" cy="1788187"/>
          </a:xfrm>
          <a:prstGeom prst="rect">
            <a:avLst/>
          </a:prstGeom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5CED360A-23EC-F727-584F-6B6AD8F2A005}"/>
              </a:ext>
            </a:extLst>
          </p:cNvPr>
          <p:cNvSpPr txBox="1"/>
          <p:nvPr/>
        </p:nvSpPr>
        <p:spPr>
          <a:xfrm>
            <a:off x="7499988" y="6049778"/>
            <a:ext cx="134850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b="1" dirty="0"/>
              <a:t>lane’s paper</a:t>
            </a:r>
            <a:endParaRPr lang="en-SG" sz="1400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8CBFBFFB-C12A-C369-180E-4376642310A2}"/>
              </a:ext>
            </a:extLst>
          </p:cNvPr>
          <p:cNvSpPr txBox="1"/>
          <p:nvPr/>
        </p:nvSpPr>
        <p:spPr>
          <a:xfrm>
            <a:off x="10017134" y="6049778"/>
            <a:ext cx="134850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b="1" dirty="0"/>
              <a:t>My selection</a:t>
            </a:r>
            <a:endParaRPr lang="en-SG" sz="1400" dirty="0"/>
          </a:p>
        </p:txBody>
      </p:sp>
    </p:spTree>
    <p:extLst>
      <p:ext uri="{BB962C8B-B14F-4D97-AF65-F5344CB8AC3E}">
        <p14:creationId xmlns:p14="http://schemas.microsoft.com/office/powerpoint/2010/main" val="28041464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474888-0134-2000-C88C-4594B98761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46C385-025E-7AA7-D4C2-2EE242F9DD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Plot comparison</a:t>
            </a:r>
            <a:endParaRPr lang="en-SG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BAA525A-00E4-3CBA-33E3-540A88ECF5DE}"/>
              </a:ext>
            </a:extLst>
          </p:cNvPr>
          <p:cNvSpPr txBox="1"/>
          <p:nvPr/>
        </p:nvSpPr>
        <p:spPr>
          <a:xfrm>
            <a:off x="8033759" y="1757721"/>
            <a:ext cx="333188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b="1" u="sng" dirty="0"/>
              <a:t>Reconstructed Di-photon opening angle</a:t>
            </a:r>
            <a:endParaRPr lang="en-SG" sz="1400" b="1" u="sng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AB38839-1A76-3CE8-1319-3E0B88226BC0}"/>
              </a:ext>
            </a:extLst>
          </p:cNvPr>
          <p:cNvSpPr txBox="1"/>
          <p:nvPr/>
        </p:nvSpPr>
        <p:spPr>
          <a:xfrm>
            <a:off x="7533114" y="3772449"/>
            <a:ext cx="134850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b="1" dirty="0"/>
              <a:t>lane’s paper</a:t>
            </a:r>
            <a:endParaRPr lang="en-SG" sz="140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F572B61-C160-AAC6-BF48-3F243587171D}"/>
              </a:ext>
            </a:extLst>
          </p:cNvPr>
          <p:cNvSpPr txBox="1"/>
          <p:nvPr/>
        </p:nvSpPr>
        <p:spPr>
          <a:xfrm>
            <a:off x="10017134" y="3772449"/>
            <a:ext cx="134850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b="1" dirty="0"/>
              <a:t>My selection</a:t>
            </a:r>
            <a:endParaRPr lang="en-SG" sz="1400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D06DF40-0122-D37D-045F-FD5A65EE082F}"/>
              </a:ext>
            </a:extLst>
          </p:cNvPr>
          <p:cNvSpPr txBox="1"/>
          <p:nvPr/>
        </p:nvSpPr>
        <p:spPr>
          <a:xfrm>
            <a:off x="1240146" y="3712807"/>
            <a:ext cx="134850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b="1" dirty="0"/>
              <a:t>lane’s paper</a:t>
            </a:r>
            <a:endParaRPr lang="en-SG" sz="1400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B144547-7024-BACB-258D-5ADF8DA7ECD1}"/>
              </a:ext>
            </a:extLst>
          </p:cNvPr>
          <p:cNvSpPr txBox="1"/>
          <p:nvPr/>
        </p:nvSpPr>
        <p:spPr>
          <a:xfrm>
            <a:off x="3834444" y="3712807"/>
            <a:ext cx="134850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b="1" dirty="0"/>
              <a:t>My selection</a:t>
            </a:r>
            <a:endParaRPr lang="en-SG" sz="1400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4A15CB8-C593-F680-0298-D9554E01A276}"/>
              </a:ext>
            </a:extLst>
          </p:cNvPr>
          <p:cNvSpPr txBox="1"/>
          <p:nvPr/>
        </p:nvSpPr>
        <p:spPr>
          <a:xfrm>
            <a:off x="1763346" y="1707728"/>
            <a:ext cx="300912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b="1" u="sng" dirty="0"/>
              <a:t>Reconstructed leading photon KE</a:t>
            </a:r>
            <a:endParaRPr lang="en-SG" sz="1400" b="1" u="sng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BE6E6C8-B0BD-1D84-99D1-786DEA87B4DB}"/>
              </a:ext>
            </a:extLst>
          </p:cNvPr>
          <p:cNvSpPr txBox="1"/>
          <p:nvPr/>
        </p:nvSpPr>
        <p:spPr>
          <a:xfrm>
            <a:off x="1763346" y="4119735"/>
            <a:ext cx="333188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b="1" u="sng" dirty="0"/>
              <a:t>Reconstructed muon momentum</a:t>
            </a:r>
            <a:endParaRPr lang="en-SG" sz="1400" b="1" u="sng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60ECA5D-893E-0F63-F4B5-82E78CDE8C94}"/>
              </a:ext>
            </a:extLst>
          </p:cNvPr>
          <p:cNvSpPr txBox="1"/>
          <p:nvPr/>
        </p:nvSpPr>
        <p:spPr>
          <a:xfrm>
            <a:off x="1389274" y="6107082"/>
            <a:ext cx="134850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b="1" dirty="0"/>
              <a:t>lane’s paper</a:t>
            </a:r>
            <a:endParaRPr lang="en-SG" sz="1400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515ED0E-373F-47FE-DC9C-DDE054E326B4}"/>
              </a:ext>
            </a:extLst>
          </p:cNvPr>
          <p:cNvSpPr txBox="1"/>
          <p:nvPr/>
        </p:nvSpPr>
        <p:spPr>
          <a:xfrm>
            <a:off x="3960210" y="6087519"/>
            <a:ext cx="134850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b="1" dirty="0"/>
              <a:t>My selection</a:t>
            </a:r>
            <a:endParaRPr lang="en-SG" sz="1400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221220D-0100-3082-AE4A-800883A42D96}"/>
              </a:ext>
            </a:extLst>
          </p:cNvPr>
          <p:cNvSpPr txBox="1"/>
          <p:nvPr/>
        </p:nvSpPr>
        <p:spPr>
          <a:xfrm>
            <a:off x="7877098" y="4078607"/>
            <a:ext cx="333188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b="1" u="sng" dirty="0"/>
              <a:t>Reconstructed Pi0 momentum</a:t>
            </a:r>
            <a:endParaRPr lang="en-SG" sz="1400" b="1" u="sng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B926612C-A1BA-D49F-F91C-743C32B89061}"/>
              </a:ext>
            </a:extLst>
          </p:cNvPr>
          <p:cNvSpPr txBox="1"/>
          <p:nvPr/>
        </p:nvSpPr>
        <p:spPr>
          <a:xfrm>
            <a:off x="7499988" y="6049778"/>
            <a:ext cx="134850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b="1" dirty="0"/>
              <a:t>lane’s paper</a:t>
            </a:r>
            <a:endParaRPr lang="en-SG" sz="1400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34F5C4E8-8106-0FC8-4CC1-A827D2F77518}"/>
              </a:ext>
            </a:extLst>
          </p:cNvPr>
          <p:cNvSpPr txBox="1"/>
          <p:nvPr/>
        </p:nvSpPr>
        <p:spPr>
          <a:xfrm>
            <a:off x="10017134" y="6049778"/>
            <a:ext cx="134850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b="1" dirty="0"/>
              <a:t>My selection</a:t>
            </a:r>
            <a:endParaRPr lang="en-SG" sz="14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BFC8D76-AE9A-A39E-8FB8-35A52E1E91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0625" y="1986658"/>
            <a:ext cx="1764094" cy="170590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583913C-A30B-7270-670F-CC072507C0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06328" y="1965552"/>
            <a:ext cx="2775135" cy="177543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9089F33-4C73-C8E5-7F6B-7F8F8A1D0FF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87695" y="2023548"/>
            <a:ext cx="1866389" cy="1790852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E45592EE-2AB2-8355-096F-A908A90F24C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23282" y="2065498"/>
            <a:ext cx="2933461" cy="1790852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34A61476-2F5F-FB1B-F896-BBDBA195D20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97280" y="4447758"/>
            <a:ext cx="1759447" cy="1718965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C0E09664-FC14-D320-48AC-F087E385A34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142292" y="4427512"/>
            <a:ext cx="2732811" cy="1748360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95D83E6B-A628-2D45-EC66-023B4A7BC60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209665" y="4343243"/>
            <a:ext cx="1822448" cy="1749676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A4C112FC-973C-6556-7006-596ADA5CFA5A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144752" y="4355163"/>
            <a:ext cx="2825421" cy="17908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647245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09E5F6-E4C5-C6A1-1209-F19871B269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99B504-4ADC-10D4-862A-F74ABEB5AF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NuMI</a:t>
            </a:r>
            <a:r>
              <a:rPr lang="en-US" dirty="0"/>
              <a:t> selection</a:t>
            </a:r>
            <a:endParaRPr lang="en-S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B760C8-6D22-25AF-E8C5-26D3D8A23B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845734"/>
            <a:ext cx="10651375" cy="4351866"/>
          </a:xfrm>
        </p:spPr>
        <p:txBody>
          <a:bodyPr>
            <a:normAutofit/>
          </a:bodyPr>
          <a:lstStyle/>
          <a:p>
            <a:pPr marL="201168" lvl="1" indent="0">
              <a:buNone/>
            </a:pPr>
            <a:r>
              <a:rPr lang="en-US" dirty="0"/>
              <a:t>			</a:t>
            </a:r>
          </a:p>
          <a:p>
            <a:pPr>
              <a:buFont typeface="Arial" panose="020B0604020202020204" pitchFamily="34" charset="0"/>
              <a:buChar char="•"/>
            </a:pPr>
            <a:endParaRPr lang="en-SG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6790C48-8993-C8B4-61CD-CC03D2A089F7}"/>
              </a:ext>
            </a:extLst>
          </p:cNvPr>
          <p:cNvSpPr txBox="1"/>
          <p:nvPr/>
        </p:nvSpPr>
        <p:spPr>
          <a:xfrm>
            <a:off x="1097280" y="1815053"/>
            <a:ext cx="9589193" cy="24006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 err="1"/>
              <a:t>NuMI</a:t>
            </a:r>
            <a:r>
              <a:rPr lang="en-US" sz="2400" b="1" dirty="0"/>
              <a:t> MC sample </a:t>
            </a:r>
            <a:endParaRPr lang="en-US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Muon neutrino + </a:t>
            </a:r>
            <a:r>
              <a:rPr lang="en-US" dirty="0" err="1"/>
              <a:t>cosmics</a:t>
            </a:r>
            <a:r>
              <a:rPr lang="en-US" dirty="0"/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File path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/</a:t>
            </a:r>
            <a:r>
              <a:rPr lang="en-US" dirty="0" err="1"/>
              <a:t>pnfs</a:t>
            </a:r>
            <a:r>
              <a:rPr lang="en-US" dirty="0"/>
              <a:t>/</a:t>
            </a:r>
            <a:r>
              <a:rPr lang="en-US" dirty="0" err="1"/>
              <a:t>icarus</a:t>
            </a:r>
            <a:r>
              <a:rPr lang="en-US" dirty="0"/>
              <a:t>/persistent/users/</a:t>
            </a:r>
            <a:r>
              <a:rPr lang="en-US" dirty="0" err="1"/>
              <a:t>dcarber</a:t>
            </a:r>
            <a:r>
              <a:rPr lang="en-US" dirty="0"/>
              <a:t>/spine/</a:t>
            </a:r>
            <a:r>
              <a:rPr lang="en-US" dirty="0" err="1"/>
              <a:t>combined_files</a:t>
            </a:r>
            <a:r>
              <a:rPr lang="en-US" dirty="0"/>
              <a:t>/NuMI_CV_flat_cafs_2/*.root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POT size = 147e20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endParaRPr lang="en-SG" b="1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2CC81B7A-8F71-587F-2962-AEDA6D937C9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13400525"/>
              </p:ext>
            </p:extLst>
          </p:nvPr>
        </p:nvGraphicFramePr>
        <p:xfrm>
          <a:off x="2072639" y="3573703"/>
          <a:ext cx="7638474" cy="2296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46158">
                  <a:extLst>
                    <a:ext uri="{9D8B030D-6E8A-4147-A177-3AD203B41FA5}">
                      <a16:colId xmlns:a16="http://schemas.microsoft.com/office/drawing/2014/main" val="2802435026"/>
                    </a:ext>
                  </a:extLst>
                </a:gridCol>
                <a:gridCol w="2546158">
                  <a:extLst>
                    <a:ext uri="{9D8B030D-6E8A-4147-A177-3AD203B41FA5}">
                      <a16:colId xmlns:a16="http://schemas.microsoft.com/office/drawing/2014/main" val="2797951521"/>
                    </a:ext>
                  </a:extLst>
                </a:gridCol>
                <a:gridCol w="2546158">
                  <a:extLst>
                    <a:ext uri="{9D8B030D-6E8A-4147-A177-3AD203B41FA5}">
                      <a16:colId xmlns:a16="http://schemas.microsoft.com/office/drawing/2014/main" val="385163442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Parameter</a:t>
                      </a:r>
                      <a:endParaRPr lang="en-S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/>
                        <a:t>NuMI</a:t>
                      </a:r>
                      <a:endParaRPr lang="en-S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BNB</a:t>
                      </a:r>
                      <a:endParaRPr lang="en-SG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2192438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Pot Size</a:t>
                      </a:r>
                      <a:endParaRPr lang="en-S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147e20</a:t>
                      </a:r>
                      <a:endParaRPr lang="en-S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174e20 </a:t>
                      </a:r>
                      <a:endParaRPr lang="en-SG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132871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Number of reconstructed selected interactions</a:t>
                      </a:r>
                      <a:endParaRPr lang="en-S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3566</a:t>
                      </a:r>
                      <a:endParaRPr lang="en-S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4249</a:t>
                      </a:r>
                      <a:endParaRPr lang="en-SG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782021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Number of true signal interactions</a:t>
                      </a:r>
                      <a:endParaRPr lang="en-SG" dirty="0"/>
                    </a:p>
                    <a:p>
                      <a:endParaRPr lang="en-S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3815</a:t>
                      </a:r>
                      <a:endParaRPr lang="en-S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5532</a:t>
                      </a:r>
                      <a:endParaRPr lang="en-SG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0779608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1531831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F8C2AE-F4EE-2C08-A65C-C720B0833B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87E29F-1172-2787-38DE-5C4D95CFB3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Plot comparison (</a:t>
            </a:r>
            <a:r>
              <a:rPr lang="en-US" dirty="0" err="1"/>
              <a:t>NuMI</a:t>
            </a:r>
            <a:r>
              <a:rPr lang="en-US" dirty="0"/>
              <a:t> vs BNB selection)</a:t>
            </a:r>
            <a:endParaRPr lang="en-SG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957E611-852C-96A8-06CF-9340CCD3E178}"/>
              </a:ext>
            </a:extLst>
          </p:cNvPr>
          <p:cNvSpPr txBox="1"/>
          <p:nvPr/>
        </p:nvSpPr>
        <p:spPr>
          <a:xfrm>
            <a:off x="7608864" y="1757721"/>
            <a:ext cx="333188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b="1" u="sng" dirty="0"/>
              <a:t>Reconstructed Hadronic Invariant Mass</a:t>
            </a:r>
            <a:endParaRPr lang="en-SG" sz="1400" b="1" u="sng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0DC2C71-3945-41D1-9664-24EA6299AFDF}"/>
              </a:ext>
            </a:extLst>
          </p:cNvPr>
          <p:cNvSpPr txBox="1"/>
          <p:nvPr/>
        </p:nvSpPr>
        <p:spPr>
          <a:xfrm>
            <a:off x="1026204" y="3663004"/>
            <a:ext cx="134850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b="1" dirty="0" err="1"/>
              <a:t>NuMI</a:t>
            </a:r>
            <a:r>
              <a:rPr lang="en-US" sz="1400" b="1" dirty="0"/>
              <a:t> selection</a:t>
            </a:r>
            <a:endParaRPr lang="en-SG" sz="1400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782BF41-6C99-E325-F2EE-6C8DE7CCC9FA}"/>
              </a:ext>
            </a:extLst>
          </p:cNvPr>
          <p:cNvSpPr txBox="1"/>
          <p:nvPr/>
        </p:nvSpPr>
        <p:spPr>
          <a:xfrm>
            <a:off x="3903495" y="3677633"/>
            <a:ext cx="134850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b="1" dirty="0"/>
              <a:t>BNB selection</a:t>
            </a:r>
            <a:endParaRPr lang="en-SG" sz="1400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5A95C0C-0711-B7B1-5076-144049235408}"/>
              </a:ext>
            </a:extLst>
          </p:cNvPr>
          <p:cNvSpPr txBox="1"/>
          <p:nvPr/>
        </p:nvSpPr>
        <p:spPr>
          <a:xfrm>
            <a:off x="1638064" y="1722635"/>
            <a:ext cx="300912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b="1" u="sng" dirty="0"/>
              <a:t>Reconstructed neutral pion mass</a:t>
            </a:r>
            <a:endParaRPr lang="en-SG" sz="1400" b="1" u="sng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A7448F8-FC98-55C0-1EB9-2E7324AE60BD}"/>
              </a:ext>
            </a:extLst>
          </p:cNvPr>
          <p:cNvSpPr txBox="1"/>
          <p:nvPr/>
        </p:nvSpPr>
        <p:spPr>
          <a:xfrm>
            <a:off x="1465579" y="4119736"/>
            <a:ext cx="333188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b="1" u="sng" dirty="0"/>
              <a:t>Reconstructed primary muon length</a:t>
            </a:r>
            <a:endParaRPr lang="en-SG" sz="1400" b="1" u="sng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F5BD58F-5DB6-1717-DFA9-F077B7596BD7}"/>
              </a:ext>
            </a:extLst>
          </p:cNvPr>
          <p:cNvSpPr txBox="1"/>
          <p:nvPr/>
        </p:nvSpPr>
        <p:spPr>
          <a:xfrm>
            <a:off x="1026204" y="6049778"/>
            <a:ext cx="134850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b="1" dirty="0" err="1"/>
              <a:t>NuMI</a:t>
            </a:r>
            <a:r>
              <a:rPr lang="en-US" sz="1400" b="1" dirty="0"/>
              <a:t> selection</a:t>
            </a:r>
            <a:endParaRPr lang="en-SG" sz="1400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73688AD-22F9-5781-2774-A87D4A8942F9}"/>
              </a:ext>
            </a:extLst>
          </p:cNvPr>
          <p:cNvSpPr txBox="1"/>
          <p:nvPr/>
        </p:nvSpPr>
        <p:spPr>
          <a:xfrm>
            <a:off x="3972936" y="6049778"/>
            <a:ext cx="134850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b="1" dirty="0"/>
              <a:t>BNB selection</a:t>
            </a:r>
            <a:endParaRPr lang="en-SG" sz="1400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DE34BAA-BF8D-6ADD-07DE-2586358E072B}"/>
              </a:ext>
            </a:extLst>
          </p:cNvPr>
          <p:cNvSpPr txBox="1"/>
          <p:nvPr/>
        </p:nvSpPr>
        <p:spPr>
          <a:xfrm>
            <a:off x="7559754" y="4119736"/>
            <a:ext cx="333188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b="1" u="sng" dirty="0"/>
              <a:t>Reconstructed boosting angle</a:t>
            </a:r>
            <a:endParaRPr lang="en-SG" sz="1400" b="1" u="sng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B399E69-8754-8AF4-359F-026482C9B8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1143" y="1995603"/>
            <a:ext cx="2770743" cy="174128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8CF48FF-F97B-0E6B-E05E-A5AC3A2A06C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42628" y="1995603"/>
            <a:ext cx="2870244" cy="174128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D9A9E05-3B9F-78E2-4B92-D41C8AF47C8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4613" y="4487392"/>
            <a:ext cx="2531690" cy="161969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5A2CBCB5-AF8F-9723-DFD3-3D154FEABAE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13411" y="4457452"/>
            <a:ext cx="2531690" cy="161969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69F6EF4C-8F96-A88C-0F30-8E237FEF2D7D}"/>
              </a:ext>
            </a:extLst>
          </p:cNvPr>
          <p:cNvPicPr>
            <a:picLocks noChangeAspect="1"/>
          </p:cNvPicPr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666128" y="2085860"/>
            <a:ext cx="2608678" cy="161969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F2882F8B-AFE9-EBF7-48D6-A4EA2E94771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262178" y="2085859"/>
            <a:ext cx="2608679" cy="1619691"/>
          </a:xfrm>
          <a:prstGeom prst="rect">
            <a:avLst/>
          </a:prstGeom>
        </p:spPr>
      </p:pic>
      <p:sp>
        <p:nvSpPr>
          <p:cNvPr id="31" name="TextBox 30">
            <a:extLst>
              <a:ext uri="{FF2B5EF4-FFF2-40B4-BE49-F238E27FC236}">
                <a16:creationId xmlns:a16="http://schemas.microsoft.com/office/drawing/2014/main" id="{093BF42F-529A-88A8-0C75-9606E954F64E}"/>
              </a:ext>
            </a:extLst>
          </p:cNvPr>
          <p:cNvSpPr txBox="1"/>
          <p:nvPr/>
        </p:nvSpPr>
        <p:spPr>
          <a:xfrm>
            <a:off x="7370262" y="3619496"/>
            <a:ext cx="134850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b="1" dirty="0" err="1"/>
              <a:t>NuMI</a:t>
            </a:r>
            <a:r>
              <a:rPr lang="en-US" sz="1400" b="1" dirty="0"/>
              <a:t> selection</a:t>
            </a:r>
            <a:endParaRPr lang="en-SG" sz="1400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CDFC151A-BE2C-B320-F6BE-39CDEE86927D}"/>
              </a:ext>
            </a:extLst>
          </p:cNvPr>
          <p:cNvSpPr txBox="1"/>
          <p:nvPr/>
        </p:nvSpPr>
        <p:spPr>
          <a:xfrm>
            <a:off x="9975846" y="3630546"/>
            <a:ext cx="134850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b="1" dirty="0"/>
              <a:t>BNB selection</a:t>
            </a:r>
            <a:endParaRPr lang="en-SG" sz="1400" dirty="0"/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114E3BF4-8173-D027-BBE8-9F930AE7402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46063" y="4487391"/>
            <a:ext cx="2531691" cy="1619690"/>
          </a:xfrm>
          <a:prstGeom prst="rect">
            <a:avLst/>
          </a:prstGeom>
        </p:spPr>
      </p:pic>
      <p:pic>
        <p:nvPicPr>
          <p:cNvPr id="34" name="Picture 33">
            <a:extLst>
              <a:ext uri="{FF2B5EF4-FFF2-40B4-BE49-F238E27FC236}">
                <a16:creationId xmlns:a16="http://schemas.microsoft.com/office/drawing/2014/main" id="{6B74890B-046B-DE89-0E26-6A84DA059601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225696" y="4487391"/>
            <a:ext cx="2531691" cy="1619690"/>
          </a:xfrm>
          <a:prstGeom prst="rect">
            <a:avLst/>
          </a:prstGeom>
        </p:spPr>
      </p:pic>
      <p:sp>
        <p:nvSpPr>
          <p:cNvPr id="35" name="TextBox 34">
            <a:extLst>
              <a:ext uri="{FF2B5EF4-FFF2-40B4-BE49-F238E27FC236}">
                <a16:creationId xmlns:a16="http://schemas.microsoft.com/office/drawing/2014/main" id="{352F1EF3-DB7A-A1EB-C6A6-9E0687F92218}"/>
              </a:ext>
            </a:extLst>
          </p:cNvPr>
          <p:cNvSpPr txBox="1"/>
          <p:nvPr/>
        </p:nvSpPr>
        <p:spPr>
          <a:xfrm>
            <a:off x="7211704" y="6055172"/>
            <a:ext cx="134850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b="1" dirty="0" err="1"/>
              <a:t>NuMI</a:t>
            </a:r>
            <a:r>
              <a:rPr lang="en-US" sz="1400" b="1" dirty="0"/>
              <a:t> selection</a:t>
            </a:r>
            <a:endParaRPr lang="en-SG" sz="1400" dirty="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F5256144-D88B-C46A-7271-E3C0015ED203}"/>
              </a:ext>
            </a:extLst>
          </p:cNvPr>
          <p:cNvSpPr txBox="1"/>
          <p:nvPr/>
        </p:nvSpPr>
        <p:spPr>
          <a:xfrm>
            <a:off x="9817288" y="6066222"/>
            <a:ext cx="134850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b="1" dirty="0"/>
              <a:t>BNB selection</a:t>
            </a:r>
            <a:endParaRPr lang="en-SG" sz="1400" dirty="0"/>
          </a:p>
        </p:txBody>
      </p:sp>
    </p:spTree>
    <p:extLst>
      <p:ext uri="{BB962C8B-B14F-4D97-AF65-F5344CB8AC3E}">
        <p14:creationId xmlns:p14="http://schemas.microsoft.com/office/powerpoint/2010/main" val="349205735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BC345D-A4B9-5FD6-5094-0B5DF6FFE5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965CED-6DC9-6B52-13D2-8B187652AE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Plot comparison (</a:t>
            </a:r>
            <a:r>
              <a:rPr lang="en-US" dirty="0" err="1"/>
              <a:t>NuMI</a:t>
            </a:r>
            <a:r>
              <a:rPr lang="en-US" dirty="0"/>
              <a:t> vs BNB selection)</a:t>
            </a:r>
            <a:endParaRPr lang="en-SG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54D2E42-7357-4089-34B3-69EC3A36993A}"/>
              </a:ext>
            </a:extLst>
          </p:cNvPr>
          <p:cNvSpPr txBox="1"/>
          <p:nvPr/>
        </p:nvSpPr>
        <p:spPr>
          <a:xfrm>
            <a:off x="7437004" y="1756987"/>
            <a:ext cx="333188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b="1" u="sng" dirty="0"/>
              <a:t>Reconstructed di-photon opening angle</a:t>
            </a:r>
            <a:endParaRPr lang="en-SG" sz="1400" b="1" u="sng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C446E25-CD59-D760-88BD-D136A4C1501E}"/>
              </a:ext>
            </a:extLst>
          </p:cNvPr>
          <p:cNvSpPr txBox="1"/>
          <p:nvPr/>
        </p:nvSpPr>
        <p:spPr>
          <a:xfrm>
            <a:off x="1026204" y="3663004"/>
            <a:ext cx="134850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b="1" dirty="0" err="1"/>
              <a:t>NuMI</a:t>
            </a:r>
            <a:r>
              <a:rPr lang="en-US" sz="1400" b="1" dirty="0"/>
              <a:t> selection</a:t>
            </a:r>
            <a:endParaRPr lang="en-SG" sz="1400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CCC83C2-38F1-B790-E203-D9A7E430306C}"/>
              </a:ext>
            </a:extLst>
          </p:cNvPr>
          <p:cNvSpPr txBox="1"/>
          <p:nvPr/>
        </p:nvSpPr>
        <p:spPr>
          <a:xfrm>
            <a:off x="3903495" y="3677633"/>
            <a:ext cx="134850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b="1" dirty="0"/>
              <a:t>BNB selection</a:t>
            </a:r>
            <a:endParaRPr lang="en-SG" sz="1400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0800605-9719-E4C1-7267-8E1981F50C83}"/>
              </a:ext>
            </a:extLst>
          </p:cNvPr>
          <p:cNvSpPr txBox="1"/>
          <p:nvPr/>
        </p:nvSpPr>
        <p:spPr>
          <a:xfrm>
            <a:off x="1638064" y="1722635"/>
            <a:ext cx="300912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b="1" u="sng" dirty="0"/>
              <a:t>Reconstructed leading photon KE</a:t>
            </a:r>
            <a:endParaRPr lang="en-SG" sz="1400" b="1" u="sng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0E7A6D6-E51D-B0D9-D527-9AC8D8BDE86C}"/>
              </a:ext>
            </a:extLst>
          </p:cNvPr>
          <p:cNvSpPr txBox="1"/>
          <p:nvPr/>
        </p:nvSpPr>
        <p:spPr>
          <a:xfrm>
            <a:off x="1476685" y="4119736"/>
            <a:ext cx="333188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b="1" u="sng" dirty="0"/>
              <a:t>Reconstructed muon momentum</a:t>
            </a:r>
            <a:endParaRPr lang="en-SG" sz="1400" b="1" u="sng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853862D-7038-9C29-CCE6-9F9F676A5457}"/>
              </a:ext>
            </a:extLst>
          </p:cNvPr>
          <p:cNvSpPr txBox="1"/>
          <p:nvPr/>
        </p:nvSpPr>
        <p:spPr>
          <a:xfrm>
            <a:off x="1026204" y="6049778"/>
            <a:ext cx="134850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b="1" dirty="0" err="1"/>
              <a:t>NuMI</a:t>
            </a:r>
            <a:r>
              <a:rPr lang="en-US" sz="1400" b="1" dirty="0"/>
              <a:t> selection</a:t>
            </a:r>
            <a:endParaRPr lang="en-SG" sz="1400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B6B3FBE-DE2E-7D22-410F-59D4956F5BA8}"/>
              </a:ext>
            </a:extLst>
          </p:cNvPr>
          <p:cNvSpPr txBox="1"/>
          <p:nvPr/>
        </p:nvSpPr>
        <p:spPr>
          <a:xfrm>
            <a:off x="3972936" y="6049778"/>
            <a:ext cx="134850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b="1" dirty="0"/>
              <a:t>BNB selection</a:t>
            </a:r>
            <a:endParaRPr lang="en-SG" sz="1400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7261A43-04D3-B037-7202-423F0F46125B}"/>
              </a:ext>
            </a:extLst>
          </p:cNvPr>
          <p:cNvSpPr txBox="1"/>
          <p:nvPr/>
        </p:nvSpPr>
        <p:spPr>
          <a:xfrm>
            <a:off x="7718312" y="4119736"/>
            <a:ext cx="333188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b="1" u="sng" dirty="0"/>
              <a:t>Reconstructed pi0 momentum</a:t>
            </a:r>
            <a:endParaRPr lang="en-SG" sz="1400" b="1" u="sng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9DF229B3-2750-2584-A52C-9E462621FC50}"/>
              </a:ext>
            </a:extLst>
          </p:cNvPr>
          <p:cNvSpPr txBox="1"/>
          <p:nvPr/>
        </p:nvSpPr>
        <p:spPr>
          <a:xfrm>
            <a:off x="7211703" y="3604079"/>
            <a:ext cx="134850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b="1" dirty="0" err="1"/>
              <a:t>NuMI</a:t>
            </a:r>
            <a:r>
              <a:rPr lang="en-US" sz="1400" b="1" dirty="0"/>
              <a:t> selection</a:t>
            </a:r>
            <a:endParaRPr lang="en-SG" sz="1400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A9146794-0860-4BDD-F711-9554CCAFE9A3}"/>
              </a:ext>
            </a:extLst>
          </p:cNvPr>
          <p:cNvSpPr txBox="1"/>
          <p:nvPr/>
        </p:nvSpPr>
        <p:spPr>
          <a:xfrm>
            <a:off x="9817287" y="3615129"/>
            <a:ext cx="134850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b="1" dirty="0"/>
              <a:t>BNB selection</a:t>
            </a:r>
            <a:endParaRPr lang="en-SG" sz="1400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540867FD-18A0-6DD9-6A6B-B2B88221C7BC}"/>
              </a:ext>
            </a:extLst>
          </p:cNvPr>
          <p:cNvSpPr txBox="1"/>
          <p:nvPr/>
        </p:nvSpPr>
        <p:spPr>
          <a:xfrm>
            <a:off x="7236219" y="6049738"/>
            <a:ext cx="134850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b="1" dirty="0" err="1"/>
              <a:t>NuMI</a:t>
            </a:r>
            <a:r>
              <a:rPr lang="en-US" sz="1400" b="1" dirty="0"/>
              <a:t> selection</a:t>
            </a:r>
            <a:endParaRPr lang="en-SG" sz="1400" dirty="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35786CBE-6274-D953-40F9-3BF9E3FCD0FB}"/>
              </a:ext>
            </a:extLst>
          </p:cNvPr>
          <p:cNvSpPr txBox="1"/>
          <p:nvPr/>
        </p:nvSpPr>
        <p:spPr>
          <a:xfrm>
            <a:off x="9975845" y="6082909"/>
            <a:ext cx="134850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b="1" dirty="0"/>
              <a:t>BNB selection</a:t>
            </a:r>
            <a:endParaRPr lang="en-SG" sz="140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6A417083-59D9-EDBA-123E-1E82AECACF23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34613" y="2078400"/>
            <a:ext cx="2531690" cy="161969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945A28C5-7101-6B48-4798-6A90EEF02C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13411" y="2078400"/>
            <a:ext cx="2531691" cy="1619690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6167E09A-DF07-0718-BF3D-14C92BC6DAA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73540" y="2078400"/>
            <a:ext cx="2629406" cy="1619690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D903CF34-E6A2-84CC-BC49-D537455ACD3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27981" y="2043314"/>
            <a:ext cx="2629406" cy="1619690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34AED9DA-D5BC-D2ED-248E-2F27C37B627E}"/>
              </a:ext>
            </a:extLst>
          </p:cNvPr>
          <p:cNvPicPr>
            <a:picLocks noChangeAspect="1"/>
          </p:cNvPicPr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31723" y="4487478"/>
            <a:ext cx="2531691" cy="1619690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77CD6783-6998-B8AA-697D-1E1117D9B12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13411" y="4478316"/>
            <a:ext cx="2531691" cy="161969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76FAA4EF-FFBC-376D-0097-5EE799B6E01B}"/>
              </a:ext>
            </a:extLst>
          </p:cNvPr>
          <p:cNvPicPr>
            <a:picLocks noChangeAspect="1"/>
          </p:cNvPicPr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6596291" y="4487478"/>
            <a:ext cx="2531690" cy="1595431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93815D8A-F31F-A310-96DA-2BDA5D33D5BA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225697" y="4499607"/>
            <a:ext cx="2531690" cy="15954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107604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5CD1FA-6340-6651-CF89-887EB29606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E7BDAA-2E9C-89A5-E92D-6A56157C43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b="1" dirty="0"/>
              <a:t>Reconstructed Muon momentum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9396F91-3BF6-7B7E-A17B-7316BA4D762C}"/>
              </a:ext>
            </a:extLst>
          </p:cNvPr>
          <p:cNvSpPr txBox="1"/>
          <p:nvPr/>
        </p:nvSpPr>
        <p:spPr>
          <a:xfrm>
            <a:off x="1097279" y="1815053"/>
            <a:ext cx="10399395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/>
              <a:t>Plotting </a:t>
            </a:r>
            <a:r>
              <a:rPr lang="en-US" sz="1600" b="1" dirty="0" err="1"/>
              <a:t>NuMI</a:t>
            </a:r>
            <a:r>
              <a:rPr lang="en-US" sz="1600" b="1" dirty="0"/>
              <a:t> and BNB normalized reconstructed leading muon momentum for each cumulative cut</a:t>
            </a:r>
            <a:endParaRPr lang="en-SG" sz="1600" dirty="0"/>
          </a:p>
          <a:p>
            <a:endParaRPr lang="en-SG" sz="1600" b="1" dirty="0"/>
          </a:p>
          <a:p>
            <a:endParaRPr lang="en-SG" sz="1600" b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3013799-CC37-257D-2994-57A8D156DB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5437" y="2259296"/>
            <a:ext cx="3619727" cy="197801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271C0038-D718-9BFF-AA62-8D4460E14A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89065" y="2259296"/>
            <a:ext cx="3619728" cy="1978013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16EDF7C5-28A5-B582-ACDE-17000DE5814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86838" y="2233938"/>
            <a:ext cx="3619728" cy="1978013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B200BC4B-BA84-3CCD-3859-6F508834B99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5437" y="4280291"/>
            <a:ext cx="3619728" cy="1978013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A5ACD8B4-763A-23DD-5A18-27A5D8DD36B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83208" y="4280291"/>
            <a:ext cx="3681202" cy="1978013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1973E343-4884-7306-30C0-4875E727579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964410" y="4280290"/>
            <a:ext cx="4031964" cy="19780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212546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01ED0C-0E09-39DC-ABAB-3F22FC19CC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F4865C-6C33-21D7-994A-44BA21E96D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b="1" dirty="0"/>
              <a:t>True Muon momentum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D78F462-D5C9-BEAC-248C-66861DA20B39}"/>
              </a:ext>
            </a:extLst>
          </p:cNvPr>
          <p:cNvSpPr txBox="1"/>
          <p:nvPr/>
        </p:nvSpPr>
        <p:spPr>
          <a:xfrm>
            <a:off x="1097279" y="1815053"/>
            <a:ext cx="10399395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/>
              <a:t>Plotting </a:t>
            </a:r>
            <a:r>
              <a:rPr lang="en-US" sz="1600" b="1" dirty="0" err="1"/>
              <a:t>NuMI</a:t>
            </a:r>
            <a:r>
              <a:rPr lang="en-US" sz="1600" b="1" dirty="0"/>
              <a:t> and BNB combined and normalized reconstructed leading muon momentum for each cumulative cut</a:t>
            </a:r>
            <a:endParaRPr lang="en-SG" sz="1600" dirty="0"/>
          </a:p>
          <a:p>
            <a:endParaRPr lang="en-SG" sz="1600" b="1" dirty="0"/>
          </a:p>
          <a:p>
            <a:endParaRPr lang="en-SG" sz="1600" b="1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3FAEC80-2D5D-1E0C-9EEC-E0512A0DD3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5437" y="2259296"/>
            <a:ext cx="3619728" cy="197801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F5A8666-76B8-7C12-E5CC-0169955A4B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83208" y="2230551"/>
            <a:ext cx="3619728" cy="1978013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4F534882-62C4-4D5E-80A3-9514F496C09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86834" y="2259295"/>
            <a:ext cx="3619729" cy="1978014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70F5C46E-0BD5-95B9-B688-9D269606AF2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5437" y="4280290"/>
            <a:ext cx="3619728" cy="1978013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BFE28F31-909D-413F-26EB-0271008A0E2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85878" y="4280289"/>
            <a:ext cx="3681203" cy="1978014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384F915B-E0B5-D474-E1E4-764D3F3BFA6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967081" y="4280289"/>
            <a:ext cx="4031967" cy="19780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563513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184850-D446-4371-FAE4-406B957509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2C0144-5706-D4CA-0A9A-5493BD618F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Future work</a:t>
            </a:r>
            <a:endParaRPr lang="en-S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F88726-CB14-1441-0ABA-9553E3EF5D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845734"/>
            <a:ext cx="10651375" cy="4351866"/>
          </a:xfrm>
        </p:spPr>
        <p:txBody>
          <a:bodyPr>
            <a:normAutofit/>
          </a:bodyPr>
          <a:lstStyle/>
          <a:p>
            <a:pPr marL="201168" lvl="1" indent="0">
              <a:buNone/>
            </a:pPr>
            <a:r>
              <a:rPr lang="en-US" dirty="0"/>
              <a:t>			</a:t>
            </a:r>
          </a:p>
          <a:p>
            <a:pPr>
              <a:buFont typeface="Arial" panose="020B0604020202020204" pitchFamily="34" charset="0"/>
              <a:buChar char="•"/>
            </a:pPr>
            <a:endParaRPr lang="en-SG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4212B5A-282C-446C-DC60-BCA8FCE3DAF4}"/>
              </a:ext>
            </a:extLst>
          </p:cNvPr>
          <p:cNvSpPr txBox="1"/>
          <p:nvPr/>
        </p:nvSpPr>
        <p:spPr>
          <a:xfrm>
            <a:off x="1097280" y="1815053"/>
            <a:ext cx="9589193" cy="4801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/>
              <a:t>Di-electron selection</a:t>
            </a:r>
            <a:endParaRPr lang="en-US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Preliminary selection for Di-electron showers performed, showing very little Di-electron candidates in </a:t>
            </a:r>
            <a:r>
              <a:rPr lang="en-US" dirty="0" err="1"/>
              <a:t>NuMI</a:t>
            </a:r>
            <a:r>
              <a:rPr lang="en-US" dirty="0"/>
              <a:t> MC sample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Looking to use other MC sample files and optimizing selection parameters and cuts in the future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400" b="1" dirty="0">
                <a:solidFill>
                  <a:srgbClr val="000000"/>
                </a:solidFill>
                <a:latin typeface="Calibri" panose="020F0502020204030204"/>
              </a:rPr>
              <a:t>Selection using HNL simulation sample file </a:t>
            </a:r>
          </a:p>
          <a:p>
            <a:pPr marL="285750" lvl="0" indent="-285750">
              <a:buFont typeface="Arial" panose="020B0604020202020204" pitchFamily="34" charset="0"/>
              <a:buChar char="•"/>
              <a:defRPr/>
            </a:pPr>
            <a:r>
              <a:rPr lang="en-US" dirty="0"/>
              <a:t>Once HNL simulation flat CAF file has been generated, utilize optimized event selection parameters and cuts for the HNL simulation file and </a:t>
            </a:r>
            <a:r>
              <a:rPr lang="en-US" dirty="0" err="1"/>
              <a:t>analyse</a:t>
            </a:r>
            <a:r>
              <a:rPr lang="en-US" dirty="0"/>
              <a:t> output</a:t>
            </a:r>
          </a:p>
          <a:p>
            <a:pPr lvl="0">
              <a:defRPr/>
            </a:pPr>
            <a:endParaRPr lang="en-US" dirty="0"/>
          </a:p>
          <a:p>
            <a:pPr lvl="0">
              <a:defRPr/>
            </a:pPr>
            <a:r>
              <a:rPr lang="en-US" sz="2400" b="1" dirty="0">
                <a:solidFill>
                  <a:srgbClr val="000000"/>
                </a:solidFill>
              </a:rPr>
              <a:t>Moving to </a:t>
            </a:r>
            <a:r>
              <a:rPr lang="en-US" sz="2400" b="1" dirty="0" err="1">
                <a:solidFill>
                  <a:srgbClr val="000000"/>
                </a:solidFill>
              </a:rPr>
              <a:t>NuMI</a:t>
            </a:r>
            <a:r>
              <a:rPr lang="en-US" sz="2400" b="1" dirty="0">
                <a:solidFill>
                  <a:srgbClr val="000000"/>
                </a:solidFill>
              </a:rPr>
              <a:t> data and unblinding </a:t>
            </a:r>
          </a:p>
          <a:p>
            <a:pPr marL="285750" lvl="0" indent="-285750">
              <a:buFont typeface="Arial" panose="020B0604020202020204" pitchFamily="34" charset="0"/>
              <a:buChar char="•"/>
              <a:defRPr/>
            </a:pPr>
            <a:r>
              <a:rPr lang="en-US" dirty="0"/>
              <a:t>Once event selection on HNL simulation has been conducted, move on to event selection using </a:t>
            </a:r>
            <a:r>
              <a:rPr lang="en-US" dirty="0" err="1"/>
              <a:t>NuMI</a:t>
            </a:r>
            <a:r>
              <a:rPr lang="en-US" dirty="0"/>
              <a:t> data files, and eventually unblinding to compare with MC distributions</a:t>
            </a:r>
          </a:p>
          <a:p>
            <a:pPr lvl="0">
              <a:defRPr/>
            </a:pPr>
            <a:endParaRPr lang="en-US" dirty="0"/>
          </a:p>
          <a:p>
            <a:pPr lvl="0">
              <a:defRPr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endParaRPr lang="en-SG" b="1" dirty="0"/>
          </a:p>
        </p:txBody>
      </p:sp>
    </p:spTree>
    <p:extLst>
      <p:ext uri="{BB962C8B-B14F-4D97-AF65-F5344CB8AC3E}">
        <p14:creationId xmlns:p14="http://schemas.microsoft.com/office/powerpoint/2010/main" val="412353957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FCDFC7-73C7-EE8E-6439-8C4A013500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A9FB9A-752D-76AC-0EC0-D0935A1F3F8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Thank you</a:t>
            </a: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3543196061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8296</TotalTime>
  <Words>713</Words>
  <Application>Microsoft Office PowerPoint</Application>
  <PresentationFormat>Widescreen</PresentationFormat>
  <Paragraphs>150</Paragraphs>
  <Slides>14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0" baseType="lpstr">
      <vt:lpstr>Aptos</vt:lpstr>
      <vt:lpstr>Arial</vt:lpstr>
      <vt:lpstr>Calibri</vt:lpstr>
      <vt:lpstr>Calibri Light</vt:lpstr>
      <vt:lpstr>Cambria Math</vt:lpstr>
      <vt:lpstr>Retrospect</vt:lpstr>
      <vt:lpstr>Two-shower selection of HNL candidates</vt:lpstr>
      <vt:lpstr>Background</vt:lpstr>
      <vt:lpstr>Motivations</vt:lpstr>
      <vt:lpstr>Event selection plan</vt:lpstr>
      <vt:lpstr>Signal and Selected definitions</vt:lpstr>
      <vt:lpstr>Plot comparison</vt:lpstr>
      <vt:lpstr>Plot comparison</vt:lpstr>
      <vt:lpstr>NuMI selection</vt:lpstr>
      <vt:lpstr>Plot comparison (NuMI vs BNB selection)</vt:lpstr>
      <vt:lpstr>Plot comparison (NuMI vs BNB selection)</vt:lpstr>
      <vt:lpstr>Reconstructed Muon momentum</vt:lpstr>
      <vt:lpstr>True Muon momentum </vt:lpstr>
      <vt:lpstr>Future work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#JORDON KOH JIN CHEN#</dc:creator>
  <cp:lastModifiedBy>#JORDON KOH JIN CHEN#</cp:lastModifiedBy>
  <cp:revision>37</cp:revision>
  <dcterms:created xsi:type="dcterms:W3CDTF">2025-11-12T13:24:12Z</dcterms:created>
  <dcterms:modified xsi:type="dcterms:W3CDTF">2026-03-24T15:44:36Z</dcterms:modified>
</cp:coreProperties>
</file>