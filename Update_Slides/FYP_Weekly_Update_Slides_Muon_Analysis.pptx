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notesMasterIdLst>
    <p:notesMasterId r:id="rId13"/>
  </p:notesMasterIdLst>
  <p:sldIdLst>
    <p:sldId id="371" r:id="rId2"/>
    <p:sldId id="416" r:id="rId3"/>
    <p:sldId id="411" r:id="rId4"/>
    <p:sldId id="415" r:id="rId5"/>
    <p:sldId id="418" r:id="rId6"/>
    <p:sldId id="412" r:id="rId7"/>
    <p:sldId id="414" r:id="rId8"/>
    <p:sldId id="419" r:id="rId9"/>
    <p:sldId id="420" r:id="rId10"/>
    <p:sldId id="421" r:id="rId11"/>
    <p:sldId id="422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3630" autoAdjust="0"/>
  </p:normalViewPr>
  <p:slideViewPr>
    <p:cSldViewPr snapToGrid="0">
      <p:cViewPr varScale="1">
        <p:scale>
          <a:sx n="104" d="100"/>
          <a:sy n="104" d="100"/>
        </p:scale>
        <p:origin x="88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3BD9BC-DEF3-4382-83D6-5C0A0444C18A}" type="datetimeFigureOut">
              <a:rPr lang="en-SG" smtClean="0"/>
              <a:t>23/3/2026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B5FDCB-33CC-4AD4-B363-617329C34B9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61102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23/3/2026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1951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23/3/2026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678056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23/3/2026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95631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23/3/2026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703045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23/3/2026</a:t>
            </a:fld>
            <a:endParaRPr lang="en-S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225995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23/3/2026</a:t>
            </a:fld>
            <a:endParaRPr lang="en-S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72012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23/3/2026</a:t>
            </a:fld>
            <a:endParaRPr lang="en-S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S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81388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0EAFE32E-95B7-4367-9495-9CBC389572F3}" type="datetimeFigureOut">
              <a:rPr lang="en-SG" smtClean="0"/>
              <a:t>23/3/2026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05455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23/3/2026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2348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23/3/2026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219288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23/3/2026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930673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0EAFE32E-95B7-4367-9495-9CBC389572F3}" type="datetimeFigureOut">
              <a:rPr lang="en-SG" smtClean="0"/>
              <a:t>23/3/2026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5977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7B572-32EC-1ABD-4D5C-10544EF4A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6526D-69BD-6957-2605-22AFE579F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NuMI</a:t>
            </a:r>
            <a:r>
              <a:rPr lang="en-US" dirty="0"/>
              <a:t> vs BNB simulation sample</a:t>
            </a:r>
            <a:endParaRPr lang="en-SG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CDA1676-B196-D320-6594-D9FBDDC2A2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3220565"/>
              </p:ext>
            </p:extLst>
          </p:nvPr>
        </p:nvGraphicFramePr>
        <p:xfrm>
          <a:off x="2276763" y="2123594"/>
          <a:ext cx="7638474" cy="229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158">
                  <a:extLst>
                    <a:ext uri="{9D8B030D-6E8A-4147-A177-3AD203B41FA5}">
                      <a16:colId xmlns:a16="http://schemas.microsoft.com/office/drawing/2014/main" val="2802435026"/>
                    </a:ext>
                  </a:extLst>
                </a:gridCol>
                <a:gridCol w="2546158">
                  <a:extLst>
                    <a:ext uri="{9D8B030D-6E8A-4147-A177-3AD203B41FA5}">
                      <a16:colId xmlns:a16="http://schemas.microsoft.com/office/drawing/2014/main" val="2797951521"/>
                    </a:ext>
                  </a:extLst>
                </a:gridCol>
                <a:gridCol w="2546158">
                  <a:extLst>
                    <a:ext uri="{9D8B030D-6E8A-4147-A177-3AD203B41FA5}">
                      <a16:colId xmlns:a16="http://schemas.microsoft.com/office/drawing/2014/main" val="38516344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Parameter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NuMI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BNB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19243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Pot Size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147e20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174e20 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3287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Number of reconstructed selected interactions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3566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4249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8202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Number of true signal interactions</a:t>
                      </a:r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3815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5532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79608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E0DDAA0-7C4F-2E2C-DA22-5E8CE5EEB892}"/>
              </a:ext>
            </a:extLst>
          </p:cNvPr>
          <p:cNvSpPr txBox="1"/>
          <p:nvPr/>
        </p:nvSpPr>
        <p:spPr>
          <a:xfrm>
            <a:off x="1097280" y="4595491"/>
            <a:ext cx="1081578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BNB file (muon </a:t>
            </a:r>
            <a:r>
              <a:rPr lang="en-SG" b="1" dirty="0"/>
              <a:t>𝜈 + Cosmic Simulation)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dirty="0"/>
              <a:t>/</a:t>
            </a:r>
            <a:r>
              <a:rPr lang="en-SG" dirty="0" err="1"/>
              <a:t>pnfs</a:t>
            </a:r>
            <a:r>
              <a:rPr lang="en-SG" dirty="0"/>
              <a:t>/</a:t>
            </a:r>
            <a:r>
              <a:rPr lang="en-SG" dirty="0" err="1"/>
              <a:t>icarus</a:t>
            </a:r>
            <a:r>
              <a:rPr lang="en-SG" dirty="0"/>
              <a:t>/persistent/users/</a:t>
            </a:r>
            <a:r>
              <a:rPr lang="en-SG" dirty="0" err="1"/>
              <a:t>mueller</a:t>
            </a:r>
            <a:r>
              <a:rPr lang="en-SG" dirty="0"/>
              <a:t>/production/simulation/nominal/input*.</a:t>
            </a:r>
            <a:r>
              <a:rPr lang="en-SG" dirty="0" err="1"/>
              <a:t>flat.root</a:t>
            </a:r>
            <a:endParaRPr lang="en-SG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r>
              <a:rPr lang="en-US" b="1" dirty="0" err="1"/>
              <a:t>NuMI</a:t>
            </a:r>
            <a:r>
              <a:rPr lang="en-US" b="1" dirty="0"/>
              <a:t> file (muon </a:t>
            </a:r>
            <a:r>
              <a:rPr lang="en-SG" b="1" dirty="0"/>
              <a:t>𝜈 + Cosmic Simulation)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dirty="0"/>
              <a:t>/</a:t>
            </a:r>
            <a:r>
              <a:rPr lang="en-SG" dirty="0" err="1"/>
              <a:t>pnfs</a:t>
            </a:r>
            <a:r>
              <a:rPr lang="en-SG" dirty="0"/>
              <a:t>/</a:t>
            </a:r>
            <a:r>
              <a:rPr lang="en-SG" dirty="0" err="1"/>
              <a:t>icarus</a:t>
            </a:r>
            <a:r>
              <a:rPr lang="en-SG" dirty="0"/>
              <a:t>/persistent/users/</a:t>
            </a:r>
            <a:r>
              <a:rPr lang="en-SG" dirty="0" err="1"/>
              <a:t>dcarber</a:t>
            </a:r>
            <a:r>
              <a:rPr lang="en-SG" dirty="0"/>
              <a:t>/spine/</a:t>
            </a:r>
            <a:r>
              <a:rPr lang="en-SG" dirty="0" err="1"/>
              <a:t>combined_files</a:t>
            </a:r>
            <a:r>
              <a:rPr lang="en-SG" dirty="0"/>
              <a:t>/NuMI_CV_flat_cafs_2/*.root</a:t>
            </a:r>
          </a:p>
        </p:txBody>
      </p:sp>
    </p:spTree>
    <p:extLst>
      <p:ext uri="{BB962C8B-B14F-4D97-AF65-F5344CB8AC3E}">
        <p14:creationId xmlns:p14="http://schemas.microsoft.com/office/powerpoint/2010/main" val="2365201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F0771-2A63-ABD8-55BC-F1DB59B08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Reconstructed Muon analysis</a:t>
            </a:r>
            <a:endParaRPr lang="en-SG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1C185B-7005-AB31-8FA0-153A227438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944302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5DFD2-27AC-AA66-0F8A-E62178714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A2980-FB9B-D1BB-E642-C11C62C9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Reconstructed Muon momentum (</a:t>
            </a:r>
            <a:r>
              <a:rPr lang="en-SG" b="1" dirty="0" err="1"/>
              <a:t>NuMI</a:t>
            </a:r>
            <a:r>
              <a:rPr lang="en-SG" b="1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E11028-B927-F516-3552-519E2C22FFE1}"/>
              </a:ext>
            </a:extLst>
          </p:cNvPr>
          <p:cNvSpPr txBox="1"/>
          <p:nvPr/>
        </p:nvSpPr>
        <p:spPr>
          <a:xfrm>
            <a:off x="1097279" y="1815053"/>
            <a:ext cx="1039939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</a:t>
            </a:r>
            <a:r>
              <a:rPr lang="en-US" sz="1600" b="1" dirty="0" err="1"/>
              <a:t>NuMI</a:t>
            </a:r>
            <a:r>
              <a:rPr lang="en-US" sz="1600" b="1" dirty="0"/>
              <a:t> sample reconstructed leading muon momentum for each cumulative cut</a:t>
            </a:r>
            <a:endParaRPr lang="en-SG" sz="1600" dirty="0"/>
          </a:p>
          <a:p>
            <a:endParaRPr lang="en-SG" sz="1600" b="1" dirty="0"/>
          </a:p>
          <a:p>
            <a:endParaRPr lang="en-SG" sz="16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4C5F1C-7313-CDB0-0862-ABA348F49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26" y="2284100"/>
            <a:ext cx="3587882" cy="19354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61E3F89-3A66-D50A-2FC5-AAEEE661C8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3208" y="2284100"/>
            <a:ext cx="3587883" cy="193547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D2C6D51-BDD1-18D7-F9DC-B984BAD901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1091" y="2284100"/>
            <a:ext cx="3587882" cy="19354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F5BDD76-DD19-2610-74BC-D9C6EA3B0C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26" y="4289112"/>
            <a:ext cx="3587882" cy="193547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D5EF91B-45F9-0AAB-3368-14F704D3CC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3207" y="4280445"/>
            <a:ext cx="3587883" cy="195280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95B6127-728C-6E68-F4AA-97A004C142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1090" y="4289112"/>
            <a:ext cx="3587883" cy="1952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05209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1EEFC-54BA-857A-54EF-FEFAE85F0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D5B8C-18C0-1777-2FEE-3B0DD835F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Reconstructed Muon momentum (BNB)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3DA7C1-641F-BDF1-8A6D-2DEA7EA874E0}"/>
              </a:ext>
            </a:extLst>
          </p:cNvPr>
          <p:cNvSpPr txBox="1"/>
          <p:nvPr/>
        </p:nvSpPr>
        <p:spPr>
          <a:xfrm>
            <a:off x="1097279" y="1815053"/>
            <a:ext cx="1039939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BNB sample reconstructed leading muon momentum for each cumulative cut</a:t>
            </a:r>
            <a:endParaRPr lang="en-SG" sz="1600" dirty="0"/>
          </a:p>
          <a:p>
            <a:endParaRPr lang="en-SG" sz="1600" b="1" dirty="0"/>
          </a:p>
          <a:p>
            <a:endParaRPr lang="en-SG" sz="16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D2628B-3AF6-EF32-2944-5E61250F9A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403" y="2276476"/>
            <a:ext cx="3619727" cy="19354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C490728-D5CA-14FC-67B4-917AE8AF8B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284" y="2259297"/>
            <a:ext cx="3619727" cy="195265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0A2B969-D64B-B6C2-39E7-6D08524597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2872" y="2259297"/>
            <a:ext cx="3619727" cy="195265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2C071CC-E763-39DD-0EAB-6344B3AF1A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480" y="4280445"/>
            <a:ext cx="3619727" cy="195265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0CF01F4-17FA-FDFC-32F8-A777D46BB2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9128" y="4280291"/>
            <a:ext cx="3587883" cy="1952808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56F9807-274B-2D08-CDB0-4ACFCA83E2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8793" y="4280291"/>
            <a:ext cx="3587883" cy="1952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966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CD1FA-6340-6651-CF89-887EB2960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7BDAA-2E9C-89A5-E92D-6A56157C4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Reconstructed Muon momentum (Combined)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396F91-3BF6-7B7E-A17B-7316BA4D762C}"/>
              </a:ext>
            </a:extLst>
          </p:cNvPr>
          <p:cNvSpPr txBox="1"/>
          <p:nvPr/>
        </p:nvSpPr>
        <p:spPr>
          <a:xfrm>
            <a:off x="1097279" y="1815053"/>
            <a:ext cx="1039939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combined and normalized reconstructed leading muon momentum for each cumulative cut</a:t>
            </a:r>
            <a:endParaRPr lang="en-SG" sz="1600" dirty="0"/>
          </a:p>
          <a:p>
            <a:endParaRPr lang="en-SG" sz="1600" b="1" dirty="0"/>
          </a:p>
          <a:p>
            <a:endParaRPr lang="en-SG" sz="16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013799-CC37-257D-2994-57A8D156D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437" y="2259296"/>
            <a:ext cx="3619727" cy="197801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71C0038-D718-9BFF-AA62-8D4460E14A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9065" y="2259296"/>
            <a:ext cx="3619728" cy="197801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6EDF7C5-28A5-B582-ACDE-17000DE581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6838" y="2233938"/>
            <a:ext cx="3619728" cy="197801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200BC4B-BA84-3CCD-3859-6F508834B9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437" y="4280291"/>
            <a:ext cx="3619728" cy="197801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5ACD8B4-763A-23DD-5A18-27A5D8DD36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3208" y="4280291"/>
            <a:ext cx="3681202" cy="197801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973E343-4884-7306-30C0-4875E72757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4410" y="4280290"/>
            <a:ext cx="4031964" cy="1978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1254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A6885-7AB1-F768-C6CC-453BB0149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FE290-B3D9-7973-EEA1-863F8DDD7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Muon momentum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4E4DC2-F9EC-5DEC-DFA4-868F1CC8C334}"/>
              </a:ext>
            </a:extLst>
          </p:cNvPr>
          <p:cNvSpPr txBox="1"/>
          <p:nvPr/>
        </p:nvSpPr>
        <p:spPr>
          <a:xfrm>
            <a:off x="1051098" y="1815053"/>
            <a:ext cx="1039939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Overlapping </a:t>
            </a:r>
            <a:r>
              <a:rPr lang="en-US" sz="1600" b="1" dirty="0" err="1"/>
              <a:t>NuMI</a:t>
            </a:r>
            <a:r>
              <a:rPr lang="en-US" sz="1600" b="1" dirty="0"/>
              <a:t> and BNB reconstructed and true leading muon momentum after final selection (with same binning)  </a:t>
            </a:r>
            <a:endParaRPr lang="en-SG" sz="1600" dirty="0"/>
          </a:p>
          <a:p>
            <a:endParaRPr lang="en-SG" sz="1600" b="1" dirty="0"/>
          </a:p>
          <a:p>
            <a:endParaRPr lang="en-SG" sz="16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7A2630-C691-D11D-766B-961077F55B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27" y="2517932"/>
            <a:ext cx="5239999" cy="338803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779F066-E2BC-8CFB-CE47-007B19600F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9876" y="2517932"/>
            <a:ext cx="5239999" cy="3388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4963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4B177-E778-E947-077C-98696B3FD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368B-7750-3B22-1AC8-3E7A219B7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Muon length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61BE07D-FB97-8518-9F94-FC27250609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425" y="2323736"/>
            <a:ext cx="6153150" cy="395973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7EECA04-BC73-E272-8492-BA87C3AD5DAC}"/>
              </a:ext>
            </a:extLst>
          </p:cNvPr>
          <p:cNvSpPr txBox="1"/>
          <p:nvPr/>
        </p:nvSpPr>
        <p:spPr>
          <a:xfrm>
            <a:off x="1051098" y="1815053"/>
            <a:ext cx="1039939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Overlapping </a:t>
            </a:r>
            <a:r>
              <a:rPr lang="en-US" sz="1600" b="1" dirty="0" err="1"/>
              <a:t>NuMI</a:t>
            </a:r>
            <a:r>
              <a:rPr lang="en-US" sz="1600" b="1" dirty="0"/>
              <a:t> and BNB reconstructed leading muon momentum  </a:t>
            </a:r>
            <a:endParaRPr lang="en-SG" sz="1600" dirty="0"/>
          </a:p>
          <a:p>
            <a:endParaRPr lang="en-SG" sz="1600" b="1" dirty="0"/>
          </a:p>
          <a:p>
            <a:endParaRPr lang="en-SG" sz="1600" b="1" dirty="0"/>
          </a:p>
        </p:txBody>
      </p:sp>
    </p:spTree>
    <p:extLst>
      <p:ext uri="{BB962C8B-B14F-4D97-AF65-F5344CB8AC3E}">
        <p14:creationId xmlns:p14="http://schemas.microsoft.com/office/powerpoint/2010/main" val="17894367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5B1D2-4586-6EE8-CF1B-6EB04BE73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59D04-6AC2-07D1-B01B-D9CD45422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True Muon analysis</a:t>
            </a:r>
            <a:endParaRPr lang="en-SG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019A97-9D78-F15C-E110-84EE8827C1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2358118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195C7-29A4-5998-E205-E52CCBB5B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EAD3F-9A85-9DA8-590B-A7A4C1284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True Muon momentum (</a:t>
            </a:r>
            <a:r>
              <a:rPr lang="en-SG" b="1" dirty="0" err="1"/>
              <a:t>NuMI</a:t>
            </a:r>
            <a:r>
              <a:rPr lang="en-SG" b="1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53FBB0-D782-3582-883B-A1BDEA26D0FA}"/>
              </a:ext>
            </a:extLst>
          </p:cNvPr>
          <p:cNvSpPr txBox="1"/>
          <p:nvPr/>
        </p:nvSpPr>
        <p:spPr>
          <a:xfrm>
            <a:off x="1097279" y="1815053"/>
            <a:ext cx="1039939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</a:t>
            </a:r>
            <a:r>
              <a:rPr lang="en-US" sz="1600" b="1" dirty="0" err="1"/>
              <a:t>NuMI</a:t>
            </a:r>
            <a:r>
              <a:rPr lang="en-US" sz="1600" b="1" dirty="0"/>
              <a:t> sample reconstructed leading muon momentum for each cumulative cut</a:t>
            </a:r>
            <a:endParaRPr lang="en-SG" sz="1600" dirty="0"/>
          </a:p>
          <a:p>
            <a:endParaRPr lang="en-SG" sz="1600" b="1" dirty="0"/>
          </a:p>
          <a:p>
            <a:endParaRPr lang="en-SG" sz="16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133542-824D-6840-C1FF-9F75CCD0D3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25" y="2292767"/>
            <a:ext cx="3587882" cy="19354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F814A0-B4FC-DAC6-6FC3-B28FA364F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3208" y="2284100"/>
            <a:ext cx="3587882" cy="193547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B5DAF9F-8853-52AD-7C50-6144495BB8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1091" y="2275433"/>
            <a:ext cx="3587882" cy="193547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ABD7D92-60C8-3F44-0AC8-A46D31FF02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25" y="4297778"/>
            <a:ext cx="3587882" cy="19354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C481859-428E-78FF-FD21-C49ED1C24F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3207" y="4297778"/>
            <a:ext cx="3587882" cy="195280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CB483D7-7E6D-B947-069C-1D90E801A4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1089" y="4297778"/>
            <a:ext cx="3587882" cy="1952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1205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BC7E1-38D2-C221-E5BF-03ED19324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38694-58EF-2491-AEFE-985272A1E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True Muon momentum (BNB)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AD99C5-91D7-73B1-3DA3-E899CA5A4782}"/>
              </a:ext>
            </a:extLst>
          </p:cNvPr>
          <p:cNvSpPr txBox="1"/>
          <p:nvPr/>
        </p:nvSpPr>
        <p:spPr>
          <a:xfrm>
            <a:off x="1097279" y="1815053"/>
            <a:ext cx="1039939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BNB sample reconstructed leading muon momentum for each cumulative cut</a:t>
            </a:r>
            <a:endParaRPr lang="en-SG" sz="1600" dirty="0"/>
          </a:p>
          <a:p>
            <a:endParaRPr lang="en-SG" sz="1600" b="1" dirty="0"/>
          </a:p>
          <a:p>
            <a:endParaRPr lang="en-SG" sz="16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BBEE9F4-5741-EC67-0C78-8063B503B3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215" y="2259297"/>
            <a:ext cx="3652144" cy="19528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EAD3009-3C77-E51A-3692-81AB6C376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6998" y="2259297"/>
            <a:ext cx="3620013" cy="195280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C351707-D55D-AA06-9261-7A1EDDEED6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2650" y="2259374"/>
            <a:ext cx="3619727" cy="195265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A657BA8-E188-E7BD-CB17-71491B19A8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985" y="4280291"/>
            <a:ext cx="3620013" cy="195280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7C79F41-8FD9-4080-73F0-2B822E6932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02058" y="4280291"/>
            <a:ext cx="3587883" cy="195280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B44FA42-266D-8CC3-9F29-D94776B1AD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34494" y="4280291"/>
            <a:ext cx="3587883" cy="1952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6841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1ED0C-0E09-39DC-ABAB-3F22FC19C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4865C-6C33-21D7-994A-44BA21E96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True Muon momentum (Combined)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78F462-D5C9-BEAC-248C-66861DA20B39}"/>
              </a:ext>
            </a:extLst>
          </p:cNvPr>
          <p:cNvSpPr txBox="1"/>
          <p:nvPr/>
        </p:nvSpPr>
        <p:spPr>
          <a:xfrm>
            <a:off x="1097279" y="1815053"/>
            <a:ext cx="1039939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combined and normalized reconstructed leading muon momentum for each cumulative cut</a:t>
            </a:r>
            <a:endParaRPr lang="en-SG" sz="1600" dirty="0"/>
          </a:p>
          <a:p>
            <a:endParaRPr lang="en-SG" sz="1600" b="1" dirty="0"/>
          </a:p>
          <a:p>
            <a:endParaRPr lang="en-SG" sz="16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3FAEC80-2D5D-1E0C-9EEC-E0512A0DD3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437" y="2259296"/>
            <a:ext cx="3619728" cy="19780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F5A8666-76B8-7C12-E5CC-0169955A4B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3208" y="2230551"/>
            <a:ext cx="3619728" cy="197801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F534882-62C4-4D5E-80A3-9514F496C0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6834" y="2259295"/>
            <a:ext cx="3619729" cy="197801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0F5C46E-0BD5-95B9-B688-9D269606AF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437" y="4280290"/>
            <a:ext cx="3619728" cy="197801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FE28F31-909D-413F-26EB-0271008A0E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5878" y="4280289"/>
            <a:ext cx="3681203" cy="197801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84F915B-E0B5-D474-E1E4-764D3F3BFA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7081" y="4280289"/>
            <a:ext cx="4031967" cy="1978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635132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8216</TotalTime>
  <Words>234</Words>
  <Application>Microsoft Office PowerPoint</Application>
  <PresentationFormat>Widescreen</PresentationFormat>
  <Paragraphs>36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Calibri</vt:lpstr>
      <vt:lpstr>Calibri Light</vt:lpstr>
      <vt:lpstr>Retrospect</vt:lpstr>
      <vt:lpstr>NuMI vs BNB simulation sample</vt:lpstr>
      <vt:lpstr>Reconstructed Muon analysis</vt:lpstr>
      <vt:lpstr>Reconstructed Muon momentum (NuMI)</vt:lpstr>
      <vt:lpstr>Reconstructed Muon momentum (BNB)</vt:lpstr>
      <vt:lpstr>Reconstructed Muon momentum (Combined)</vt:lpstr>
      <vt:lpstr>Muon momentum</vt:lpstr>
      <vt:lpstr>Muon length</vt:lpstr>
      <vt:lpstr>True Muon analysis</vt:lpstr>
      <vt:lpstr>True Muon momentum (NuMI)</vt:lpstr>
      <vt:lpstr>True Muon momentum (BNB)</vt:lpstr>
      <vt:lpstr>True Muon momentum (Combined)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#JORDON KOH JIN CHEN#</dc:creator>
  <cp:lastModifiedBy>#JORDON KOH JIN CHEN#</cp:lastModifiedBy>
  <cp:revision>36</cp:revision>
  <dcterms:created xsi:type="dcterms:W3CDTF">2025-11-12T13:24:12Z</dcterms:created>
  <dcterms:modified xsi:type="dcterms:W3CDTF">2026-03-23T16:30:06Z</dcterms:modified>
</cp:coreProperties>
</file>