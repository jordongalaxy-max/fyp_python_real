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9" r:id="rId3"/>
    <p:sldId id="259" r:id="rId4"/>
    <p:sldId id="257" r:id="rId5"/>
    <p:sldId id="260" r:id="rId6"/>
    <p:sldId id="261" r:id="rId7"/>
    <p:sldId id="262" r:id="rId8"/>
    <p:sldId id="263" r:id="rId9"/>
    <p:sldId id="270" r:id="rId10"/>
    <p:sldId id="264" r:id="rId11"/>
    <p:sldId id="258" r:id="rId12"/>
    <p:sldId id="265" r:id="rId13"/>
    <p:sldId id="266" r:id="rId14"/>
    <p:sldId id="267" r:id="rId15"/>
    <p:sldId id="268" r:id="rId16"/>
    <p:sldId id="271" r:id="rId17"/>
    <p:sldId id="275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3" r:id="rId30"/>
    <p:sldId id="285" r:id="rId31"/>
    <p:sldId id="286" r:id="rId32"/>
    <p:sldId id="288" r:id="rId33"/>
    <p:sldId id="289" r:id="rId34"/>
    <p:sldId id="287" r:id="rId35"/>
    <p:sldId id="290" r:id="rId36"/>
    <p:sldId id="293" r:id="rId37"/>
    <p:sldId id="295" r:id="rId38"/>
    <p:sldId id="296" r:id="rId39"/>
    <p:sldId id="297" r:id="rId40"/>
    <p:sldId id="298" r:id="rId41"/>
    <p:sldId id="301" r:id="rId42"/>
    <p:sldId id="299" r:id="rId43"/>
    <p:sldId id="300" r:id="rId44"/>
    <p:sldId id="302" r:id="rId45"/>
    <p:sldId id="303" r:id="rId46"/>
    <p:sldId id="310" r:id="rId47"/>
    <p:sldId id="304" r:id="rId48"/>
    <p:sldId id="305" r:id="rId49"/>
    <p:sldId id="311" r:id="rId50"/>
    <p:sldId id="306" r:id="rId51"/>
    <p:sldId id="307" r:id="rId52"/>
    <p:sldId id="308" r:id="rId53"/>
    <p:sldId id="309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29/1/2026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4.xml"/><Relationship Id="rId4" Type="http://schemas.openxmlformats.org/officeDocument/2006/relationships/slide" Target="slide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54AD-F993-DA76-EA2F-21A289A29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1272" y="758952"/>
            <a:ext cx="5244407" cy="3566160"/>
          </a:xfrm>
        </p:spPr>
        <p:txBody>
          <a:bodyPr>
            <a:normAutofit fontScale="90000"/>
          </a:bodyPr>
          <a:lstStyle/>
          <a:p>
            <a:r>
              <a:rPr lang="en-US" dirty="0"/>
              <a:t>Weekly FYP update meeting slides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1538C-A342-2B85-0AF8-CC17751009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Jordon </a:t>
            </a:r>
            <a:r>
              <a:rPr lang="en-US" dirty="0" err="1"/>
              <a:t>koh</a:t>
            </a:r>
            <a:r>
              <a:rPr lang="en-US" dirty="0"/>
              <a:t> </a:t>
            </a:r>
            <a:r>
              <a:rPr lang="en-US" dirty="0" err="1"/>
              <a:t>ntu</a:t>
            </a:r>
            <a:r>
              <a:rPr lang="en-US" dirty="0"/>
              <a:t> 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5B9B0D-ECFC-5A2C-A9C4-4579856F1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827740"/>
              </p:ext>
            </p:extLst>
          </p:nvPr>
        </p:nvGraphicFramePr>
        <p:xfrm>
          <a:off x="1293091" y="636538"/>
          <a:ext cx="354676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82">
                  <a:extLst>
                    <a:ext uri="{9D8B030D-6E8A-4147-A177-3AD203B41FA5}">
                      <a16:colId xmlns:a16="http://schemas.microsoft.com/office/drawing/2014/main" val="2375697622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132755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Slide 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371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 November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 action="ppaction://hlinksldjump"/>
                        </a:rPr>
                        <a:t>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22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27 November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 action="ppaction://hlinksldjump"/>
                        </a:rPr>
                        <a:t>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699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December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 action="ppaction://hlinksldjump"/>
                        </a:rPr>
                        <a:t>16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7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 January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 action="ppaction://hlinksldjump"/>
                        </a:rPr>
                        <a:t>24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57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 January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045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1056B-0417-9A5E-E38A-15C14DE24BF0}"/>
              </a:ext>
            </a:extLst>
          </p:cNvPr>
          <p:cNvSpPr txBox="1"/>
          <p:nvPr/>
        </p:nvSpPr>
        <p:spPr>
          <a:xfrm>
            <a:off x="2170747" y="267206"/>
            <a:ext cx="179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of contents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538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426A1-39A7-BB16-4205-44E7B220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ED6B-33A1-8210-4AAE-FA668BEA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(12 Nov)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D23A-2EE0-AD5D-217B-420A9FE5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Downloaded medulla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Read up on medulla tutorial, variables, cuts, and TOML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Opened BNB test root files for viewing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Ran </a:t>
            </a:r>
            <a:r>
              <a:rPr lang="en-SG" dirty="0" err="1"/>
              <a:t>Particles.toml</a:t>
            </a:r>
            <a:r>
              <a:rPr lang="en-SG" dirty="0"/>
              <a:t> file through medulla using BNB test root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Plotted some variables for viewing</a:t>
            </a:r>
          </a:p>
        </p:txBody>
      </p:sp>
    </p:spTree>
    <p:extLst>
      <p:ext uri="{BB962C8B-B14F-4D97-AF65-F5344CB8AC3E}">
        <p14:creationId xmlns:p14="http://schemas.microsoft.com/office/powerpoint/2010/main" val="2162695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EA66-17FE-8D92-B304-CACFE9DF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medulla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B8B7A-482C-8292-6EF6-867BA654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Chosen input </a:t>
            </a:r>
            <a:r>
              <a:rPr lang="en-US" dirty="0" err="1"/>
              <a:t>flat.root</a:t>
            </a:r>
            <a:r>
              <a:rPr lang="en-US" dirty="0"/>
              <a:t> file for analysis: </a:t>
            </a:r>
            <a:r>
              <a:rPr lang="fr-FR" dirty="0">
                <a:solidFill>
                  <a:srgbClr val="FF0000"/>
                </a:solidFill>
              </a:rPr>
              <a:t>/</a:t>
            </a:r>
            <a:r>
              <a:rPr lang="fr-FR" dirty="0" err="1">
                <a:solidFill>
                  <a:srgbClr val="FF0000"/>
                </a:solidFill>
              </a:rPr>
              <a:t>pnfs</a:t>
            </a:r>
            <a:r>
              <a:rPr lang="fr-FR" dirty="0">
                <a:solidFill>
                  <a:srgbClr val="FF0000"/>
                </a:solidFill>
              </a:rPr>
              <a:t>/</a:t>
            </a:r>
            <a:r>
              <a:rPr lang="fr-FR" dirty="0" err="1">
                <a:solidFill>
                  <a:srgbClr val="FF0000"/>
                </a:solidFill>
              </a:rPr>
              <a:t>icarus</a:t>
            </a:r>
            <a:r>
              <a:rPr lang="fr-FR" dirty="0">
                <a:solidFill>
                  <a:srgbClr val="FF0000"/>
                </a:solidFill>
              </a:rPr>
              <a:t>/persistent/</a:t>
            </a:r>
            <a:r>
              <a:rPr lang="fr-FR" dirty="0" err="1">
                <a:solidFill>
                  <a:srgbClr val="FF0000"/>
                </a:solidFill>
              </a:rPr>
              <a:t>users</a:t>
            </a:r>
            <a:r>
              <a:rPr lang="fr-FR" dirty="0">
                <a:solidFill>
                  <a:srgbClr val="FF0000"/>
                </a:solidFill>
              </a:rPr>
              <a:t>/</a:t>
            </a:r>
            <a:r>
              <a:rPr lang="fr-FR" dirty="0" err="1">
                <a:solidFill>
                  <a:srgbClr val="FF0000"/>
                </a:solidFill>
              </a:rPr>
              <a:t>mueller</a:t>
            </a:r>
            <a:r>
              <a:rPr lang="fr-FR" dirty="0">
                <a:solidFill>
                  <a:srgbClr val="FF0000"/>
                </a:solidFill>
              </a:rPr>
              <a:t>/production/simulation/nominal/input000.flat.root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Chosen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example</a:t>
            </a:r>
            <a:r>
              <a:rPr lang="fr-FR" dirty="0">
                <a:solidFill>
                  <a:schemeClr val="tx1"/>
                </a:solidFill>
              </a:rPr>
              <a:t> TOML configuration for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development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rgbClr val="FF0000"/>
                </a:solidFill>
              </a:rPr>
              <a:t>particles.toml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TOML file </a:t>
            </a:r>
            <a:r>
              <a:rPr lang="fr-FR" dirty="0" err="1">
                <a:solidFill>
                  <a:schemeClr val="tx1"/>
                </a:solidFill>
              </a:rPr>
              <a:t>was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edited</a:t>
            </a:r>
            <a:r>
              <a:rPr lang="fr-FR" dirty="0">
                <a:solidFill>
                  <a:schemeClr val="tx1"/>
                </a:solidFill>
              </a:rPr>
              <a:t> to enable </a:t>
            </a:r>
            <a:r>
              <a:rPr lang="fr-FR" dirty="0" err="1">
                <a:solidFill>
                  <a:schemeClr val="tx1"/>
                </a:solidFill>
              </a:rPr>
              <a:t>sample</a:t>
            </a:r>
            <a:r>
              <a:rPr lang="fr-FR" dirty="0">
                <a:solidFill>
                  <a:schemeClr val="tx1"/>
                </a:solidFill>
              </a:rPr>
              <a:t> block </a:t>
            </a:r>
            <a:r>
              <a:rPr lang="fr-FR" dirty="0" err="1">
                <a:solidFill>
                  <a:schemeClr val="tx1"/>
                </a:solidFill>
              </a:rPr>
              <a:t>using</a:t>
            </a:r>
            <a:r>
              <a:rPr lang="fr-FR" dirty="0">
                <a:solidFill>
                  <a:schemeClr val="tx1"/>
                </a:solidFill>
              </a:rPr>
              <a:t> input000.flat.root file and </a:t>
            </a:r>
            <a:r>
              <a:rPr lang="fr-FR" dirty="0" err="1">
                <a:solidFill>
                  <a:schemeClr val="tx1"/>
                </a:solidFill>
              </a:rPr>
              <a:t>disable</a:t>
            </a:r>
            <a:r>
              <a:rPr lang="fr-FR" dirty="0">
                <a:solidFill>
                  <a:schemeClr val="tx1"/>
                </a:solidFill>
              </a:rPr>
              <a:t> all </a:t>
            </a:r>
            <a:r>
              <a:rPr lang="fr-FR" dirty="0" err="1">
                <a:solidFill>
                  <a:schemeClr val="tx1"/>
                </a:solidFill>
              </a:rPr>
              <a:t>other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sample</a:t>
            </a:r>
            <a:r>
              <a:rPr lang="fr-FR" dirty="0">
                <a:solidFill>
                  <a:schemeClr val="tx1"/>
                </a:solidFill>
              </a:rPr>
              <a:t>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Generated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test.root</a:t>
            </a:r>
            <a:r>
              <a:rPr lang="fr-FR" dirty="0">
                <a:solidFill>
                  <a:schemeClr val="tx1"/>
                </a:solidFill>
              </a:rPr>
              <a:t> file in </a:t>
            </a:r>
            <a:r>
              <a:rPr lang="fr-FR" dirty="0" err="1">
                <a:solidFill>
                  <a:schemeClr val="tx1"/>
                </a:solidFill>
              </a:rPr>
              <a:t>path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rgbClr val="FF0000"/>
                </a:solidFill>
              </a:rPr>
              <a:t>exp</a:t>
            </a:r>
            <a:r>
              <a:rPr lang="fr-FR" dirty="0">
                <a:solidFill>
                  <a:srgbClr val="FF0000"/>
                </a:solidFill>
              </a:rPr>
              <a:t>/</a:t>
            </a:r>
            <a:r>
              <a:rPr lang="fr-FR" dirty="0" err="1">
                <a:solidFill>
                  <a:srgbClr val="FF0000"/>
                </a:solidFill>
              </a:rPr>
              <a:t>icarus</a:t>
            </a:r>
            <a:r>
              <a:rPr lang="fr-FR" dirty="0">
                <a:solidFill>
                  <a:srgbClr val="FF0000"/>
                </a:solidFill>
              </a:rPr>
              <a:t>/data/</a:t>
            </a:r>
            <a:r>
              <a:rPr lang="fr-FR" dirty="0" err="1">
                <a:solidFill>
                  <a:srgbClr val="FF0000"/>
                </a:solidFill>
              </a:rPr>
              <a:t>users</a:t>
            </a:r>
            <a:r>
              <a:rPr lang="fr-FR" dirty="0">
                <a:solidFill>
                  <a:srgbClr val="FF0000"/>
                </a:solidFill>
              </a:rPr>
              <a:t>/jkoh1/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Opened</a:t>
            </a:r>
            <a:r>
              <a:rPr lang="fr-FR" dirty="0">
                <a:solidFill>
                  <a:schemeClr val="tx1"/>
                </a:solidFill>
              </a:rPr>
              <a:t> root file via </a:t>
            </a:r>
            <a:r>
              <a:rPr lang="fr-FR" dirty="0">
                <a:solidFill>
                  <a:srgbClr val="FF0000"/>
                </a:solidFill>
              </a:rPr>
              <a:t>root </a:t>
            </a:r>
            <a:r>
              <a:rPr lang="fr-FR" dirty="0" err="1">
                <a:solidFill>
                  <a:srgbClr val="FF0000"/>
                </a:solidFill>
              </a:rPr>
              <a:t>test.root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command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Observed</a:t>
            </a:r>
            <a:r>
              <a:rPr lang="fr-FR" dirty="0">
                <a:solidFill>
                  <a:schemeClr val="tx1"/>
                </a:solidFill>
              </a:rPr>
              <a:t> contents of </a:t>
            </a:r>
            <a:r>
              <a:rPr lang="fr-FR" dirty="0" err="1">
                <a:solidFill>
                  <a:schemeClr val="tx1"/>
                </a:solidFill>
              </a:rPr>
              <a:t>TTree</a:t>
            </a:r>
            <a:r>
              <a:rPr lang="fr-FR" dirty="0">
                <a:solidFill>
                  <a:schemeClr val="tx1"/>
                </a:solidFill>
              </a:rPr>
              <a:t> files, chose </a:t>
            </a:r>
            <a:r>
              <a:rPr lang="fr-FR" dirty="0" err="1">
                <a:solidFill>
                  <a:schemeClr val="tx1"/>
                </a:solidFill>
              </a:rPr>
              <a:t>some</a:t>
            </a:r>
            <a:r>
              <a:rPr lang="fr-FR" dirty="0">
                <a:solidFill>
                  <a:schemeClr val="tx1"/>
                </a:solidFill>
              </a:rPr>
              <a:t> branches in </a:t>
            </a:r>
            <a:r>
              <a:rPr lang="fr-FR" dirty="0" err="1">
                <a:solidFill>
                  <a:schemeClr val="tx1"/>
                </a:solidFill>
              </a:rPr>
              <a:t>various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trees</a:t>
            </a:r>
            <a:r>
              <a:rPr lang="fr-FR" dirty="0">
                <a:solidFill>
                  <a:schemeClr val="tx1"/>
                </a:solidFill>
              </a:rPr>
              <a:t> to plot and </a:t>
            </a:r>
            <a:r>
              <a:rPr lang="fr-FR" dirty="0" err="1">
                <a:solidFill>
                  <a:schemeClr val="tx1"/>
                </a:solidFill>
              </a:rPr>
              <a:t>save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Analysed</a:t>
            </a:r>
            <a:r>
              <a:rPr lang="fr-FR" dirty="0">
                <a:solidFill>
                  <a:schemeClr val="tx1"/>
                </a:solidFill>
              </a:rPr>
              <a:t> plots and </a:t>
            </a:r>
            <a:r>
              <a:rPr lang="fr-FR" dirty="0" err="1">
                <a:solidFill>
                  <a:schemeClr val="tx1"/>
                </a:solidFill>
              </a:rPr>
              <a:t>understand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what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/sélections are </a:t>
            </a:r>
            <a:r>
              <a:rPr lang="fr-FR" dirty="0" err="1">
                <a:solidFill>
                  <a:schemeClr val="tx1"/>
                </a:solidFill>
              </a:rPr>
              <a:t>applied</a:t>
            </a:r>
            <a:r>
              <a:rPr lang="fr-FR" dirty="0">
                <a:solidFill>
                  <a:schemeClr val="tx1"/>
                </a:solidFill>
              </a:rPr>
              <a:t>, and how </a:t>
            </a:r>
            <a:r>
              <a:rPr lang="fr-FR" dirty="0" err="1">
                <a:solidFill>
                  <a:schemeClr val="tx1"/>
                </a:solidFill>
              </a:rPr>
              <a:t>they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work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884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C76A-0D86-D03F-49F9-C2433482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reproduced plots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61BDF-788A-BCDF-8F47-24C2BD51A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032439"/>
              </p:ext>
            </p:extLst>
          </p:nvPr>
        </p:nvGraphicFramePr>
        <p:xfrm>
          <a:off x="2032000" y="2070485"/>
          <a:ext cx="8127999" cy="2717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735157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057527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69518329"/>
                    </a:ext>
                  </a:extLst>
                </a:gridCol>
              </a:tblGrid>
              <a:tr h="517389">
                <a:tc>
                  <a:txBody>
                    <a:bodyPr/>
                    <a:lstStyle/>
                    <a:p>
                      <a:r>
                        <a:rPr lang="en-US" dirty="0"/>
                        <a:t>Tree Block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Cuts applied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Variables chosen to plot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71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Pid efficiency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Neutrino, </a:t>
                      </a:r>
                      <a:r>
                        <a:rPr lang="en-US" dirty="0" err="1"/>
                        <a:t>containtment_cut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True_particle_start_x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True_particle_start_x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reco_particle_start_x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reco_particle_start_x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94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Interactions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Neutrino, </a:t>
                      </a:r>
                      <a:r>
                        <a:rPr lang="en-US" dirty="0" err="1"/>
                        <a:t>fiducial_cut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containment_cut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Reco_fiducial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true_neutrino_energy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39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no_cut</a:t>
                      </a:r>
                      <a:r>
                        <a:rPr lang="en-US" dirty="0"/>
                        <a:t> (no cuts applied)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Nnu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nintime</a:t>
                      </a:r>
                      <a:r>
                        <a:rPr lang="en-US" dirty="0"/>
                        <a:t>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14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41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5756-C87C-58C2-C3F7-E12D3BED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A93D-2B86-3995-9E2F-1163AE9D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reproduced plots: </a:t>
            </a:r>
            <a:br>
              <a:rPr lang="en-US" dirty="0"/>
            </a:br>
            <a:r>
              <a:rPr lang="en-US" dirty="0" err="1"/>
              <a:t>pid</a:t>
            </a:r>
            <a:r>
              <a:rPr lang="en-US" dirty="0"/>
              <a:t> efficiency</a:t>
            </a:r>
            <a:endParaRPr lang="en-SG" dirty="0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BD5265E6-C846-632E-9EFC-0DCE1FF4F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475" y="1971675"/>
            <a:ext cx="2738843" cy="1857376"/>
          </a:xfrm>
          <a:prstGeom prst="rect">
            <a:avLst/>
          </a:prstGeom>
        </p:spPr>
      </p:pic>
      <p:pic>
        <p:nvPicPr>
          <p:cNvPr id="7" name="Picture 6" descr="A graph of a city skyline&#10;&#10;AI-generated content may be incorrect.">
            <a:extLst>
              <a:ext uri="{FF2B5EF4-FFF2-40B4-BE49-F238E27FC236}">
                <a16:creationId xmlns:a16="http://schemas.microsoft.com/office/drawing/2014/main" id="{F2EF0986-76AC-45BD-DDDC-236A7A1F9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475" y="4143374"/>
            <a:ext cx="2738843" cy="1857376"/>
          </a:xfrm>
          <a:prstGeom prst="rect">
            <a:avLst/>
          </a:prstGeom>
        </p:spPr>
      </p:pic>
      <p:pic>
        <p:nvPicPr>
          <p:cNvPr id="9" name="Picture 8" descr="A graph of a city skyline&#10;&#10;AI-generated content may be incorrect.">
            <a:extLst>
              <a:ext uri="{FF2B5EF4-FFF2-40B4-BE49-F238E27FC236}">
                <a16:creationId xmlns:a16="http://schemas.microsoft.com/office/drawing/2014/main" id="{90D16D59-A5AA-E121-1B6C-82E772102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450" y="4143373"/>
            <a:ext cx="2738845" cy="1857377"/>
          </a:xfrm>
          <a:prstGeom prst="rect">
            <a:avLst/>
          </a:prstGeom>
        </p:spPr>
      </p:pic>
      <p:pic>
        <p:nvPicPr>
          <p:cNvPr id="11" name="Picture 10" descr="A graph of a building&#10;&#10;AI-generated content may be incorrect.">
            <a:extLst>
              <a:ext uri="{FF2B5EF4-FFF2-40B4-BE49-F238E27FC236}">
                <a16:creationId xmlns:a16="http://schemas.microsoft.com/office/drawing/2014/main" id="{2EDF8CE9-0C49-BC83-7A24-18F6549F1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450" y="2011677"/>
            <a:ext cx="2738846" cy="185737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887E7C9-EE5B-F4E6-143F-C988D7D36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6532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Belongs to </a:t>
            </a:r>
            <a:r>
              <a:rPr lang="en-US" dirty="0" err="1">
                <a:solidFill>
                  <a:schemeClr val="tx1"/>
                </a:solidFill>
              </a:rPr>
              <a:t>pid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effiency</a:t>
            </a:r>
            <a:r>
              <a:rPr lang="en-US" dirty="0">
                <a:solidFill>
                  <a:schemeClr val="tx1"/>
                </a:solidFill>
              </a:rPr>
              <a:t> tree block, which contains variables relating to efficiency in particle identification of medulla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Cuts applied are neutrino and </a:t>
            </a:r>
            <a:r>
              <a:rPr lang="en-US" dirty="0" err="1">
                <a:solidFill>
                  <a:schemeClr val="tx1"/>
                </a:solidFill>
              </a:rPr>
              <a:t>containment_cut</a:t>
            </a:r>
            <a:r>
              <a:rPr lang="en-US" dirty="0">
                <a:solidFill>
                  <a:schemeClr val="tx1"/>
                </a:solidFill>
              </a:rPr>
              <a:t>. Which are cuts that take in an input and return a Boolean. In this case we want the particles labelled TRUE (meaning they are neutrinos and are contained)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Variables plotted are the true and reconstructed particle start and end positions in the x-axis. Which are self-explanatory in what they feature they describe for the particle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6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5151-08A8-A8E9-9AAF-C62CE020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DBEF-A08B-005F-FC67-DD876D2C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reproduced plots: </a:t>
            </a:r>
            <a:br>
              <a:rPr lang="en-US" dirty="0"/>
            </a:br>
            <a:r>
              <a:rPr lang="en-US" dirty="0"/>
              <a:t>interactions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CDDB3B-4879-B088-79FD-E301C97D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6532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Belongs to interactions tree block, which contains variables relating to interaction parameters for the particle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Cuts applied are neutrino, </a:t>
            </a:r>
            <a:r>
              <a:rPr lang="en-US" dirty="0" err="1">
                <a:solidFill>
                  <a:schemeClr val="tx1"/>
                </a:solidFill>
              </a:rPr>
              <a:t>containment_cut</a:t>
            </a:r>
            <a:r>
              <a:rPr lang="en-US" dirty="0">
                <a:solidFill>
                  <a:schemeClr val="tx1"/>
                </a:solidFill>
              </a:rPr>
              <a:t>, and fiducial cuts. Fiducial cut will give only particles contained within the fiducial volume of the </a:t>
            </a:r>
            <a:r>
              <a:rPr lang="en-US" dirty="0" err="1">
                <a:solidFill>
                  <a:schemeClr val="tx1"/>
                </a:solidFill>
              </a:rPr>
              <a:t>LaRTPC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Variables plotted are the reconstructed fiducial and true neutrino </a:t>
            </a:r>
            <a:r>
              <a:rPr lang="en-US" dirty="0" err="1">
                <a:solidFill>
                  <a:schemeClr val="tx1"/>
                </a:solidFill>
              </a:rPr>
              <a:t>energythey</a:t>
            </a:r>
            <a:r>
              <a:rPr lang="en-US" dirty="0">
                <a:solidFill>
                  <a:schemeClr val="tx1"/>
                </a:solidFill>
              </a:rPr>
              <a:t> describe for the particle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13" name="Picture 12" descr="A graph of a graph showing the number of neutrinos&#10;&#10;AI-generated content may be incorrect.">
            <a:extLst>
              <a:ext uri="{FF2B5EF4-FFF2-40B4-BE49-F238E27FC236}">
                <a16:creationId xmlns:a16="http://schemas.microsoft.com/office/drawing/2014/main" id="{4CD616CE-4817-5B88-A660-547EB514C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29" y="1990724"/>
            <a:ext cx="2935476" cy="1990725"/>
          </a:xfrm>
          <a:prstGeom prst="rect">
            <a:avLst/>
          </a:prstGeom>
        </p:spPr>
      </p:pic>
      <p:pic>
        <p:nvPicPr>
          <p:cNvPr id="15" name="Picture 14" descr="A graph of a function&#10;&#10;AI-generated content may be incorrect.">
            <a:extLst>
              <a:ext uri="{FF2B5EF4-FFF2-40B4-BE49-F238E27FC236}">
                <a16:creationId xmlns:a16="http://schemas.microsoft.com/office/drawing/2014/main" id="{53669A15-B739-E79C-3636-CB208EA10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874" y="1990725"/>
            <a:ext cx="2935476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09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B26A-3A9E-4498-49A9-FBC780E8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D7AB-8B9B-5935-B146-2BA91B28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reproduced plots: </a:t>
            </a:r>
            <a:br>
              <a:rPr lang="en-US" dirty="0"/>
            </a:br>
            <a:r>
              <a:rPr lang="en-US" dirty="0"/>
              <a:t>events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ED3E02-CA8E-6A90-0737-131CEA1F2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6532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Belongs to events tree block, which contains variables relating to event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cuts applied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Variables plotted are the </a:t>
            </a:r>
            <a:r>
              <a:rPr lang="en-US" dirty="0" err="1">
                <a:solidFill>
                  <a:schemeClr val="tx1"/>
                </a:solidFill>
              </a:rPr>
              <a:t>nintime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nnu</a:t>
            </a:r>
            <a:r>
              <a:rPr lang="en-US" dirty="0">
                <a:solidFill>
                  <a:schemeClr val="tx1"/>
                </a:solidFill>
              </a:rPr>
              <a:t>. Not sure what these variables describe, will need to read more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Picture 3" descr="A graph of event function&#10;&#10;AI-generated content may be incorrect.">
            <a:extLst>
              <a:ext uri="{FF2B5EF4-FFF2-40B4-BE49-F238E27FC236}">
                <a16:creationId xmlns:a16="http://schemas.microsoft.com/office/drawing/2014/main" id="{B673F1B2-8A03-179A-4B32-DA5D2D797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945" y="2010322"/>
            <a:ext cx="2990850" cy="2028278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EFF9C94D-595D-4EBE-A109-27C631D62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094" y="2010322"/>
            <a:ext cx="2990851" cy="202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66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369C5-C2CD-52AC-5F23-2792D7AF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54F4-5BCC-42D2-20D1-D86B3B56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tasks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EF71292-EFA1-382A-2FF8-7BD0B9E3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6532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Continue reading tutorial and selection files to understand more what exactly variables describe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Run more TOML files and use other </a:t>
            </a:r>
            <a:r>
              <a:rPr lang="en-US" dirty="0" err="1">
                <a:solidFill>
                  <a:schemeClr val="tx1"/>
                </a:solidFill>
              </a:rPr>
              <a:t>flat.root</a:t>
            </a:r>
            <a:r>
              <a:rPr lang="en-US" dirty="0">
                <a:solidFill>
                  <a:schemeClr val="tx1"/>
                </a:solidFill>
              </a:rPr>
              <a:t> input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Run </a:t>
            </a:r>
            <a:r>
              <a:rPr lang="en-US" dirty="0" err="1">
                <a:solidFill>
                  <a:schemeClr val="tx1"/>
                </a:solidFill>
              </a:rPr>
              <a:t>NuMI</a:t>
            </a:r>
            <a:r>
              <a:rPr lang="en-US" dirty="0">
                <a:solidFill>
                  <a:schemeClr val="tx1"/>
                </a:solidFill>
              </a:rPr>
              <a:t> root files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61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81DE5-6C45-0AE6-3F79-D1961B03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9602-A462-C51F-0DC2-12A9C37A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(12 Nov)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79AD-5E40-214E-11DA-D3A8136BA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 up further on true vs </a:t>
            </a:r>
            <a:r>
              <a:rPr lang="en-US" dirty="0" err="1"/>
              <a:t>reco</a:t>
            </a:r>
            <a:r>
              <a:rPr lang="en-US" dirty="0"/>
              <a:t> modes on medulla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 </a:t>
            </a:r>
            <a:r>
              <a:rPr lang="en-US" dirty="0" err="1"/>
              <a:t>NuMI</a:t>
            </a:r>
            <a:r>
              <a:rPr lang="en-US" dirty="0"/>
              <a:t> CAF file through medulla using </a:t>
            </a:r>
            <a:r>
              <a:rPr lang="en-US" dirty="0" err="1"/>
              <a:t>particles.toml</a:t>
            </a:r>
            <a:r>
              <a:rPr lang="en-US" dirty="0"/>
              <a:t> configuration 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Plotted differences in true and reconstructed variable data, as well as superimposed them into one plot for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Started writing my own TOML file </a:t>
            </a:r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296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50CE-D3E3-CC37-489B-6EDA4370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Selection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775E-5D37-E22E-DC22-DA2099110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testing, used </a:t>
            </a:r>
            <a:r>
              <a:rPr lang="en-US" dirty="0" err="1"/>
              <a:t>particles.toml</a:t>
            </a:r>
            <a:r>
              <a:rPr lang="en-US" dirty="0"/>
              <a:t> example file</a:t>
            </a:r>
          </a:p>
          <a:p>
            <a:r>
              <a:rPr lang="en-US" dirty="0"/>
              <a:t>Intend to eventually write my own </a:t>
            </a:r>
            <a:r>
              <a:rPr lang="en-US" dirty="0" err="1"/>
              <a:t>toml</a:t>
            </a:r>
            <a:r>
              <a:rPr lang="en-US" dirty="0"/>
              <a:t> file to use and for good practice</a:t>
            </a:r>
          </a:p>
          <a:p>
            <a:r>
              <a:rPr lang="en-US" dirty="0"/>
              <a:t>Compared efficiency of some particle and interaction variables by taking plotting difference between true and reconstructed variable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FF5AC5-3111-85C4-27AF-F7B46DDD6D5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69360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Particle type variable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Interaction type variable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Ending position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vertex x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Starting position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Visible energy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CE5163-21C4-0BB6-E763-B6D70F84D315}"/>
              </a:ext>
            </a:extLst>
          </p:cNvPr>
          <p:cNvSpPr txBox="1"/>
          <p:nvPr/>
        </p:nvSpPr>
        <p:spPr>
          <a:xfrm>
            <a:off x="4589209" y="4374000"/>
            <a:ext cx="301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Variables used for comparison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3160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27E3-B39F-1D2C-FD66-D923CFAD5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81A4-8251-2C9A-22D1-9A4B1C6C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Efficiency of </a:t>
            </a:r>
            <a:r>
              <a:rPr lang="en-US" sz="3200" b="1" dirty="0"/>
              <a:t>particle start x </a:t>
            </a:r>
            <a:endParaRPr lang="en-SG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E07773-97DB-E2D1-DADD-620236469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8897" y="3718660"/>
            <a:ext cx="3951234" cy="2625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78C40-DEA6-732A-E9F8-4DABFBAA9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76" y="642938"/>
            <a:ext cx="3843337" cy="2719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9B7C72-DD38-69F3-5F9D-C5727DD21CAD}"/>
              </a:ext>
            </a:extLst>
          </p:cNvPr>
          <p:cNvSpPr txBox="1"/>
          <p:nvPr/>
        </p:nvSpPr>
        <p:spPr>
          <a:xfrm>
            <a:off x="7815714" y="334932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Superimposed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AAB82-0028-A2BC-90EA-575818CFC3A0}"/>
              </a:ext>
            </a:extLst>
          </p:cNvPr>
          <p:cNvSpPr txBox="1"/>
          <p:nvPr/>
        </p:nvSpPr>
        <p:spPr>
          <a:xfrm>
            <a:off x="9539324" y="273606"/>
            <a:ext cx="113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</a:t>
            </a:r>
            <a:endParaRPr lang="en-SG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22BF52-BD92-6C2E-A894-6AF5B4CCADD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76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Superimposed with each other to visualize difference</a:t>
            </a:r>
          </a:p>
          <a:p>
            <a:r>
              <a:rPr lang="en-US" dirty="0"/>
              <a:t>Plotted difference in true/reconstructed</a:t>
            </a:r>
          </a:p>
          <a:p>
            <a:r>
              <a:rPr lang="en-US" dirty="0"/>
              <a:t>X-axis is the value of the difference</a:t>
            </a:r>
          </a:p>
          <a:p>
            <a:r>
              <a:rPr lang="en-US" dirty="0"/>
              <a:t>Y-axis is number of particles</a:t>
            </a:r>
          </a:p>
          <a:p>
            <a:r>
              <a:rPr lang="en-US" dirty="0" err="1"/>
              <a:t>Realised</a:t>
            </a:r>
            <a:r>
              <a:rPr lang="en-US" dirty="0"/>
              <a:t> that this difference plot does not take into account difference in number of particles for each bin, only difference in values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18286-783D-29F9-B6F9-8A50643ACA95}"/>
              </a:ext>
            </a:extLst>
          </p:cNvPr>
          <p:cNvSpPr txBox="1"/>
          <p:nvPr/>
        </p:nvSpPr>
        <p:spPr>
          <a:xfrm>
            <a:off x="5722700" y="5392024"/>
            <a:ext cx="99409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Reconstructed</a:t>
            </a:r>
            <a:endParaRPr lang="en-SG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09C876-29DC-558F-28F7-47D6147BDDE2}"/>
              </a:ext>
            </a:extLst>
          </p:cNvPr>
          <p:cNvCxnSpPr/>
          <p:nvPr/>
        </p:nvCxnSpPr>
        <p:spPr>
          <a:xfrm flipH="1" flipV="1">
            <a:off x="6308345" y="5645940"/>
            <a:ext cx="1249378" cy="38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D196AB-21AE-4724-D248-3DA65D13BE31}"/>
              </a:ext>
            </a:extLst>
          </p:cNvPr>
          <p:cNvSpPr txBox="1"/>
          <p:nvPr/>
        </p:nvSpPr>
        <p:spPr>
          <a:xfrm>
            <a:off x="5901186" y="4189857"/>
            <a:ext cx="63712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True</a:t>
            </a:r>
            <a:endParaRPr lang="en-SG" sz="1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55E4A1-8B5E-3E8F-8CBB-E41B78F81103}"/>
              </a:ext>
            </a:extLst>
          </p:cNvPr>
          <p:cNvCxnSpPr>
            <a:cxnSpLocks/>
          </p:cNvCxnSpPr>
          <p:nvPr/>
        </p:nvCxnSpPr>
        <p:spPr>
          <a:xfrm flipH="1" flipV="1">
            <a:off x="6308345" y="4312968"/>
            <a:ext cx="2381060" cy="28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1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B758-B4D6-D918-098B-A06C4FAB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6FB9BDC-16BF-B7D8-5522-B614D85DE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563" y="3429000"/>
            <a:ext cx="4388117" cy="2914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882DE-BF32-B126-E629-263972B0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Efficiency of </a:t>
            </a:r>
            <a:r>
              <a:rPr lang="en-US" sz="3200" b="1" dirty="0"/>
              <a:t>particle end z</a:t>
            </a:r>
            <a:endParaRPr lang="en-SG" sz="32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E05312-696D-32F6-B7D4-280C6BE545C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76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Superimposed with each other to visualize difference</a:t>
            </a:r>
          </a:p>
          <a:p>
            <a:r>
              <a:rPr lang="en-US" dirty="0"/>
              <a:t>Plotted difference in true/reconstructed</a:t>
            </a:r>
          </a:p>
          <a:p>
            <a:r>
              <a:rPr lang="en-US" dirty="0"/>
              <a:t>X-axis is the value of the difference</a:t>
            </a:r>
          </a:p>
          <a:p>
            <a:r>
              <a:rPr lang="en-US" dirty="0"/>
              <a:t>Y-axis is number of particles</a:t>
            </a:r>
          </a:p>
          <a:p>
            <a:r>
              <a:rPr lang="en-US" dirty="0" err="1"/>
              <a:t>Realised</a:t>
            </a:r>
            <a:r>
              <a:rPr lang="en-US" dirty="0"/>
              <a:t> that this difference plot does not take into account difference in number of particles for each bin, only difference in values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FB892-5BAE-AC25-B6C2-3CD6766CA68F}"/>
              </a:ext>
            </a:extLst>
          </p:cNvPr>
          <p:cNvSpPr txBox="1"/>
          <p:nvPr/>
        </p:nvSpPr>
        <p:spPr>
          <a:xfrm>
            <a:off x="5672281" y="3580318"/>
            <a:ext cx="99409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Reconstructed</a:t>
            </a:r>
            <a:endParaRPr lang="en-SG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AE4C8E-0688-4E79-5359-3998B96BE0D7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6666375" y="3707276"/>
            <a:ext cx="1975480" cy="319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29684B-A405-15BC-DD36-D011AFD3B403}"/>
              </a:ext>
            </a:extLst>
          </p:cNvPr>
          <p:cNvSpPr txBox="1"/>
          <p:nvPr/>
        </p:nvSpPr>
        <p:spPr>
          <a:xfrm>
            <a:off x="5672281" y="4362578"/>
            <a:ext cx="63712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True</a:t>
            </a:r>
            <a:endParaRPr lang="en-SG" sz="1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19792E-4E8D-A4EB-C7D8-750A6E803533}"/>
              </a:ext>
            </a:extLst>
          </p:cNvPr>
          <p:cNvCxnSpPr>
            <a:cxnSpLocks/>
          </p:cNvCxnSpPr>
          <p:nvPr/>
        </p:nvCxnSpPr>
        <p:spPr>
          <a:xfrm flipH="1" flipV="1">
            <a:off x="6079440" y="4485689"/>
            <a:ext cx="1975936" cy="843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E8F725D-EBA6-6B6F-A9D0-0C8168C0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405" y="365125"/>
            <a:ext cx="4306953" cy="28659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C0FF68F-C6E0-25BE-703A-AA7FF7BF57DB}"/>
              </a:ext>
            </a:extLst>
          </p:cNvPr>
          <p:cNvSpPr txBox="1"/>
          <p:nvPr/>
        </p:nvSpPr>
        <p:spPr>
          <a:xfrm>
            <a:off x="8025114" y="3210986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Superimposed</a:t>
            </a:r>
            <a:endParaRPr lang="en-S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83FD1-3262-413A-7A41-DF3B9236ED49}"/>
              </a:ext>
            </a:extLst>
          </p:cNvPr>
          <p:cNvSpPr txBox="1"/>
          <p:nvPr/>
        </p:nvSpPr>
        <p:spPr>
          <a:xfrm>
            <a:off x="9118371" y="90906"/>
            <a:ext cx="113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9967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62C7-C08B-BFC9-1317-819A2711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CAFF66-24B9-CD4D-B9EB-877373806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969" y="3337889"/>
            <a:ext cx="4238711" cy="28390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07CCA-D027-E7BB-5BCC-3ADF7F9E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Efficiency of interaction </a:t>
            </a:r>
            <a:r>
              <a:rPr lang="en-US" sz="3200" b="1" dirty="0"/>
              <a:t>vertex x</a:t>
            </a:r>
            <a:endParaRPr lang="en-SG" sz="32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3FD9814-94AC-D0FE-F16A-D86C2C7D9A3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76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Superimposed with each other to visualize difference</a:t>
            </a:r>
          </a:p>
          <a:p>
            <a:r>
              <a:rPr lang="en-US" dirty="0"/>
              <a:t>Plotted difference in true/reconstructed</a:t>
            </a:r>
          </a:p>
          <a:p>
            <a:r>
              <a:rPr lang="en-US" dirty="0"/>
              <a:t>X-axis is the value of the difference</a:t>
            </a:r>
          </a:p>
          <a:p>
            <a:r>
              <a:rPr lang="en-US" dirty="0"/>
              <a:t>Y-axis is number of particles</a:t>
            </a:r>
          </a:p>
          <a:p>
            <a:r>
              <a:rPr lang="en-US" dirty="0" err="1"/>
              <a:t>Realised</a:t>
            </a:r>
            <a:r>
              <a:rPr lang="en-US" dirty="0"/>
              <a:t> that this difference plot does not take into account difference in number of particles for each bin, only difference in values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CEDDC-3261-6EE8-2593-2DE59C9DE199}"/>
              </a:ext>
            </a:extLst>
          </p:cNvPr>
          <p:cNvSpPr txBox="1"/>
          <p:nvPr/>
        </p:nvSpPr>
        <p:spPr>
          <a:xfrm>
            <a:off x="4949867" y="3337889"/>
            <a:ext cx="99409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Reconstructed</a:t>
            </a:r>
            <a:endParaRPr lang="en-SG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C01C13-4F3B-72CC-0F85-B62F97577D57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943961" y="3464847"/>
            <a:ext cx="2047828" cy="12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6FBE62-EBAC-2A09-C740-2188C9277A23}"/>
              </a:ext>
            </a:extLst>
          </p:cNvPr>
          <p:cNvSpPr txBox="1"/>
          <p:nvPr/>
        </p:nvSpPr>
        <p:spPr>
          <a:xfrm>
            <a:off x="5472237" y="4210712"/>
            <a:ext cx="63712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True</a:t>
            </a:r>
            <a:endParaRPr lang="en-SG" sz="1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5BBEEF-930B-4A49-F531-7786039591CC}"/>
              </a:ext>
            </a:extLst>
          </p:cNvPr>
          <p:cNvCxnSpPr>
            <a:cxnSpLocks/>
          </p:cNvCxnSpPr>
          <p:nvPr/>
        </p:nvCxnSpPr>
        <p:spPr>
          <a:xfrm flipH="1" flipV="1">
            <a:off x="5834414" y="4337670"/>
            <a:ext cx="1776512" cy="323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D10E39C3-4D8C-D2F0-0E80-8DB78534E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610" y="736202"/>
            <a:ext cx="3512190" cy="24368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17A92BE-2C7C-3A0F-055B-883D7922EBFB}"/>
              </a:ext>
            </a:extLst>
          </p:cNvPr>
          <p:cNvSpPr txBox="1"/>
          <p:nvPr/>
        </p:nvSpPr>
        <p:spPr>
          <a:xfrm>
            <a:off x="8124690" y="3153223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Superimposed</a:t>
            </a:r>
            <a:endParaRPr lang="en-S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82737B-1609-5CB4-A3EA-F4592191E66D}"/>
              </a:ext>
            </a:extLst>
          </p:cNvPr>
          <p:cNvSpPr txBox="1"/>
          <p:nvPr/>
        </p:nvSpPr>
        <p:spPr>
          <a:xfrm>
            <a:off x="8971604" y="428919"/>
            <a:ext cx="113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91469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3E54A-D5BE-5945-F0E6-9262A369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A3A2C4-9D85-C4D5-DF3D-E6502E3A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632" y="3744262"/>
            <a:ext cx="3899788" cy="25675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F6D0F8-E525-51A9-78AF-C85560A2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Efficiency of interaction </a:t>
            </a:r>
            <a:r>
              <a:rPr lang="en-US" sz="3200" b="1" dirty="0"/>
              <a:t>visible energy</a:t>
            </a:r>
            <a:endParaRPr lang="en-SG" sz="32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C16B3B-EFA9-9453-42FA-33BA334B9C9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76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Superimposed with each other to visualize difference</a:t>
            </a:r>
          </a:p>
          <a:p>
            <a:r>
              <a:rPr lang="en-US" dirty="0"/>
              <a:t>Plotted difference in true/reconstructed</a:t>
            </a:r>
          </a:p>
          <a:p>
            <a:r>
              <a:rPr lang="en-US" dirty="0"/>
              <a:t>X-axis is the value of the difference</a:t>
            </a:r>
          </a:p>
          <a:p>
            <a:r>
              <a:rPr lang="en-US" dirty="0"/>
              <a:t>Y-axis is number of particles</a:t>
            </a:r>
          </a:p>
          <a:p>
            <a:r>
              <a:rPr lang="en-US" dirty="0" err="1"/>
              <a:t>Realised</a:t>
            </a:r>
            <a:r>
              <a:rPr lang="en-US" dirty="0"/>
              <a:t> that this difference plot does not take into account difference in number of particles for each bin, only difference in values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FC0D3A-E1C5-4FEC-43C3-4AE9FD0E9178}"/>
              </a:ext>
            </a:extLst>
          </p:cNvPr>
          <p:cNvSpPr txBox="1"/>
          <p:nvPr/>
        </p:nvSpPr>
        <p:spPr>
          <a:xfrm>
            <a:off x="5110278" y="4011683"/>
            <a:ext cx="99409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Reconstructed</a:t>
            </a:r>
            <a:endParaRPr lang="en-SG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C2F482-8333-D66F-0BC1-F70B6B6E7911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6104372" y="4138641"/>
            <a:ext cx="1347205" cy="99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0DC74A-AA09-64A6-59FA-B280DD67B54D}"/>
              </a:ext>
            </a:extLst>
          </p:cNvPr>
          <p:cNvSpPr txBox="1"/>
          <p:nvPr/>
        </p:nvSpPr>
        <p:spPr>
          <a:xfrm>
            <a:off x="5545416" y="4420570"/>
            <a:ext cx="63712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True</a:t>
            </a:r>
            <a:endParaRPr lang="en-SG" sz="1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B95AE3-E513-2EF2-EE63-D0E374970425}"/>
              </a:ext>
            </a:extLst>
          </p:cNvPr>
          <p:cNvCxnSpPr>
            <a:cxnSpLocks/>
          </p:cNvCxnSpPr>
          <p:nvPr/>
        </p:nvCxnSpPr>
        <p:spPr>
          <a:xfrm flipH="1" flipV="1">
            <a:off x="5907593" y="4547528"/>
            <a:ext cx="1568283" cy="1355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984828-7878-A943-73FD-BEFFAA89F50E}"/>
              </a:ext>
            </a:extLst>
          </p:cNvPr>
          <p:cNvSpPr txBox="1"/>
          <p:nvPr/>
        </p:nvSpPr>
        <p:spPr>
          <a:xfrm>
            <a:off x="8197869" y="3363081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Superimposed</a:t>
            </a:r>
            <a:endParaRPr lang="en-S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9B649C-2DC1-277E-794C-56F6F2E720D2}"/>
              </a:ext>
            </a:extLst>
          </p:cNvPr>
          <p:cNvSpPr txBox="1"/>
          <p:nvPr/>
        </p:nvSpPr>
        <p:spPr>
          <a:xfrm>
            <a:off x="8971604" y="428919"/>
            <a:ext cx="113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229F90-560B-7C5B-FBC2-6FF155CA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348" y="798251"/>
            <a:ext cx="3645431" cy="247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15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E9E7-AF00-30CE-10BC-0A872ECD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tasks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8967-C375-A8B6-D9E5-82EF3A56C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more familiar with ROOT plotting</a:t>
            </a:r>
          </a:p>
          <a:p>
            <a:r>
              <a:rPr lang="en-US" dirty="0"/>
              <a:t>Get more familiar with medulla, specifically important variable and cut definitions</a:t>
            </a:r>
          </a:p>
          <a:p>
            <a:r>
              <a:rPr lang="en-US" dirty="0"/>
              <a:t>Write my own TOML file and run it through </a:t>
            </a:r>
            <a:r>
              <a:rPr lang="en-US" dirty="0" err="1"/>
              <a:t>NuMI</a:t>
            </a:r>
            <a:r>
              <a:rPr lang="en-US" dirty="0"/>
              <a:t> simulation file and analyze results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152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6C65-13EF-52E9-BE2D-83FF291A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735E-69CE-85A3-25FE-59B46E7A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(4th Dec)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BAC0C-5643-0338-05FE-79622F13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Checked on meaning of some variables (PID, Semantic type) in medulla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Went through and understood more variables and their physical meanings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Wrote/modified my own TOML file to select 1muon1proton interactions as well as muon only interactions and ran it through medulla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Compared PID reconstructed and true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Investigated ways to calculate energy loss in tracks and showers</a:t>
            </a:r>
          </a:p>
        </p:txBody>
      </p:sp>
    </p:spTree>
    <p:extLst>
      <p:ext uri="{BB962C8B-B14F-4D97-AF65-F5344CB8AC3E}">
        <p14:creationId xmlns:p14="http://schemas.microsoft.com/office/powerpoint/2010/main" val="793024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E86D-AA93-B196-4765-3A877318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80D7-30FD-3E9B-26DF-1428D160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TOML file for practice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57BD8-024D-AD4F-AE19-F6999A28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Modified </a:t>
            </a:r>
            <a:r>
              <a:rPr lang="en-SG" dirty="0" err="1"/>
              <a:t>particles.TOML</a:t>
            </a:r>
            <a:r>
              <a:rPr lang="en-SG" dirty="0"/>
              <a:t> file to include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Added in particle threshold parameters for use in particle cuts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Added fiducial cut for some trees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Additional trees for 1muon1proton selection and muon only selection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SG" dirty="0"/>
          </a:p>
          <a:p>
            <a:pPr lvl="1">
              <a:buFont typeface="Arial" panose="020B0604020202020204" pitchFamily="34" charset="0"/>
              <a:buChar char="•"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F849D-456F-C08D-81D1-28514DD38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7" y="3874808"/>
            <a:ext cx="2205809" cy="1339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C06E59-3D89-47FA-4726-E0AE2DA8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120" y="4874491"/>
            <a:ext cx="4757004" cy="1340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66AFF9-4808-791A-AD45-D5C794A8F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120" y="3429000"/>
            <a:ext cx="4778154" cy="8916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61762B-C367-2F11-9F45-C285B36B8CC9}"/>
              </a:ext>
            </a:extLst>
          </p:cNvPr>
          <p:cNvSpPr txBox="1"/>
          <p:nvPr/>
        </p:nvSpPr>
        <p:spPr>
          <a:xfrm>
            <a:off x="378903" y="3567031"/>
            <a:ext cx="2350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Particle threshold parameters</a:t>
            </a:r>
            <a:endParaRPr lang="en-SG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D9557A-A552-ED54-66D3-5B72BCCE8DAA}"/>
              </a:ext>
            </a:extLst>
          </p:cNvPr>
          <p:cNvSpPr txBox="1"/>
          <p:nvPr/>
        </p:nvSpPr>
        <p:spPr>
          <a:xfrm>
            <a:off x="3032052" y="3151367"/>
            <a:ext cx="2837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Cuts applied on muon only selection</a:t>
            </a:r>
            <a:endParaRPr lang="en-SG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EDD1C-3F50-8115-F5ED-B4B030E99E33}"/>
              </a:ext>
            </a:extLst>
          </p:cNvPr>
          <p:cNvSpPr txBox="1"/>
          <p:nvPr/>
        </p:nvSpPr>
        <p:spPr>
          <a:xfrm>
            <a:off x="3032052" y="4577146"/>
            <a:ext cx="3164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Cuts applied on 1muon1proton selection</a:t>
            </a:r>
            <a:endParaRPr lang="en-SG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160BF2-05EB-756A-AF8E-7AE002CBC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342" y="4127527"/>
            <a:ext cx="4054191" cy="899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0B8BEF-3EFC-E60A-3397-A17A85EC5620}"/>
              </a:ext>
            </a:extLst>
          </p:cNvPr>
          <p:cNvSpPr txBox="1"/>
          <p:nvPr/>
        </p:nvSpPr>
        <p:spPr>
          <a:xfrm>
            <a:off x="7902274" y="3848742"/>
            <a:ext cx="3587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Cuts applied on normal </a:t>
            </a:r>
            <a:r>
              <a:rPr lang="en-US" sz="1400" dirty="0" err="1"/>
              <a:t>pid</a:t>
            </a:r>
            <a:r>
              <a:rPr lang="en-US" sz="1400" dirty="0"/>
              <a:t> efficiency selection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712363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83BB-5947-25FE-365D-5FA30308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00B6-9A58-9BDD-DD63-4F3CFF63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variable numbers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D73A-F582-BC82-AA91-36E0DC635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259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Pid variable for </a:t>
            </a:r>
            <a:r>
              <a:rPr lang="en-US" dirty="0" err="1"/>
              <a:t>NuMI</a:t>
            </a:r>
            <a:r>
              <a:rPr lang="en-US" dirty="0"/>
              <a:t> simulation particles, reconstructed and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Cuts applied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Neutrino interactions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Containment cut on true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Fiducial cut on true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6166F5-3454-8EAF-6D6D-190D76892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55814"/>
              </p:ext>
            </p:extLst>
          </p:nvPr>
        </p:nvGraphicFramePr>
        <p:xfrm>
          <a:off x="1260060" y="3907626"/>
          <a:ext cx="3659810" cy="22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905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829905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4667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X-axis number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Particle type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Photon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1ABFE9E-BAD3-607D-AC62-F4BABCED4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22" y="1958008"/>
            <a:ext cx="3362555" cy="3491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D3EE50-10EB-5ABF-4257-554ADF8D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99" y="1958008"/>
            <a:ext cx="3237285" cy="355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7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A45F8-B2CC-DEFE-8C52-77CAA432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877B-795D-1B34-812B-47CDAEA9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reconstruction efficiency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A32C1-9470-C534-339A-38B6EA7EF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259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Pid variable for </a:t>
            </a:r>
            <a:r>
              <a:rPr lang="en-US" dirty="0" err="1"/>
              <a:t>NuMI</a:t>
            </a:r>
            <a:r>
              <a:rPr lang="en-US" dirty="0"/>
              <a:t> simulation particles, reconstructed and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Cuts applied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Neutrino interactions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Containment cut on true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Fiducial cut on true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0A88DD-5720-908F-CF42-AB0EA0F02089}"/>
              </a:ext>
            </a:extLst>
          </p:cNvPr>
          <p:cNvGraphicFramePr>
            <a:graphicFrameLocks noGrp="1"/>
          </p:cNvGraphicFramePr>
          <p:nvPr/>
        </p:nvGraphicFramePr>
        <p:xfrm>
          <a:off x="1260060" y="3907626"/>
          <a:ext cx="3659810" cy="22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905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829905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4667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X-axis number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Particle type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Photon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particles&#10;&#10;AI-generated content may be incorrect.">
            <a:extLst>
              <a:ext uri="{FF2B5EF4-FFF2-40B4-BE49-F238E27FC236}">
                <a16:creationId xmlns:a16="http://schemas.microsoft.com/office/drawing/2014/main" id="{22A100EB-E1F6-532A-D42E-2894FA1B7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13" y="2132166"/>
            <a:ext cx="5609601" cy="38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65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26EE-C21C-899A-2C08-82D30682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5BD0-BC70-53A3-0C52-3444B244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energy loss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EFB7F4-EFA9-B910-6174-E0D65DC82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For Track-like 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it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should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</a:t>
            </a:r>
            <a:r>
              <a:rPr lang="fr-FR" dirty="0">
                <a:solidFill>
                  <a:schemeClr val="tx1"/>
                </a:solidFill>
              </a:rPr>
              <a:t> a simple </a:t>
            </a:r>
            <a:r>
              <a:rPr lang="fr-FR" dirty="0" err="1">
                <a:solidFill>
                  <a:schemeClr val="tx1"/>
                </a:solidFill>
              </a:rPr>
              <a:t>method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dividing</a:t>
            </a:r>
            <a:r>
              <a:rPr lang="fr-FR" dirty="0">
                <a:solidFill>
                  <a:schemeClr val="tx1"/>
                </a:solidFill>
              </a:rPr>
              <a:t> CSDA </a:t>
            </a:r>
            <a:r>
              <a:rPr lang="fr-FR" dirty="0" err="1">
                <a:solidFill>
                  <a:schemeClr val="tx1"/>
                </a:solidFill>
              </a:rPr>
              <a:t>energy</a:t>
            </a:r>
            <a:r>
              <a:rPr lang="fr-FR" dirty="0">
                <a:solidFill>
                  <a:schemeClr val="tx1"/>
                </a:solidFill>
              </a:rPr>
              <a:t> by total </a:t>
            </a:r>
            <a:r>
              <a:rPr lang="fr-FR" dirty="0" err="1">
                <a:solidFill>
                  <a:schemeClr val="tx1"/>
                </a:solidFill>
              </a:rPr>
              <a:t>track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length</a:t>
            </a:r>
            <a:r>
              <a:rPr lang="fr-FR" dirty="0">
                <a:solidFill>
                  <a:schemeClr val="tx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Limitations due to </a:t>
            </a:r>
            <a:r>
              <a:rPr lang="fr-FR" dirty="0" err="1">
                <a:solidFill>
                  <a:schemeClr val="tx1"/>
                </a:solidFill>
              </a:rPr>
              <a:t>assumption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that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track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is</a:t>
            </a:r>
            <a:r>
              <a:rPr lang="fr-FR" dirty="0">
                <a:solidFill>
                  <a:schemeClr val="tx1"/>
                </a:solidFill>
              </a:rPr>
              <a:t> straight and </a:t>
            </a:r>
            <a:r>
              <a:rPr lang="fr-FR" dirty="0" err="1">
                <a:solidFill>
                  <a:schemeClr val="tx1"/>
                </a:solidFill>
              </a:rPr>
              <a:t>contained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For </a:t>
            </a:r>
            <a:r>
              <a:rPr lang="fr-FR" dirty="0" err="1">
                <a:solidFill>
                  <a:schemeClr val="tx1"/>
                </a:solidFill>
              </a:rPr>
              <a:t>Shower</a:t>
            </a:r>
            <a:r>
              <a:rPr lang="fr-FR" dirty="0">
                <a:solidFill>
                  <a:schemeClr val="tx1"/>
                </a:solidFill>
              </a:rPr>
              <a:t>-like 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it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is</a:t>
            </a:r>
            <a:r>
              <a:rPr lang="fr-FR" dirty="0">
                <a:solidFill>
                  <a:schemeClr val="tx1"/>
                </a:solidFill>
              </a:rPr>
              <a:t> more </a:t>
            </a:r>
            <a:r>
              <a:rPr lang="fr-FR" dirty="0" err="1">
                <a:solidFill>
                  <a:schemeClr val="tx1"/>
                </a:solidFill>
              </a:rPr>
              <a:t>difficult</a:t>
            </a:r>
            <a:r>
              <a:rPr lang="fr-FR" dirty="0">
                <a:solidFill>
                  <a:schemeClr val="tx1"/>
                </a:solidFill>
              </a:rPr>
              <a:t> as </a:t>
            </a:r>
            <a:r>
              <a:rPr lang="fr-FR" dirty="0" err="1">
                <a:solidFill>
                  <a:schemeClr val="tx1"/>
                </a:solidFill>
              </a:rPr>
              <a:t>track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ill-defined</a:t>
            </a:r>
            <a:r>
              <a:rPr lang="fr-FR" dirty="0">
                <a:solidFill>
                  <a:schemeClr val="tx1"/>
                </a:solidFill>
              </a:rPr>
              <a:t>, best to follow </a:t>
            </a:r>
            <a:r>
              <a:rPr lang="fr-FR" dirty="0" err="1">
                <a:solidFill>
                  <a:schemeClr val="tx1"/>
                </a:solidFill>
              </a:rPr>
              <a:t>calorimetric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kinetic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energy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given</a:t>
            </a:r>
            <a:r>
              <a:rPr lang="fr-FR" dirty="0">
                <a:solidFill>
                  <a:schemeClr val="tx1"/>
                </a:solidFill>
              </a:rPr>
              <a:t> by </a:t>
            </a:r>
            <a:r>
              <a:rPr lang="fr-FR" dirty="0" err="1">
                <a:solidFill>
                  <a:schemeClr val="tx1"/>
                </a:solidFill>
              </a:rPr>
              <a:t>medulla</a:t>
            </a:r>
            <a:endParaRPr lang="fr-FR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For </a:t>
            </a:r>
            <a:r>
              <a:rPr lang="fr-FR" dirty="0" err="1">
                <a:solidFill>
                  <a:schemeClr val="tx1"/>
                </a:solidFill>
              </a:rPr>
              <a:t>seperation</a:t>
            </a:r>
            <a:r>
              <a:rPr lang="fr-FR" dirty="0">
                <a:solidFill>
                  <a:schemeClr val="tx1"/>
                </a:solidFill>
              </a:rPr>
              <a:t> of photons and électrons in initial </a:t>
            </a:r>
            <a:r>
              <a:rPr lang="fr-FR" dirty="0" err="1">
                <a:solidFill>
                  <a:schemeClr val="tx1"/>
                </a:solidFill>
              </a:rPr>
              <a:t>starting</a:t>
            </a:r>
            <a:r>
              <a:rPr lang="fr-FR" dirty="0">
                <a:solidFill>
                  <a:schemeClr val="tx1"/>
                </a:solidFill>
              </a:rPr>
              <a:t> points of </a:t>
            </a:r>
            <a:r>
              <a:rPr lang="fr-FR" dirty="0" err="1">
                <a:solidFill>
                  <a:schemeClr val="tx1"/>
                </a:solidFill>
              </a:rPr>
              <a:t>showers</a:t>
            </a:r>
            <a:r>
              <a:rPr lang="fr-FR" dirty="0">
                <a:solidFill>
                  <a:schemeClr val="tx1"/>
                </a:solidFill>
              </a:rPr>
              <a:t>, can use </a:t>
            </a:r>
            <a:r>
              <a:rPr lang="fr-FR" dirty="0" err="1">
                <a:solidFill>
                  <a:schemeClr val="tx1"/>
                </a:solidFill>
              </a:rPr>
              <a:t>starting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dE</a:t>
            </a:r>
            <a:r>
              <a:rPr lang="fr-FR" dirty="0">
                <a:solidFill>
                  <a:schemeClr val="tx1"/>
                </a:solidFill>
              </a:rPr>
              <a:t>/dx variable </a:t>
            </a:r>
            <a:r>
              <a:rPr lang="fr-FR" dirty="0" err="1">
                <a:solidFill>
                  <a:schemeClr val="tx1"/>
                </a:solidFill>
              </a:rPr>
              <a:t>given</a:t>
            </a:r>
            <a:r>
              <a:rPr lang="fr-FR" dirty="0">
                <a:solidFill>
                  <a:schemeClr val="tx1"/>
                </a:solidFill>
              </a:rPr>
              <a:t> by </a:t>
            </a:r>
            <a:r>
              <a:rPr lang="fr-FR" dirty="0" err="1">
                <a:solidFill>
                  <a:schemeClr val="tx1"/>
                </a:solidFill>
              </a:rPr>
              <a:t>medulla</a:t>
            </a:r>
            <a:endParaRPr lang="fr-FR" dirty="0">
              <a:solidFill>
                <a:schemeClr val="tx1"/>
              </a:solidFill>
            </a:endParaRPr>
          </a:p>
          <a:p>
            <a:pPr marL="201168" lvl="1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3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3BC9-5B24-ACD6-E435-5EECDD87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3AF3-D744-4CD5-587B-5463B802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8305137" cy="1450757"/>
          </a:xfrm>
        </p:spPr>
        <p:txBody>
          <a:bodyPr/>
          <a:lstStyle/>
          <a:p>
            <a:r>
              <a:rPr lang="en-US" dirty="0"/>
              <a:t>Results of 1muon1proton and muon only selections 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29073-CF3D-5724-B785-6770C34DF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3210" y="2057401"/>
            <a:ext cx="4501342" cy="3693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9003AB-41CA-309C-D03E-95B4CEFA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752" y="2057401"/>
            <a:ext cx="2917793" cy="3693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F2CD35-A154-D309-9BA8-B0050C38F990}"/>
              </a:ext>
            </a:extLst>
          </p:cNvPr>
          <p:cNvSpPr txBox="1"/>
          <p:nvPr/>
        </p:nvSpPr>
        <p:spPr>
          <a:xfrm>
            <a:off x="4975238" y="5622117"/>
            <a:ext cx="2241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766ADD-3AC5-B983-4081-C2D7E159EB16}"/>
              </a:ext>
            </a:extLst>
          </p:cNvPr>
          <p:cNvSpPr txBox="1"/>
          <p:nvPr/>
        </p:nvSpPr>
        <p:spPr>
          <a:xfrm>
            <a:off x="10035588" y="5776005"/>
            <a:ext cx="1511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B76D556-CEDF-E205-71CC-0CFE4168A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643703"/>
              </p:ext>
            </p:extLst>
          </p:nvPr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EA511328-B266-842D-D4F8-FA65EB1DD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55" y="2545856"/>
            <a:ext cx="3692806" cy="27164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09B461-1DE2-D641-E2D4-58CF8A9FFFCA}"/>
              </a:ext>
            </a:extLst>
          </p:cNvPr>
          <p:cNvSpPr txBox="1"/>
          <p:nvPr/>
        </p:nvSpPr>
        <p:spPr>
          <a:xfrm>
            <a:off x="1019164" y="5262354"/>
            <a:ext cx="2021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123355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110D-2193-B453-43C8-AF0AC608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A71B-BAC9-A7E0-7328-75862839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muon only selection 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87378-0C8F-4C41-9621-CFA43152B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307" y="1939451"/>
            <a:ext cx="3027023" cy="40310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391A64-59CE-6F5A-7632-9FB9C7AB0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244" y="1882839"/>
            <a:ext cx="3206177" cy="42081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6D7087-DCD4-F807-2C6E-DA42EE741757}"/>
              </a:ext>
            </a:extLst>
          </p:cNvPr>
          <p:cNvSpPr txBox="1"/>
          <p:nvPr/>
        </p:nvSpPr>
        <p:spPr>
          <a:xfrm>
            <a:off x="1490506" y="5446644"/>
            <a:ext cx="2021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8544A-09D4-DC84-60A5-A2A845A19F35}"/>
              </a:ext>
            </a:extLst>
          </p:cNvPr>
          <p:cNvSpPr txBox="1"/>
          <p:nvPr/>
        </p:nvSpPr>
        <p:spPr>
          <a:xfrm>
            <a:off x="9061092" y="5970488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583BEA9-20C3-47CA-7C67-A981DCD53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99423"/>
              </p:ext>
            </p:extLst>
          </p:nvPr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pic>
        <p:nvPicPr>
          <p:cNvPr id="18" name="Picture 17" descr="A graph of a number of particles&#10;&#10;AI-generated content may be incorrect.">
            <a:extLst>
              <a:ext uri="{FF2B5EF4-FFF2-40B4-BE49-F238E27FC236}">
                <a16:creationId xmlns:a16="http://schemas.microsoft.com/office/drawing/2014/main" id="{D756C159-11C4-8256-62CE-5562E0825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2189970"/>
            <a:ext cx="4548300" cy="32566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7D6C71-E964-1E0B-8459-C142BE30EDA6}"/>
              </a:ext>
            </a:extLst>
          </p:cNvPr>
          <p:cNvSpPr txBox="1"/>
          <p:nvPr/>
        </p:nvSpPr>
        <p:spPr>
          <a:xfrm>
            <a:off x="5512888" y="6089458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577064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B31D-7444-BF51-E00B-790B7EA8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B072-DB0B-DA1B-4433-6ED2D957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tasks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57DD-71F3-23D6-5E6C-124E432A1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energy loss for track-like particles</a:t>
            </a:r>
          </a:p>
          <a:p>
            <a:r>
              <a:rPr lang="en-US" dirty="0"/>
              <a:t>Improve on TOML file selection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7157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7606-FF01-6963-C5B6-18435D3C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9ED9-36C4-43B0-D426-43164595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(15 Jan)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5BC18-81C0-E1AD-4096-F203D29B5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Wrote/modified my own TOML file to select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1muon1proton interactions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Specific particles according to PID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Specific semantic types (</a:t>
            </a:r>
            <a:r>
              <a:rPr lang="en-SG" dirty="0" err="1"/>
              <a:t>michel</a:t>
            </a:r>
            <a:r>
              <a:rPr lang="en-SG" dirty="0"/>
              <a:t>, showers)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Ran it through BNB and </a:t>
            </a:r>
            <a:r>
              <a:rPr lang="en-SG" dirty="0" err="1"/>
              <a:t>NuMI</a:t>
            </a:r>
            <a:r>
              <a:rPr lang="en-SG" dirty="0"/>
              <a:t> simulation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Compared reconstructed and true efficiencies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Compared differences in particle variable distributions for each particle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Writing Mid-Progress report for Final Year Project</a:t>
            </a:r>
          </a:p>
        </p:txBody>
      </p:sp>
    </p:spTree>
    <p:extLst>
      <p:ext uri="{BB962C8B-B14F-4D97-AF65-F5344CB8AC3E}">
        <p14:creationId xmlns:p14="http://schemas.microsoft.com/office/powerpoint/2010/main" val="689811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F773-4AA8-5C8E-8D57-4F4144E0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A741-41BF-318D-63CE-FD76D1A1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reconstruction efficiency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ED18-1CB9-F234-4D83-B474A5A0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538207" cy="444573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Pid variable for </a:t>
            </a:r>
            <a:r>
              <a:rPr lang="en-US" dirty="0" err="1"/>
              <a:t>NuMI</a:t>
            </a:r>
            <a:r>
              <a:rPr lang="en-US" dirty="0"/>
              <a:t> simulation particles, reconstructed and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 is set to true, runs the selection on true interactions within each event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Cuts applied on true interactions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Neutrino interactions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PID cut to select specific particle types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Containment cut on true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Fiducial cut on true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Branch variables are both true and reconstructed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Reconstructed branches show reconstructed interactions that are matched to a true interaction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634006-84EA-8C5B-6462-CBC4D0980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68174"/>
              </p:ext>
            </p:extLst>
          </p:nvPr>
        </p:nvGraphicFramePr>
        <p:xfrm>
          <a:off x="5792303" y="1974943"/>
          <a:ext cx="3659810" cy="22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905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829905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4667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X-axis number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Particle type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Photon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046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4E3B-4AEC-2EBE-5CF4-B42BC3FE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59AD-99FC-FA60-737D-ED4F484D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electron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3057B4-47E8-0E6F-B39D-44AF35BE33E4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7C6BA-5F7F-69E7-94A4-5D817B50ACA9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D381201-9421-0939-5A6E-40221BEB9F30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DD8BB33-7139-815E-EDA0-26DD9E7E38AE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41A661D9-DFC0-270C-37E4-8C8D9252A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7" y="2087835"/>
            <a:ext cx="6102624" cy="33588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873616-0B8F-04DF-5D6C-0C1BB4839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986" y="2689808"/>
            <a:ext cx="2550456" cy="3117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00E98-FDA5-9AA5-92C0-80FBCE909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685" y="2723555"/>
            <a:ext cx="2550456" cy="30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29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5ACF-725D-2A52-23B1-744342BE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EF17-1231-126E-88FB-BA789023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photon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A38B2-EA63-81D4-742F-1BBB6F91868F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CB080F-EFAB-2C3B-D6F5-E8CD3488361B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2F53C15-7E3D-72B0-1977-835975A08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41170"/>
              </p:ext>
            </p:extLst>
          </p:nvPr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A9559AA-3EE3-B7F9-C3D9-4FFD2378F2AE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19A875-C29B-E76B-43E8-B0BD6513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234" y="2784474"/>
            <a:ext cx="2459960" cy="3022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82AC91-6121-9360-ABA9-6C5434F5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573" y="2750580"/>
            <a:ext cx="2523083" cy="30568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E88F63-B6CC-8826-A94B-16D03EF3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30" y="2238768"/>
            <a:ext cx="5433495" cy="320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82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DAE3-8E4A-C968-7D6B-236F76DB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69E9-932E-5279-A0EC-21A43BA7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muon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48744-2003-C640-626C-54E8ABB69DFB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64FB0C-86FB-EEF0-7DBE-2CBC9B6AD5D8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1430EF-E964-C63D-EBF5-452464629A1C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D52823A-756E-B558-94B6-89DD045A03A6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5" name="Picture 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E643A9E3-1A34-B6AA-ECFD-03191E054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9" y="2389758"/>
            <a:ext cx="6330713" cy="3056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D93D9A-9BBB-1F03-DB42-2A2BEFCBD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866" y="2712563"/>
            <a:ext cx="2520418" cy="3103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3E1AE-24A6-6D2D-DB45-16968D56B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622" y="2712563"/>
            <a:ext cx="2612579" cy="320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1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BAD4-117C-11A1-5163-52AA0A4D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5A6E-C145-47FB-6D9F-77AFCFAD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pion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679CB0-98D8-E1BB-5818-6D39194A3A37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2AD9C-0E44-1034-0FD8-5E7E9112CECF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33E9FF6-B8F1-5F7E-B225-6262F2026567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EED46F5-4759-0FFD-B4C7-507618635369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4C6716E9-044C-ED35-6384-9F5FE5151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81" y="2484783"/>
            <a:ext cx="6064130" cy="2969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17E104-0C10-DD39-5DCF-B61397080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950" y="2697535"/>
            <a:ext cx="2516527" cy="3056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8E0976-9DC9-A625-049B-3D1078764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928" y="2712563"/>
            <a:ext cx="2516527" cy="310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04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396B-81F4-6629-4580-58CC3F97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5E00-FD96-9E21-AD20-59D25A8C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proton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0B79E-1F11-62BB-B9DE-366A08A134E5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287112-1150-FBD6-22E3-13EFF344E6E0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85483B-B5CB-A860-7D82-EB997E1E9FD4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83A2403-B6CF-B203-C3BF-CAFFAA378A38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B52BD2A0-D388-0AC8-4E04-EE4EB4252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5" y="2214397"/>
            <a:ext cx="5475586" cy="3271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C02C72-2935-B984-5B11-16F1E600B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86" y="2712563"/>
            <a:ext cx="2407144" cy="3103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6E592-487A-9BEF-A33D-3477BF7AF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869" y="2734410"/>
            <a:ext cx="2529636" cy="310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76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E248-2583-00EB-D7C9-ABDAFAFE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A882-992D-773C-2B36-DFF7EE6C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particle type reconstruction efficiency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5FA765-3427-C067-C69C-5BFCD5954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From the reconstruction efficiency graphs. the order of best reconstruction efficiency to worst are as follows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1. electron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2. muon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3. proton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4. pion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5. photon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Photon was noticeably shown to be worse compared to other particle types, with a significant possibility of misidentification of the photon into an electron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particle shown to have the second worse reconstruction efficiency was the pion. This is to be expected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029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3B05-9050-A802-8306-8E260D7D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6E82-3990-3844-05F0-8FAC40EF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Type reconstruction efficiency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4FBD62-484A-0665-ECB1-125640D6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5" y="1923472"/>
            <a:ext cx="3890600" cy="21341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DB966F-04BE-6421-8E1A-338859F2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40" y="1969377"/>
            <a:ext cx="3730119" cy="20423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6C09A0-4B77-F09E-89BB-A472C32D5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394" y="1893128"/>
            <a:ext cx="3890600" cy="21186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E274D1-71C7-DDFD-DE53-43EECC4DA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05" y="4167561"/>
            <a:ext cx="3810000" cy="2068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1B99EB-A9C6-2597-3D50-782DA9AF3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940" y="4073899"/>
            <a:ext cx="3717784" cy="2093483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77B58F8-D28A-833D-B4FF-C2DEF3C51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264271"/>
              </p:ext>
            </p:extLst>
          </p:nvPr>
        </p:nvGraphicFramePr>
        <p:xfrm>
          <a:off x="8591550" y="4333875"/>
          <a:ext cx="2962276" cy="189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138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481138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19016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Semantic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Shower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Track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</a:t>
                      </a:r>
                      <a:r>
                        <a:rPr lang="en-SG" sz="1050" dirty="0" err="1"/>
                        <a:t>ichel</a:t>
                      </a:r>
                      <a:r>
                        <a:rPr lang="en-SG" sz="1050" dirty="0"/>
                        <a:t> electron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  <a:r>
                        <a:rPr lang="en-SG" sz="1050" dirty="0" err="1"/>
                        <a:t>elta</a:t>
                      </a:r>
                      <a:r>
                        <a:rPr lang="en-SG" sz="1050" dirty="0"/>
                        <a:t> electron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L</a:t>
                      </a:r>
                      <a:r>
                        <a:rPr lang="en-SG" sz="1050" dirty="0"/>
                        <a:t>ow-energy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15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D22C-860D-04B6-C4A7-D46251DD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3396-CC3D-31FF-88ED-15A950D2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semantic type reconstruction efficiency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2970719-F53E-6DC9-04C0-127F4A6D6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From the reconstruction efficiency graphs. the order of best reconstruction efficiency to worst are as follows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1. muon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2. proton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3. pion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4. electron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5. photon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Photon was noticeably shown to be worse compared to other particle types, with most low-energy semantic types identified to be showers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particle shown to have the second worse reconstruction efficiency was the electron, with some being classified as tracks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612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0858-A24C-E021-AFCD-6FE35273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distributions for each particle type – Kinetic Energy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C3269-CA3C-E94B-EA3A-8DA62814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70" y="2162175"/>
            <a:ext cx="3213070" cy="185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30672F-5642-EB59-2E48-D73D8033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834" y="2059021"/>
            <a:ext cx="3455292" cy="2063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E13A47-52EF-8042-3695-5C7E395F9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19" y="2062279"/>
            <a:ext cx="3455291" cy="2060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CEDFF9-CA58-4889-0840-3985ABAA0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753" y="4239100"/>
            <a:ext cx="3346773" cy="19516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316B85-39D2-E280-9918-988D70814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510" y="4183096"/>
            <a:ext cx="3529231" cy="20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8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7671-10C1-3C43-6023-50846751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F46B-09A4-F85A-AD45-FE034F9A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KE distributions for each particle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CBF1BCB-59A7-824D-07FD-21B963300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For electrons and photons, their kinetic energy distributions is very </a:t>
            </a:r>
            <a:r>
              <a:rPr lang="en-US" dirty="0" err="1">
                <a:solidFill>
                  <a:schemeClr val="tx1"/>
                </a:solidFill>
              </a:rPr>
              <a:t>centralised</a:t>
            </a:r>
            <a:r>
              <a:rPr lang="en-US" dirty="0">
                <a:solidFill>
                  <a:schemeClr val="tx1"/>
                </a:solidFill>
              </a:rPr>
              <a:t> into a specific range. With a large majority of electrons and photons with kinetic energies between 0.55 to 117 and 1 to 79 MeV respectively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Muons have a wide kinetic energy spread, with majority within 4 to 279 MeV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Pions</a:t>
            </a:r>
            <a:r>
              <a:rPr lang="en-US" dirty="0">
                <a:solidFill>
                  <a:schemeClr val="tx1"/>
                </a:solidFill>
              </a:rPr>
              <a:t> and protons are similar to muons but with a narrower energy spread, and kinetic energies within 0.27 to 198 and 0.72 to 111 MeV respectively. </a:t>
            </a:r>
            <a:r>
              <a:rPr lang="en-US" dirty="0" err="1">
                <a:solidFill>
                  <a:schemeClr val="tx1"/>
                </a:solidFill>
              </a:rPr>
              <a:t>Pions</a:t>
            </a:r>
            <a:r>
              <a:rPr lang="en-US" dirty="0">
                <a:solidFill>
                  <a:schemeClr val="tx1"/>
                </a:solidFill>
              </a:rPr>
              <a:t> thus have a wider energy spread compared to protons, which is one way to tell them apart.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08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453B-9476-DB9C-8EB9-749FDF6C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C0FA-4B8A-25ED-606E-3FB5904C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level – 1u1p signal graphs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973B1-3207-57EF-516B-C47536609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6" y="2104932"/>
            <a:ext cx="2916246" cy="2046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9F8E8-2F56-1574-29A7-C097E1712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488" y="2006063"/>
            <a:ext cx="2788084" cy="19378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D8615F-3FAF-F054-0A6E-4F295880B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926" y="2104932"/>
            <a:ext cx="2939571" cy="2046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AADD3D-6038-5452-E54B-88B04E439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803" y="4239799"/>
            <a:ext cx="2916246" cy="2018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3FC20F-5F98-AD1C-BC23-9D3230234E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488" y="4151709"/>
            <a:ext cx="2835571" cy="19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31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15A6-E6C3-B03E-E57C-BAE157DB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547-1F9A-6DEF-B7F3-8A571D2D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level – 1u1p signal graphs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3C0A3-3B44-08BD-4DF0-EAD1AAE6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613" y="1922934"/>
            <a:ext cx="4381079" cy="3096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27979F-3C4F-8F23-D824-29BCA309B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26" y="1922934"/>
            <a:ext cx="4549163" cy="31977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745A08-4AA1-2251-1159-7EE6815699C6}"/>
              </a:ext>
            </a:extLst>
          </p:cNvPr>
          <p:cNvSpPr txBox="1"/>
          <p:nvPr/>
        </p:nvSpPr>
        <p:spPr>
          <a:xfrm>
            <a:off x="3048000" y="522678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total visible energy of the interaction by summing the energy of all particles that are identified as counting towards the final state of the interaction.</a:t>
            </a:r>
          </a:p>
        </p:txBody>
      </p:sp>
    </p:spTree>
    <p:extLst>
      <p:ext uri="{BB962C8B-B14F-4D97-AF65-F5344CB8AC3E}">
        <p14:creationId xmlns:p14="http://schemas.microsoft.com/office/powerpoint/2010/main" val="2253902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77FD-7E7D-0BC8-8B27-7473364A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A5C6-0622-3218-48C7-B84C1AB5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Shower selection 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DEBFD6-6EBD-EDBB-F5D6-3B9BA4C0E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684684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Attempted to create a Ttree containing only reconstructed particles with shower semantic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Flashmatch</a:t>
            </a:r>
            <a:r>
              <a:rPr lang="en-US" dirty="0">
                <a:solidFill>
                  <a:schemeClr val="tx1"/>
                </a:solidFill>
              </a:rPr>
              <a:t> cut to reduce </a:t>
            </a:r>
            <a:r>
              <a:rPr lang="en-US" dirty="0" err="1">
                <a:solidFill>
                  <a:schemeClr val="tx1"/>
                </a:solidFill>
              </a:rPr>
              <a:t>cosmics</a:t>
            </a:r>
            <a:r>
              <a:rPr lang="en-US" dirty="0">
                <a:solidFill>
                  <a:schemeClr val="tx1"/>
                </a:solidFill>
              </a:rPr>
              <a:t>, testing size cut meant to reduce noise or reconstruction artefacts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554E42-0FF5-3CB6-3630-72C0F2AD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98" y="2096221"/>
            <a:ext cx="55530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03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C3178-B07C-5C6E-0DBF-F8465CC7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2889-47BB-45BD-09EE-E668BBAF5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Shower selection 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91912A-757D-BF87-CD40-8B928ED2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33" y="2107474"/>
            <a:ext cx="4636013" cy="3152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3F0527-7B81-31AC-435B-7649C53F4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567" y="2107181"/>
            <a:ext cx="4636013" cy="31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34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4D59-2443-CAA2-57D6-6A06E6D6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6FBF-4CA0-75F1-ECD9-9E5E371C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(22 Jan)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2FA0-5CE8-FD9C-3DFD-5583B6015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Writing TOML file to select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ee showers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 err="1"/>
              <a:t>yy</a:t>
            </a:r>
            <a:r>
              <a:rPr lang="en-SG" dirty="0"/>
              <a:t> showers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 err="1"/>
              <a:t>ey</a:t>
            </a:r>
            <a:r>
              <a:rPr lang="en-SG" dirty="0"/>
              <a:t> showers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Looking at particle variables for leading shower particle and </a:t>
            </a:r>
            <a:r>
              <a:rPr lang="en-SG" dirty="0" err="1"/>
              <a:t>subleading</a:t>
            </a:r>
            <a:r>
              <a:rPr lang="en-SG" dirty="0"/>
              <a:t> shower particle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Finished Writing Mid-Progress report for Final Year Project</a:t>
            </a:r>
          </a:p>
        </p:txBody>
      </p:sp>
    </p:spTree>
    <p:extLst>
      <p:ext uri="{BB962C8B-B14F-4D97-AF65-F5344CB8AC3E}">
        <p14:creationId xmlns:p14="http://schemas.microsoft.com/office/powerpoint/2010/main" val="3132778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47BA-9763-D94E-0283-2454B832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6802-C2B4-5EA4-8B81-241F5C89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TOML file 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B3C3743-76F2-5061-3F34-7B2C73AAE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0759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3 </a:t>
            </a:r>
            <a:r>
              <a:rPr lang="fr-FR" dirty="0" err="1">
                <a:solidFill>
                  <a:schemeClr val="tx1"/>
                </a:solidFill>
              </a:rPr>
              <a:t>different</a:t>
            </a:r>
            <a:r>
              <a:rPr lang="fr-FR" dirty="0">
                <a:solidFill>
                  <a:schemeClr val="tx1"/>
                </a:solidFill>
              </a:rPr>
              <a:t> sélections in </a:t>
            </a:r>
            <a:r>
              <a:rPr lang="fr-FR" dirty="0" err="1">
                <a:solidFill>
                  <a:schemeClr val="tx1"/>
                </a:solidFill>
              </a:rPr>
              <a:t>reconstructed</a:t>
            </a:r>
            <a:r>
              <a:rPr lang="fr-FR" dirty="0">
                <a:solidFill>
                  <a:schemeClr val="tx1"/>
                </a:solidFill>
              </a:rPr>
              <a:t> mode, </a:t>
            </a:r>
            <a:r>
              <a:rPr lang="fr-FR" dirty="0" err="1">
                <a:solidFill>
                  <a:schemeClr val="tx1"/>
                </a:solidFill>
              </a:rPr>
              <a:t>ee-showers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yy-showers</a:t>
            </a:r>
            <a:r>
              <a:rPr lang="fr-FR" dirty="0">
                <a:solidFill>
                  <a:schemeClr val="tx1"/>
                </a:solidFill>
              </a:rPr>
              <a:t>, and </a:t>
            </a:r>
            <a:r>
              <a:rPr lang="fr-FR" dirty="0" err="1">
                <a:solidFill>
                  <a:schemeClr val="tx1"/>
                </a:solidFill>
              </a:rPr>
              <a:t>ey-showers</a:t>
            </a:r>
            <a:r>
              <a:rPr lang="fr-FR" dirty="0">
                <a:solidFill>
                  <a:schemeClr val="tx1"/>
                </a:solidFill>
              </a:rPr>
              <a:t> for 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Running in reco mode, all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 are for </a:t>
            </a:r>
            <a:r>
              <a:rPr lang="fr-FR" dirty="0" err="1">
                <a:solidFill>
                  <a:schemeClr val="tx1"/>
                </a:solidFill>
              </a:rPr>
              <a:t>reconstructed</a:t>
            </a:r>
            <a:r>
              <a:rPr lang="fr-FR" dirty="0">
                <a:solidFill>
                  <a:schemeClr val="tx1"/>
                </a:solidFill>
              </a:rPr>
              <a:t> interactions/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720E7-800B-8584-33E4-F7E064D6B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291" y="1845734"/>
            <a:ext cx="4940732" cy="1304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0349F8-FD48-79F3-21EE-39EDC35E3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288" y="3321396"/>
            <a:ext cx="4940733" cy="1296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1DE916-F29D-CA2D-C58A-2BAA87D11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287" y="4788861"/>
            <a:ext cx="4940734" cy="13148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228B0D-BB60-A322-9409-9A3C39C1BD5A}"/>
              </a:ext>
            </a:extLst>
          </p:cNvPr>
          <p:cNvSpPr txBox="1"/>
          <p:nvPr/>
        </p:nvSpPr>
        <p:spPr>
          <a:xfrm>
            <a:off x="5643656" y="2236354"/>
            <a:ext cx="104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ee-shower selection</a:t>
            </a:r>
            <a:endParaRPr lang="en-SG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1A1CB5-C1CD-B528-1439-F84D9E5C3788}"/>
              </a:ext>
            </a:extLst>
          </p:cNvPr>
          <p:cNvSpPr txBox="1"/>
          <p:nvPr/>
        </p:nvSpPr>
        <p:spPr>
          <a:xfrm>
            <a:off x="5643656" y="3707806"/>
            <a:ext cx="104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yy</a:t>
            </a:r>
            <a:r>
              <a:rPr lang="en-US" sz="1400" dirty="0"/>
              <a:t>-shower selection</a:t>
            </a:r>
            <a:endParaRPr lang="en-SG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7AF37-B117-3856-5E1B-2DB314FABBCE}"/>
              </a:ext>
            </a:extLst>
          </p:cNvPr>
          <p:cNvSpPr txBox="1"/>
          <p:nvPr/>
        </p:nvSpPr>
        <p:spPr>
          <a:xfrm>
            <a:off x="5643656" y="5184660"/>
            <a:ext cx="104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ey</a:t>
            </a:r>
            <a:r>
              <a:rPr lang="en-US" sz="1400" dirty="0"/>
              <a:t>-shower selection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1770569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CEC8-42A1-43CA-BE91-1DD6B175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9A04-B7D5-6114-2025-C3A6A6FC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cuts 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0C8278-5DB9-43CC-2614-52BDF40D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684684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In </a:t>
            </a:r>
            <a:r>
              <a:rPr lang="fr-FR" dirty="0" err="1">
                <a:solidFill>
                  <a:schemeClr val="tx1"/>
                </a:solidFill>
              </a:rPr>
              <a:t>order</a:t>
            </a:r>
            <a:r>
              <a:rPr lang="fr-FR" dirty="0">
                <a:solidFill>
                  <a:schemeClr val="tx1"/>
                </a:solidFill>
              </a:rPr>
              <a:t> to select interactions </a:t>
            </a: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2 </a:t>
            </a:r>
            <a:r>
              <a:rPr lang="fr-FR" dirty="0" err="1">
                <a:solidFill>
                  <a:schemeClr val="tx1"/>
                </a:solidFill>
              </a:rPr>
              <a:t>primary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shower</a:t>
            </a:r>
            <a:r>
              <a:rPr lang="fr-FR" dirty="0">
                <a:solidFill>
                  <a:schemeClr val="tx1"/>
                </a:solidFill>
              </a:rPr>
              <a:t>-like 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 (</a:t>
            </a:r>
            <a:r>
              <a:rPr lang="fr-FR" dirty="0" err="1">
                <a:solidFill>
                  <a:schemeClr val="tx1"/>
                </a:solidFill>
              </a:rPr>
              <a:t>ee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yy</a:t>
            </a:r>
            <a:r>
              <a:rPr lang="fr-FR" dirty="0">
                <a:solidFill>
                  <a:schemeClr val="tx1"/>
                </a:solidFill>
              </a:rPr>
              <a:t>). </a:t>
            </a:r>
            <a:r>
              <a:rPr lang="fr-FR" dirty="0" err="1">
                <a:solidFill>
                  <a:schemeClr val="tx1"/>
                </a:solidFill>
              </a:rPr>
              <a:t>Created</a:t>
            </a:r>
            <a:r>
              <a:rPr lang="fr-FR" dirty="0">
                <a:solidFill>
                  <a:schemeClr val="tx1"/>
                </a:solidFill>
              </a:rPr>
              <a:t> a </a:t>
            </a:r>
            <a:r>
              <a:rPr lang="fr-FR" dirty="0" err="1">
                <a:solidFill>
                  <a:schemeClr val="tx1"/>
                </a:solidFill>
              </a:rPr>
              <a:t>cut</a:t>
            </a:r>
            <a:r>
              <a:rPr lang="fr-FR" dirty="0">
                <a:solidFill>
                  <a:schemeClr val="tx1"/>
                </a:solidFill>
              </a:rPr>
              <a:t> by </a:t>
            </a:r>
            <a:r>
              <a:rPr lang="fr-FR" dirty="0" err="1">
                <a:solidFill>
                  <a:schemeClr val="tx1"/>
                </a:solidFill>
              </a:rPr>
              <a:t>modifying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pre-existing</a:t>
            </a:r>
            <a:r>
              <a:rPr lang="fr-FR" dirty="0">
                <a:solidFill>
                  <a:schemeClr val="tx1"/>
                </a:solidFill>
              </a:rPr>
              <a:t> ‘</a:t>
            </a:r>
            <a:r>
              <a:rPr lang="fr-FR" dirty="0" err="1">
                <a:solidFill>
                  <a:schemeClr val="tx1"/>
                </a:solidFill>
              </a:rPr>
              <a:t>single_electron</a:t>
            </a:r>
            <a:r>
              <a:rPr lang="fr-FR" dirty="0">
                <a:solidFill>
                  <a:schemeClr val="tx1"/>
                </a:solidFill>
              </a:rPr>
              <a:t>’ </a:t>
            </a:r>
            <a:r>
              <a:rPr lang="fr-FR" dirty="0" err="1">
                <a:solidFill>
                  <a:schemeClr val="tx1"/>
                </a:solidFill>
              </a:rPr>
              <a:t>cut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Added the </a:t>
            </a:r>
            <a:r>
              <a:rPr lang="fr-FR" dirty="0" err="1">
                <a:solidFill>
                  <a:schemeClr val="tx1"/>
                </a:solidFill>
              </a:rPr>
              <a:t>two</a:t>
            </a:r>
            <a:r>
              <a:rPr lang="fr-FR" dirty="0">
                <a:solidFill>
                  <a:schemeClr val="tx1"/>
                </a:solidFill>
              </a:rPr>
              <a:t> new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 ‘</a:t>
            </a:r>
            <a:r>
              <a:rPr lang="fr-FR" dirty="0" err="1">
                <a:solidFill>
                  <a:schemeClr val="tx1"/>
                </a:solidFill>
              </a:rPr>
              <a:t>two_électrons</a:t>
            </a:r>
            <a:r>
              <a:rPr lang="fr-FR" dirty="0">
                <a:solidFill>
                  <a:schemeClr val="tx1"/>
                </a:solidFill>
              </a:rPr>
              <a:t>’ and ‘</a:t>
            </a:r>
            <a:r>
              <a:rPr lang="fr-FR" dirty="0" err="1">
                <a:solidFill>
                  <a:schemeClr val="tx1"/>
                </a:solidFill>
              </a:rPr>
              <a:t>two_photons</a:t>
            </a:r>
            <a:r>
              <a:rPr lang="fr-FR" dirty="0">
                <a:solidFill>
                  <a:schemeClr val="tx1"/>
                </a:solidFill>
              </a:rPr>
              <a:t>’ </a:t>
            </a:r>
            <a:r>
              <a:rPr lang="fr-FR" dirty="0" err="1">
                <a:solidFill>
                  <a:schemeClr val="tx1"/>
                </a:solidFill>
              </a:rPr>
              <a:t>directly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into</a:t>
            </a:r>
            <a:r>
              <a:rPr lang="fr-FR" dirty="0">
                <a:solidFill>
                  <a:schemeClr val="tx1"/>
                </a:solidFill>
              </a:rPr>
              <a:t> the ‘</a:t>
            </a:r>
            <a:r>
              <a:rPr lang="fr-FR" dirty="0" err="1">
                <a:solidFill>
                  <a:schemeClr val="tx1"/>
                </a:solidFill>
              </a:rPr>
              <a:t>cuts.h</a:t>
            </a:r>
            <a:r>
              <a:rPr lang="fr-FR" dirty="0">
                <a:solidFill>
                  <a:schemeClr val="tx1"/>
                </a:solidFill>
              </a:rPr>
              <a:t>’ file </a:t>
            </a:r>
            <a:r>
              <a:rPr lang="fr-FR" dirty="0" err="1">
                <a:solidFill>
                  <a:schemeClr val="tx1"/>
                </a:solidFill>
              </a:rPr>
              <a:t>within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my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medulla</a:t>
            </a:r>
            <a:r>
              <a:rPr lang="fr-FR" dirty="0">
                <a:solidFill>
                  <a:schemeClr val="tx1"/>
                </a:solidFill>
              </a:rPr>
              <a:t> directory in the </a:t>
            </a:r>
            <a:r>
              <a:rPr lang="fr-FR" dirty="0" err="1">
                <a:solidFill>
                  <a:schemeClr val="tx1"/>
                </a:solidFill>
              </a:rPr>
              <a:t>remote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shell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276C6D-EAA8-515F-4381-B26910A5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96" y="3937204"/>
            <a:ext cx="4684684" cy="1011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F43E39-FD30-5C72-7D7B-B9858A2C6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439" y="2063997"/>
            <a:ext cx="5781675" cy="1152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32A1DA-7FE2-8FA8-E454-BA6756F04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997" y="5165320"/>
            <a:ext cx="4684684" cy="1010590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3BA3DFF8-C02A-3E4E-C0B5-A79A63E80A4D}"/>
              </a:ext>
            </a:extLst>
          </p:cNvPr>
          <p:cNvSpPr/>
          <p:nvPr/>
        </p:nvSpPr>
        <p:spPr>
          <a:xfrm>
            <a:off x="8631237" y="3269673"/>
            <a:ext cx="386080" cy="378691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EF3258-72C8-36CB-C9C4-D51AF51C68F5}"/>
              </a:ext>
            </a:extLst>
          </p:cNvPr>
          <p:cNvSpPr txBox="1"/>
          <p:nvPr/>
        </p:nvSpPr>
        <p:spPr>
          <a:xfrm>
            <a:off x="7589162" y="1765689"/>
            <a:ext cx="2470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Pre-existing </a:t>
            </a:r>
            <a:r>
              <a:rPr lang="en-US" sz="1400" dirty="0" err="1"/>
              <a:t>single_electron</a:t>
            </a:r>
            <a:r>
              <a:rPr lang="en-US" sz="1400" dirty="0"/>
              <a:t> cut</a:t>
            </a:r>
            <a:endParaRPr lang="en-SG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B4B831-6E38-681C-DB67-B0E8DF783DC8}"/>
              </a:ext>
            </a:extLst>
          </p:cNvPr>
          <p:cNvSpPr txBox="1"/>
          <p:nvPr/>
        </p:nvSpPr>
        <p:spPr>
          <a:xfrm>
            <a:off x="7702462" y="3676922"/>
            <a:ext cx="2314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Two_electrons</a:t>
            </a:r>
            <a:r>
              <a:rPr lang="en-US" sz="1400" dirty="0"/>
              <a:t> cut to register</a:t>
            </a:r>
            <a:endParaRPr lang="en-SG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F3DFB-698E-6EB7-F4A1-C6F5E43EE1B2}"/>
              </a:ext>
            </a:extLst>
          </p:cNvPr>
          <p:cNvSpPr txBox="1"/>
          <p:nvPr/>
        </p:nvSpPr>
        <p:spPr>
          <a:xfrm>
            <a:off x="7691524" y="4901083"/>
            <a:ext cx="2239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Two_photons</a:t>
            </a:r>
            <a:r>
              <a:rPr lang="en-US" sz="1400" dirty="0"/>
              <a:t> cut to register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902731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F130-9B97-AB7E-2D17-DF2B0CAC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D3BA-A5A9-8C21-81A7-AA2A7C52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g0re selectors from harry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FE247E-C43E-3FDB-5065-935E7B2D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684684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To select </a:t>
            </a:r>
            <a:r>
              <a:rPr lang="fr-FR" dirty="0" err="1">
                <a:solidFill>
                  <a:schemeClr val="tx1"/>
                </a:solidFill>
              </a:rPr>
              <a:t>subleading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shower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 for </a:t>
            </a:r>
            <a:r>
              <a:rPr lang="fr-FR" dirty="0" err="1">
                <a:solidFill>
                  <a:schemeClr val="tx1"/>
                </a:solidFill>
              </a:rPr>
              <a:t>ee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yy</a:t>
            </a:r>
            <a:r>
              <a:rPr lang="fr-FR" dirty="0">
                <a:solidFill>
                  <a:schemeClr val="tx1"/>
                </a:solidFill>
              </a:rPr>
              <a:t> sélections, and </a:t>
            </a:r>
            <a:r>
              <a:rPr lang="fr-FR" dirty="0" err="1">
                <a:solidFill>
                  <a:schemeClr val="tx1"/>
                </a:solidFill>
              </a:rPr>
              <a:t>leading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subleading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shower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 for </a:t>
            </a:r>
            <a:r>
              <a:rPr lang="fr-FR" dirty="0" err="1">
                <a:solidFill>
                  <a:schemeClr val="tx1"/>
                </a:solidFill>
              </a:rPr>
              <a:t>ey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used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harry’s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selector</a:t>
            </a:r>
            <a:r>
              <a:rPr lang="fr-FR" dirty="0">
                <a:solidFill>
                  <a:schemeClr val="tx1"/>
                </a:solidFill>
              </a:rPr>
              <a:t> code for g0re </a:t>
            </a:r>
            <a:r>
              <a:rPr lang="fr-FR" dirty="0" err="1">
                <a:solidFill>
                  <a:schemeClr val="tx1"/>
                </a:solidFill>
              </a:rPr>
              <a:t>particles</a:t>
            </a:r>
            <a:r>
              <a:rPr lang="fr-FR" dirty="0">
                <a:solidFill>
                  <a:schemeClr val="tx1"/>
                </a:solidFill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Added </a:t>
            </a:r>
            <a:r>
              <a:rPr lang="fr-FR" dirty="0" err="1">
                <a:solidFill>
                  <a:schemeClr val="tx1"/>
                </a:solidFill>
              </a:rPr>
              <a:t>selector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directly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into</a:t>
            </a:r>
            <a:r>
              <a:rPr lang="fr-FR" dirty="0">
                <a:solidFill>
                  <a:schemeClr val="tx1"/>
                </a:solidFill>
              </a:rPr>
              <a:t> ‘</a:t>
            </a:r>
            <a:r>
              <a:rPr lang="fr-FR" dirty="0" err="1">
                <a:solidFill>
                  <a:schemeClr val="tx1"/>
                </a:solidFill>
              </a:rPr>
              <a:t>selectors.h</a:t>
            </a:r>
            <a:r>
              <a:rPr lang="fr-FR" dirty="0">
                <a:solidFill>
                  <a:schemeClr val="tx1"/>
                </a:solidFill>
              </a:rPr>
              <a:t>’ file in </a:t>
            </a:r>
            <a:r>
              <a:rPr lang="fr-FR" dirty="0" err="1">
                <a:solidFill>
                  <a:schemeClr val="tx1"/>
                </a:solidFill>
              </a:rPr>
              <a:t>my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medulla</a:t>
            </a:r>
            <a:r>
              <a:rPr lang="fr-FR" dirty="0">
                <a:solidFill>
                  <a:schemeClr val="tx1"/>
                </a:solidFill>
              </a:rPr>
              <a:t> directory in </a:t>
            </a:r>
            <a:r>
              <a:rPr lang="fr-FR" dirty="0" err="1">
                <a:solidFill>
                  <a:schemeClr val="tx1"/>
                </a:solidFill>
              </a:rPr>
              <a:t>remote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shell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BD268-85C1-3F39-3CB2-1EB382ADF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318" y="2076959"/>
            <a:ext cx="4464773" cy="399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88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724CC-52D7-65F0-3027-F02EDC58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0E03-E53E-538D-7871-E24B1AD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Recompiling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16AD06-F832-AB86-D24C-6099AE18B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06" y="1845734"/>
            <a:ext cx="4002358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Ran </a:t>
            </a:r>
            <a:r>
              <a:rPr lang="fr-FR" dirty="0" err="1">
                <a:solidFill>
                  <a:schemeClr val="tx1"/>
                </a:solidFill>
              </a:rPr>
              <a:t>into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these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errors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Could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</a:t>
            </a:r>
            <a:r>
              <a:rPr lang="fr-FR" dirty="0">
                <a:solidFill>
                  <a:schemeClr val="tx1"/>
                </a:solidFill>
              </a:rPr>
              <a:t> due to me </a:t>
            </a:r>
            <a:r>
              <a:rPr lang="fr-FR" dirty="0" err="1">
                <a:solidFill>
                  <a:schemeClr val="tx1"/>
                </a:solidFill>
              </a:rPr>
              <a:t>still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using</a:t>
            </a:r>
            <a:r>
              <a:rPr lang="fr-FR" dirty="0">
                <a:solidFill>
                  <a:schemeClr val="tx1"/>
                </a:solidFill>
              </a:rPr>
              <a:t> the </a:t>
            </a:r>
            <a:r>
              <a:rPr lang="fr-FR" dirty="0" err="1">
                <a:solidFill>
                  <a:schemeClr val="tx1"/>
                </a:solidFill>
              </a:rPr>
              <a:t>old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sbnana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en-SG" dirty="0" err="1"/>
              <a:t>sbnana@feature</a:t>
            </a:r>
            <a:r>
              <a:rPr lang="en-SG" dirty="0"/>
              <a:t>/</a:t>
            </a:r>
            <a:r>
              <a:rPr lang="en-SG" dirty="0" err="1"/>
              <a:t>smithja_BNBQuality</a:t>
            </a:r>
            <a:r>
              <a:rPr lang="en-SG" dirty="0"/>
              <a:t>, and not the tagged version referenced in the medulla installation guide?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Tried to run  </a:t>
            </a:r>
            <a:r>
              <a:rPr lang="it-IT" dirty="0"/>
              <a:t>setup sbnana v10_01_02_01 -q e26:prof and got a version conflict.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Could use some help on this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60E11-148E-5A1D-A102-05A36EB0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964" y="1866097"/>
            <a:ext cx="7780030" cy="29567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1A9C42-F582-CEB1-371F-7EF9A22B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64" y="5462388"/>
            <a:ext cx="7780030" cy="33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0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9B76-70A7-1E39-0F35-6062ED35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79E-5036-3033-2D82-3F395E8A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(29 Jan)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AF108-E434-B580-4B4D-495AF82E0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Writing TOML file to select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Pre-event selection with cuts including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Fiducial cut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Containment cut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Valid flash match cut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Looking at efficiency of pre-selection cuts by plotting cuts as variables in branch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No. of particles that pass each cut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No. of particles that pass all 3 cuts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Event selection of events with ee, </a:t>
            </a:r>
            <a:r>
              <a:rPr lang="en-SG" dirty="0" err="1"/>
              <a:t>ey</a:t>
            </a:r>
            <a:r>
              <a:rPr lang="en-SG" dirty="0"/>
              <a:t>, </a:t>
            </a:r>
            <a:r>
              <a:rPr lang="en-SG" dirty="0" err="1"/>
              <a:t>yy</a:t>
            </a:r>
            <a:r>
              <a:rPr lang="en-SG" dirty="0"/>
              <a:t> primary shower candidates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Running TOML file with BNB and </a:t>
            </a:r>
            <a:r>
              <a:rPr lang="en-SG" dirty="0" err="1"/>
              <a:t>NuMI</a:t>
            </a:r>
            <a:r>
              <a:rPr lang="en-SG" dirty="0"/>
              <a:t> samples to look for ee, </a:t>
            </a:r>
            <a:r>
              <a:rPr lang="en-SG" dirty="0" err="1"/>
              <a:t>yy</a:t>
            </a:r>
            <a:r>
              <a:rPr lang="en-SG" dirty="0"/>
              <a:t>, and </a:t>
            </a:r>
            <a:r>
              <a:rPr lang="en-SG" dirty="0" err="1"/>
              <a:t>ey</a:t>
            </a:r>
            <a:r>
              <a:rPr lang="en-SG" dirty="0"/>
              <a:t> shower candidates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Analysing important variables such as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Start </a:t>
            </a:r>
            <a:r>
              <a:rPr lang="en-SG" dirty="0" err="1"/>
              <a:t>dedx</a:t>
            </a:r>
            <a:endParaRPr lang="en-SG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transverse momentum/</a:t>
            </a:r>
            <a:r>
              <a:rPr lang="en-SG" dirty="0" err="1"/>
              <a:t>dpT</a:t>
            </a:r>
            <a:endParaRPr lang="en-SG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opening angles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distance from particle start point to parent interaction vertex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SG" dirty="0"/>
              <a:t>Distance between leading and </a:t>
            </a:r>
            <a:r>
              <a:rPr lang="en-SG" dirty="0" err="1"/>
              <a:t>subleading</a:t>
            </a:r>
            <a:r>
              <a:rPr lang="en-SG" dirty="0"/>
              <a:t> particle start positions </a:t>
            </a:r>
          </a:p>
        </p:txBody>
      </p:sp>
    </p:spTree>
    <p:extLst>
      <p:ext uri="{BB962C8B-B14F-4D97-AF65-F5344CB8AC3E}">
        <p14:creationId xmlns:p14="http://schemas.microsoft.com/office/powerpoint/2010/main" val="955275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69DE-B1FB-C30B-3529-8C2537A9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02B1-A984-1DC6-0C33-EE4B8689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Preselection cut criteria 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0B136-CB39-EB27-A651-9DF5CBF3AB0C}"/>
              </a:ext>
            </a:extLst>
          </p:cNvPr>
          <p:cNvSpPr txBox="1"/>
          <p:nvPr/>
        </p:nvSpPr>
        <p:spPr>
          <a:xfrm>
            <a:off x="1097280" y="1870839"/>
            <a:ext cx="58022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Fiducial cut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defined in a SPINE post-processor as a 25 cm border around the x and y detector faces, a 50 cm border around the downstream (+) z face, and 30 cm border around the upstream (-) z 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Containment cut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interaction is considered contained if all particles and all space points are contained within 5cm of the detector edges (configured in a SPINE post-processor)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Valid_Flashmatch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"valid" flash match is defined as a flash-interaction association with a flash time that is not </a:t>
            </a:r>
            <a:r>
              <a:rPr lang="en-US" dirty="0" err="1"/>
              <a:t>NaN</a:t>
            </a:r>
            <a:r>
              <a:rPr lang="en-US" dirty="0"/>
              <a:t> and a flash match status of 1</a:t>
            </a:r>
          </a:p>
        </p:txBody>
      </p:sp>
    </p:spTree>
    <p:extLst>
      <p:ext uri="{BB962C8B-B14F-4D97-AF65-F5344CB8AC3E}">
        <p14:creationId xmlns:p14="http://schemas.microsoft.com/office/powerpoint/2010/main" val="5669586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556C-DCA9-549E-005C-D137E226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B797-F184-186A-2280-F35114CD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Preselection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830390-01E2-424D-A7AB-7C342CBB1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07593" cy="442743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no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applied</a:t>
            </a:r>
            <a:r>
              <a:rPr lang="fr-FR" dirty="0">
                <a:solidFill>
                  <a:schemeClr val="tx1"/>
                </a:solidFill>
              </a:rPr>
              <a:t>, and </a:t>
            </a:r>
            <a:r>
              <a:rPr lang="fr-FR" dirty="0" err="1">
                <a:solidFill>
                  <a:schemeClr val="tx1"/>
                </a:solidFill>
              </a:rPr>
              <a:t>fiducial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containment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valid_flashmatch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plotted</a:t>
            </a:r>
            <a:r>
              <a:rPr lang="fr-FR" dirty="0">
                <a:solidFill>
                  <a:schemeClr val="tx1"/>
                </a:solidFill>
              </a:rPr>
              <a:t> as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We</a:t>
            </a:r>
            <a:r>
              <a:rPr lang="fr-FR" dirty="0">
                <a:solidFill>
                  <a:schemeClr val="tx1"/>
                </a:solidFill>
              </a:rPr>
              <a:t> can </a:t>
            </a:r>
            <a:r>
              <a:rPr lang="fr-FR" dirty="0" err="1">
                <a:solidFill>
                  <a:schemeClr val="tx1"/>
                </a:solidFill>
              </a:rPr>
              <a:t>see</a:t>
            </a:r>
            <a:r>
              <a:rPr lang="fr-FR" dirty="0">
                <a:solidFill>
                  <a:schemeClr val="tx1"/>
                </a:solidFill>
              </a:rPr>
              <a:t> the total </a:t>
            </a:r>
            <a:r>
              <a:rPr lang="fr-FR" dirty="0" err="1">
                <a:solidFill>
                  <a:schemeClr val="tx1"/>
                </a:solidFill>
              </a:rPr>
              <a:t>efficiency</a:t>
            </a:r>
            <a:r>
              <a:rPr lang="fr-FR" dirty="0">
                <a:solidFill>
                  <a:schemeClr val="tx1"/>
                </a:solidFill>
              </a:rPr>
              <a:t> of the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which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is</a:t>
            </a:r>
            <a:r>
              <a:rPr lang="fr-FR" dirty="0">
                <a:solidFill>
                  <a:schemeClr val="tx1"/>
                </a:solidFill>
              </a:rPr>
              <a:t> the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candidates </a:t>
            </a:r>
            <a:r>
              <a:rPr lang="fr-FR" dirty="0" err="1">
                <a:solidFill>
                  <a:schemeClr val="tx1"/>
                </a:solidFill>
              </a:rPr>
              <a:t>that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pass</a:t>
            </a:r>
            <a:r>
              <a:rPr lang="fr-FR" dirty="0">
                <a:solidFill>
                  <a:schemeClr val="tx1"/>
                </a:solidFill>
              </a:rPr>
              <a:t> the </a:t>
            </a:r>
            <a:r>
              <a:rPr lang="fr-FR" dirty="0" err="1">
                <a:solidFill>
                  <a:schemeClr val="tx1"/>
                </a:solidFill>
              </a:rPr>
              <a:t>following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 over the total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all candidates in the ROOT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Pre-</a:t>
            </a:r>
            <a:r>
              <a:rPr lang="fr-FR" dirty="0" err="1">
                <a:solidFill>
                  <a:schemeClr val="tx1"/>
                </a:solidFill>
              </a:rPr>
              <a:t>event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 for </a:t>
            </a:r>
            <a:r>
              <a:rPr lang="fr-FR" dirty="0" err="1">
                <a:solidFill>
                  <a:schemeClr val="tx1"/>
                </a:solidFill>
              </a:rPr>
              <a:t>analysing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efficiency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fiducial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containment</a:t>
            </a:r>
            <a:r>
              <a:rPr lang="fr-FR" dirty="0">
                <a:solidFill>
                  <a:schemeClr val="tx1"/>
                </a:solidFill>
              </a:rPr>
              <a:t>, and </a:t>
            </a:r>
            <a:r>
              <a:rPr lang="fr-FR" dirty="0" err="1">
                <a:solidFill>
                  <a:schemeClr val="tx1"/>
                </a:solidFill>
              </a:rPr>
              <a:t>valid_flashmatch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applied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then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plotted</a:t>
            </a:r>
            <a:r>
              <a:rPr lang="fr-FR" dirty="0">
                <a:solidFill>
                  <a:schemeClr val="tx1"/>
                </a:solidFill>
              </a:rPr>
              <a:t> as variables, </a:t>
            </a:r>
            <a:r>
              <a:rPr lang="fr-FR" dirty="0" err="1">
                <a:solidFill>
                  <a:schemeClr val="tx1"/>
                </a:solidFill>
              </a:rPr>
              <a:t>we</a:t>
            </a:r>
            <a:r>
              <a:rPr lang="fr-FR" dirty="0">
                <a:solidFill>
                  <a:schemeClr val="tx1"/>
                </a:solidFill>
              </a:rPr>
              <a:t> can </a:t>
            </a:r>
            <a:r>
              <a:rPr lang="fr-FR" dirty="0" err="1">
                <a:solidFill>
                  <a:schemeClr val="tx1"/>
                </a:solidFill>
              </a:rPr>
              <a:t>see</a:t>
            </a:r>
            <a:r>
              <a:rPr lang="fr-FR" dirty="0">
                <a:solidFill>
                  <a:schemeClr val="tx1"/>
                </a:solidFill>
              </a:rPr>
              <a:t> the reconstruction </a:t>
            </a:r>
            <a:r>
              <a:rPr lang="fr-FR" dirty="0" err="1">
                <a:solidFill>
                  <a:schemeClr val="tx1"/>
                </a:solidFill>
              </a:rPr>
              <a:t>efficiency</a:t>
            </a:r>
            <a:r>
              <a:rPr lang="fr-FR" dirty="0">
                <a:solidFill>
                  <a:schemeClr val="tx1"/>
                </a:solidFill>
              </a:rPr>
              <a:t> of the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6D812-02A3-BFF5-80F8-9D8AC6E1B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968117"/>
            <a:ext cx="4655419" cy="2305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7ED20F-011E-C8F6-8D31-CE2D9901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00052"/>
            <a:ext cx="3364648" cy="1905373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A38D621D-986A-1736-B2A3-35D37D36EA5B}"/>
              </a:ext>
            </a:extLst>
          </p:cNvPr>
          <p:cNvSpPr/>
          <p:nvPr/>
        </p:nvSpPr>
        <p:spPr>
          <a:xfrm>
            <a:off x="5698836" y="1900052"/>
            <a:ext cx="312833" cy="19053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757600AD-E0E1-15AB-6C29-79A436E8FF5C}"/>
              </a:ext>
            </a:extLst>
          </p:cNvPr>
          <p:cNvSpPr/>
          <p:nvPr/>
        </p:nvSpPr>
        <p:spPr>
          <a:xfrm>
            <a:off x="5698836" y="3968117"/>
            <a:ext cx="312833" cy="23050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8712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22E1-A046-D3E5-85A9-A03221E5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E7077-76E8-8D14-29CC-99FC5731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Preselection total efficiency (</a:t>
            </a:r>
            <a:r>
              <a:rPr lang="en-US" dirty="0" err="1"/>
              <a:t>reco</a:t>
            </a:r>
            <a:r>
              <a:rPr lang="en-US" dirty="0"/>
              <a:t>)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D34052-F3F8-D233-50EB-4DBAD8C0A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24" y="1925051"/>
            <a:ext cx="2486793" cy="2175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CE8AF-8D24-97EE-C499-54A50C1CA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117" y="1877099"/>
            <a:ext cx="2542093" cy="2271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A7AD2A-411C-D77B-988E-10134BFAD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51" y="4148313"/>
            <a:ext cx="2400166" cy="213348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43C1F5-DB27-A325-8461-F9BE8185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5907" y="1925051"/>
            <a:ext cx="4684684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Working in reconstructed mode,  </a:t>
            </a:r>
            <a:endParaRPr lang="en-SG" dirty="0"/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CE71C5-ED30-BB01-0A18-F9BD1B699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254739"/>
              </p:ext>
            </p:extLst>
          </p:nvPr>
        </p:nvGraphicFramePr>
        <p:xfrm>
          <a:off x="5685323" y="2737851"/>
          <a:ext cx="6265353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736">
                  <a:extLst>
                    <a:ext uri="{9D8B030D-6E8A-4147-A177-3AD203B41FA5}">
                      <a16:colId xmlns:a16="http://schemas.microsoft.com/office/drawing/2014/main" val="3682903481"/>
                    </a:ext>
                  </a:extLst>
                </a:gridCol>
                <a:gridCol w="1610166">
                  <a:extLst>
                    <a:ext uri="{9D8B030D-6E8A-4147-A177-3AD203B41FA5}">
                      <a16:colId xmlns:a16="http://schemas.microsoft.com/office/drawing/2014/main" val="3311962917"/>
                    </a:ext>
                  </a:extLst>
                </a:gridCol>
                <a:gridCol w="2088451">
                  <a:extLst>
                    <a:ext uri="{9D8B030D-6E8A-4147-A177-3AD203B41FA5}">
                      <a16:colId xmlns:a16="http://schemas.microsoft.com/office/drawing/2014/main" val="1281504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Percentage over tot no. of particles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7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Root file used</a:t>
                      </a:r>
                      <a:endParaRPr lang="en-SG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NuMI_CV_flat_cafs_2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745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no. of particles</a:t>
                      </a:r>
                      <a:endParaRPr lang="en-SG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1589446</a:t>
                      </a:r>
                      <a:endParaRPr lang="en-SG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45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No. of particles that passes fiducial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579617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36.5%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7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particles that passes containment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131342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8.3%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037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particles that passes </a:t>
                      </a:r>
                      <a:r>
                        <a:rPr lang="en-US" sz="1400" dirty="0" err="1"/>
                        <a:t>valid_flashmatch</a:t>
                      </a:r>
                      <a:r>
                        <a:rPr lang="en-US" sz="1400" dirty="0"/>
                        <a:t>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41832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2.6%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085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particles that passes all 3 cuts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8486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39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895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64F6-3E1E-6EDA-B96E-78CFEBAE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34BA-100C-CC78-31F6-784FD7DF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BNB Preselection total efficiency (</a:t>
            </a:r>
            <a:r>
              <a:rPr lang="en-US" dirty="0" err="1"/>
              <a:t>reco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9CD55-B3D6-8230-A58B-4DACF6FA9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5907" y="1925051"/>
            <a:ext cx="4684684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Working in reconstructed mode,  </a:t>
            </a:r>
            <a:endParaRPr lang="en-SG" dirty="0"/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7A9FAB7-4502-9614-7BBD-8E43AC767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179448"/>
              </p:ext>
            </p:extLst>
          </p:nvPr>
        </p:nvGraphicFramePr>
        <p:xfrm>
          <a:off x="5685323" y="2737851"/>
          <a:ext cx="6265353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736">
                  <a:extLst>
                    <a:ext uri="{9D8B030D-6E8A-4147-A177-3AD203B41FA5}">
                      <a16:colId xmlns:a16="http://schemas.microsoft.com/office/drawing/2014/main" val="3682903481"/>
                    </a:ext>
                  </a:extLst>
                </a:gridCol>
                <a:gridCol w="1610166">
                  <a:extLst>
                    <a:ext uri="{9D8B030D-6E8A-4147-A177-3AD203B41FA5}">
                      <a16:colId xmlns:a16="http://schemas.microsoft.com/office/drawing/2014/main" val="3311962917"/>
                    </a:ext>
                  </a:extLst>
                </a:gridCol>
                <a:gridCol w="2088451">
                  <a:extLst>
                    <a:ext uri="{9D8B030D-6E8A-4147-A177-3AD203B41FA5}">
                      <a16:colId xmlns:a16="http://schemas.microsoft.com/office/drawing/2014/main" val="1281504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Percentage over tot no. of particles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7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Root file used</a:t>
                      </a:r>
                      <a:endParaRPr lang="en-SG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NuMI_CV_flat_cafs_2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745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no. of particles</a:t>
                      </a:r>
                      <a:endParaRPr lang="en-SG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1347460</a:t>
                      </a:r>
                      <a:endParaRPr lang="en-SG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45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No. of particles that passes fiducial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499317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37.1%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7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particles that passes containment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116685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8.7%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037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particles that passes </a:t>
                      </a:r>
                      <a:r>
                        <a:rPr lang="en-US" sz="1400" dirty="0" err="1"/>
                        <a:t>valid_flashmatch</a:t>
                      </a:r>
                      <a:r>
                        <a:rPr lang="en-US" sz="1400" dirty="0"/>
                        <a:t>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35353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2.6%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085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particles that passes all 3 cuts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13785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39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2879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F4C2-09F1-F9CE-DF00-A7D273F4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ABF5-8E22-9E6A-4C07-494ECC4D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Preselection reconstruction efficiency (</a:t>
            </a:r>
            <a:r>
              <a:rPr lang="en-US" dirty="0" err="1"/>
              <a:t>reco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DCD3757-40E9-7B60-E82A-CA2C42D3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5906" y="1925051"/>
            <a:ext cx="6265353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Working in reconstructed mode, comparing </a:t>
            </a:r>
            <a:r>
              <a:rPr lang="en-US" dirty="0" err="1">
                <a:solidFill>
                  <a:schemeClr val="tx1"/>
                </a:solidFill>
              </a:rPr>
              <a:t>reco</a:t>
            </a:r>
            <a:r>
              <a:rPr lang="en-US" dirty="0">
                <a:solidFill>
                  <a:schemeClr val="tx1"/>
                </a:solidFill>
              </a:rPr>
              <a:t> particles passing the cuts against the actual truth-level particles passing the cut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Valid_Flashmatch</a:t>
            </a:r>
            <a:r>
              <a:rPr lang="en-US" dirty="0">
                <a:solidFill>
                  <a:schemeClr val="tx1"/>
                </a:solidFill>
              </a:rPr>
              <a:t> cut has no truth counterpart, should use ‘neutrino-only’ cut as replacement for truth-level selection</a:t>
            </a:r>
            <a:endParaRPr lang="en-SG" dirty="0"/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BF1D28C-BD2A-6EAF-17A0-3B013168C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51618"/>
              </p:ext>
            </p:extLst>
          </p:nvPr>
        </p:nvGraphicFramePr>
        <p:xfrm>
          <a:off x="4928914" y="3282083"/>
          <a:ext cx="7157000" cy="2911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014">
                  <a:extLst>
                    <a:ext uri="{9D8B030D-6E8A-4147-A177-3AD203B41FA5}">
                      <a16:colId xmlns:a16="http://schemas.microsoft.com/office/drawing/2014/main" val="3682903481"/>
                    </a:ext>
                  </a:extLst>
                </a:gridCol>
                <a:gridCol w="1379488">
                  <a:extLst>
                    <a:ext uri="{9D8B030D-6E8A-4147-A177-3AD203B41FA5}">
                      <a16:colId xmlns:a16="http://schemas.microsoft.com/office/drawing/2014/main" val="3311962917"/>
                    </a:ext>
                  </a:extLst>
                </a:gridCol>
                <a:gridCol w="1789249">
                  <a:extLst>
                    <a:ext uri="{9D8B030D-6E8A-4147-A177-3AD203B41FA5}">
                      <a16:colId xmlns:a16="http://schemas.microsoft.com/office/drawing/2014/main" val="1281504000"/>
                    </a:ext>
                  </a:extLst>
                </a:gridCol>
                <a:gridCol w="1789249">
                  <a:extLst>
                    <a:ext uri="{9D8B030D-6E8A-4147-A177-3AD203B41FA5}">
                      <a16:colId xmlns:a16="http://schemas.microsoft.com/office/drawing/2014/main" val="1275602323"/>
                    </a:ext>
                  </a:extLst>
                </a:gridCol>
              </a:tblGrid>
              <a:tr h="460155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Percentage over tot no. of particles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Reconstruction efficiency of cuts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77316"/>
                  </a:ext>
                </a:extLst>
              </a:tr>
              <a:tr h="298055">
                <a:tc>
                  <a:txBody>
                    <a:bodyPr/>
                    <a:lstStyle/>
                    <a:p>
                      <a:r>
                        <a:rPr lang="en-US" sz="1400" dirty="0"/>
                        <a:t>Root file used</a:t>
                      </a:r>
                      <a:endParaRPr lang="en-SG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NuMI_CV_flat_cafs_2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745668"/>
                  </a:ext>
                </a:extLst>
              </a:tr>
              <a:tr h="460155">
                <a:tc>
                  <a:txBody>
                    <a:bodyPr/>
                    <a:lstStyle/>
                    <a:p>
                      <a:r>
                        <a:rPr lang="en-US" sz="1400" dirty="0"/>
                        <a:t>Total no. of particles that passed all 3 cuts</a:t>
                      </a:r>
                      <a:endParaRPr lang="en-SG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8486</a:t>
                      </a:r>
                      <a:endParaRPr lang="en-SG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454016"/>
                  </a:ext>
                </a:extLst>
              </a:tr>
              <a:tr h="649631">
                <a:tc>
                  <a:txBody>
                    <a:bodyPr/>
                    <a:lstStyle/>
                    <a:p>
                      <a:r>
                        <a:rPr lang="en-US" sz="1400" dirty="0"/>
                        <a:t>No. of truth particles that shouldn’t have passed fiducial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1472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17.4%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82.6%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71748"/>
                  </a:ext>
                </a:extLst>
              </a:tr>
              <a:tr h="839106">
                <a:tc>
                  <a:txBody>
                    <a:bodyPr/>
                    <a:lstStyle/>
                    <a:p>
                      <a:r>
                        <a:rPr lang="en-US" sz="1400" dirty="0"/>
                        <a:t>No. of truth particles that shouldn’t have passed containment cut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740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8.7%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91.3%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03725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FB2626E-C60B-29B6-54CA-A8A0E0048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26" y="1809072"/>
            <a:ext cx="2677365" cy="2127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03475-802C-83D9-D7E2-6A0AEA3C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26" y="4034886"/>
            <a:ext cx="2843966" cy="225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912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DD074-8C41-95FD-B4D9-F17A45F3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7EC0-596D-72BD-9DFC-AB6CCCC7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for ee, </a:t>
            </a:r>
            <a:r>
              <a:rPr lang="en-US" dirty="0" err="1"/>
              <a:t>ey</a:t>
            </a:r>
            <a:r>
              <a:rPr lang="en-US" dirty="0"/>
              <a:t>, and </a:t>
            </a:r>
            <a:r>
              <a:rPr lang="en-US" dirty="0" err="1"/>
              <a:t>yy</a:t>
            </a:r>
            <a:r>
              <a:rPr lang="en-US" dirty="0"/>
              <a:t> shower candidates in </a:t>
            </a:r>
            <a:r>
              <a:rPr lang="en-US" dirty="0" err="1"/>
              <a:t>NuMI</a:t>
            </a:r>
            <a:r>
              <a:rPr lang="en-US" dirty="0"/>
              <a:t> and BNB samples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AE48D9-90DA-927A-182C-6A072CA53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07593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Selecting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events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using</a:t>
            </a:r>
            <a:r>
              <a:rPr lang="fr-FR" dirty="0">
                <a:solidFill>
                  <a:schemeClr val="tx1"/>
                </a:solidFill>
              </a:rPr>
              <a:t> the </a:t>
            </a:r>
            <a:r>
              <a:rPr lang="fr-FR" dirty="0" err="1">
                <a:solidFill>
                  <a:schemeClr val="tx1"/>
                </a:solidFill>
              </a:rPr>
              <a:t>following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cuts</a:t>
            </a:r>
            <a:r>
              <a:rPr lang="fr-FR" dirty="0">
                <a:solidFill>
                  <a:schemeClr val="tx1"/>
                </a:solidFill>
              </a:rPr>
              <a:t>, and </a:t>
            </a:r>
            <a:r>
              <a:rPr lang="fr-FR" dirty="0" err="1">
                <a:solidFill>
                  <a:schemeClr val="tx1"/>
                </a:solidFill>
              </a:rPr>
              <a:t>comparing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truth-level</a:t>
            </a:r>
            <a:r>
              <a:rPr lang="fr-FR" dirty="0">
                <a:solidFill>
                  <a:schemeClr val="tx1"/>
                </a:solidFill>
              </a:rPr>
              <a:t> information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Interaction-</a:t>
            </a:r>
            <a:r>
              <a:rPr lang="fr-FR" dirty="0" err="1">
                <a:solidFill>
                  <a:schemeClr val="tx1"/>
                </a:solidFill>
              </a:rPr>
              <a:t>level</a:t>
            </a:r>
            <a:r>
              <a:rPr lang="fr-FR" dirty="0">
                <a:solidFill>
                  <a:schemeClr val="tx1"/>
                </a:solidFill>
              </a:rPr>
              <a:t> information and </a:t>
            </a:r>
            <a:r>
              <a:rPr lang="fr-FR" dirty="0" err="1">
                <a:solidFill>
                  <a:schemeClr val="tx1"/>
                </a:solidFill>
              </a:rPr>
              <a:t>particle-level</a:t>
            </a:r>
            <a:r>
              <a:rPr lang="fr-FR" dirty="0">
                <a:solidFill>
                  <a:schemeClr val="tx1"/>
                </a:solidFill>
              </a:rPr>
              <a:t> information split </a:t>
            </a:r>
            <a:r>
              <a:rPr lang="fr-FR" dirty="0" err="1">
                <a:solidFill>
                  <a:schemeClr val="tx1"/>
                </a:solidFill>
              </a:rPr>
              <a:t>into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seperate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Ttrees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Presenting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 on </a:t>
            </a:r>
            <a:r>
              <a:rPr lang="fr-FR" dirty="0" err="1">
                <a:solidFill>
                  <a:schemeClr val="tx1"/>
                </a:solidFill>
              </a:rPr>
              <a:t>reconstructed</a:t>
            </a:r>
            <a:r>
              <a:rPr lang="fr-FR" dirty="0">
                <a:solidFill>
                  <a:schemeClr val="tx1"/>
                </a:solidFill>
              </a:rPr>
              <a:t> interactions, but </a:t>
            </a:r>
            <a:r>
              <a:rPr lang="fr-FR" dirty="0" err="1">
                <a:solidFill>
                  <a:schemeClr val="tx1"/>
                </a:solidFill>
              </a:rPr>
              <a:t>did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perform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 on </a:t>
            </a:r>
            <a:r>
              <a:rPr lang="fr-FR" dirty="0" err="1">
                <a:solidFill>
                  <a:schemeClr val="tx1"/>
                </a:solidFill>
              </a:rPr>
              <a:t>true</a:t>
            </a:r>
            <a:r>
              <a:rPr lang="fr-FR" dirty="0">
                <a:solidFill>
                  <a:schemeClr val="tx1"/>
                </a:solidFill>
              </a:rPr>
              <a:t> interactions as </a:t>
            </a:r>
            <a:r>
              <a:rPr lang="fr-FR" dirty="0" err="1">
                <a:solidFill>
                  <a:schemeClr val="tx1"/>
                </a:solidFill>
              </a:rPr>
              <a:t>well</a:t>
            </a:r>
            <a:r>
              <a:rPr lang="fr-FR" dirty="0">
                <a:solidFill>
                  <a:schemeClr val="tx1"/>
                </a:solidFill>
              </a:rPr>
              <a:t> for </a:t>
            </a:r>
            <a:r>
              <a:rPr lang="fr-FR" dirty="0" err="1">
                <a:solidFill>
                  <a:schemeClr val="tx1"/>
                </a:solidFill>
              </a:rPr>
              <a:t>comparison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FFA51E-3276-A178-941B-AF093EF5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291" y="1845734"/>
            <a:ext cx="4940732" cy="1304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A3BA84-2CD9-5BC8-76E1-565F44F6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288" y="3321396"/>
            <a:ext cx="4940733" cy="1296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A374E4-0F5C-EF57-1B15-73B10940A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287" y="4788861"/>
            <a:ext cx="4940734" cy="1314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EB2F0B-172B-C801-1B8A-EEB6805D3D0E}"/>
              </a:ext>
            </a:extLst>
          </p:cNvPr>
          <p:cNvSpPr txBox="1"/>
          <p:nvPr/>
        </p:nvSpPr>
        <p:spPr>
          <a:xfrm>
            <a:off x="5643656" y="2236354"/>
            <a:ext cx="104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ee-shower selection</a:t>
            </a:r>
            <a:endParaRPr lang="en-SG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8C06C-9DC0-A83F-E84B-70A661C1927E}"/>
              </a:ext>
            </a:extLst>
          </p:cNvPr>
          <p:cNvSpPr txBox="1"/>
          <p:nvPr/>
        </p:nvSpPr>
        <p:spPr>
          <a:xfrm>
            <a:off x="5643656" y="3707806"/>
            <a:ext cx="104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yy</a:t>
            </a:r>
            <a:r>
              <a:rPr lang="en-US" sz="1400" dirty="0"/>
              <a:t>-shower selection</a:t>
            </a:r>
            <a:endParaRPr lang="en-SG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86920-9CAE-3276-F09C-CEC964418FE3}"/>
              </a:ext>
            </a:extLst>
          </p:cNvPr>
          <p:cNvSpPr txBox="1"/>
          <p:nvPr/>
        </p:nvSpPr>
        <p:spPr>
          <a:xfrm>
            <a:off x="5643656" y="5184660"/>
            <a:ext cx="104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ey</a:t>
            </a:r>
            <a:r>
              <a:rPr lang="en-US" sz="1400" dirty="0"/>
              <a:t>-shower selection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1654264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ADBA6-F23F-0212-4E87-1AF3F245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03E5-08A7-D13D-B9D9-F1861B07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for ee, </a:t>
            </a:r>
            <a:r>
              <a:rPr lang="en-US" dirty="0" err="1"/>
              <a:t>ey</a:t>
            </a:r>
            <a:r>
              <a:rPr lang="en-US" dirty="0"/>
              <a:t>, and </a:t>
            </a:r>
            <a:r>
              <a:rPr lang="en-US" dirty="0" err="1"/>
              <a:t>yy</a:t>
            </a:r>
            <a:r>
              <a:rPr lang="en-US" dirty="0"/>
              <a:t> shower candidates in </a:t>
            </a:r>
            <a:r>
              <a:rPr lang="en-US" dirty="0" err="1"/>
              <a:t>NuMI</a:t>
            </a:r>
            <a:r>
              <a:rPr lang="en-US" dirty="0"/>
              <a:t> and BNB samples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D89513D-C31E-92D1-5A65-0FFA9F3C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07593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Based</a:t>
            </a:r>
            <a:r>
              <a:rPr lang="fr-FR" dirty="0">
                <a:solidFill>
                  <a:schemeClr val="tx1"/>
                </a:solidFill>
              </a:rPr>
              <a:t> on </a:t>
            </a:r>
            <a:r>
              <a:rPr lang="fr-FR" dirty="0" err="1">
                <a:solidFill>
                  <a:schemeClr val="tx1"/>
                </a:solidFill>
              </a:rPr>
              <a:t>truth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, no </a:t>
            </a:r>
            <a:r>
              <a:rPr lang="fr-FR" dirty="0" err="1">
                <a:solidFill>
                  <a:schemeClr val="tx1"/>
                </a:solidFill>
              </a:rPr>
              <a:t>actual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ee-shower</a:t>
            </a:r>
            <a:r>
              <a:rPr lang="fr-FR" dirty="0">
                <a:solidFill>
                  <a:schemeClr val="tx1"/>
                </a:solidFill>
              </a:rPr>
              <a:t> candidates, </a:t>
            </a:r>
            <a:r>
              <a:rPr lang="fr-FR" dirty="0" err="1">
                <a:solidFill>
                  <a:schemeClr val="tx1"/>
                </a:solidFill>
              </a:rPr>
              <a:t>reconstructed</a:t>
            </a:r>
            <a:r>
              <a:rPr lang="fr-FR" dirty="0">
                <a:solidFill>
                  <a:schemeClr val="tx1"/>
                </a:solidFill>
              </a:rPr>
              <a:t> candidates are due to photons </a:t>
            </a:r>
            <a:r>
              <a:rPr lang="fr-FR" dirty="0" err="1">
                <a:solidFill>
                  <a:schemeClr val="tx1"/>
                </a:solidFill>
              </a:rPr>
              <a:t>misidentified</a:t>
            </a:r>
            <a:r>
              <a:rPr lang="fr-FR" dirty="0">
                <a:solidFill>
                  <a:schemeClr val="tx1"/>
                </a:solidFill>
              </a:rPr>
              <a:t> as électrons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There are a good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yy-shower</a:t>
            </a:r>
            <a:r>
              <a:rPr lang="fr-FR" dirty="0">
                <a:solidFill>
                  <a:schemeClr val="tx1"/>
                </a:solidFill>
              </a:rPr>
              <a:t> candidates </a:t>
            </a:r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both</a:t>
            </a:r>
            <a:r>
              <a:rPr lang="fr-FR" dirty="0">
                <a:solidFill>
                  <a:schemeClr val="tx1"/>
                </a:solidFill>
              </a:rPr>
              <a:t> BNB and </a:t>
            </a:r>
            <a:r>
              <a:rPr lang="fr-FR" dirty="0" err="1">
                <a:solidFill>
                  <a:schemeClr val="tx1"/>
                </a:solidFill>
              </a:rPr>
              <a:t>NuMI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samples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There are </a:t>
            </a:r>
            <a:r>
              <a:rPr lang="fr-FR" dirty="0" err="1">
                <a:solidFill>
                  <a:schemeClr val="tx1"/>
                </a:solidFill>
              </a:rPr>
              <a:t>only</a:t>
            </a:r>
            <a:r>
              <a:rPr lang="fr-FR" dirty="0">
                <a:solidFill>
                  <a:schemeClr val="tx1"/>
                </a:solidFill>
              </a:rPr>
              <a:t> a </a:t>
            </a:r>
            <a:r>
              <a:rPr lang="fr-FR" dirty="0" err="1">
                <a:solidFill>
                  <a:schemeClr val="tx1"/>
                </a:solidFill>
              </a:rPr>
              <a:t>very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small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actual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ey-shower</a:t>
            </a:r>
            <a:r>
              <a:rPr lang="fr-FR" dirty="0">
                <a:solidFill>
                  <a:schemeClr val="tx1"/>
                </a:solidFill>
              </a:rPr>
              <a:t> candidates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Based</a:t>
            </a:r>
            <a:r>
              <a:rPr lang="fr-FR" dirty="0">
                <a:solidFill>
                  <a:schemeClr val="tx1"/>
                </a:solidFill>
              </a:rPr>
              <a:t> on </a:t>
            </a:r>
            <a:r>
              <a:rPr lang="fr-FR" dirty="0" err="1">
                <a:solidFill>
                  <a:schemeClr val="tx1"/>
                </a:solidFill>
              </a:rPr>
              <a:t>this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selection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will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only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conduct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analysis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particle</a:t>
            </a:r>
            <a:r>
              <a:rPr lang="fr-FR" dirty="0">
                <a:solidFill>
                  <a:schemeClr val="tx1"/>
                </a:solidFill>
              </a:rPr>
              <a:t> variables for the </a:t>
            </a:r>
            <a:r>
              <a:rPr lang="fr-FR" dirty="0" err="1">
                <a:solidFill>
                  <a:schemeClr val="tx1"/>
                </a:solidFill>
              </a:rPr>
              <a:t>yy-selection</a:t>
            </a: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E43DC9-4B9C-81A4-3BE1-AE32B1166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688669"/>
              </p:ext>
            </p:extLst>
          </p:nvPr>
        </p:nvGraphicFramePr>
        <p:xfrm>
          <a:off x="5615709" y="2021762"/>
          <a:ext cx="6400801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335">
                  <a:extLst>
                    <a:ext uri="{9D8B030D-6E8A-4147-A177-3AD203B41FA5}">
                      <a16:colId xmlns:a16="http://schemas.microsoft.com/office/drawing/2014/main" val="3682903481"/>
                    </a:ext>
                  </a:extLst>
                </a:gridCol>
                <a:gridCol w="986986">
                  <a:extLst>
                    <a:ext uri="{9D8B030D-6E8A-4147-A177-3AD203B41FA5}">
                      <a16:colId xmlns:a16="http://schemas.microsoft.com/office/drawing/2014/main" val="331196291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281504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62021466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305604002"/>
                    </a:ext>
                  </a:extLst>
                </a:gridCol>
              </a:tblGrid>
              <a:tr h="662159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 from </a:t>
                      </a:r>
                      <a:r>
                        <a:rPr lang="en-US" sz="1400" dirty="0" err="1"/>
                        <a:t>reco</a:t>
                      </a:r>
                      <a:r>
                        <a:rPr lang="en-US" sz="1400" dirty="0"/>
                        <a:t> selection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 from truth selection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 from </a:t>
                      </a:r>
                      <a:r>
                        <a:rPr lang="en-US" sz="1400" dirty="0" err="1"/>
                        <a:t>reco</a:t>
                      </a:r>
                      <a:r>
                        <a:rPr lang="en-US" sz="1400" dirty="0"/>
                        <a:t> selection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 from truth selection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77316"/>
                  </a:ext>
                </a:extLst>
              </a:tr>
              <a:tr h="275900">
                <a:tc>
                  <a:txBody>
                    <a:bodyPr/>
                    <a:lstStyle/>
                    <a:p>
                      <a:r>
                        <a:rPr lang="en-US" sz="1400" dirty="0"/>
                        <a:t>Root file used</a:t>
                      </a:r>
                      <a:endParaRPr lang="en-SG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NuMI_CV_flat_cafs_2_00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input000.flat.root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745668"/>
                  </a:ext>
                </a:extLst>
              </a:tr>
              <a:tr h="469029">
                <a:tc>
                  <a:txBody>
                    <a:bodyPr/>
                    <a:lstStyle/>
                    <a:p>
                      <a:r>
                        <a:rPr lang="en-US" sz="1400" dirty="0"/>
                        <a:t>no. of interactions that passed ee-selection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6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454016"/>
                  </a:ext>
                </a:extLst>
              </a:tr>
              <a:tr h="588035">
                <a:tc>
                  <a:txBody>
                    <a:bodyPr/>
                    <a:lstStyle/>
                    <a:p>
                      <a:r>
                        <a:rPr lang="en-US" sz="1400" dirty="0"/>
                        <a:t>no. of interactions that passed </a:t>
                      </a:r>
                      <a:r>
                        <a:rPr lang="en-US" sz="1400" dirty="0" err="1"/>
                        <a:t>yy</a:t>
                      </a:r>
                      <a:r>
                        <a:rPr lang="en-US" sz="1400" dirty="0"/>
                        <a:t>-selection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131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177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215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332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71748"/>
                  </a:ext>
                </a:extLst>
              </a:tr>
              <a:tr h="759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no. of interactions that passed </a:t>
                      </a:r>
                      <a:r>
                        <a:rPr lang="en-US" sz="1400" dirty="0" err="1"/>
                        <a:t>ey</a:t>
                      </a:r>
                      <a:r>
                        <a:rPr lang="en-US" sz="1400" dirty="0"/>
                        <a:t>-selection</a:t>
                      </a:r>
                      <a:endParaRPr lang="en-SG" sz="1400" dirty="0"/>
                    </a:p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037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5263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6F14-EDDB-23A0-DED1-5C3B195E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5987-636D-5857-9B04-C4851F41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yy</a:t>
            </a:r>
            <a:r>
              <a:rPr lang="en-US" dirty="0"/>
              <a:t>-shower selection analysis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945673-4AA0-68B3-D286-98D994FAE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407593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Important variables </a:t>
            </a:r>
            <a:r>
              <a:rPr lang="fr-FR" dirty="0" err="1">
                <a:solidFill>
                  <a:schemeClr val="tx1"/>
                </a:solidFill>
              </a:rPr>
              <a:t>relating</a:t>
            </a:r>
            <a:r>
              <a:rPr lang="fr-FR" dirty="0">
                <a:solidFill>
                  <a:schemeClr val="tx1"/>
                </a:solidFill>
              </a:rPr>
              <a:t> to position, direction, </a:t>
            </a:r>
            <a:r>
              <a:rPr lang="fr-FR" dirty="0" err="1">
                <a:solidFill>
                  <a:schemeClr val="tx1"/>
                </a:solidFill>
              </a:rPr>
              <a:t>momentum</a:t>
            </a:r>
            <a:r>
              <a:rPr lang="fr-FR" dirty="0">
                <a:solidFill>
                  <a:schemeClr val="tx1"/>
                </a:solidFill>
              </a:rPr>
              <a:t>, spread, </a:t>
            </a:r>
            <a:r>
              <a:rPr lang="fr-FR" dirty="0" err="1">
                <a:solidFill>
                  <a:schemeClr val="tx1"/>
                </a:solidFill>
              </a:rPr>
              <a:t>energy</a:t>
            </a:r>
            <a:r>
              <a:rPr lang="fr-FR" dirty="0">
                <a:solidFill>
                  <a:schemeClr val="tx1"/>
                </a:solidFill>
              </a:rPr>
              <a:t>, and distance of </a:t>
            </a:r>
            <a:r>
              <a:rPr lang="fr-FR" dirty="0" err="1">
                <a:solidFill>
                  <a:schemeClr val="tx1"/>
                </a:solidFill>
              </a:rPr>
              <a:t>particle</a:t>
            </a:r>
            <a:r>
              <a:rPr lang="fr-FR" dirty="0">
                <a:solidFill>
                  <a:schemeClr val="tx1"/>
                </a:solidFill>
              </a:rPr>
              <a:t> start position to parent interaction vertex </a:t>
            </a:r>
            <a:r>
              <a:rPr lang="fr-FR" dirty="0" err="1">
                <a:solidFill>
                  <a:schemeClr val="tx1"/>
                </a:solidFill>
              </a:rPr>
              <a:t>plotted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Difference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between</a:t>
            </a:r>
            <a:r>
              <a:rPr lang="fr-FR" dirty="0">
                <a:solidFill>
                  <a:schemeClr val="tx1"/>
                </a:solidFill>
              </a:rPr>
              <a:t> distance of </a:t>
            </a:r>
            <a:r>
              <a:rPr lang="fr-FR" dirty="0" err="1">
                <a:solidFill>
                  <a:schemeClr val="tx1"/>
                </a:solidFill>
              </a:rPr>
              <a:t>leading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shower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subleading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shower</a:t>
            </a:r>
            <a:r>
              <a:rPr lang="fr-FR" dirty="0">
                <a:solidFill>
                  <a:schemeClr val="tx1"/>
                </a:solidFill>
              </a:rPr>
              <a:t> start position </a:t>
            </a:r>
            <a:r>
              <a:rPr lang="fr-FR" dirty="0" err="1">
                <a:solidFill>
                  <a:schemeClr val="tx1"/>
                </a:solidFill>
              </a:rPr>
              <a:t>calculated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7757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1684</TotalTime>
  <Words>3035</Words>
  <Application>Microsoft Office PowerPoint</Application>
  <PresentationFormat>Widescreen</PresentationFormat>
  <Paragraphs>548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Retrospect</vt:lpstr>
      <vt:lpstr>Weekly FYP update meeting slides</vt:lpstr>
      <vt:lpstr>Tasks completed (12 Nov)</vt:lpstr>
      <vt:lpstr>Understanding medulla</vt:lpstr>
      <vt:lpstr>Analysis of reproduced plots</vt:lpstr>
      <vt:lpstr>Analysis of reproduced plots:  pid efficiency</vt:lpstr>
      <vt:lpstr>Analysis of reproduced plots:  interactions</vt:lpstr>
      <vt:lpstr>Analysis of reproduced plots:  events</vt:lpstr>
      <vt:lpstr>Upcoming tasks</vt:lpstr>
      <vt:lpstr>Tasks completed (12 Nov)</vt:lpstr>
      <vt:lpstr>NuMI Selection</vt:lpstr>
      <vt:lpstr>Efficiency of particle start x </vt:lpstr>
      <vt:lpstr>Efficiency of particle end z</vt:lpstr>
      <vt:lpstr>Efficiency of interaction vertex x</vt:lpstr>
      <vt:lpstr>Efficiency of interaction visible energy</vt:lpstr>
      <vt:lpstr>Upcoming tasks</vt:lpstr>
      <vt:lpstr>Tasks completed (4th Dec)</vt:lpstr>
      <vt:lpstr>Creating TOML file for practice</vt:lpstr>
      <vt:lpstr>PID variable numbers </vt:lpstr>
      <vt:lpstr>PID reconstruction efficiency</vt:lpstr>
      <vt:lpstr>Calculating energy loss </vt:lpstr>
      <vt:lpstr>Results of 1muon1proton and muon only selections </vt:lpstr>
      <vt:lpstr>Results of muon only selection </vt:lpstr>
      <vt:lpstr>Upcoming tasks</vt:lpstr>
      <vt:lpstr>Tasks completed (15 Jan) </vt:lpstr>
      <vt:lpstr>PID reconstruction efficiency</vt:lpstr>
      <vt:lpstr>Results of electron only selection </vt:lpstr>
      <vt:lpstr>Results of photon only selection </vt:lpstr>
      <vt:lpstr>Results of muon only selection </vt:lpstr>
      <vt:lpstr>Results of pion only selection </vt:lpstr>
      <vt:lpstr>Results of proton only selection </vt:lpstr>
      <vt:lpstr>Discussion of particle type reconstruction efficiency </vt:lpstr>
      <vt:lpstr>Semantic Type reconstruction efficiency</vt:lpstr>
      <vt:lpstr>Discussion of semantic type reconstruction efficiency </vt:lpstr>
      <vt:lpstr>Comparing distributions for each particle type – Kinetic Energy</vt:lpstr>
      <vt:lpstr>Discussion of KE distributions for each particle</vt:lpstr>
      <vt:lpstr>Interaction level – 1u1p signal graphs</vt:lpstr>
      <vt:lpstr>Interaction level – 1u1p signal graphs</vt:lpstr>
      <vt:lpstr>Shower selection </vt:lpstr>
      <vt:lpstr>Shower selection </vt:lpstr>
      <vt:lpstr>Tasks completed (22 Jan) </vt:lpstr>
      <vt:lpstr>TOML file  </vt:lpstr>
      <vt:lpstr>Creating new cuts </vt:lpstr>
      <vt:lpstr>Using g0re selectors from harry</vt:lpstr>
      <vt:lpstr>Recompiling</vt:lpstr>
      <vt:lpstr>Tasks completed (29 Jan) </vt:lpstr>
      <vt:lpstr>Preselection cut criteria </vt:lpstr>
      <vt:lpstr>Preselection </vt:lpstr>
      <vt:lpstr>NuMI Preselection total efficiency (reco)</vt:lpstr>
      <vt:lpstr>BNB Preselection total efficiency (reco)</vt:lpstr>
      <vt:lpstr>Preselection reconstruction efficiency (reco)</vt:lpstr>
      <vt:lpstr>Looking for ee, ey, and yy shower candidates in NuMI and BNB samples</vt:lpstr>
      <vt:lpstr>Looking for ee, ey, and yy shower candidates in NuMI and BNB samples</vt:lpstr>
      <vt:lpstr>yy-shower selection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9</cp:revision>
  <dcterms:created xsi:type="dcterms:W3CDTF">2025-11-12T13:24:12Z</dcterms:created>
  <dcterms:modified xsi:type="dcterms:W3CDTF">2026-01-29T14:10:05Z</dcterms:modified>
</cp:coreProperties>
</file>