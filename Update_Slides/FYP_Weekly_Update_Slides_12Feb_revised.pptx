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7"/>
  </p:notesMasterIdLst>
  <p:sldIdLst>
    <p:sldId id="303" r:id="rId2"/>
    <p:sldId id="332" r:id="rId3"/>
    <p:sldId id="342" r:id="rId4"/>
    <p:sldId id="343" r:id="rId5"/>
    <p:sldId id="344" r:id="rId6"/>
    <p:sldId id="345" r:id="rId7"/>
    <p:sldId id="346" r:id="rId8"/>
    <p:sldId id="333" r:id="rId9"/>
    <p:sldId id="307" r:id="rId10"/>
    <p:sldId id="308" r:id="rId11"/>
    <p:sldId id="329" r:id="rId12"/>
    <p:sldId id="337" r:id="rId13"/>
    <p:sldId id="339" r:id="rId14"/>
    <p:sldId id="340" r:id="rId15"/>
    <p:sldId id="33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3630" autoAdjust="0"/>
  </p:normalViewPr>
  <p:slideViewPr>
    <p:cSldViewPr snapToGrid="0">
      <p:cViewPr varScale="1">
        <p:scale>
          <a:sx n="104" d="100"/>
          <a:sy n="104" d="100"/>
        </p:scale>
        <p:origin x="88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D9BC-DEF3-4382-83D6-5C0A0444C18A}" type="datetimeFigureOut">
              <a:rPr lang="en-SG" smtClean="0"/>
              <a:t>19/2/2026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5FDCB-33CC-4AD4-B363-617329C34B90}" type="slidenum">
              <a:rPr lang="en-SG" smtClean="0"/>
              <a:t>‹#›</a:t>
            </a:fld>
            <a:endParaRPr lang="en-SG"/>
          </a:p>
        </p:txBody>
      </p:sp>
    </p:spTree>
    <p:extLst>
      <p:ext uri="{BB962C8B-B14F-4D97-AF65-F5344CB8AC3E}">
        <p14:creationId xmlns:p14="http://schemas.microsoft.com/office/powerpoint/2010/main" val="366110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a:t>
            </a:fld>
            <a:endParaRPr lang="en-SG"/>
          </a:p>
        </p:txBody>
      </p:sp>
    </p:spTree>
    <p:extLst>
      <p:ext uri="{BB962C8B-B14F-4D97-AF65-F5344CB8AC3E}">
        <p14:creationId xmlns:p14="http://schemas.microsoft.com/office/powerpoint/2010/main" val="3521726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8A6C1-0F66-55E2-A7D4-342E2BD96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CD9EB-9030-47F9-D075-E088EE88CE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78FDF-8BC4-9897-A4BA-CB417A4D8C7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464DCDD-2349-4D7A-7A6B-D3B178075B91}"/>
              </a:ext>
            </a:extLst>
          </p:cNvPr>
          <p:cNvSpPr>
            <a:spLocks noGrp="1"/>
          </p:cNvSpPr>
          <p:nvPr>
            <p:ph type="sldNum" sz="quarter" idx="5"/>
          </p:nvPr>
        </p:nvSpPr>
        <p:spPr/>
        <p:txBody>
          <a:bodyPr/>
          <a:lstStyle/>
          <a:p>
            <a:fld id="{02B5FDCB-33CC-4AD4-B363-617329C34B90}" type="slidenum">
              <a:rPr lang="en-SG" smtClean="0"/>
              <a:t>2</a:t>
            </a:fld>
            <a:endParaRPr lang="en-SG"/>
          </a:p>
        </p:txBody>
      </p:sp>
    </p:spTree>
    <p:extLst>
      <p:ext uri="{BB962C8B-B14F-4D97-AF65-F5344CB8AC3E}">
        <p14:creationId xmlns:p14="http://schemas.microsoft.com/office/powerpoint/2010/main" val="854860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the selection in reconstructed mode with no cuts applied, and the preselection cuts placed as variables, allowing us to see the number of particles that would pass each cut w.r.t the total number of all particles within the root file. </a:t>
            </a:r>
          </a:p>
          <a:p>
            <a:endParaRPr lang="en-US" dirty="0"/>
          </a:p>
          <a:p>
            <a:r>
              <a:rPr lang="en-US" dirty="0"/>
              <a:t>The final row shoes the number of particles that pass all 3 cuts, obtained from the other selection with all 3 cuts applied</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4</a:t>
            </a:fld>
            <a:endParaRPr lang="en-SG"/>
          </a:p>
        </p:txBody>
      </p:sp>
    </p:spTree>
    <p:extLst>
      <p:ext uri="{BB962C8B-B14F-4D97-AF65-F5344CB8AC3E}">
        <p14:creationId xmlns:p14="http://schemas.microsoft.com/office/powerpoint/2010/main" val="1534811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the selection in true mode with no cuts applied, and the preselection cuts placed as variables, allowing us to see the number of particles that would pass each cut w.r.t the total number of all particles within the root file. </a:t>
            </a:r>
          </a:p>
          <a:p>
            <a:endParaRPr lang="en-US" dirty="0"/>
          </a:p>
          <a:p>
            <a:r>
              <a:rPr lang="en-US" dirty="0"/>
              <a:t>The final row shoes the number of particles that pass all 3 cuts, obtained from the other selection with all 3 cuts applied</a:t>
            </a:r>
            <a:endParaRPr lang="en-SG" dirty="0"/>
          </a:p>
          <a:p>
            <a:endParaRPr lang="en-SG" dirty="0"/>
          </a:p>
          <a:p>
            <a:r>
              <a:rPr lang="en-SG" dirty="0"/>
              <a:t>It is interesting to note the much smaller percentage of particles passing the fiducial cut when considering their true particle information</a:t>
            </a:r>
          </a:p>
        </p:txBody>
      </p:sp>
      <p:sp>
        <p:nvSpPr>
          <p:cNvPr id="4" name="Slide Number Placeholder 3"/>
          <p:cNvSpPr>
            <a:spLocks noGrp="1"/>
          </p:cNvSpPr>
          <p:nvPr>
            <p:ph type="sldNum" sz="quarter" idx="5"/>
          </p:nvPr>
        </p:nvSpPr>
        <p:spPr/>
        <p:txBody>
          <a:bodyPr/>
          <a:lstStyle/>
          <a:p>
            <a:fld id="{02B5FDCB-33CC-4AD4-B363-617329C34B90}" type="slidenum">
              <a:rPr lang="en-SG" smtClean="0"/>
              <a:t>5</a:t>
            </a:fld>
            <a:endParaRPr lang="en-SG"/>
          </a:p>
        </p:txBody>
      </p:sp>
    </p:spTree>
    <p:extLst>
      <p:ext uri="{BB962C8B-B14F-4D97-AF65-F5344CB8AC3E}">
        <p14:creationId xmlns:p14="http://schemas.microsoft.com/office/powerpoint/2010/main" val="604908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the reconstructed selection with all 3 cuts applied as cuts and placed as variables as well. Therefore, only particles that pass all 3 of the cuts together will be plotted. </a:t>
            </a:r>
          </a:p>
          <a:p>
            <a:endParaRPr lang="en-US" dirty="0"/>
          </a:p>
          <a:p>
            <a:r>
              <a:rPr lang="en-US" dirty="0"/>
              <a:t>When the cuts are plotted as variables in true mode. This allows us to see the false positives of each cut, meaning we can see the number of reconstructed particles that passed the cut, but </a:t>
            </a:r>
            <a:r>
              <a:rPr lang="en-US" dirty="0" err="1"/>
              <a:t>should’nt</a:t>
            </a:r>
            <a:r>
              <a:rPr lang="en-US" dirty="0"/>
              <a:t> have when considering their true particle information</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6</a:t>
            </a:fld>
            <a:endParaRPr lang="en-SG"/>
          </a:p>
        </p:txBody>
      </p:sp>
    </p:spTree>
    <p:extLst>
      <p:ext uri="{BB962C8B-B14F-4D97-AF65-F5344CB8AC3E}">
        <p14:creationId xmlns:p14="http://schemas.microsoft.com/office/powerpoint/2010/main" val="4026143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7</a:t>
            </a:fld>
            <a:endParaRPr lang="en-SG"/>
          </a:p>
        </p:txBody>
      </p:sp>
    </p:spTree>
    <p:extLst>
      <p:ext uri="{BB962C8B-B14F-4D97-AF65-F5344CB8AC3E}">
        <p14:creationId xmlns:p14="http://schemas.microsoft.com/office/powerpoint/2010/main" val="1027271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A469-8F7D-28FA-7334-45D673434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D26B2-7CF4-52B3-BBB0-EBE7C9486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5124A-AF87-CC7D-F556-8260BB3D47E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63E4172-A3F3-D8E3-79D0-28CF02F82496}"/>
              </a:ext>
            </a:extLst>
          </p:cNvPr>
          <p:cNvSpPr>
            <a:spLocks noGrp="1"/>
          </p:cNvSpPr>
          <p:nvPr>
            <p:ph type="sldNum" sz="quarter" idx="5"/>
          </p:nvPr>
        </p:nvSpPr>
        <p:spPr/>
        <p:txBody>
          <a:bodyPr/>
          <a:lstStyle/>
          <a:p>
            <a:fld id="{02B5FDCB-33CC-4AD4-B363-617329C34B90}" type="slidenum">
              <a:rPr lang="en-SG" smtClean="0"/>
              <a:t>8</a:t>
            </a:fld>
            <a:endParaRPr lang="en-SG"/>
          </a:p>
        </p:txBody>
      </p:sp>
    </p:spTree>
    <p:extLst>
      <p:ext uri="{BB962C8B-B14F-4D97-AF65-F5344CB8AC3E}">
        <p14:creationId xmlns:p14="http://schemas.microsoft.com/office/powerpoint/2010/main" val="644594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at the selection for 2 shower candidates for all the root files corresponding to </a:t>
            </a:r>
            <a:r>
              <a:rPr lang="en-US" dirty="0" err="1"/>
              <a:t>NuMI</a:t>
            </a:r>
            <a:r>
              <a:rPr lang="en-US" dirty="0"/>
              <a:t> and BNB. </a:t>
            </a:r>
          </a:p>
          <a:p>
            <a:endParaRPr lang="en-US" dirty="0"/>
          </a:p>
          <a:p>
            <a:r>
              <a:rPr lang="en-US" dirty="0"/>
              <a:t>I managed to find one singular ee-candidate, a large number of </a:t>
            </a:r>
            <a:r>
              <a:rPr lang="en-US" dirty="0" err="1"/>
              <a:t>yy</a:t>
            </a:r>
            <a:r>
              <a:rPr lang="en-US" dirty="0"/>
              <a:t>-candidates, and some </a:t>
            </a:r>
            <a:r>
              <a:rPr lang="en-US" dirty="0" err="1"/>
              <a:t>ey</a:t>
            </a:r>
            <a:r>
              <a:rPr lang="en-US" dirty="0"/>
              <a:t>-candidates</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10</a:t>
            </a:fld>
            <a:endParaRPr lang="en-SG"/>
          </a:p>
        </p:txBody>
      </p:sp>
    </p:spTree>
    <p:extLst>
      <p:ext uri="{BB962C8B-B14F-4D97-AF65-F5344CB8AC3E}">
        <p14:creationId xmlns:p14="http://schemas.microsoft.com/office/powerpoint/2010/main" val="3930740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t>
            </a:r>
            <a:r>
              <a:rPr lang="en-US" dirty="0" err="1"/>
              <a:t>wanna</a:t>
            </a:r>
            <a:r>
              <a:rPr lang="en-US" dirty="0"/>
              <a:t> firstly focus on the selection in reconstructed mode. You can see if you were to run the selection using reconstructed interactions, there would not be a single true ee-candidate within the reconstructed candidates for </a:t>
            </a:r>
            <a:r>
              <a:rPr lang="en-US" dirty="0" err="1"/>
              <a:t>NuMI</a:t>
            </a:r>
            <a:r>
              <a:rPr lang="en-US" dirty="0"/>
              <a:t>, but BNB manages to include the single ee-candidate. For 2 photon candidates, the purity is about 80 and 87% for </a:t>
            </a:r>
            <a:r>
              <a:rPr lang="en-US" dirty="0" err="1"/>
              <a:t>NuMI</a:t>
            </a:r>
            <a:r>
              <a:rPr lang="en-US" dirty="0"/>
              <a:t> and BNB. </a:t>
            </a:r>
          </a:p>
          <a:p>
            <a:endParaRPr lang="en-US" dirty="0"/>
          </a:p>
          <a:p>
            <a:r>
              <a:rPr lang="en-US" dirty="0"/>
              <a:t>For </a:t>
            </a:r>
            <a:r>
              <a:rPr lang="en-US" dirty="0" err="1"/>
              <a:t>ey</a:t>
            </a:r>
            <a:r>
              <a:rPr lang="en-US" dirty="0"/>
              <a:t>, the purity is very small, at about 3.2% and 0% for </a:t>
            </a:r>
            <a:r>
              <a:rPr lang="en-US" dirty="0" err="1"/>
              <a:t>NuMI</a:t>
            </a:r>
            <a:r>
              <a:rPr lang="en-US" dirty="0"/>
              <a:t> and BNB</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12</a:t>
            </a:fld>
            <a:endParaRPr lang="en-SG"/>
          </a:p>
        </p:txBody>
      </p:sp>
    </p:spTree>
    <p:extLst>
      <p:ext uri="{BB962C8B-B14F-4D97-AF65-F5344CB8AC3E}">
        <p14:creationId xmlns:p14="http://schemas.microsoft.com/office/powerpoint/2010/main" val="107122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selection in true mode. You can see if you were to run the selection using true interactions, there would not be a single </a:t>
            </a:r>
            <a:r>
              <a:rPr lang="en-US" dirty="0" err="1"/>
              <a:t>reco</a:t>
            </a:r>
            <a:r>
              <a:rPr lang="en-US" dirty="0"/>
              <a:t> ee-candidate within the true candidates for </a:t>
            </a:r>
            <a:r>
              <a:rPr lang="en-US" dirty="0" err="1"/>
              <a:t>NuMI</a:t>
            </a:r>
            <a:r>
              <a:rPr lang="en-US" dirty="0"/>
              <a:t> and BNB. For 2 photon candidates, the purity is about 59 and 64 for </a:t>
            </a:r>
            <a:r>
              <a:rPr lang="en-US" dirty="0" err="1"/>
              <a:t>NuMI</a:t>
            </a:r>
            <a:r>
              <a:rPr lang="en-US" dirty="0"/>
              <a:t> and BNB</a:t>
            </a:r>
          </a:p>
          <a:p>
            <a:endParaRPr lang="en-US" dirty="0"/>
          </a:p>
          <a:p>
            <a:r>
              <a:rPr lang="en-US" dirty="0"/>
              <a:t>For </a:t>
            </a:r>
            <a:r>
              <a:rPr lang="en-US" dirty="0" err="1"/>
              <a:t>ey</a:t>
            </a:r>
            <a:r>
              <a:rPr lang="en-US" dirty="0"/>
              <a:t>, the purity is small, at about 33% and 0% for </a:t>
            </a:r>
            <a:r>
              <a:rPr lang="en-US" dirty="0" err="1"/>
              <a:t>NuMI</a:t>
            </a:r>
            <a:r>
              <a:rPr lang="en-US" dirty="0"/>
              <a:t> and BNB</a:t>
            </a:r>
            <a:endParaRPr lang="en-SG" dirty="0"/>
          </a:p>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13</a:t>
            </a:fld>
            <a:endParaRPr lang="en-SG"/>
          </a:p>
        </p:txBody>
      </p:sp>
    </p:spTree>
    <p:extLst>
      <p:ext uri="{BB962C8B-B14F-4D97-AF65-F5344CB8AC3E}">
        <p14:creationId xmlns:p14="http://schemas.microsoft.com/office/powerpoint/2010/main" val="3003747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would like to focus on what are the most common types of wrongly matched true interactions to the reconstructed interactions in the reconstructed selection. </a:t>
            </a:r>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14</a:t>
            </a:fld>
            <a:endParaRPr lang="en-SG"/>
          </a:p>
        </p:txBody>
      </p:sp>
    </p:spTree>
    <p:extLst>
      <p:ext uri="{BB962C8B-B14F-4D97-AF65-F5344CB8AC3E}">
        <p14:creationId xmlns:p14="http://schemas.microsoft.com/office/powerpoint/2010/main" val="4219027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here are the most common types of wrongly matched </a:t>
            </a:r>
            <a:r>
              <a:rPr lang="en-US" dirty="0" err="1"/>
              <a:t>reco</a:t>
            </a:r>
            <a:r>
              <a:rPr lang="en-US" dirty="0"/>
              <a:t> interactions to the true interactions in the true selection. </a:t>
            </a:r>
            <a:endParaRPr lang="en-SG" dirty="0"/>
          </a:p>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15</a:t>
            </a:fld>
            <a:endParaRPr lang="en-SG"/>
          </a:p>
        </p:txBody>
      </p:sp>
    </p:spTree>
    <p:extLst>
      <p:ext uri="{BB962C8B-B14F-4D97-AF65-F5344CB8AC3E}">
        <p14:creationId xmlns:p14="http://schemas.microsoft.com/office/powerpoint/2010/main" val="2624391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19/2/2026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95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19/2/2026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46780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FE32E-95B7-4367-9495-9CBC389572F3}" type="datetimeFigureOut">
              <a:rPr lang="en-SG" smtClean="0"/>
              <a:t>19/2/2026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6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AFE32E-95B7-4367-9495-9CBC389572F3}" type="datetimeFigureOut">
              <a:rPr lang="en-SG" smtClean="0"/>
              <a:t>19/2/2026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77030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AFE32E-95B7-4367-9495-9CBC389572F3}" type="datetimeFigureOut">
              <a:rPr lang="en-SG" smtClean="0"/>
              <a:t>19/2/2026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52259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AFE32E-95B7-4367-9495-9CBC389572F3}" type="datetimeFigureOut">
              <a:rPr lang="en-SG" smtClean="0"/>
              <a:t>19/2/2026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77201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EAFE32E-95B7-4367-9495-9CBC389572F3}" type="datetimeFigureOut">
              <a:rPr lang="en-SG" smtClean="0"/>
              <a:t>19/2/2026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08138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EAFE32E-95B7-4367-9495-9CBC389572F3}" type="datetimeFigureOut">
              <a:rPr lang="en-SG" smtClean="0"/>
              <a:t>19/2/2026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CD8743-5A53-4A98-BC6F-5DFD6CC2F469}" type="slidenum">
              <a:rPr lang="en-SG" smtClean="0"/>
              <a:t>‹#›</a:t>
            </a:fld>
            <a:endParaRPr lang="en-SG"/>
          </a:p>
        </p:txBody>
      </p:sp>
    </p:spTree>
    <p:extLst>
      <p:ext uri="{BB962C8B-B14F-4D97-AF65-F5344CB8AC3E}">
        <p14:creationId xmlns:p14="http://schemas.microsoft.com/office/powerpoint/2010/main" val="410545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FE32E-95B7-4367-9495-9CBC389572F3}" type="datetimeFigureOut">
              <a:rPr lang="en-SG" smtClean="0"/>
              <a:t>19/2/2026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5234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19/2/2026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21928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19/2/2026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6930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EAFE32E-95B7-4367-9495-9CBC389572F3}" type="datetimeFigureOut">
              <a:rPr lang="en-SG" smtClean="0"/>
              <a:t>19/2/2026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CD8743-5A53-4A98-BC6F-5DFD6CC2F469}"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773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D9B76-70A7-1E39-0F35-6062ED356829}"/>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8DFBA7B-7258-CBEB-4D01-777454586A2A}"/>
              </a:ext>
            </a:extLst>
          </p:cNvPr>
          <p:cNvGraphicFramePr>
            <a:graphicFrameLocks noGrp="1"/>
          </p:cNvGraphicFramePr>
          <p:nvPr>
            <p:extLst>
              <p:ext uri="{D42A27DB-BD31-4B8C-83A1-F6EECF244321}">
                <p14:modId xmlns:p14="http://schemas.microsoft.com/office/powerpoint/2010/main" val="2965107574"/>
              </p:ext>
            </p:extLst>
          </p:nvPr>
        </p:nvGraphicFramePr>
        <p:xfrm>
          <a:off x="7972425" y="2038156"/>
          <a:ext cx="3870036" cy="1859589"/>
        </p:xfrm>
        <a:graphic>
          <a:graphicData uri="http://schemas.openxmlformats.org/drawingml/2006/table">
            <a:tbl>
              <a:tblPr firstRow="1" bandRow="1">
                <a:tableStyleId>{69012ECD-51FC-41F1-AA8D-1B2483CD663E}</a:tableStyleId>
              </a:tblPr>
              <a:tblGrid>
                <a:gridCol w="3870036">
                  <a:extLst>
                    <a:ext uri="{9D8B030D-6E8A-4147-A177-3AD203B41FA5}">
                      <a16:colId xmlns:a16="http://schemas.microsoft.com/office/drawing/2014/main" val="1476473035"/>
                    </a:ext>
                  </a:extLst>
                </a:gridCol>
              </a:tblGrid>
              <a:tr h="619863">
                <a:tc>
                  <a:txBody>
                    <a:bodyPr/>
                    <a:lstStyle/>
                    <a:p>
                      <a:r>
                        <a:rPr lang="en-US" dirty="0"/>
                        <a:t>Created TOML files</a:t>
                      </a:r>
                      <a:endParaRPr lang="en-SG" dirty="0"/>
                    </a:p>
                  </a:txBody>
                  <a:tcPr/>
                </a:tc>
                <a:extLst>
                  <a:ext uri="{0D108BD9-81ED-4DB2-BD59-A6C34878D82A}">
                    <a16:rowId xmlns:a16="http://schemas.microsoft.com/office/drawing/2014/main" val="1553903345"/>
                  </a:ext>
                </a:extLst>
              </a:tr>
              <a:tr h="619863">
                <a:tc>
                  <a:txBody>
                    <a:bodyPr/>
                    <a:lstStyle/>
                    <a:p>
                      <a:endParaRPr lang="en-SG" dirty="0"/>
                    </a:p>
                  </a:txBody>
                  <a:tcPr/>
                </a:tc>
                <a:extLst>
                  <a:ext uri="{0D108BD9-81ED-4DB2-BD59-A6C34878D82A}">
                    <a16:rowId xmlns:a16="http://schemas.microsoft.com/office/drawing/2014/main" val="3745061632"/>
                  </a:ext>
                </a:extLst>
              </a:tr>
              <a:tr h="619863">
                <a:tc>
                  <a:txBody>
                    <a:bodyPr/>
                    <a:lstStyle/>
                    <a:p>
                      <a:endParaRPr lang="en-SG" dirty="0"/>
                    </a:p>
                  </a:txBody>
                  <a:tcPr/>
                </a:tc>
                <a:extLst>
                  <a:ext uri="{0D108BD9-81ED-4DB2-BD59-A6C34878D82A}">
                    <a16:rowId xmlns:a16="http://schemas.microsoft.com/office/drawing/2014/main" val="4282705285"/>
                  </a:ext>
                </a:extLst>
              </a:tr>
            </a:tbl>
          </a:graphicData>
        </a:graphic>
      </p:graphicFrame>
      <p:sp>
        <p:nvSpPr>
          <p:cNvPr id="2" name="Title 1">
            <a:extLst>
              <a:ext uri="{FF2B5EF4-FFF2-40B4-BE49-F238E27FC236}">
                <a16:creationId xmlns:a16="http://schemas.microsoft.com/office/drawing/2014/main" id="{6548B79E-5036-3033-2D82-3F395E8A4481}"/>
              </a:ext>
            </a:extLst>
          </p:cNvPr>
          <p:cNvSpPr>
            <a:spLocks noGrp="1"/>
          </p:cNvSpPr>
          <p:nvPr>
            <p:ph type="title"/>
          </p:nvPr>
        </p:nvSpPr>
        <p:spPr/>
        <p:txBody>
          <a:bodyPr/>
          <a:lstStyle/>
          <a:p>
            <a:r>
              <a:rPr lang="en-US" dirty="0"/>
              <a:t>Tasks completed (12 Feb) </a:t>
            </a:r>
            <a:endParaRPr lang="en-SG" dirty="0"/>
          </a:p>
        </p:txBody>
      </p:sp>
      <p:sp>
        <p:nvSpPr>
          <p:cNvPr id="3" name="Content Placeholder 2">
            <a:extLst>
              <a:ext uri="{FF2B5EF4-FFF2-40B4-BE49-F238E27FC236}">
                <a16:creationId xmlns:a16="http://schemas.microsoft.com/office/drawing/2014/main" id="{C0CAF108-E434-B580-4B4D-495AF82E0746}"/>
              </a:ext>
            </a:extLst>
          </p:cNvPr>
          <p:cNvSpPr>
            <a:spLocks noGrp="1"/>
          </p:cNvSpPr>
          <p:nvPr>
            <p:ph idx="1"/>
          </p:nvPr>
        </p:nvSpPr>
        <p:spPr>
          <a:xfrm>
            <a:off x="1097280" y="1845734"/>
            <a:ext cx="6494145" cy="4351866"/>
          </a:xfrm>
        </p:spPr>
        <p:txBody>
          <a:bodyPr>
            <a:normAutofit/>
          </a:bodyPr>
          <a:lstStyle/>
          <a:p>
            <a:pPr>
              <a:buFont typeface="Arial" panose="020B0604020202020204" pitchFamily="34" charset="0"/>
              <a:buChar char="•"/>
            </a:pPr>
            <a:r>
              <a:rPr lang="en-SG" dirty="0"/>
              <a:t>Extended TOML file to include all BNB and </a:t>
            </a:r>
            <a:r>
              <a:rPr lang="en-SG" dirty="0" err="1"/>
              <a:t>NuMI</a:t>
            </a:r>
            <a:r>
              <a:rPr lang="en-SG" dirty="0"/>
              <a:t> samples </a:t>
            </a:r>
          </a:p>
          <a:p>
            <a:pPr lvl="1">
              <a:buFont typeface="Arial" panose="020B0604020202020204" pitchFamily="34" charset="0"/>
              <a:buChar char="•"/>
            </a:pPr>
            <a:r>
              <a:rPr lang="en-SG" dirty="0"/>
              <a:t>/</a:t>
            </a:r>
            <a:r>
              <a:rPr lang="en-SG" dirty="0" err="1"/>
              <a:t>pnfs</a:t>
            </a:r>
            <a:r>
              <a:rPr lang="en-SG" dirty="0"/>
              <a:t>/</a:t>
            </a:r>
            <a:r>
              <a:rPr lang="en-SG" dirty="0" err="1"/>
              <a:t>icarus</a:t>
            </a:r>
            <a:r>
              <a:rPr lang="en-SG" dirty="0"/>
              <a:t>/persistent/users/</a:t>
            </a:r>
            <a:r>
              <a:rPr lang="en-SG" dirty="0" err="1"/>
              <a:t>dcarber</a:t>
            </a:r>
            <a:r>
              <a:rPr lang="en-SG" dirty="0"/>
              <a:t>/spine/</a:t>
            </a:r>
            <a:r>
              <a:rPr lang="en-SG" dirty="0" err="1"/>
              <a:t>combined_files</a:t>
            </a:r>
            <a:r>
              <a:rPr lang="en-SG" dirty="0"/>
              <a:t>/NuMI_CV_flat_cafs_2/*.root</a:t>
            </a:r>
          </a:p>
          <a:p>
            <a:pPr lvl="1">
              <a:buFont typeface="Arial" panose="020B0604020202020204" pitchFamily="34" charset="0"/>
              <a:buChar char="•"/>
            </a:pPr>
            <a:r>
              <a:rPr lang="fr-FR" dirty="0"/>
              <a:t>/</a:t>
            </a:r>
            <a:r>
              <a:rPr lang="fr-FR" dirty="0" err="1"/>
              <a:t>pnfs</a:t>
            </a:r>
            <a:r>
              <a:rPr lang="fr-FR" dirty="0"/>
              <a:t>/</a:t>
            </a:r>
            <a:r>
              <a:rPr lang="fr-FR" dirty="0" err="1"/>
              <a:t>icarus</a:t>
            </a:r>
            <a:r>
              <a:rPr lang="fr-FR" dirty="0"/>
              <a:t>/persistent/</a:t>
            </a:r>
            <a:r>
              <a:rPr lang="fr-FR" dirty="0" err="1"/>
              <a:t>users</a:t>
            </a:r>
            <a:r>
              <a:rPr lang="fr-FR" dirty="0"/>
              <a:t>/</a:t>
            </a:r>
            <a:r>
              <a:rPr lang="fr-FR" dirty="0" err="1"/>
              <a:t>mueller</a:t>
            </a:r>
            <a:r>
              <a:rPr lang="fr-FR" dirty="0"/>
              <a:t>/production/simulation/nominal/input*.</a:t>
            </a:r>
            <a:r>
              <a:rPr lang="fr-FR" dirty="0" err="1"/>
              <a:t>flat.root</a:t>
            </a:r>
            <a:endParaRPr lang="en-SG" dirty="0"/>
          </a:p>
        </p:txBody>
      </p:sp>
      <p:graphicFrame>
        <p:nvGraphicFramePr>
          <p:cNvPr id="6" name="Object 5">
            <a:extLst>
              <a:ext uri="{FF2B5EF4-FFF2-40B4-BE49-F238E27FC236}">
                <a16:creationId xmlns:a16="http://schemas.microsoft.com/office/drawing/2014/main" id="{690D7911-666F-6B2D-4494-5F2EFCF321BC}"/>
              </a:ext>
            </a:extLst>
          </p:cNvPr>
          <p:cNvGraphicFramePr>
            <a:graphicFrameLocks noChangeAspect="1"/>
          </p:cNvGraphicFramePr>
          <p:nvPr>
            <p:extLst>
              <p:ext uri="{D42A27DB-BD31-4B8C-83A1-F6EECF244321}">
                <p14:modId xmlns:p14="http://schemas.microsoft.com/office/powerpoint/2010/main" val="1759367804"/>
              </p:ext>
            </p:extLst>
          </p:nvPr>
        </p:nvGraphicFramePr>
        <p:xfrm>
          <a:off x="8324632" y="2710775"/>
          <a:ext cx="3400425" cy="514350"/>
        </p:xfrm>
        <a:graphic>
          <a:graphicData uri="http://schemas.openxmlformats.org/presentationml/2006/ole">
            <mc:AlternateContent xmlns:mc="http://schemas.openxmlformats.org/markup-compatibility/2006">
              <mc:Choice xmlns:v="urn:schemas-microsoft-com:vml" Requires="v">
                <p:oleObj name="Packager Shell Object" showAsIcon="1" r:id="rId3" imgW="3400406" imgH="514350" progId="Package">
                  <p:embed/>
                </p:oleObj>
              </mc:Choice>
              <mc:Fallback>
                <p:oleObj name="Packager Shell Object" showAsIcon="1" r:id="rId3" imgW="3400406" imgH="514350" progId="Package">
                  <p:embed/>
                  <p:pic>
                    <p:nvPicPr>
                      <p:cNvPr id="0" name=""/>
                      <p:cNvPicPr/>
                      <p:nvPr/>
                    </p:nvPicPr>
                    <p:blipFill>
                      <a:blip r:embed="rId4"/>
                      <a:stretch>
                        <a:fillRect/>
                      </a:stretch>
                    </p:blipFill>
                    <p:spPr>
                      <a:xfrm>
                        <a:off x="8324632" y="2710775"/>
                        <a:ext cx="3400425" cy="51435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10F1754C-30B9-87F6-82B0-A1837E2AA788}"/>
              </a:ext>
            </a:extLst>
          </p:cNvPr>
          <p:cNvGraphicFramePr>
            <a:graphicFrameLocks noChangeAspect="1"/>
          </p:cNvGraphicFramePr>
          <p:nvPr>
            <p:extLst>
              <p:ext uri="{D42A27DB-BD31-4B8C-83A1-F6EECF244321}">
                <p14:modId xmlns:p14="http://schemas.microsoft.com/office/powerpoint/2010/main" val="999337088"/>
              </p:ext>
            </p:extLst>
          </p:nvPr>
        </p:nvGraphicFramePr>
        <p:xfrm>
          <a:off x="8305583" y="3354002"/>
          <a:ext cx="3438525" cy="514350"/>
        </p:xfrm>
        <a:graphic>
          <a:graphicData uri="http://schemas.openxmlformats.org/presentationml/2006/ole">
            <mc:AlternateContent xmlns:mc="http://schemas.openxmlformats.org/markup-compatibility/2006">
              <mc:Choice xmlns:v="urn:schemas-microsoft-com:vml" Requires="v">
                <p:oleObj name="Packager Shell Object" showAsIcon="1" r:id="rId5" imgW="3438633" imgH="514350" progId="Package">
                  <p:embed/>
                </p:oleObj>
              </mc:Choice>
              <mc:Fallback>
                <p:oleObj name="Packager Shell Object" showAsIcon="1" r:id="rId5" imgW="3438633" imgH="514350" progId="Package">
                  <p:embed/>
                  <p:pic>
                    <p:nvPicPr>
                      <p:cNvPr id="0" name=""/>
                      <p:cNvPicPr/>
                      <p:nvPr/>
                    </p:nvPicPr>
                    <p:blipFill>
                      <a:blip r:embed="rId6"/>
                      <a:stretch>
                        <a:fillRect/>
                      </a:stretch>
                    </p:blipFill>
                    <p:spPr>
                      <a:xfrm>
                        <a:off x="8305583" y="3354002"/>
                        <a:ext cx="3438525" cy="514350"/>
                      </a:xfrm>
                      <a:prstGeom prst="rect">
                        <a:avLst/>
                      </a:prstGeom>
                    </p:spPr>
                  </p:pic>
                </p:oleObj>
              </mc:Fallback>
            </mc:AlternateContent>
          </a:graphicData>
        </a:graphic>
      </p:graphicFrame>
    </p:spTree>
    <p:extLst>
      <p:ext uri="{BB962C8B-B14F-4D97-AF65-F5344CB8AC3E}">
        <p14:creationId xmlns:p14="http://schemas.microsoft.com/office/powerpoint/2010/main" val="955275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B9FC3-4EB5-9F3B-83EC-9FE4BC860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45BE4-DD09-B569-4035-14B968C9B25F}"/>
              </a:ext>
            </a:extLst>
          </p:cNvPr>
          <p:cNvSpPr>
            <a:spLocks noGrp="1"/>
          </p:cNvSpPr>
          <p:nvPr>
            <p:ph type="title"/>
          </p:nvPr>
        </p:nvSpPr>
        <p:spPr>
          <a:xfrm>
            <a:off x="1066800" y="3066311"/>
            <a:ext cx="10058400" cy="725378"/>
          </a:xfrm>
        </p:spPr>
        <p:txBody>
          <a:bodyPr/>
          <a:lstStyle/>
          <a:p>
            <a:pPr algn="ctr"/>
            <a:r>
              <a:rPr lang="en-US" b="1" dirty="0"/>
              <a:t>Pre-event selection</a:t>
            </a:r>
            <a:endParaRPr lang="en-SG" b="1" dirty="0"/>
          </a:p>
        </p:txBody>
      </p:sp>
    </p:spTree>
    <p:extLst>
      <p:ext uri="{BB962C8B-B14F-4D97-AF65-F5344CB8AC3E}">
        <p14:creationId xmlns:p14="http://schemas.microsoft.com/office/powerpoint/2010/main" val="709639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5556C-DCA9-549E-005C-D137E226C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8B797-F184-186A-2280-F35114CD6102}"/>
              </a:ext>
            </a:extLst>
          </p:cNvPr>
          <p:cNvSpPr>
            <a:spLocks noGrp="1"/>
          </p:cNvSpPr>
          <p:nvPr>
            <p:ph type="title"/>
          </p:nvPr>
        </p:nvSpPr>
        <p:spPr/>
        <p:txBody>
          <a:bodyPr/>
          <a:lstStyle/>
          <a:p>
            <a:r>
              <a:rPr lang="en-US" dirty="0"/>
              <a:t>Preselection </a:t>
            </a:r>
            <a:endParaRPr lang="en-SG" dirty="0"/>
          </a:p>
        </p:txBody>
      </p:sp>
      <p:sp>
        <p:nvSpPr>
          <p:cNvPr id="12" name="Content Placeholder 2">
            <a:extLst>
              <a:ext uri="{FF2B5EF4-FFF2-40B4-BE49-F238E27FC236}">
                <a16:creationId xmlns:a16="http://schemas.microsoft.com/office/drawing/2014/main" id="{BF830390-01E2-424D-A7AB-7C342CBB12F5}"/>
              </a:ext>
            </a:extLst>
          </p:cNvPr>
          <p:cNvSpPr>
            <a:spLocks noGrp="1"/>
          </p:cNvSpPr>
          <p:nvPr>
            <p:ph idx="1"/>
          </p:nvPr>
        </p:nvSpPr>
        <p:spPr>
          <a:xfrm>
            <a:off x="1097280" y="1845734"/>
            <a:ext cx="4407593" cy="4427430"/>
          </a:xfrm>
        </p:spPr>
        <p:txBody>
          <a:bodyPr>
            <a:normAutofit fontScale="85000" lnSpcReduction="10000"/>
          </a:bodyPr>
          <a:lstStyle/>
          <a:p>
            <a:pPr>
              <a:buFont typeface="Arial" panose="020B0604020202020204" pitchFamily="34" charset="0"/>
              <a:buChar char="•"/>
            </a:pPr>
            <a:r>
              <a:rPr lang="fr-FR" dirty="0">
                <a:solidFill>
                  <a:schemeClr val="tx1"/>
                </a:solidFill>
              </a:rPr>
              <a:t>There </a:t>
            </a:r>
            <a:r>
              <a:rPr lang="fr-FR" dirty="0" err="1">
                <a:solidFill>
                  <a:schemeClr val="tx1"/>
                </a:solidFill>
              </a:rPr>
              <a:t>were</a:t>
            </a:r>
            <a:r>
              <a:rPr lang="fr-FR" dirty="0">
                <a:solidFill>
                  <a:schemeClr val="tx1"/>
                </a:solidFill>
              </a:rPr>
              <a:t> </a:t>
            </a:r>
            <a:r>
              <a:rPr lang="fr-FR" dirty="0" err="1">
                <a:solidFill>
                  <a:schemeClr val="tx1"/>
                </a:solidFill>
              </a:rPr>
              <a:t>two</a:t>
            </a:r>
            <a:r>
              <a:rPr lang="fr-FR" dirty="0">
                <a:solidFill>
                  <a:schemeClr val="tx1"/>
                </a:solidFill>
              </a:rPr>
              <a:t> types of </a:t>
            </a:r>
            <a:r>
              <a:rPr lang="fr-FR" dirty="0" err="1">
                <a:solidFill>
                  <a:schemeClr val="tx1"/>
                </a:solidFill>
              </a:rPr>
              <a:t>selection</a:t>
            </a:r>
            <a:r>
              <a:rPr lang="fr-FR" dirty="0">
                <a:solidFill>
                  <a:schemeClr val="tx1"/>
                </a:solidFill>
              </a:rPr>
              <a:t> configurations </a:t>
            </a:r>
            <a:r>
              <a:rPr lang="fr-FR" dirty="0" err="1">
                <a:solidFill>
                  <a:schemeClr val="tx1"/>
                </a:solidFill>
              </a:rPr>
              <a:t>performed</a:t>
            </a:r>
            <a:r>
              <a:rPr lang="fr-FR" dirty="0">
                <a:solidFill>
                  <a:schemeClr val="tx1"/>
                </a:solidFill>
              </a:rPr>
              <a:t> for </a:t>
            </a:r>
            <a:r>
              <a:rPr lang="fr-FR" dirty="0" err="1">
                <a:solidFill>
                  <a:schemeClr val="tx1"/>
                </a:solidFill>
              </a:rPr>
              <a:t>analysing</a:t>
            </a:r>
            <a:r>
              <a:rPr lang="fr-FR" dirty="0">
                <a:solidFill>
                  <a:schemeClr val="tx1"/>
                </a:solidFill>
              </a:rPr>
              <a:t> </a:t>
            </a:r>
            <a:r>
              <a:rPr lang="fr-FR" dirty="0" err="1">
                <a:solidFill>
                  <a:schemeClr val="tx1"/>
                </a:solidFill>
              </a:rPr>
              <a:t>pre-selection</a:t>
            </a:r>
            <a:r>
              <a:rPr lang="fr-FR" dirty="0">
                <a:solidFill>
                  <a:schemeClr val="tx1"/>
                </a:solidFill>
              </a:rPr>
              <a:t> data,</a:t>
            </a:r>
          </a:p>
          <a:p>
            <a:pPr marL="457200" indent="-457200">
              <a:buFont typeface="+mj-lt"/>
              <a:buAutoNum type="arabicPeriod"/>
            </a:pPr>
            <a:r>
              <a:rPr lang="fr-FR" dirty="0" err="1">
                <a:solidFill>
                  <a:schemeClr val="tx1"/>
                </a:solidFill>
              </a:rPr>
              <a:t>Selection</a:t>
            </a:r>
            <a:r>
              <a:rPr lang="fr-FR" dirty="0">
                <a:solidFill>
                  <a:schemeClr val="tx1"/>
                </a:solidFill>
              </a:rPr>
              <a:t> </a:t>
            </a:r>
            <a:r>
              <a:rPr lang="fr-FR" dirty="0" err="1">
                <a:solidFill>
                  <a:schemeClr val="tx1"/>
                </a:solidFill>
              </a:rPr>
              <a:t>with</a:t>
            </a:r>
            <a:r>
              <a:rPr lang="fr-FR" dirty="0">
                <a:solidFill>
                  <a:schemeClr val="tx1"/>
                </a:solidFill>
              </a:rPr>
              <a:t> no </a:t>
            </a:r>
            <a:r>
              <a:rPr lang="fr-FR" dirty="0" err="1">
                <a:solidFill>
                  <a:schemeClr val="tx1"/>
                </a:solidFill>
              </a:rPr>
              <a:t>cuts</a:t>
            </a:r>
            <a:r>
              <a:rPr lang="fr-FR" dirty="0">
                <a:solidFill>
                  <a:schemeClr val="tx1"/>
                </a:solidFill>
              </a:rPr>
              <a:t> </a:t>
            </a:r>
            <a:r>
              <a:rPr lang="fr-FR" dirty="0" err="1">
                <a:solidFill>
                  <a:schemeClr val="tx1"/>
                </a:solidFill>
              </a:rPr>
              <a:t>applied</a:t>
            </a:r>
            <a:r>
              <a:rPr lang="fr-FR" dirty="0">
                <a:solidFill>
                  <a:schemeClr val="tx1"/>
                </a:solidFill>
              </a:rPr>
              <a:t>, and </a:t>
            </a:r>
            <a:r>
              <a:rPr lang="fr-FR" dirty="0" err="1">
                <a:solidFill>
                  <a:schemeClr val="tx1"/>
                </a:solidFill>
              </a:rPr>
              <a:t>fiducial</a:t>
            </a:r>
            <a:r>
              <a:rPr lang="fr-FR" dirty="0">
                <a:solidFill>
                  <a:schemeClr val="tx1"/>
                </a:solidFill>
              </a:rPr>
              <a:t>, </a:t>
            </a:r>
            <a:r>
              <a:rPr lang="fr-FR" dirty="0" err="1">
                <a:solidFill>
                  <a:schemeClr val="tx1"/>
                </a:solidFill>
              </a:rPr>
              <a:t>containment</a:t>
            </a:r>
            <a:r>
              <a:rPr lang="fr-FR" dirty="0">
                <a:solidFill>
                  <a:schemeClr val="tx1"/>
                </a:solidFill>
              </a:rPr>
              <a:t> and </a:t>
            </a:r>
            <a:r>
              <a:rPr lang="fr-FR" dirty="0" err="1">
                <a:solidFill>
                  <a:schemeClr val="tx1"/>
                </a:solidFill>
              </a:rPr>
              <a:t>valid_flashmatch</a:t>
            </a:r>
            <a:r>
              <a:rPr lang="fr-FR" dirty="0">
                <a:solidFill>
                  <a:schemeClr val="tx1"/>
                </a:solidFill>
              </a:rPr>
              <a:t> </a:t>
            </a:r>
            <a:r>
              <a:rPr lang="fr-FR" dirty="0" err="1">
                <a:solidFill>
                  <a:schemeClr val="tx1"/>
                </a:solidFill>
              </a:rPr>
              <a:t>plotted</a:t>
            </a:r>
            <a:r>
              <a:rPr lang="fr-FR" dirty="0">
                <a:solidFill>
                  <a:schemeClr val="tx1"/>
                </a:solidFill>
              </a:rPr>
              <a:t> as variables</a:t>
            </a:r>
          </a:p>
          <a:p>
            <a:pPr marL="749808" lvl="1" indent="-457200">
              <a:buFont typeface="Arial" panose="020B0604020202020204" pitchFamily="34" charset="0"/>
              <a:buChar char="•"/>
            </a:pPr>
            <a:r>
              <a:rPr lang="fr-FR" dirty="0" err="1">
                <a:solidFill>
                  <a:schemeClr val="tx1"/>
                </a:solidFill>
              </a:rPr>
              <a:t>We</a:t>
            </a:r>
            <a:r>
              <a:rPr lang="fr-FR" dirty="0">
                <a:solidFill>
                  <a:schemeClr val="tx1"/>
                </a:solidFill>
              </a:rPr>
              <a:t> can </a:t>
            </a:r>
            <a:r>
              <a:rPr lang="fr-FR" dirty="0" err="1">
                <a:solidFill>
                  <a:schemeClr val="tx1"/>
                </a:solidFill>
              </a:rPr>
              <a:t>see</a:t>
            </a:r>
            <a:r>
              <a:rPr lang="fr-FR" dirty="0">
                <a:solidFill>
                  <a:schemeClr val="tx1"/>
                </a:solidFill>
              </a:rPr>
              <a:t> the total </a:t>
            </a:r>
            <a:r>
              <a:rPr lang="fr-FR" dirty="0" err="1">
                <a:solidFill>
                  <a:schemeClr val="tx1"/>
                </a:solidFill>
              </a:rPr>
              <a:t>efficiency</a:t>
            </a:r>
            <a:r>
              <a:rPr lang="fr-FR" dirty="0">
                <a:solidFill>
                  <a:schemeClr val="tx1"/>
                </a:solidFill>
              </a:rPr>
              <a:t> of the </a:t>
            </a:r>
            <a:r>
              <a:rPr lang="fr-FR" dirty="0" err="1">
                <a:solidFill>
                  <a:schemeClr val="tx1"/>
                </a:solidFill>
              </a:rPr>
              <a:t>cuts</a:t>
            </a:r>
            <a:r>
              <a:rPr lang="fr-FR" dirty="0">
                <a:solidFill>
                  <a:schemeClr val="tx1"/>
                </a:solidFill>
              </a:rPr>
              <a:t> as branches </a:t>
            </a:r>
            <a:r>
              <a:rPr lang="fr-FR" dirty="0" err="1">
                <a:solidFill>
                  <a:schemeClr val="tx1"/>
                </a:solidFill>
              </a:rPr>
              <a:t>plotted</a:t>
            </a:r>
            <a:r>
              <a:rPr lang="fr-FR" dirty="0">
                <a:solidFill>
                  <a:schemeClr val="tx1"/>
                </a:solidFill>
              </a:rPr>
              <a:t>, </a:t>
            </a:r>
            <a:r>
              <a:rPr lang="fr-FR" dirty="0" err="1">
                <a:solidFill>
                  <a:schemeClr val="tx1"/>
                </a:solidFill>
              </a:rPr>
              <a:t>which</a:t>
            </a:r>
            <a:r>
              <a:rPr lang="fr-FR" dirty="0">
                <a:solidFill>
                  <a:schemeClr val="tx1"/>
                </a:solidFill>
              </a:rPr>
              <a:t> </a:t>
            </a:r>
            <a:r>
              <a:rPr lang="fr-FR" dirty="0" err="1">
                <a:solidFill>
                  <a:schemeClr val="tx1"/>
                </a:solidFill>
              </a:rPr>
              <a:t>is</a:t>
            </a:r>
            <a:r>
              <a:rPr lang="fr-FR" dirty="0">
                <a:solidFill>
                  <a:schemeClr val="tx1"/>
                </a:solidFill>
              </a:rPr>
              <a:t> the </a:t>
            </a:r>
            <a:r>
              <a:rPr lang="fr-FR" dirty="0" err="1">
                <a:solidFill>
                  <a:schemeClr val="tx1"/>
                </a:solidFill>
              </a:rPr>
              <a:t>number</a:t>
            </a:r>
            <a:r>
              <a:rPr lang="fr-FR" dirty="0">
                <a:solidFill>
                  <a:schemeClr val="tx1"/>
                </a:solidFill>
              </a:rPr>
              <a:t> of interactions </a:t>
            </a:r>
            <a:r>
              <a:rPr lang="fr-FR" dirty="0" err="1">
                <a:solidFill>
                  <a:schemeClr val="tx1"/>
                </a:solidFill>
              </a:rPr>
              <a:t>that</a:t>
            </a:r>
            <a:r>
              <a:rPr lang="fr-FR" dirty="0">
                <a:solidFill>
                  <a:schemeClr val="tx1"/>
                </a:solidFill>
              </a:rPr>
              <a:t> </a:t>
            </a:r>
            <a:r>
              <a:rPr lang="fr-FR" dirty="0" err="1">
                <a:solidFill>
                  <a:schemeClr val="tx1"/>
                </a:solidFill>
              </a:rPr>
              <a:t>pass</a:t>
            </a:r>
            <a:r>
              <a:rPr lang="fr-FR" dirty="0">
                <a:solidFill>
                  <a:schemeClr val="tx1"/>
                </a:solidFill>
              </a:rPr>
              <a:t> the </a:t>
            </a:r>
            <a:r>
              <a:rPr lang="fr-FR" dirty="0" err="1">
                <a:solidFill>
                  <a:schemeClr val="tx1"/>
                </a:solidFill>
              </a:rPr>
              <a:t>following</a:t>
            </a:r>
            <a:r>
              <a:rPr lang="fr-FR" dirty="0">
                <a:solidFill>
                  <a:schemeClr val="tx1"/>
                </a:solidFill>
              </a:rPr>
              <a:t> </a:t>
            </a:r>
            <a:r>
              <a:rPr lang="fr-FR" dirty="0" err="1">
                <a:solidFill>
                  <a:schemeClr val="tx1"/>
                </a:solidFill>
              </a:rPr>
              <a:t>cuts</a:t>
            </a:r>
            <a:r>
              <a:rPr lang="fr-FR" dirty="0">
                <a:solidFill>
                  <a:schemeClr val="tx1"/>
                </a:solidFill>
              </a:rPr>
              <a:t> over the total </a:t>
            </a:r>
            <a:r>
              <a:rPr lang="fr-FR" dirty="0" err="1">
                <a:solidFill>
                  <a:schemeClr val="tx1"/>
                </a:solidFill>
              </a:rPr>
              <a:t>number</a:t>
            </a:r>
            <a:r>
              <a:rPr lang="fr-FR" dirty="0">
                <a:solidFill>
                  <a:schemeClr val="tx1"/>
                </a:solidFill>
              </a:rPr>
              <a:t> of all </a:t>
            </a:r>
            <a:r>
              <a:rPr lang="fr-FR" dirty="0" err="1">
                <a:solidFill>
                  <a:schemeClr val="tx1"/>
                </a:solidFill>
              </a:rPr>
              <a:t>particles</a:t>
            </a:r>
            <a:r>
              <a:rPr lang="fr-FR" dirty="0">
                <a:solidFill>
                  <a:schemeClr val="tx1"/>
                </a:solidFill>
              </a:rPr>
              <a:t> in the ROOT file</a:t>
            </a:r>
          </a:p>
          <a:p>
            <a:pPr marL="457200" indent="-457200">
              <a:buFont typeface="+mj-lt"/>
              <a:buAutoNum type="arabicPeriod"/>
            </a:pPr>
            <a:r>
              <a:rPr lang="fr-FR" dirty="0">
                <a:solidFill>
                  <a:schemeClr val="tx1"/>
                </a:solidFill>
              </a:rPr>
              <a:t>Pre-</a:t>
            </a:r>
            <a:r>
              <a:rPr lang="fr-FR" dirty="0" err="1">
                <a:solidFill>
                  <a:schemeClr val="tx1"/>
                </a:solidFill>
              </a:rPr>
              <a:t>event</a:t>
            </a:r>
            <a:r>
              <a:rPr lang="fr-FR" dirty="0">
                <a:solidFill>
                  <a:schemeClr val="tx1"/>
                </a:solidFill>
              </a:rPr>
              <a:t> </a:t>
            </a:r>
            <a:r>
              <a:rPr lang="fr-FR" dirty="0" err="1">
                <a:solidFill>
                  <a:schemeClr val="tx1"/>
                </a:solidFill>
              </a:rPr>
              <a:t>selection</a:t>
            </a:r>
            <a:r>
              <a:rPr lang="fr-FR" dirty="0">
                <a:solidFill>
                  <a:schemeClr val="tx1"/>
                </a:solidFill>
              </a:rPr>
              <a:t> for </a:t>
            </a:r>
            <a:r>
              <a:rPr lang="fr-FR" dirty="0" err="1">
                <a:solidFill>
                  <a:schemeClr val="tx1"/>
                </a:solidFill>
              </a:rPr>
              <a:t>analysing</a:t>
            </a:r>
            <a:r>
              <a:rPr lang="fr-FR" dirty="0">
                <a:solidFill>
                  <a:schemeClr val="tx1"/>
                </a:solidFill>
              </a:rPr>
              <a:t> </a:t>
            </a:r>
            <a:r>
              <a:rPr lang="fr-FR" dirty="0" err="1">
                <a:solidFill>
                  <a:schemeClr val="tx1"/>
                </a:solidFill>
              </a:rPr>
              <a:t>efficiency</a:t>
            </a:r>
            <a:r>
              <a:rPr lang="fr-FR" dirty="0">
                <a:solidFill>
                  <a:schemeClr val="tx1"/>
                </a:solidFill>
              </a:rPr>
              <a:t> of </a:t>
            </a:r>
            <a:r>
              <a:rPr lang="fr-FR" dirty="0" err="1">
                <a:solidFill>
                  <a:schemeClr val="tx1"/>
                </a:solidFill>
              </a:rPr>
              <a:t>fiducial</a:t>
            </a:r>
            <a:r>
              <a:rPr lang="fr-FR" dirty="0">
                <a:solidFill>
                  <a:schemeClr val="tx1"/>
                </a:solidFill>
              </a:rPr>
              <a:t>, </a:t>
            </a:r>
            <a:r>
              <a:rPr lang="fr-FR" dirty="0" err="1">
                <a:solidFill>
                  <a:schemeClr val="tx1"/>
                </a:solidFill>
              </a:rPr>
              <a:t>containment</a:t>
            </a:r>
            <a:r>
              <a:rPr lang="fr-FR" dirty="0">
                <a:solidFill>
                  <a:schemeClr val="tx1"/>
                </a:solidFill>
              </a:rPr>
              <a:t>, and </a:t>
            </a:r>
            <a:r>
              <a:rPr lang="fr-FR" dirty="0" err="1">
                <a:solidFill>
                  <a:schemeClr val="tx1"/>
                </a:solidFill>
              </a:rPr>
              <a:t>valid_flashmatch</a:t>
            </a:r>
            <a:r>
              <a:rPr lang="fr-FR" dirty="0">
                <a:solidFill>
                  <a:schemeClr val="tx1"/>
                </a:solidFill>
              </a:rPr>
              <a:t> </a:t>
            </a:r>
            <a:r>
              <a:rPr lang="fr-FR" dirty="0" err="1">
                <a:solidFill>
                  <a:schemeClr val="tx1"/>
                </a:solidFill>
              </a:rPr>
              <a:t>cuts</a:t>
            </a:r>
            <a:endParaRPr lang="fr-FR" dirty="0">
              <a:solidFill>
                <a:schemeClr val="tx1"/>
              </a:solidFill>
            </a:endParaRPr>
          </a:p>
          <a:p>
            <a:pPr marL="749808" lvl="1" indent="-457200">
              <a:buFont typeface="Arial" panose="020B0604020202020204" pitchFamily="34" charset="0"/>
              <a:buChar char="•"/>
            </a:pPr>
            <a:r>
              <a:rPr lang="fr-FR" dirty="0" err="1">
                <a:solidFill>
                  <a:schemeClr val="tx1"/>
                </a:solidFill>
              </a:rPr>
              <a:t>With</a:t>
            </a:r>
            <a:r>
              <a:rPr lang="fr-FR" dirty="0">
                <a:solidFill>
                  <a:schemeClr val="tx1"/>
                </a:solidFill>
              </a:rPr>
              <a:t> </a:t>
            </a:r>
            <a:r>
              <a:rPr lang="fr-FR" dirty="0" err="1">
                <a:solidFill>
                  <a:schemeClr val="tx1"/>
                </a:solidFill>
              </a:rPr>
              <a:t>cuts</a:t>
            </a:r>
            <a:r>
              <a:rPr lang="fr-FR" dirty="0">
                <a:solidFill>
                  <a:schemeClr val="tx1"/>
                </a:solidFill>
              </a:rPr>
              <a:t> </a:t>
            </a:r>
            <a:r>
              <a:rPr lang="fr-FR" dirty="0" err="1">
                <a:solidFill>
                  <a:schemeClr val="tx1"/>
                </a:solidFill>
              </a:rPr>
              <a:t>applied</a:t>
            </a:r>
            <a:r>
              <a:rPr lang="fr-FR" dirty="0">
                <a:solidFill>
                  <a:schemeClr val="tx1"/>
                </a:solidFill>
              </a:rPr>
              <a:t> and </a:t>
            </a:r>
            <a:r>
              <a:rPr lang="fr-FR" dirty="0" err="1">
                <a:solidFill>
                  <a:schemeClr val="tx1"/>
                </a:solidFill>
              </a:rPr>
              <a:t>then</a:t>
            </a:r>
            <a:r>
              <a:rPr lang="fr-FR" dirty="0">
                <a:solidFill>
                  <a:schemeClr val="tx1"/>
                </a:solidFill>
              </a:rPr>
              <a:t> </a:t>
            </a:r>
            <a:r>
              <a:rPr lang="fr-FR" dirty="0" err="1">
                <a:solidFill>
                  <a:schemeClr val="tx1"/>
                </a:solidFill>
              </a:rPr>
              <a:t>plotted</a:t>
            </a:r>
            <a:r>
              <a:rPr lang="fr-FR" dirty="0">
                <a:solidFill>
                  <a:schemeClr val="tx1"/>
                </a:solidFill>
              </a:rPr>
              <a:t> as variables, </a:t>
            </a:r>
            <a:r>
              <a:rPr lang="fr-FR" dirty="0" err="1">
                <a:solidFill>
                  <a:schemeClr val="tx1"/>
                </a:solidFill>
              </a:rPr>
              <a:t>we</a:t>
            </a:r>
            <a:r>
              <a:rPr lang="fr-FR" dirty="0">
                <a:solidFill>
                  <a:schemeClr val="tx1"/>
                </a:solidFill>
              </a:rPr>
              <a:t> can </a:t>
            </a:r>
            <a:r>
              <a:rPr lang="fr-FR" dirty="0" err="1">
                <a:solidFill>
                  <a:schemeClr val="tx1"/>
                </a:solidFill>
              </a:rPr>
              <a:t>see</a:t>
            </a:r>
            <a:r>
              <a:rPr lang="fr-FR" dirty="0">
                <a:solidFill>
                  <a:schemeClr val="tx1"/>
                </a:solidFill>
              </a:rPr>
              <a:t> the reconstruction </a:t>
            </a:r>
            <a:r>
              <a:rPr lang="fr-FR" dirty="0" err="1">
                <a:solidFill>
                  <a:schemeClr val="tx1"/>
                </a:solidFill>
              </a:rPr>
              <a:t>efficiency</a:t>
            </a:r>
            <a:r>
              <a:rPr lang="fr-FR" dirty="0">
                <a:solidFill>
                  <a:schemeClr val="tx1"/>
                </a:solidFill>
              </a:rPr>
              <a:t> of the </a:t>
            </a:r>
            <a:r>
              <a:rPr lang="fr-FR" dirty="0" err="1">
                <a:solidFill>
                  <a:schemeClr val="tx1"/>
                </a:solidFill>
              </a:rPr>
              <a:t>cuts</a:t>
            </a:r>
            <a:r>
              <a:rPr lang="fr-FR" dirty="0">
                <a:solidFill>
                  <a:schemeClr val="tx1"/>
                </a:solidFill>
              </a:rPr>
              <a:t> (No of reco interactions </a:t>
            </a:r>
            <a:r>
              <a:rPr lang="fr-FR" dirty="0" err="1">
                <a:solidFill>
                  <a:schemeClr val="tx1"/>
                </a:solidFill>
              </a:rPr>
              <a:t>that</a:t>
            </a:r>
            <a:r>
              <a:rPr lang="fr-FR" dirty="0">
                <a:solidFill>
                  <a:schemeClr val="tx1"/>
                </a:solidFill>
              </a:rPr>
              <a:t> </a:t>
            </a:r>
            <a:r>
              <a:rPr lang="fr-FR" dirty="0" err="1">
                <a:solidFill>
                  <a:schemeClr val="tx1"/>
                </a:solidFill>
              </a:rPr>
              <a:t>should</a:t>
            </a:r>
            <a:r>
              <a:rPr lang="fr-FR" dirty="0">
                <a:solidFill>
                  <a:schemeClr val="tx1"/>
                </a:solidFill>
              </a:rPr>
              <a:t> not have </a:t>
            </a:r>
            <a:r>
              <a:rPr lang="fr-FR" dirty="0" err="1">
                <a:solidFill>
                  <a:schemeClr val="tx1"/>
                </a:solidFill>
              </a:rPr>
              <a:t>passed</a:t>
            </a:r>
            <a:r>
              <a:rPr lang="fr-FR" dirty="0">
                <a:solidFill>
                  <a:schemeClr val="tx1"/>
                </a:solidFill>
              </a:rPr>
              <a:t> the </a:t>
            </a:r>
            <a:r>
              <a:rPr lang="fr-FR" dirty="0" err="1">
                <a:solidFill>
                  <a:schemeClr val="tx1"/>
                </a:solidFill>
              </a:rPr>
              <a:t>cut</a:t>
            </a:r>
            <a:r>
              <a:rPr lang="fr-FR" dirty="0">
                <a:solidFill>
                  <a:schemeClr val="tx1"/>
                </a:solidFill>
              </a:rPr>
              <a:t> but </a:t>
            </a:r>
            <a:r>
              <a:rPr lang="fr-FR" dirty="0" err="1">
                <a:solidFill>
                  <a:schemeClr val="tx1"/>
                </a:solidFill>
              </a:rPr>
              <a:t>did</a:t>
            </a:r>
            <a:r>
              <a:rPr lang="fr-FR" dirty="0">
                <a:solidFill>
                  <a:schemeClr val="tx1"/>
                </a:solidFill>
              </a:rPr>
              <a:t>, </a:t>
            </a:r>
            <a:r>
              <a:rPr lang="fr-FR" dirty="0" err="1">
                <a:solidFill>
                  <a:schemeClr val="tx1"/>
                </a:solidFill>
              </a:rPr>
              <a:t>based</a:t>
            </a:r>
            <a:r>
              <a:rPr lang="fr-FR" dirty="0">
                <a:solidFill>
                  <a:schemeClr val="tx1"/>
                </a:solidFill>
              </a:rPr>
              <a:t> on </a:t>
            </a:r>
            <a:r>
              <a:rPr lang="fr-FR" dirty="0" err="1">
                <a:solidFill>
                  <a:schemeClr val="tx1"/>
                </a:solidFill>
              </a:rPr>
              <a:t>true</a:t>
            </a:r>
            <a:r>
              <a:rPr lang="fr-FR" dirty="0">
                <a:solidFill>
                  <a:schemeClr val="tx1"/>
                </a:solidFill>
              </a:rPr>
              <a:t> interaction information)</a:t>
            </a:r>
          </a:p>
          <a:p>
            <a:pPr lvl="1">
              <a:buFont typeface="Arial" panose="020B0604020202020204" pitchFamily="34" charset="0"/>
              <a:buChar char="•"/>
            </a:pPr>
            <a:endParaRPr lang="fr-FR" dirty="0">
              <a:solidFill>
                <a:schemeClr val="tx1"/>
              </a:solidFill>
            </a:endParaRPr>
          </a:p>
          <a:p>
            <a:pPr lvl="1">
              <a:buFont typeface="Arial" panose="020B0604020202020204" pitchFamily="34" charset="0"/>
              <a:buChar char="•"/>
            </a:pPr>
            <a:endParaRPr lang="fr-FR" dirty="0">
              <a:solidFill>
                <a:schemeClr val="tx1"/>
              </a:solidFill>
            </a:endParaRPr>
          </a:p>
          <a:p>
            <a:pPr marL="0" indent="0">
              <a:buNone/>
            </a:pPr>
            <a:endParaRPr lang="fr-FR" dirty="0">
              <a:solidFill>
                <a:srgbClr val="FF0000"/>
              </a:solidFill>
            </a:endParaRPr>
          </a:p>
        </p:txBody>
      </p:sp>
      <p:pic>
        <p:nvPicPr>
          <p:cNvPr id="5" name="Picture 4">
            <a:extLst>
              <a:ext uri="{FF2B5EF4-FFF2-40B4-BE49-F238E27FC236}">
                <a16:creationId xmlns:a16="http://schemas.microsoft.com/office/drawing/2014/main" id="{EA86D812-02A3-BFF5-80F8-9D8AC6E1B4D4}"/>
              </a:ext>
            </a:extLst>
          </p:cNvPr>
          <p:cNvPicPr>
            <a:picLocks noChangeAspect="1"/>
          </p:cNvPicPr>
          <p:nvPr/>
        </p:nvPicPr>
        <p:blipFill>
          <a:blip r:embed="rId2"/>
          <a:stretch>
            <a:fillRect/>
          </a:stretch>
        </p:blipFill>
        <p:spPr>
          <a:xfrm>
            <a:off x="6126480" y="4362930"/>
            <a:ext cx="3858029" cy="1910234"/>
          </a:xfrm>
          <a:prstGeom prst="rect">
            <a:avLst/>
          </a:prstGeom>
        </p:spPr>
      </p:pic>
      <p:pic>
        <p:nvPicPr>
          <p:cNvPr id="13" name="Picture 12">
            <a:extLst>
              <a:ext uri="{FF2B5EF4-FFF2-40B4-BE49-F238E27FC236}">
                <a16:creationId xmlns:a16="http://schemas.microsoft.com/office/drawing/2014/main" id="{847ED20F-011E-C8F6-8D31-CE2D99017CF1}"/>
              </a:ext>
            </a:extLst>
          </p:cNvPr>
          <p:cNvPicPr>
            <a:picLocks noChangeAspect="1"/>
          </p:cNvPicPr>
          <p:nvPr/>
        </p:nvPicPr>
        <p:blipFill>
          <a:blip r:embed="rId3"/>
          <a:stretch>
            <a:fillRect/>
          </a:stretch>
        </p:blipFill>
        <p:spPr>
          <a:xfrm>
            <a:off x="6180333" y="2606059"/>
            <a:ext cx="2566503" cy="1453390"/>
          </a:xfrm>
          <a:prstGeom prst="rect">
            <a:avLst/>
          </a:prstGeom>
        </p:spPr>
      </p:pic>
      <p:sp>
        <p:nvSpPr>
          <p:cNvPr id="16" name="Right Brace 15">
            <a:extLst>
              <a:ext uri="{FF2B5EF4-FFF2-40B4-BE49-F238E27FC236}">
                <a16:creationId xmlns:a16="http://schemas.microsoft.com/office/drawing/2014/main" id="{A38D621D-986A-1736-B2A3-35D37D36EA5B}"/>
              </a:ext>
            </a:extLst>
          </p:cNvPr>
          <p:cNvSpPr/>
          <p:nvPr/>
        </p:nvSpPr>
        <p:spPr>
          <a:xfrm>
            <a:off x="5698836" y="2613242"/>
            <a:ext cx="312833" cy="14507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17" name="Right Brace 16">
            <a:extLst>
              <a:ext uri="{FF2B5EF4-FFF2-40B4-BE49-F238E27FC236}">
                <a16:creationId xmlns:a16="http://schemas.microsoft.com/office/drawing/2014/main" id="{757600AD-E0E1-15AB-6C29-79A436E8FF5C}"/>
              </a:ext>
            </a:extLst>
          </p:cNvPr>
          <p:cNvSpPr/>
          <p:nvPr/>
        </p:nvSpPr>
        <p:spPr>
          <a:xfrm>
            <a:off x="5698836" y="4367791"/>
            <a:ext cx="312833" cy="1905373"/>
          </a:xfrm>
          <a:prstGeom prst="rightBrace">
            <a:avLst>
              <a:gd name="adj1" fmla="val 5262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Tree>
    <p:extLst>
      <p:ext uri="{BB962C8B-B14F-4D97-AF65-F5344CB8AC3E}">
        <p14:creationId xmlns:p14="http://schemas.microsoft.com/office/powerpoint/2010/main" val="2497609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22E1-A046-D3E5-85A9-A03221E58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E7077-76E8-8D14-29CC-99FC5731CC28}"/>
              </a:ext>
            </a:extLst>
          </p:cNvPr>
          <p:cNvSpPr>
            <a:spLocks noGrp="1"/>
          </p:cNvSpPr>
          <p:nvPr>
            <p:ph type="title"/>
          </p:nvPr>
        </p:nvSpPr>
        <p:spPr/>
        <p:txBody>
          <a:bodyPr/>
          <a:lstStyle/>
          <a:p>
            <a:r>
              <a:rPr lang="en-US" dirty="0"/>
              <a:t>Preselection total efficiency </a:t>
            </a:r>
            <a:r>
              <a:rPr lang="en-US" b="1" dirty="0"/>
              <a:t>(</a:t>
            </a:r>
            <a:r>
              <a:rPr lang="en-US" b="1" dirty="0" err="1"/>
              <a:t>reco</a:t>
            </a:r>
            <a:r>
              <a:rPr lang="en-US" b="1" dirty="0"/>
              <a:t>)</a:t>
            </a:r>
            <a:endParaRPr lang="en-SG" b="1" dirty="0"/>
          </a:p>
        </p:txBody>
      </p:sp>
      <p:graphicFrame>
        <p:nvGraphicFramePr>
          <p:cNvPr id="15" name="Table 14">
            <a:extLst>
              <a:ext uri="{FF2B5EF4-FFF2-40B4-BE49-F238E27FC236}">
                <a16:creationId xmlns:a16="http://schemas.microsoft.com/office/drawing/2014/main" id="{6FCE71C5-ED30-BB01-0A18-F9BD1B699E6C}"/>
              </a:ext>
            </a:extLst>
          </p:cNvPr>
          <p:cNvGraphicFramePr>
            <a:graphicFrameLocks noGrp="1"/>
          </p:cNvGraphicFramePr>
          <p:nvPr>
            <p:extLst>
              <p:ext uri="{D42A27DB-BD31-4B8C-83A1-F6EECF244321}">
                <p14:modId xmlns:p14="http://schemas.microsoft.com/office/powerpoint/2010/main" val="917561013"/>
              </p:ext>
            </p:extLst>
          </p:nvPr>
        </p:nvGraphicFramePr>
        <p:xfrm>
          <a:off x="217974" y="2240376"/>
          <a:ext cx="5678002" cy="3698978"/>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Value</a:t>
                      </a:r>
                      <a:endParaRPr lang="en-SG" sz="1400" dirty="0"/>
                    </a:p>
                  </a:txBody>
                  <a:tcPr/>
                </a:tc>
                <a:tc>
                  <a:txBody>
                    <a:bodyPr/>
                    <a:lstStyle/>
                    <a:p>
                      <a:r>
                        <a:rPr lang="en-US" sz="1400" dirty="0"/>
                        <a:t>Percentage over tot no. of interactions</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pnfs</a:t>
                      </a:r>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icarus</a:t>
                      </a:r>
                      <a:r>
                        <a:rPr lang="en-SG" sz="1200" kern="1200" dirty="0">
                          <a:solidFill>
                            <a:schemeClr val="dk1"/>
                          </a:solidFill>
                          <a:effectLst/>
                          <a:latin typeface="+mn-lt"/>
                          <a:ea typeface="+mn-ea"/>
                          <a:cs typeface="+mn-cs"/>
                        </a:rPr>
                        <a:t>/persistent/users/</a:t>
                      </a:r>
                      <a:r>
                        <a:rPr lang="en-SG" sz="1200" kern="1200" dirty="0" err="1">
                          <a:solidFill>
                            <a:schemeClr val="dk1"/>
                          </a:solidFill>
                          <a:effectLst/>
                          <a:latin typeface="+mn-lt"/>
                          <a:ea typeface="+mn-ea"/>
                          <a:cs typeface="+mn-cs"/>
                        </a:rPr>
                        <a:t>dcarber</a:t>
                      </a:r>
                      <a:r>
                        <a:rPr lang="en-SG" sz="1200" kern="1200" dirty="0">
                          <a:solidFill>
                            <a:schemeClr val="dk1"/>
                          </a:solidFill>
                          <a:effectLst/>
                          <a:latin typeface="+mn-lt"/>
                          <a:ea typeface="+mn-ea"/>
                          <a:cs typeface="+mn-cs"/>
                        </a:rPr>
                        <a:t>/spine/</a:t>
                      </a:r>
                      <a:r>
                        <a:rPr lang="en-SG" sz="1200" kern="1200" dirty="0" err="1">
                          <a:solidFill>
                            <a:schemeClr val="dk1"/>
                          </a:solidFill>
                          <a:effectLst/>
                          <a:latin typeface="+mn-lt"/>
                          <a:ea typeface="+mn-ea"/>
                          <a:cs typeface="+mn-cs"/>
                        </a:rPr>
                        <a:t>combined_files</a:t>
                      </a:r>
                      <a:r>
                        <a:rPr lang="en-SG" sz="1200" kern="1200" dirty="0">
                          <a:solidFill>
                            <a:schemeClr val="dk1"/>
                          </a:solidFill>
                          <a:effectLst/>
                          <a:latin typeface="+mn-lt"/>
                          <a:ea typeface="+mn-ea"/>
                          <a:cs typeface="+mn-cs"/>
                        </a:rPr>
                        <a:t>/NuMI_CV_flat_cafs_2/*.root</a:t>
                      </a:r>
                    </a:p>
                  </a:txBody>
                  <a:tcPr/>
                </a:tc>
                <a:tc hMerge="1">
                  <a:txBody>
                    <a:bodyPr/>
                    <a:lstStyle/>
                    <a:p>
                      <a:endParaRPr lang="en-SG" sz="1400" dirty="0"/>
                    </a:p>
                  </a:txBody>
                  <a:tcPr/>
                </a:tc>
                <a:extLst>
                  <a:ext uri="{0D108BD9-81ED-4DB2-BD59-A6C34878D82A}">
                    <a16:rowId xmlns:a16="http://schemas.microsoft.com/office/drawing/2014/main" val="1405745668"/>
                  </a:ext>
                </a:extLst>
              </a:tr>
              <a:tr h="325489">
                <a:tc>
                  <a:txBody>
                    <a:bodyPr/>
                    <a:lstStyle/>
                    <a:p>
                      <a:r>
                        <a:rPr lang="en-US" sz="1400" dirty="0"/>
                        <a:t>POT (Protons On Target)</a:t>
                      </a:r>
                      <a:endParaRPr lang="en-SG" sz="1400" dirty="0"/>
                    </a:p>
                  </a:txBody>
                  <a:tcPr/>
                </a:tc>
                <a:tc gridSpan="2">
                  <a:txBody>
                    <a:bodyPr/>
                    <a:lstStyle/>
                    <a:p>
                      <a:pPr algn="ctr"/>
                      <a:r>
                        <a:rPr lang="en-US" sz="1200" kern="1200" dirty="0">
                          <a:solidFill>
                            <a:schemeClr val="dk1"/>
                          </a:solidFill>
                          <a:effectLst/>
                          <a:latin typeface="+mn-lt"/>
                          <a:ea typeface="+mn-ea"/>
                          <a:cs typeface="+mn-cs"/>
                        </a:rPr>
                        <a:t>147e18</a:t>
                      </a:r>
                      <a:endParaRPr lang="en-SG" sz="1200" kern="1200" dirty="0">
                        <a:solidFill>
                          <a:schemeClr val="dk1"/>
                        </a:solidFill>
                        <a:effectLst/>
                        <a:latin typeface="+mn-lt"/>
                        <a:ea typeface="+mn-ea"/>
                        <a:cs typeface="+mn-cs"/>
                      </a:endParaRPr>
                    </a:p>
                  </a:txBody>
                  <a:tcPr/>
                </a:tc>
                <a:tc hMerge="1">
                  <a:txBody>
                    <a:bodyPr/>
                    <a:lstStyle/>
                    <a:p>
                      <a:endParaRPr lang="en-SG"/>
                    </a:p>
                  </a:txBody>
                  <a:tcPr/>
                </a:tc>
                <a:extLst>
                  <a:ext uri="{0D108BD9-81ED-4DB2-BD59-A6C34878D82A}">
                    <a16:rowId xmlns:a16="http://schemas.microsoft.com/office/drawing/2014/main" val="2784367608"/>
                  </a:ext>
                </a:extLst>
              </a:tr>
              <a:tr h="325489">
                <a:tc>
                  <a:txBody>
                    <a:bodyPr/>
                    <a:lstStyle/>
                    <a:p>
                      <a:r>
                        <a:rPr lang="en-US" sz="1400" dirty="0"/>
                        <a:t>Total no. of interactions</a:t>
                      </a:r>
                      <a:endParaRPr lang="en-SG" sz="1400" dirty="0"/>
                    </a:p>
                  </a:txBody>
                  <a:tcPr/>
                </a:tc>
                <a:tc gridSpan="2">
                  <a:txBody>
                    <a:bodyPr/>
                    <a:lstStyle/>
                    <a:p>
                      <a:pPr algn="ctr"/>
                      <a:r>
                        <a:rPr lang="en-US" sz="1400" dirty="0"/>
                        <a:t>11306582</a:t>
                      </a:r>
                      <a:endParaRPr lang="en-SG" sz="1400" dirty="0"/>
                    </a:p>
                  </a:txBody>
                  <a:tcPr/>
                </a:tc>
                <a:tc hMerge="1">
                  <a:txBody>
                    <a:bodyPr/>
                    <a:lstStyle/>
                    <a:p>
                      <a:endParaRPr lang="en-SG" sz="1400" dirty="0"/>
                    </a:p>
                  </a:txBody>
                  <a:tcPr/>
                </a:tc>
                <a:extLst>
                  <a:ext uri="{0D108BD9-81ED-4DB2-BD59-A6C34878D82A}">
                    <a16:rowId xmlns:a16="http://schemas.microsoft.com/office/drawing/2014/main" val="3397454016"/>
                  </a:ext>
                </a:extLst>
              </a:tr>
              <a:tr h="454792">
                <a:tc>
                  <a:txBody>
                    <a:bodyPr/>
                    <a:lstStyle/>
                    <a:p>
                      <a:r>
                        <a:rPr lang="en-US" sz="1400" dirty="0"/>
                        <a:t>No. of interactions that passes fiducial cut</a:t>
                      </a:r>
                      <a:endParaRPr lang="en-SG" sz="1400" dirty="0"/>
                    </a:p>
                  </a:txBody>
                  <a:tcPr/>
                </a:tc>
                <a:tc>
                  <a:txBody>
                    <a:bodyPr/>
                    <a:lstStyle/>
                    <a:p>
                      <a:r>
                        <a:rPr lang="en-US" sz="1400" dirty="0"/>
                        <a:t>4130763</a:t>
                      </a:r>
                      <a:endParaRPr lang="en-SG" sz="1400" dirty="0"/>
                    </a:p>
                  </a:txBody>
                  <a:tcPr/>
                </a:tc>
                <a:tc>
                  <a:txBody>
                    <a:bodyPr/>
                    <a:lstStyle/>
                    <a:p>
                      <a:r>
                        <a:rPr lang="en-US" sz="1400" dirty="0"/>
                        <a:t>36.5%</a:t>
                      </a:r>
                      <a:endParaRPr lang="en-SG" sz="1400" dirty="0"/>
                    </a:p>
                  </a:txBody>
                  <a:tcP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containment cut</a:t>
                      </a:r>
                      <a:endParaRPr lang="en-SG" sz="1400" dirty="0"/>
                    </a:p>
                  </a:txBody>
                  <a:tcPr/>
                </a:tc>
                <a:tc>
                  <a:txBody>
                    <a:bodyPr/>
                    <a:lstStyle/>
                    <a:p>
                      <a:r>
                        <a:rPr lang="en-US" sz="1400" dirty="0"/>
                        <a:t>932228</a:t>
                      </a:r>
                      <a:endParaRPr lang="en-SG" sz="1400" dirty="0"/>
                    </a:p>
                  </a:txBody>
                  <a:tcPr/>
                </a:tc>
                <a:tc>
                  <a:txBody>
                    <a:bodyPr/>
                    <a:lstStyle/>
                    <a:p>
                      <a:r>
                        <a:rPr lang="en-US" sz="1400" dirty="0"/>
                        <a:t>8.3%</a:t>
                      </a:r>
                      <a:endParaRPr lang="en-SG" sz="1400" dirty="0"/>
                    </a:p>
                  </a:txBody>
                  <a:tcPr/>
                </a:tc>
                <a:extLst>
                  <a:ext uri="{0D108BD9-81ED-4DB2-BD59-A6C34878D82A}">
                    <a16:rowId xmlns:a16="http://schemas.microsoft.com/office/drawing/2014/main" val="181403725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a:t>
                      </a:r>
                      <a:r>
                        <a:rPr lang="en-US" sz="1400" dirty="0" err="1"/>
                        <a:t>valid_flashmatch</a:t>
                      </a:r>
                      <a:r>
                        <a:rPr lang="en-US" sz="1400" dirty="0"/>
                        <a:t> cut</a:t>
                      </a:r>
                      <a:endParaRPr lang="en-SG" sz="1400" dirty="0"/>
                    </a:p>
                  </a:txBody>
                  <a:tcPr/>
                </a:tc>
                <a:tc>
                  <a:txBody>
                    <a:bodyPr/>
                    <a:lstStyle/>
                    <a:p>
                      <a:r>
                        <a:rPr lang="en-US" sz="1400" dirty="0"/>
                        <a:t>296748</a:t>
                      </a:r>
                      <a:endParaRPr lang="en-SG" sz="1400" dirty="0"/>
                    </a:p>
                  </a:txBody>
                  <a:tcPr/>
                </a:tc>
                <a:tc>
                  <a:txBody>
                    <a:bodyPr/>
                    <a:lstStyle/>
                    <a:p>
                      <a:r>
                        <a:rPr lang="en-US" sz="1400" dirty="0"/>
                        <a:t>2.6%</a:t>
                      </a:r>
                      <a:endParaRPr lang="en-SG" sz="1400" dirty="0"/>
                    </a:p>
                  </a:txBody>
                  <a:tcPr/>
                </a:tc>
                <a:extLst>
                  <a:ext uri="{0D108BD9-81ED-4DB2-BD59-A6C34878D82A}">
                    <a16:rowId xmlns:a16="http://schemas.microsoft.com/office/drawing/2014/main" val="1149085740"/>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all 3 cuts</a:t>
                      </a:r>
                      <a:endParaRPr lang="en-SG" sz="1400" dirty="0"/>
                    </a:p>
                  </a:txBody>
                  <a:tcPr/>
                </a:tc>
                <a:tc>
                  <a:txBody>
                    <a:bodyPr/>
                    <a:lstStyle/>
                    <a:p>
                      <a:r>
                        <a:rPr lang="en-US" sz="1400" dirty="0"/>
                        <a:t>60382</a:t>
                      </a:r>
                      <a:endParaRPr lang="en-SG" sz="1400" dirty="0"/>
                    </a:p>
                  </a:txBody>
                  <a:tcPr/>
                </a:tc>
                <a:tc>
                  <a:txBody>
                    <a:bodyPr/>
                    <a:lstStyle/>
                    <a:p>
                      <a:r>
                        <a:rPr lang="en-US" sz="1400" dirty="0"/>
                        <a:t>0.53%</a:t>
                      </a:r>
                      <a:endParaRPr lang="en-SG" sz="1400" dirty="0"/>
                    </a:p>
                  </a:txBody>
                  <a:tcPr/>
                </a:tc>
                <a:extLst>
                  <a:ext uri="{0D108BD9-81ED-4DB2-BD59-A6C34878D82A}">
                    <a16:rowId xmlns:a16="http://schemas.microsoft.com/office/drawing/2014/main" val="495397440"/>
                  </a:ext>
                </a:extLst>
              </a:tr>
            </a:tbl>
          </a:graphicData>
        </a:graphic>
      </p:graphicFrame>
      <p:graphicFrame>
        <p:nvGraphicFramePr>
          <p:cNvPr id="6" name="Table 5">
            <a:extLst>
              <a:ext uri="{FF2B5EF4-FFF2-40B4-BE49-F238E27FC236}">
                <a16:creationId xmlns:a16="http://schemas.microsoft.com/office/drawing/2014/main" id="{095E3415-64DA-BA2B-B60E-DCA771E24BF9}"/>
              </a:ext>
            </a:extLst>
          </p:cNvPr>
          <p:cNvGraphicFramePr>
            <a:graphicFrameLocks noGrp="1"/>
          </p:cNvGraphicFramePr>
          <p:nvPr>
            <p:extLst>
              <p:ext uri="{D42A27DB-BD31-4B8C-83A1-F6EECF244321}">
                <p14:modId xmlns:p14="http://schemas.microsoft.com/office/powerpoint/2010/main" val="1283538736"/>
              </p:ext>
            </p:extLst>
          </p:nvPr>
        </p:nvGraphicFramePr>
        <p:xfrm>
          <a:off x="6296024" y="2240376"/>
          <a:ext cx="5678002" cy="3698978"/>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Value</a:t>
                      </a:r>
                      <a:endParaRPr lang="en-SG" sz="1400" dirty="0"/>
                    </a:p>
                  </a:txBody>
                  <a:tcPr/>
                </a:tc>
                <a:tc>
                  <a:txBody>
                    <a:bodyPr/>
                    <a:lstStyle/>
                    <a:p>
                      <a:r>
                        <a:rPr lang="en-US" sz="1400" dirty="0"/>
                        <a:t>Percentage over tot no. of interactions</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pnfs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icarus</a:t>
                      </a:r>
                      <a:r>
                        <a:rPr lang="fr-FR" sz="1200" kern="1200" dirty="0">
                          <a:solidFill>
                            <a:schemeClr val="dk1"/>
                          </a:solidFill>
                          <a:effectLst/>
                          <a:latin typeface="+mn-lt"/>
                          <a:ea typeface="+mn-ea"/>
                          <a:cs typeface="+mn-cs"/>
                        </a:rPr>
                        <a:t>/persistent/</a:t>
                      </a:r>
                      <a:r>
                        <a:rPr lang="fr-FR" sz="1200" kern="1200" dirty="0" err="1">
                          <a:solidFill>
                            <a:schemeClr val="dk1"/>
                          </a:solidFill>
                          <a:effectLst/>
                          <a:latin typeface="+mn-lt"/>
                          <a:ea typeface="+mn-ea"/>
                          <a:cs typeface="+mn-cs"/>
                        </a:rPr>
                        <a:t>users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mueller</a:t>
                      </a:r>
                      <a:r>
                        <a:rPr lang="fr-FR" sz="1200" kern="1200" dirty="0">
                          <a:solidFill>
                            <a:schemeClr val="dk1"/>
                          </a:solidFill>
                          <a:effectLst/>
                          <a:latin typeface="+mn-lt"/>
                          <a:ea typeface="+mn-ea"/>
                          <a:cs typeface="+mn-cs"/>
                        </a:rPr>
                        <a:t>/production/simulation/nominal/input*.</a:t>
                      </a:r>
                      <a:r>
                        <a:rPr lang="fr-FR" sz="1200" kern="1200" dirty="0" err="1">
                          <a:solidFill>
                            <a:schemeClr val="dk1"/>
                          </a:solidFill>
                          <a:effectLst/>
                          <a:latin typeface="+mn-lt"/>
                          <a:ea typeface="+mn-ea"/>
                          <a:cs typeface="+mn-cs"/>
                        </a:rPr>
                        <a:t>flat.root</a:t>
                      </a:r>
                      <a:endParaRPr lang="fr-FR" sz="1200" kern="1200" dirty="0">
                        <a:solidFill>
                          <a:schemeClr val="dk1"/>
                        </a:solidFill>
                        <a:effectLst/>
                        <a:latin typeface="+mn-lt"/>
                        <a:ea typeface="+mn-ea"/>
                        <a:cs typeface="+mn-cs"/>
                      </a:endParaRPr>
                    </a:p>
                  </a:txBody>
                  <a:tcPr/>
                </a:tc>
                <a:tc hMerge="1">
                  <a:txBody>
                    <a:bodyPr/>
                    <a:lstStyle/>
                    <a:p>
                      <a:endParaRPr lang="en-SG" sz="1400" dirty="0"/>
                    </a:p>
                  </a:txBody>
                  <a:tcPr/>
                </a:tc>
                <a:extLst>
                  <a:ext uri="{0D108BD9-81ED-4DB2-BD59-A6C34878D82A}">
                    <a16:rowId xmlns:a16="http://schemas.microsoft.com/office/drawing/2014/main" val="1405745668"/>
                  </a:ext>
                </a:extLst>
              </a:tr>
              <a:tr h="325489">
                <a:tc>
                  <a:txBody>
                    <a:bodyPr/>
                    <a:lstStyle/>
                    <a:p>
                      <a:r>
                        <a:rPr lang="en-US" sz="1400" dirty="0"/>
                        <a:t>POT (Protons On Target)</a:t>
                      </a:r>
                      <a:endParaRPr lang="en-SG" sz="1400" dirty="0"/>
                    </a:p>
                  </a:txBody>
                  <a:tcPr/>
                </a:tc>
                <a:tc gridSpan="2">
                  <a:txBody>
                    <a:bodyPr/>
                    <a:lstStyle/>
                    <a:p>
                      <a:pPr algn="ctr"/>
                      <a:r>
                        <a:rPr lang="en-US" sz="1200" kern="1200" dirty="0">
                          <a:solidFill>
                            <a:schemeClr val="dk1"/>
                          </a:solidFill>
                          <a:effectLst/>
                          <a:latin typeface="+mn-lt"/>
                          <a:ea typeface="+mn-ea"/>
                          <a:cs typeface="+mn-cs"/>
                        </a:rPr>
                        <a:t>174e18</a:t>
                      </a:r>
                      <a:endParaRPr lang="en-SG" sz="1200" kern="1200" dirty="0">
                        <a:solidFill>
                          <a:schemeClr val="dk1"/>
                        </a:solidFill>
                        <a:effectLst/>
                        <a:latin typeface="+mn-lt"/>
                        <a:ea typeface="+mn-ea"/>
                        <a:cs typeface="+mn-cs"/>
                      </a:endParaRPr>
                    </a:p>
                  </a:txBody>
                  <a:tcPr/>
                </a:tc>
                <a:tc hMerge="1">
                  <a:txBody>
                    <a:bodyPr/>
                    <a:lstStyle/>
                    <a:p>
                      <a:endParaRPr lang="en-SG"/>
                    </a:p>
                  </a:txBody>
                  <a:tcPr/>
                </a:tc>
                <a:extLst>
                  <a:ext uri="{0D108BD9-81ED-4DB2-BD59-A6C34878D82A}">
                    <a16:rowId xmlns:a16="http://schemas.microsoft.com/office/drawing/2014/main" val="2784367608"/>
                  </a:ext>
                </a:extLst>
              </a:tr>
              <a:tr h="325489">
                <a:tc>
                  <a:txBody>
                    <a:bodyPr/>
                    <a:lstStyle/>
                    <a:p>
                      <a:r>
                        <a:rPr lang="en-US" sz="1400" dirty="0"/>
                        <a:t>Total no. of interactions</a:t>
                      </a:r>
                      <a:endParaRPr lang="en-SG" sz="1400" dirty="0"/>
                    </a:p>
                  </a:txBody>
                  <a:tcPr/>
                </a:tc>
                <a:tc gridSpan="2">
                  <a:txBody>
                    <a:bodyPr/>
                    <a:lstStyle/>
                    <a:p>
                      <a:pPr algn="ctr"/>
                      <a:r>
                        <a:rPr lang="en-US" sz="1400" dirty="0"/>
                        <a:t>8021469</a:t>
                      </a:r>
                      <a:endParaRPr lang="en-SG" sz="1400" dirty="0"/>
                    </a:p>
                  </a:txBody>
                  <a:tcPr/>
                </a:tc>
                <a:tc hMerge="1">
                  <a:txBody>
                    <a:bodyPr/>
                    <a:lstStyle/>
                    <a:p>
                      <a:endParaRPr lang="en-SG" sz="1400" dirty="0"/>
                    </a:p>
                  </a:txBody>
                  <a:tcPr/>
                </a:tc>
                <a:extLst>
                  <a:ext uri="{0D108BD9-81ED-4DB2-BD59-A6C34878D82A}">
                    <a16:rowId xmlns:a16="http://schemas.microsoft.com/office/drawing/2014/main" val="3397454016"/>
                  </a:ext>
                </a:extLst>
              </a:tr>
              <a:tr h="454792">
                <a:tc>
                  <a:txBody>
                    <a:bodyPr/>
                    <a:lstStyle/>
                    <a:p>
                      <a:r>
                        <a:rPr lang="en-US" sz="1400" dirty="0"/>
                        <a:t>No. of interactions that passes fiducial cut</a:t>
                      </a:r>
                      <a:endParaRPr lang="en-SG" sz="1400" dirty="0"/>
                    </a:p>
                  </a:txBody>
                  <a:tcPr/>
                </a:tc>
                <a:tc>
                  <a:txBody>
                    <a:bodyPr/>
                    <a:lstStyle/>
                    <a:p>
                      <a:r>
                        <a:rPr lang="en-US" sz="1400" dirty="0"/>
                        <a:t>2970566</a:t>
                      </a:r>
                      <a:endParaRPr lang="en-SG" sz="1400" dirty="0"/>
                    </a:p>
                  </a:txBody>
                  <a:tcPr/>
                </a:tc>
                <a:tc>
                  <a:txBody>
                    <a:bodyPr/>
                    <a:lstStyle/>
                    <a:p>
                      <a:r>
                        <a:rPr lang="en-US" sz="1400" dirty="0"/>
                        <a:t>37%</a:t>
                      </a:r>
                      <a:endParaRPr lang="en-SG" sz="1400" dirty="0"/>
                    </a:p>
                  </a:txBody>
                  <a:tcP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containment cut</a:t>
                      </a:r>
                      <a:endParaRPr lang="en-SG" sz="1400" dirty="0"/>
                    </a:p>
                  </a:txBody>
                  <a:tcPr/>
                </a:tc>
                <a:tc>
                  <a:txBody>
                    <a:bodyPr/>
                    <a:lstStyle/>
                    <a:p>
                      <a:r>
                        <a:rPr lang="en-US" sz="1400" dirty="0"/>
                        <a:t>693716</a:t>
                      </a:r>
                      <a:endParaRPr lang="en-SG" sz="1400" dirty="0"/>
                    </a:p>
                  </a:txBody>
                  <a:tcPr/>
                </a:tc>
                <a:tc>
                  <a:txBody>
                    <a:bodyPr/>
                    <a:lstStyle/>
                    <a:p>
                      <a:r>
                        <a:rPr lang="en-US" sz="1400" dirty="0"/>
                        <a:t>8.6%</a:t>
                      </a:r>
                      <a:endParaRPr lang="en-SG" sz="1400" dirty="0"/>
                    </a:p>
                  </a:txBody>
                  <a:tcPr/>
                </a:tc>
                <a:extLst>
                  <a:ext uri="{0D108BD9-81ED-4DB2-BD59-A6C34878D82A}">
                    <a16:rowId xmlns:a16="http://schemas.microsoft.com/office/drawing/2014/main" val="181403725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a:t>
                      </a:r>
                      <a:r>
                        <a:rPr lang="en-US" sz="1400" dirty="0" err="1"/>
                        <a:t>valid_flashmatch</a:t>
                      </a:r>
                      <a:r>
                        <a:rPr lang="en-US" sz="1400" dirty="0"/>
                        <a:t> cut</a:t>
                      </a:r>
                      <a:endParaRPr lang="en-SG" sz="1400" dirty="0"/>
                    </a:p>
                  </a:txBody>
                  <a:tcPr/>
                </a:tc>
                <a:tc>
                  <a:txBody>
                    <a:bodyPr/>
                    <a:lstStyle/>
                    <a:p>
                      <a:r>
                        <a:rPr lang="en-US" sz="1400" dirty="0"/>
                        <a:t>209746</a:t>
                      </a:r>
                      <a:endParaRPr lang="en-SG" sz="1400" dirty="0"/>
                    </a:p>
                  </a:txBody>
                  <a:tcPr/>
                </a:tc>
                <a:tc>
                  <a:txBody>
                    <a:bodyPr/>
                    <a:lstStyle/>
                    <a:p>
                      <a:r>
                        <a:rPr lang="en-US" sz="1400" dirty="0"/>
                        <a:t>2.6%</a:t>
                      </a:r>
                      <a:endParaRPr lang="en-SG" sz="1400" dirty="0"/>
                    </a:p>
                  </a:txBody>
                  <a:tcPr/>
                </a:tc>
                <a:extLst>
                  <a:ext uri="{0D108BD9-81ED-4DB2-BD59-A6C34878D82A}">
                    <a16:rowId xmlns:a16="http://schemas.microsoft.com/office/drawing/2014/main" val="1149085740"/>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all 3 cuts</a:t>
                      </a:r>
                      <a:endParaRPr lang="en-SG" sz="1400" dirty="0"/>
                    </a:p>
                  </a:txBody>
                  <a:tcPr/>
                </a:tc>
                <a:tc>
                  <a:txBody>
                    <a:bodyPr/>
                    <a:lstStyle/>
                    <a:p>
                      <a:r>
                        <a:rPr lang="en-US" sz="1400" dirty="0"/>
                        <a:t>82160</a:t>
                      </a:r>
                      <a:endParaRPr lang="en-SG" sz="1400" dirty="0"/>
                    </a:p>
                  </a:txBody>
                  <a:tcPr/>
                </a:tc>
                <a:tc>
                  <a:txBody>
                    <a:bodyPr/>
                    <a:lstStyle/>
                    <a:p>
                      <a:r>
                        <a:rPr lang="en-US" sz="1400" dirty="0"/>
                        <a:t>1.0%</a:t>
                      </a:r>
                      <a:endParaRPr lang="en-SG" sz="1400" dirty="0"/>
                    </a:p>
                  </a:txBody>
                  <a:tcPr/>
                </a:tc>
                <a:extLst>
                  <a:ext uri="{0D108BD9-81ED-4DB2-BD59-A6C34878D82A}">
                    <a16:rowId xmlns:a16="http://schemas.microsoft.com/office/drawing/2014/main" val="495397440"/>
                  </a:ext>
                </a:extLst>
              </a:tr>
            </a:tbl>
          </a:graphicData>
        </a:graphic>
      </p:graphicFrame>
      <p:sp>
        <p:nvSpPr>
          <p:cNvPr id="10" name="TextBox 9">
            <a:extLst>
              <a:ext uri="{FF2B5EF4-FFF2-40B4-BE49-F238E27FC236}">
                <a16:creationId xmlns:a16="http://schemas.microsoft.com/office/drawing/2014/main" id="{51AE35A7-B6CD-9E16-EE46-0E26507474D3}"/>
              </a:ext>
            </a:extLst>
          </p:cNvPr>
          <p:cNvSpPr txBox="1"/>
          <p:nvPr/>
        </p:nvSpPr>
        <p:spPr>
          <a:xfrm>
            <a:off x="8758787" y="1778711"/>
            <a:ext cx="752475" cy="461665"/>
          </a:xfrm>
          <a:prstGeom prst="rect">
            <a:avLst/>
          </a:prstGeom>
          <a:noFill/>
        </p:spPr>
        <p:txBody>
          <a:bodyPr wrap="square">
            <a:spAutoFit/>
          </a:bodyPr>
          <a:lstStyle/>
          <a:p>
            <a:r>
              <a:rPr lang="en-US" sz="2400" b="1" dirty="0"/>
              <a:t>BNB</a:t>
            </a:r>
            <a:endParaRPr lang="en-SG" sz="2400" b="1" dirty="0"/>
          </a:p>
        </p:txBody>
      </p:sp>
      <p:sp>
        <p:nvSpPr>
          <p:cNvPr id="12" name="TextBox 11">
            <a:extLst>
              <a:ext uri="{FF2B5EF4-FFF2-40B4-BE49-F238E27FC236}">
                <a16:creationId xmlns:a16="http://schemas.microsoft.com/office/drawing/2014/main" id="{D8BC61C8-E101-B4E2-3548-04A04895EF6E}"/>
              </a:ext>
            </a:extLst>
          </p:cNvPr>
          <p:cNvSpPr txBox="1"/>
          <p:nvPr/>
        </p:nvSpPr>
        <p:spPr>
          <a:xfrm>
            <a:off x="2606644" y="1778711"/>
            <a:ext cx="900661" cy="461665"/>
          </a:xfrm>
          <a:prstGeom prst="rect">
            <a:avLst/>
          </a:prstGeom>
          <a:noFill/>
        </p:spPr>
        <p:txBody>
          <a:bodyPr wrap="square">
            <a:spAutoFit/>
          </a:bodyPr>
          <a:lstStyle/>
          <a:p>
            <a:r>
              <a:rPr lang="en-US" sz="2400" b="1" dirty="0" err="1"/>
              <a:t>NuMI</a:t>
            </a:r>
            <a:endParaRPr lang="en-SG" sz="2400" b="1" dirty="0"/>
          </a:p>
        </p:txBody>
      </p:sp>
    </p:spTree>
    <p:extLst>
      <p:ext uri="{BB962C8B-B14F-4D97-AF65-F5344CB8AC3E}">
        <p14:creationId xmlns:p14="http://schemas.microsoft.com/office/powerpoint/2010/main" val="2147783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834A5-743A-274A-1EA4-985BD7F21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F7D4B-0453-970A-A46E-5CFE994157AE}"/>
              </a:ext>
            </a:extLst>
          </p:cNvPr>
          <p:cNvSpPr>
            <a:spLocks noGrp="1"/>
          </p:cNvSpPr>
          <p:nvPr>
            <p:ph type="title"/>
          </p:nvPr>
        </p:nvSpPr>
        <p:spPr/>
        <p:txBody>
          <a:bodyPr/>
          <a:lstStyle/>
          <a:p>
            <a:r>
              <a:rPr lang="en-US" dirty="0"/>
              <a:t>Preselection total efficiency </a:t>
            </a:r>
            <a:r>
              <a:rPr lang="en-US" b="1" dirty="0"/>
              <a:t>(Truth)</a:t>
            </a:r>
            <a:endParaRPr lang="en-SG" b="1" dirty="0"/>
          </a:p>
        </p:txBody>
      </p:sp>
      <p:graphicFrame>
        <p:nvGraphicFramePr>
          <p:cNvPr id="15" name="Table 14">
            <a:extLst>
              <a:ext uri="{FF2B5EF4-FFF2-40B4-BE49-F238E27FC236}">
                <a16:creationId xmlns:a16="http://schemas.microsoft.com/office/drawing/2014/main" id="{AFCAF543-BAF4-5FC8-9DFA-15615BC0779C}"/>
              </a:ext>
            </a:extLst>
          </p:cNvPr>
          <p:cNvGraphicFramePr>
            <a:graphicFrameLocks noGrp="1"/>
          </p:cNvGraphicFramePr>
          <p:nvPr>
            <p:extLst>
              <p:ext uri="{D42A27DB-BD31-4B8C-83A1-F6EECF244321}">
                <p14:modId xmlns:p14="http://schemas.microsoft.com/office/powerpoint/2010/main" val="3196212595"/>
              </p:ext>
            </p:extLst>
          </p:nvPr>
        </p:nvGraphicFramePr>
        <p:xfrm>
          <a:off x="217974" y="2240376"/>
          <a:ext cx="5678002" cy="3698978"/>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Value</a:t>
                      </a:r>
                      <a:endParaRPr lang="en-SG" sz="1400" dirty="0"/>
                    </a:p>
                  </a:txBody>
                  <a:tcPr/>
                </a:tc>
                <a:tc>
                  <a:txBody>
                    <a:bodyPr/>
                    <a:lstStyle/>
                    <a:p>
                      <a:r>
                        <a:rPr lang="en-US" sz="1400" dirty="0"/>
                        <a:t>Percentage over tot no. of interactions</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pnfs</a:t>
                      </a:r>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icarus</a:t>
                      </a:r>
                      <a:r>
                        <a:rPr lang="en-SG" sz="1200" kern="1200" dirty="0">
                          <a:solidFill>
                            <a:schemeClr val="dk1"/>
                          </a:solidFill>
                          <a:effectLst/>
                          <a:latin typeface="+mn-lt"/>
                          <a:ea typeface="+mn-ea"/>
                          <a:cs typeface="+mn-cs"/>
                        </a:rPr>
                        <a:t>/persistent/users/</a:t>
                      </a:r>
                      <a:r>
                        <a:rPr lang="en-SG" sz="1200" kern="1200" dirty="0" err="1">
                          <a:solidFill>
                            <a:schemeClr val="dk1"/>
                          </a:solidFill>
                          <a:effectLst/>
                          <a:latin typeface="+mn-lt"/>
                          <a:ea typeface="+mn-ea"/>
                          <a:cs typeface="+mn-cs"/>
                        </a:rPr>
                        <a:t>dcarber</a:t>
                      </a:r>
                      <a:r>
                        <a:rPr lang="en-SG" sz="1200" kern="1200" dirty="0">
                          <a:solidFill>
                            <a:schemeClr val="dk1"/>
                          </a:solidFill>
                          <a:effectLst/>
                          <a:latin typeface="+mn-lt"/>
                          <a:ea typeface="+mn-ea"/>
                          <a:cs typeface="+mn-cs"/>
                        </a:rPr>
                        <a:t>/spine/</a:t>
                      </a:r>
                      <a:r>
                        <a:rPr lang="en-SG" sz="1200" kern="1200" dirty="0" err="1">
                          <a:solidFill>
                            <a:schemeClr val="dk1"/>
                          </a:solidFill>
                          <a:effectLst/>
                          <a:latin typeface="+mn-lt"/>
                          <a:ea typeface="+mn-ea"/>
                          <a:cs typeface="+mn-cs"/>
                        </a:rPr>
                        <a:t>combined_files</a:t>
                      </a:r>
                      <a:r>
                        <a:rPr lang="en-SG" sz="1200" kern="1200" dirty="0">
                          <a:solidFill>
                            <a:schemeClr val="dk1"/>
                          </a:solidFill>
                          <a:effectLst/>
                          <a:latin typeface="+mn-lt"/>
                          <a:ea typeface="+mn-ea"/>
                          <a:cs typeface="+mn-cs"/>
                        </a:rPr>
                        <a:t>/NuMI_CV_flat_cafs_2/*.root</a:t>
                      </a:r>
                    </a:p>
                  </a:txBody>
                  <a:tcPr/>
                </a:tc>
                <a:tc hMerge="1">
                  <a:txBody>
                    <a:bodyPr/>
                    <a:lstStyle/>
                    <a:p>
                      <a:endParaRPr lang="en-SG" sz="1400" dirty="0"/>
                    </a:p>
                  </a:txBody>
                  <a:tcPr/>
                </a:tc>
                <a:extLst>
                  <a:ext uri="{0D108BD9-81ED-4DB2-BD59-A6C34878D82A}">
                    <a16:rowId xmlns:a16="http://schemas.microsoft.com/office/drawing/2014/main" val="1405745668"/>
                  </a:ext>
                </a:extLst>
              </a:tr>
              <a:tr h="325489">
                <a:tc>
                  <a:txBody>
                    <a:bodyPr/>
                    <a:lstStyle/>
                    <a:p>
                      <a:r>
                        <a:rPr lang="en-US" sz="1400" dirty="0"/>
                        <a:t>POT (Protons On Target)</a:t>
                      </a:r>
                      <a:endParaRPr lang="en-SG" sz="1400" dirty="0"/>
                    </a:p>
                  </a:txBody>
                  <a:tcPr/>
                </a:tc>
                <a:tc gridSpan="2">
                  <a:txBody>
                    <a:bodyPr/>
                    <a:lstStyle/>
                    <a:p>
                      <a:pPr algn="ctr"/>
                      <a:r>
                        <a:rPr lang="en-US" sz="1200" kern="1200" dirty="0">
                          <a:solidFill>
                            <a:schemeClr val="dk1"/>
                          </a:solidFill>
                          <a:effectLst/>
                          <a:latin typeface="+mn-lt"/>
                          <a:ea typeface="+mn-ea"/>
                          <a:cs typeface="+mn-cs"/>
                        </a:rPr>
                        <a:t>147e18</a:t>
                      </a:r>
                      <a:endParaRPr lang="en-SG" sz="1200" kern="1200" dirty="0">
                        <a:solidFill>
                          <a:schemeClr val="dk1"/>
                        </a:solidFill>
                        <a:effectLst/>
                        <a:latin typeface="+mn-lt"/>
                        <a:ea typeface="+mn-ea"/>
                        <a:cs typeface="+mn-cs"/>
                      </a:endParaRPr>
                    </a:p>
                  </a:txBody>
                  <a:tcPr/>
                </a:tc>
                <a:tc hMerge="1">
                  <a:txBody>
                    <a:bodyPr/>
                    <a:lstStyle/>
                    <a:p>
                      <a:endParaRPr lang="en-SG"/>
                    </a:p>
                  </a:txBody>
                  <a:tcPr/>
                </a:tc>
                <a:extLst>
                  <a:ext uri="{0D108BD9-81ED-4DB2-BD59-A6C34878D82A}">
                    <a16:rowId xmlns:a16="http://schemas.microsoft.com/office/drawing/2014/main" val="2784367608"/>
                  </a:ext>
                </a:extLst>
              </a:tr>
              <a:tr h="325489">
                <a:tc>
                  <a:txBody>
                    <a:bodyPr/>
                    <a:lstStyle/>
                    <a:p>
                      <a:r>
                        <a:rPr lang="en-US" sz="1400" dirty="0"/>
                        <a:t>Total no. of interactions</a:t>
                      </a:r>
                      <a:endParaRPr lang="en-SG" sz="1400" dirty="0"/>
                    </a:p>
                  </a:txBody>
                  <a:tcPr/>
                </a:tc>
                <a:tc gridSpan="2">
                  <a:txBody>
                    <a:bodyPr/>
                    <a:lstStyle/>
                    <a:p>
                      <a:pPr algn="ctr"/>
                      <a:r>
                        <a:rPr lang="en-US" sz="1400" dirty="0"/>
                        <a:t>8271435</a:t>
                      </a:r>
                      <a:endParaRPr lang="en-SG" sz="1400" dirty="0"/>
                    </a:p>
                  </a:txBody>
                  <a:tcPr/>
                </a:tc>
                <a:tc hMerge="1">
                  <a:txBody>
                    <a:bodyPr/>
                    <a:lstStyle/>
                    <a:p>
                      <a:endParaRPr lang="en-SG" sz="1400" dirty="0"/>
                    </a:p>
                  </a:txBody>
                  <a:tcPr/>
                </a:tc>
                <a:extLst>
                  <a:ext uri="{0D108BD9-81ED-4DB2-BD59-A6C34878D82A}">
                    <a16:rowId xmlns:a16="http://schemas.microsoft.com/office/drawing/2014/main" val="3397454016"/>
                  </a:ext>
                </a:extLst>
              </a:tr>
              <a:tr h="454792">
                <a:tc>
                  <a:txBody>
                    <a:bodyPr/>
                    <a:lstStyle/>
                    <a:p>
                      <a:r>
                        <a:rPr lang="en-US" sz="1400" dirty="0"/>
                        <a:t>No. of interactions that passes fiducial cut</a:t>
                      </a:r>
                      <a:endParaRPr lang="en-SG" sz="1400" dirty="0"/>
                    </a:p>
                  </a:txBody>
                  <a:tcPr/>
                </a:tc>
                <a:tc>
                  <a:txBody>
                    <a:bodyPr/>
                    <a:lstStyle/>
                    <a:p>
                      <a:r>
                        <a:rPr lang="en-US" sz="1400" dirty="0"/>
                        <a:t>91618</a:t>
                      </a:r>
                      <a:endParaRPr lang="en-SG" sz="1400" dirty="0"/>
                    </a:p>
                  </a:txBody>
                  <a:tcPr/>
                </a:tc>
                <a:tc>
                  <a:txBody>
                    <a:bodyPr/>
                    <a:lstStyle/>
                    <a:p>
                      <a:r>
                        <a:rPr lang="en-US" sz="1400" dirty="0"/>
                        <a:t>1.1%</a:t>
                      </a:r>
                      <a:endParaRPr lang="en-SG" sz="1400" dirty="0"/>
                    </a:p>
                  </a:txBody>
                  <a:tcP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containment cut</a:t>
                      </a:r>
                      <a:endParaRPr lang="en-SG" sz="1400" dirty="0"/>
                    </a:p>
                  </a:txBody>
                  <a:tcPr/>
                </a:tc>
                <a:tc>
                  <a:txBody>
                    <a:bodyPr/>
                    <a:lstStyle/>
                    <a:p>
                      <a:r>
                        <a:rPr lang="en-US" sz="1400" dirty="0"/>
                        <a:t>407464</a:t>
                      </a:r>
                      <a:endParaRPr lang="en-SG" sz="1400" dirty="0"/>
                    </a:p>
                  </a:txBody>
                  <a:tcPr/>
                </a:tc>
                <a:tc>
                  <a:txBody>
                    <a:bodyPr/>
                    <a:lstStyle/>
                    <a:p>
                      <a:r>
                        <a:rPr lang="en-US" sz="1400" dirty="0"/>
                        <a:t>4.9%</a:t>
                      </a:r>
                      <a:endParaRPr lang="en-SG" sz="1400" dirty="0"/>
                    </a:p>
                  </a:txBody>
                  <a:tcPr/>
                </a:tc>
                <a:extLst>
                  <a:ext uri="{0D108BD9-81ED-4DB2-BD59-A6C34878D82A}">
                    <a16:rowId xmlns:a16="http://schemas.microsoft.com/office/drawing/2014/main" val="181403725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neutrino cut</a:t>
                      </a:r>
                      <a:endParaRPr lang="en-SG" sz="1400" dirty="0"/>
                    </a:p>
                  </a:txBody>
                  <a:tcPr/>
                </a:tc>
                <a:tc>
                  <a:txBody>
                    <a:bodyPr/>
                    <a:lstStyle/>
                    <a:p>
                      <a:r>
                        <a:rPr lang="en-US" sz="1400" dirty="0"/>
                        <a:t>207662</a:t>
                      </a:r>
                      <a:endParaRPr lang="en-SG" sz="1400" dirty="0"/>
                    </a:p>
                  </a:txBody>
                  <a:tcPr/>
                </a:tc>
                <a:tc>
                  <a:txBody>
                    <a:bodyPr/>
                    <a:lstStyle/>
                    <a:p>
                      <a:r>
                        <a:rPr lang="en-US" sz="1400" dirty="0"/>
                        <a:t>2.5%</a:t>
                      </a:r>
                      <a:endParaRPr lang="en-SG" sz="1400" dirty="0"/>
                    </a:p>
                  </a:txBody>
                  <a:tcPr/>
                </a:tc>
                <a:extLst>
                  <a:ext uri="{0D108BD9-81ED-4DB2-BD59-A6C34878D82A}">
                    <a16:rowId xmlns:a16="http://schemas.microsoft.com/office/drawing/2014/main" val="1149085740"/>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all 3 cuts</a:t>
                      </a:r>
                      <a:endParaRPr lang="en-SG" sz="1400" dirty="0"/>
                    </a:p>
                  </a:txBody>
                  <a:tcPr/>
                </a:tc>
                <a:tc>
                  <a:txBody>
                    <a:bodyPr/>
                    <a:lstStyle/>
                    <a:p>
                      <a:r>
                        <a:rPr lang="en-US" sz="1400" dirty="0"/>
                        <a:t>48907</a:t>
                      </a:r>
                      <a:endParaRPr lang="en-SG" sz="1400" dirty="0"/>
                    </a:p>
                  </a:txBody>
                  <a:tcPr/>
                </a:tc>
                <a:tc>
                  <a:txBody>
                    <a:bodyPr/>
                    <a:lstStyle/>
                    <a:p>
                      <a:r>
                        <a:rPr lang="en-US" sz="1400" dirty="0"/>
                        <a:t>0.59%</a:t>
                      </a:r>
                      <a:endParaRPr lang="en-SG" sz="1400" dirty="0"/>
                    </a:p>
                  </a:txBody>
                  <a:tcPr/>
                </a:tc>
                <a:extLst>
                  <a:ext uri="{0D108BD9-81ED-4DB2-BD59-A6C34878D82A}">
                    <a16:rowId xmlns:a16="http://schemas.microsoft.com/office/drawing/2014/main" val="495397440"/>
                  </a:ext>
                </a:extLst>
              </a:tr>
            </a:tbl>
          </a:graphicData>
        </a:graphic>
      </p:graphicFrame>
      <p:graphicFrame>
        <p:nvGraphicFramePr>
          <p:cNvPr id="6" name="Table 5">
            <a:extLst>
              <a:ext uri="{FF2B5EF4-FFF2-40B4-BE49-F238E27FC236}">
                <a16:creationId xmlns:a16="http://schemas.microsoft.com/office/drawing/2014/main" id="{3B85CE26-F81D-540E-A325-F597F248D824}"/>
              </a:ext>
            </a:extLst>
          </p:cNvPr>
          <p:cNvGraphicFramePr>
            <a:graphicFrameLocks noGrp="1"/>
          </p:cNvGraphicFramePr>
          <p:nvPr>
            <p:extLst>
              <p:ext uri="{D42A27DB-BD31-4B8C-83A1-F6EECF244321}">
                <p14:modId xmlns:p14="http://schemas.microsoft.com/office/powerpoint/2010/main" val="2004904156"/>
              </p:ext>
            </p:extLst>
          </p:nvPr>
        </p:nvGraphicFramePr>
        <p:xfrm>
          <a:off x="6296024" y="2240376"/>
          <a:ext cx="5678002" cy="3698978"/>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Value</a:t>
                      </a:r>
                      <a:endParaRPr lang="en-SG" sz="1400" dirty="0"/>
                    </a:p>
                  </a:txBody>
                  <a:tcPr/>
                </a:tc>
                <a:tc>
                  <a:txBody>
                    <a:bodyPr/>
                    <a:lstStyle/>
                    <a:p>
                      <a:r>
                        <a:rPr lang="en-US" sz="1400" dirty="0"/>
                        <a:t>Percentage over tot no. of interactions</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pnfs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icarus</a:t>
                      </a:r>
                      <a:r>
                        <a:rPr lang="fr-FR" sz="1200" kern="1200" dirty="0">
                          <a:solidFill>
                            <a:schemeClr val="dk1"/>
                          </a:solidFill>
                          <a:effectLst/>
                          <a:latin typeface="+mn-lt"/>
                          <a:ea typeface="+mn-ea"/>
                          <a:cs typeface="+mn-cs"/>
                        </a:rPr>
                        <a:t>/persistent/</a:t>
                      </a:r>
                      <a:r>
                        <a:rPr lang="fr-FR" sz="1200" kern="1200" dirty="0" err="1">
                          <a:solidFill>
                            <a:schemeClr val="dk1"/>
                          </a:solidFill>
                          <a:effectLst/>
                          <a:latin typeface="+mn-lt"/>
                          <a:ea typeface="+mn-ea"/>
                          <a:cs typeface="+mn-cs"/>
                        </a:rPr>
                        <a:t>users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mueller</a:t>
                      </a:r>
                      <a:r>
                        <a:rPr lang="fr-FR" sz="1200" kern="1200" dirty="0">
                          <a:solidFill>
                            <a:schemeClr val="dk1"/>
                          </a:solidFill>
                          <a:effectLst/>
                          <a:latin typeface="+mn-lt"/>
                          <a:ea typeface="+mn-ea"/>
                          <a:cs typeface="+mn-cs"/>
                        </a:rPr>
                        <a:t>/production/simulation/nominal/input*.</a:t>
                      </a:r>
                      <a:r>
                        <a:rPr lang="fr-FR" sz="1200" kern="1200" dirty="0" err="1">
                          <a:solidFill>
                            <a:schemeClr val="dk1"/>
                          </a:solidFill>
                          <a:effectLst/>
                          <a:latin typeface="+mn-lt"/>
                          <a:ea typeface="+mn-ea"/>
                          <a:cs typeface="+mn-cs"/>
                        </a:rPr>
                        <a:t>flat.root</a:t>
                      </a:r>
                      <a:endParaRPr lang="fr-FR" sz="1200" kern="1200" dirty="0">
                        <a:solidFill>
                          <a:schemeClr val="dk1"/>
                        </a:solidFill>
                        <a:effectLst/>
                        <a:latin typeface="+mn-lt"/>
                        <a:ea typeface="+mn-ea"/>
                        <a:cs typeface="+mn-cs"/>
                      </a:endParaRPr>
                    </a:p>
                  </a:txBody>
                  <a:tcPr/>
                </a:tc>
                <a:tc hMerge="1">
                  <a:txBody>
                    <a:bodyPr/>
                    <a:lstStyle/>
                    <a:p>
                      <a:endParaRPr lang="en-SG" sz="1400" dirty="0"/>
                    </a:p>
                  </a:txBody>
                  <a:tcPr/>
                </a:tc>
                <a:extLst>
                  <a:ext uri="{0D108BD9-81ED-4DB2-BD59-A6C34878D82A}">
                    <a16:rowId xmlns:a16="http://schemas.microsoft.com/office/drawing/2014/main" val="1405745668"/>
                  </a:ext>
                </a:extLst>
              </a:tr>
              <a:tr h="325489">
                <a:tc>
                  <a:txBody>
                    <a:bodyPr/>
                    <a:lstStyle/>
                    <a:p>
                      <a:r>
                        <a:rPr lang="en-US" sz="1400" dirty="0"/>
                        <a:t>POT (Protons On Target)</a:t>
                      </a:r>
                      <a:endParaRPr lang="en-SG" sz="1400" dirty="0"/>
                    </a:p>
                  </a:txBody>
                  <a:tcPr/>
                </a:tc>
                <a:tc gridSpan="2">
                  <a:txBody>
                    <a:bodyPr/>
                    <a:lstStyle/>
                    <a:p>
                      <a:pPr algn="ctr"/>
                      <a:r>
                        <a:rPr lang="en-US" sz="1200" kern="1200" dirty="0">
                          <a:solidFill>
                            <a:schemeClr val="dk1"/>
                          </a:solidFill>
                          <a:effectLst/>
                          <a:latin typeface="+mn-lt"/>
                          <a:ea typeface="+mn-ea"/>
                          <a:cs typeface="+mn-cs"/>
                        </a:rPr>
                        <a:t>174e18</a:t>
                      </a:r>
                      <a:endParaRPr lang="en-SG" sz="1200" kern="1200" dirty="0">
                        <a:solidFill>
                          <a:schemeClr val="dk1"/>
                        </a:solidFill>
                        <a:effectLst/>
                        <a:latin typeface="+mn-lt"/>
                        <a:ea typeface="+mn-ea"/>
                        <a:cs typeface="+mn-cs"/>
                      </a:endParaRPr>
                    </a:p>
                  </a:txBody>
                  <a:tcPr/>
                </a:tc>
                <a:tc hMerge="1">
                  <a:txBody>
                    <a:bodyPr/>
                    <a:lstStyle/>
                    <a:p>
                      <a:endParaRPr lang="en-SG"/>
                    </a:p>
                  </a:txBody>
                  <a:tcPr/>
                </a:tc>
                <a:extLst>
                  <a:ext uri="{0D108BD9-81ED-4DB2-BD59-A6C34878D82A}">
                    <a16:rowId xmlns:a16="http://schemas.microsoft.com/office/drawing/2014/main" val="2784367608"/>
                  </a:ext>
                </a:extLst>
              </a:tr>
              <a:tr h="325489">
                <a:tc>
                  <a:txBody>
                    <a:bodyPr/>
                    <a:lstStyle/>
                    <a:p>
                      <a:r>
                        <a:rPr lang="en-US" sz="1400" dirty="0"/>
                        <a:t>Total no. of interactions</a:t>
                      </a:r>
                      <a:endParaRPr lang="en-SG" sz="1400" dirty="0"/>
                    </a:p>
                  </a:txBody>
                  <a:tcPr/>
                </a:tc>
                <a:tc gridSpan="2">
                  <a:txBody>
                    <a:bodyPr/>
                    <a:lstStyle/>
                    <a:p>
                      <a:pPr algn="ctr"/>
                      <a:r>
                        <a:rPr lang="en-US" sz="1400" dirty="0"/>
                        <a:t>5890669</a:t>
                      </a:r>
                      <a:endParaRPr lang="en-SG" sz="1400" dirty="0"/>
                    </a:p>
                  </a:txBody>
                  <a:tcPr/>
                </a:tc>
                <a:tc hMerge="1">
                  <a:txBody>
                    <a:bodyPr/>
                    <a:lstStyle/>
                    <a:p>
                      <a:endParaRPr lang="en-SG" sz="1400" dirty="0"/>
                    </a:p>
                  </a:txBody>
                  <a:tcPr/>
                </a:tc>
                <a:extLst>
                  <a:ext uri="{0D108BD9-81ED-4DB2-BD59-A6C34878D82A}">
                    <a16:rowId xmlns:a16="http://schemas.microsoft.com/office/drawing/2014/main" val="3397454016"/>
                  </a:ext>
                </a:extLst>
              </a:tr>
              <a:tr h="454792">
                <a:tc>
                  <a:txBody>
                    <a:bodyPr/>
                    <a:lstStyle/>
                    <a:p>
                      <a:r>
                        <a:rPr lang="en-US" sz="1400" dirty="0"/>
                        <a:t>No. of interactions that passes fiducial cut</a:t>
                      </a:r>
                      <a:endParaRPr lang="en-SG" sz="1400" dirty="0"/>
                    </a:p>
                  </a:txBody>
                  <a:tcPr/>
                </a:tc>
                <a:tc>
                  <a:txBody>
                    <a:bodyPr/>
                    <a:lstStyle/>
                    <a:p>
                      <a:r>
                        <a:rPr lang="en-US" sz="1400" dirty="0"/>
                        <a:t>128989</a:t>
                      </a:r>
                      <a:endParaRPr lang="en-SG" sz="1400" dirty="0"/>
                    </a:p>
                  </a:txBody>
                  <a:tcPr/>
                </a:tc>
                <a:tc>
                  <a:txBody>
                    <a:bodyPr/>
                    <a:lstStyle/>
                    <a:p>
                      <a:r>
                        <a:rPr lang="en-US" sz="1400" dirty="0"/>
                        <a:t>2.2%</a:t>
                      </a:r>
                      <a:endParaRPr lang="en-SG" sz="1400" dirty="0"/>
                    </a:p>
                  </a:txBody>
                  <a:tcP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containment cut</a:t>
                      </a:r>
                      <a:endParaRPr lang="en-SG" sz="1400" dirty="0"/>
                    </a:p>
                  </a:txBody>
                  <a:tcPr/>
                </a:tc>
                <a:tc>
                  <a:txBody>
                    <a:bodyPr/>
                    <a:lstStyle/>
                    <a:p>
                      <a:r>
                        <a:rPr lang="en-US" sz="1400" dirty="0"/>
                        <a:t>197954</a:t>
                      </a:r>
                      <a:endParaRPr lang="en-SG" sz="1400" dirty="0"/>
                    </a:p>
                  </a:txBody>
                  <a:tcPr/>
                </a:tc>
                <a:tc>
                  <a:txBody>
                    <a:bodyPr/>
                    <a:lstStyle/>
                    <a:p>
                      <a:r>
                        <a:rPr lang="en-US" sz="1400" dirty="0"/>
                        <a:t>3.4%</a:t>
                      </a:r>
                      <a:endParaRPr lang="en-SG" sz="1400" dirty="0"/>
                    </a:p>
                  </a:txBody>
                  <a:tcPr/>
                </a:tc>
                <a:extLst>
                  <a:ext uri="{0D108BD9-81ED-4DB2-BD59-A6C34878D82A}">
                    <a16:rowId xmlns:a16="http://schemas.microsoft.com/office/drawing/2014/main" val="181403725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neutrino cut</a:t>
                      </a:r>
                      <a:endParaRPr lang="en-SG" sz="1400" dirty="0"/>
                    </a:p>
                  </a:txBody>
                  <a:tcPr/>
                </a:tc>
                <a:tc>
                  <a:txBody>
                    <a:bodyPr/>
                    <a:lstStyle/>
                    <a:p>
                      <a:r>
                        <a:rPr lang="en-US" sz="1400" dirty="0"/>
                        <a:t>193363</a:t>
                      </a:r>
                      <a:endParaRPr lang="en-SG" sz="1400" dirty="0"/>
                    </a:p>
                  </a:txBody>
                  <a:tcPr/>
                </a:tc>
                <a:tc>
                  <a:txBody>
                    <a:bodyPr/>
                    <a:lstStyle/>
                    <a:p>
                      <a:r>
                        <a:rPr lang="en-US" sz="1400" dirty="0"/>
                        <a:t>3.3%</a:t>
                      </a:r>
                      <a:endParaRPr lang="en-SG" sz="1400" dirty="0"/>
                    </a:p>
                  </a:txBody>
                  <a:tcPr/>
                </a:tc>
                <a:extLst>
                  <a:ext uri="{0D108BD9-81ED-4DB2-BD59-A6C34878D82A}">
                    <a16:rowId xmlns:a16="http://schemas.microsoft.com/office/drawing/2014/main" val="1149085740"/>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passes all 3 cuts</a:t>
                      </a:r>
                      <a:endParaRPr lang="en-SG" sz="1400" dirty="0"/>
                    </a:p>
                  </a:txBody>
                  <a:tcPr/>
                </a:tc>
                <a:tc>
                  <a:txBody>
                    <a:bodyPr/>
                    <a:lstStyle/>
                    <a:p>
                      <a:r>
                        <a:rPr lang="en-US" sz="1400" dirty="0"/>
                        <a:t>80472</a:t>
                      </a:r>
                      <a:endParaRPr lang="en-SG" sz="1400" dirty="0"/>
                    </a:p>
                  </a:txBody>
                  <a:tcPr/>
                </a:tc>
                <a:tc>
                  <a:txBody>
                    <a:bodyPr/>
                    <a:lstStyle/>
                    <a:p>
                      <a:r>
                        <a:rPr lang="en-US" sz="1400" dirty="0"/>
                        <a:t>1.4%</a:t>
                      </a:r>
                      <a:endParaRPr lang="en-SG" sz="1400" dirty="0"/>
                    </a:p>
                  </a:txBody>
                  <a:tcPr/>
                </a:tc>
                <a:extLst>
                  <a:ext uri="{0D108BD9-81ED-4DB2-BD59-A6C34878D82A}">
                    <a16:rowId xmlns:a16="http://schemas.microsoft.com/office/drawing/2014/main" val="495397440"/>
                  </a:ext>
                </a:extLst>
              </a:tr>
            </a:tbl>
          </a:graphicData>
        </a:graphic>
      </p:graphicFrame>
      <p:sp>
        <p:nvSpPr>
          <p:cNvPr id="10" name="TextBox 9">
            <a:extLst>
              <a:ext uri="{FF2B5EF4-FFF2-40B4-BE49-F238E27FC236}">
                <a16:creationId xmlns:a16="http://schemas.microsoft.com/office/drawing/2014/main" id="{4F10AA37-908D-B998-D267-951EF0C01A76}"/>
              </a:ext>
            </a:extLst>
          </p:cNvPr>
          <p:cNvSpPr txBox="1"/>
          <p:nvPr/>
        </p:nvSpPr>
        <p:spPr>
          <a:xfrm>
            <a:off x="8758787" y="1778711"/>
            <a:ext cx="752475" cy="461665"/>
          </a:xfrm>
          <a:prstGeom prst="rect">
            <a:avLst/>
          </a:prstGeom>
          <a:noFill/>
        </p:spPr>
        <p:txBody>
          <a:bodyPr wrap="square">
            <a:spAutoFit/>
          </a:bodyPr>
          <a:lstStyle/>
          <a:p>
            <a:r>
              <a:rPr lang="en-US" sz="2400" b="1" dirty="0"/>
              <a:t>BNB</a:t>
            </a:r>
            <a:endParaRPr lang="en-SG" sz="2400" b="1" dirty="0"/>
          </a:p>
        </p:txBody>
      </p:sp>
      <p:sp>
        <p:nvSpPr>
          <p:cNvPr id="12" name="TextBox 11">
            <a:extLst>
              <a:ext uri="{FF2B5EF4-FFF2-40B4-BE49-F238E27FC236}">
                <a16:creationId xmlns:a16="http://schemas.microsoft.com/office/drawing/2014/main" id="{C138A07A-E4C0-0AD4-1F54-2E734C8EBA89}"/>
              </a:ext>
            </a:extLst>
          </p:cNvPr>
          <p:cNvSpPr txBox="1"/>
          <p:nvPr/>
        </p:nvSpPr>
        <p:spPr>
          <a:xfrm>
            <a:off x="2606644" y="1778711"/>
            <a:ext cx="900661" cy="461665"/>
          </a:xfrm>
          <a:prstGeom prst="rect">
            <a:avLst/>
          </a:prstGeom>
          <a:noFill/>
        </p:spPr>
        <p:txBody>
          <a:bodyPr wrap="square">
            <a:spAutoFit/>
          </a:bodyPr>
          <a:lstStyle/>
          <a:p>
            <a:r>
              <a:rPr lang="en-US" sz="2400" b="1" dirty="0" err="1"/>
              <a:t>NuMI</a:t>
            </a:r>
            <a:endParaRPr lang="en-SG" sz="2400" b="1" dirty="0"/>
          </a:p>
        </p:txBody>
      </p:sp>
    </p:spTree>
    <p:extLst>
      <p:ext uri="{BB962C8B-B14F-4D97-AF65-F5344CB8AC3E}">
        <p14:creationId xmlns:p14="http://schemas.microsoft.com/office/powerpoint/2010/main" val="2375120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49D22-A36D-9E41-FCAE-607CB4834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12F30-1640-55EC-DA2D-833076B9BA7C}"/>
              </a:ext>
            </a:extLst>
          </p:cNvPr>
          <p:cNvSpPr>
            <a:spLocks noGrp="1"/>
          </p:cNvSpPr>
          <p:nvPr>
            <p:ph type="title"/>
          </p:nvPr>
        </p:nvSpPr>
        <p:spPr/>
        <p:txBody>
          <a:bodyPr/>
          <a:lstStyle/>
          <a:p>
            <a:r>
              <a:rPr lang="en-US" dirty="0"/>
              <a:t>Preselection cut purity </a:t>
            </a:r>
            <a:r>
              <a:rPr lang="en-US" b="1" dirty="0"/>
              <a:t>(</a:t>
            </a:r>
            <a:r>
              <a:rPr lang="en-US" b="1" dirty="0" err="1"/>
              <a:t>reco</a:t>
            </a:r>
            <a:r>
              <a:rPr lang="en-US" b="1" dirty="0"/>
              <a:t>)</a:t>
            </a:r>
            <a:endParaRPr lang="en-SG" b="1" dirty="0"/>
          </a:p>
        </p:txBody>
      </p:sp>
      <p:graphicFrame>
        <p:nvGraphicFramePr>
          <p:cNvPr id="7" name="Table 6">
            <a:extLst>
              <a:ext uri="{FF2B5EF4-FFF2-40B4-BE49-F238E27FC236}">
                <a16:creationId xmlns:a16="http://schemas.microsoft.com/office/drawing/2014/main" id="{A5922087-CAA9-61B8-7191-55606C3824E1}"/>
              </a:ext>
            </a:extLst>
          </p:cNvPr>
          <p:cNvGraphicFramePr>
            <a:graphicFrameLocks noGrp="1"/>
          </p:cNvGraphicFramePr>
          <p:nvPr/>
        </p:nvGraphicFramePr>
        <p:xfrm>
          <a:off x="1441687" y="2406016"/>
          <a:ext cx="4473338" cy="2052741"/>
        </p:xfrm>
        <a:graphic>
          <a:graphicData uri="http://schemas.openxmlformats.org/drawingml/2006/table">
            <a:tbl>
              <a:tblPr firstRow="1" bandRow="1">
                <a:tableStyleId>{5940675A-B579-460E-94D1-54222C63F5DA}</a:tableStyleId>
              </a:tblPr>
              <a:tblGrid>
                <a:gridCol w="922919">
                  <a:extLst>
                    <a:ext uri="{9D8B030D-6E8A-4147-A177-3AD203B41FA5}">
                      <a16:colId xmlns:a16="http://schemas.microsoft.com/office/drawing/2014/main" val="2941989956"/>
                    </a:ext>
                  </a:extLst>
                </a:gridCol>
                <a:gridCol w="1183473">
                  <a:extLst>
                    <a:ext uri="{9D8B030D-6E8A-4147-A177-3AD203B41FA5}">
                      <a16:colId xmlns:a16="http://schemas.microsoft.com/office/drawing/2014/main" val="1069051651"/>
                    </a:ext>
                  </a:extLst>
                </a:gridCol>
                <a:gridCol w="1183473">
                  <a:extLst>
                    <a:ext uri="{9D8B030D-6E8A-4147-A177-3AD203B41FA5}">
                      <a16:colId xmlns:a16="http://schemas.microsoft.com/office/drawing/2014/main" val="3100492204"/>
                    </a:ext>
                  </a:extLst>
                </a:gridCol>
                <a:gridCol w="1183473">
                  <a:extLst>
                    <a:ext uri="{9D8B030D-6E8A-4147-A177-3AD203B41FA5}">
                      <a16:colId xmlns:a16="http://schemas.microsoft.com/office/drawing/2014/main" val="4108314083"/>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Passes</a:t>
                      </a:r>
                      <a:endParaRPr lang="en-SG" sz="1400" dirty="0">
                        <a:solidFill>
                          <a:srgbClr val="FF0000"/>
                        </a:solidFill>
                      </a:endParaRPr>
                    </a:p>
                  </a:txBody>
                  <a:tcPr anchor="ctr">
                    <a:solidFill>
                      <a:schemeClr val="bg2"/>
                    </a:solidFill>
                  </a:tcPr>
                </a:tc>
                <a:tc>
                  <a:txBody>
                    <a:bodyPr/>
                    <a:lstStyle/>
                    <a:p>
                      <a:pPr algn="ctr"/>
                      <a:r>
                        <a:rPr lang="en-US" sz="1400" dirty="0">
                          <a:solidFill>
                            <a:srgbClr val="FF0000"/>
                          </a:solidFill>
                        </a:rPr>
                        <a:t>Fails</a:t>
                      </a:r>
                      <a:endParaRPr lang="en-SG" sz="1400" dirty="0">
                        <a:solidFill>
                          <a:srgbClr val="FF0000"/>
                        </a:solidFill>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FF0000"/>
                          </a:solidFill>
                        </a:rPr>
                        <a:t>Overflow</a:t>
                      </a:r>
                      <a:endParaRPr lang="en-SG" sz="1400" b="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78.4%</a:t>
                      </a:r>
                      <a:endParaRPr lang="en-SG" dirty="0"/>
                    </a:p>
                  </a:txBody>
                  <a:tcPr anchor="ctr"/>
                </a:tc>
                <a:tc>
                  <a:txBody>
                    <a:bodyPr/>
                    <a:lstStyle/>
                    <a:p>
                      <a:pPr algn="ctr"/>
                      <a:r>
                        <a:rPr lang="en-US" dirty="0"/>
                        <a:t>17.6%</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4%</a:t>
                      </a:r>
                      <a:endParaRPr lang="en-SG" b="0" dirty="0">
                        <a:solidFill>
                          <a:schemeClr val="tx1"/>
                        </a:solidFill>
                      </a:endParaRPr>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Passes containment</a:t>
                      </a:r>
                      <a:endParaRPr lang="en-SG" sz="1400" b="0" dirty="0">
                        <a:solidFill>
                          <a:srgbClr val="FF0000"/>
                        </a:solidFill>
                      </a:endParaRPr>
                    </a:p>
                  </a:txBody>
                  <a:tcPr anchor="ctr">
                    <a:solidFill>
                      <a:schemeClr val="bg2"/>
                    </a:solidFill>
                  </a:tcPr>
                </a:tc>
                <a:tc>
                  <a:txBody>
                    <a:bodyPr/>
                    <a:lstStyle/>
                    <a:p>
                      <a:pPr algn="ctr"/>
                      <a:r>
                        <a:rPr lang="en-US" dirty="0"/>
                        <a:t>86.9%</a:t>
                      </a:r>
                      <a:endParaRPr lang="en-SG" dirty="0"/>
                    </a:p>
                  </a:txBody>
                  <a:tcPr anchor="ctr"/>
                </a:tc>
                <a:tc>
                  <a:txBody>
                    <a:bodyPr/>
                    <a:lstStyle/>
                    <a:p>
                      <a:pPr algn="ctr"/>
                      <a:r>
                        <a:rPr lang="en-US" dirty="0"/>
                        <a:t>9.1%</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4%</a:t>
                      </a:r>
                      <a:endParaRPr lang="en-SG" b="0" dirty="0">
                        <a:solidFill>
                          <a:schemeClr val="tx1"/>
                        </a:solidFill>
                      </a:endParaRPr>
                    </a:p>
                  </a:txBody>
                  <a:tcPr anchor="ctr"/>
                </a:tc>
                <a:extLst>
                  <a:ext uri="{0D108BD9-81ED-4DB2-BD59-A6C34878D82A}">
                    <a16:rowId xmlns:a16="http://schemas.microsoft.com/office/drawing/2014/main" val="2781143425"/>
                  </a:ext>
                </a:extLst>
              </a:tr>
            </a:tbl>
          </a:graphicData>
        </a:graphic>
      </p:graphicFrame>
      <p:sp>
        <p:nvSpPr>
          <p:cNvPr id="8" name="TextBox 7">
            <a:extLst>
              <a:ext uri="{FF2B5EF4-FFF2-40B4-BE49-F238E27FC236}">
                <a16:creationId xmlns:a16="http://schemas.microsoft.com/office/drawing/2014/main" id="{10465F99-463D-A2DB-B84E-3C85EC17B091}"/>
              </a:ext>
            </a:extLst>
          </p:cNvPr>
          <p:cNvSpPr txBox="1"/>
          <p:nvPr/>
        </p:nvSpPr>
        <p:spPr>
          <a:xfrm>
            <a:off x="127482" y="3432386"/>
            <a:ext cx="1314205" cy="646331"/>
          </a:xfrm>
          <a:prstGeom prst="rect">
            <a:avLst/>
          </a:prstGeom>
          <a:noFill/>
        </p:spPr>
        <p:txBody>
          <a:bodyPr wrap="square" rtlCol="0">
            <a:spAutoFit/>
          </a:bodyPr>
          <a:lstStyle/>
          <a:p>
            <a:r>
              <a:rPr lang="en-US" dirty="0"/>
              <a:t>Reco information</a:t>
            </a:r>
            <a:endParaRPr lang="en-SG" dirty="0"/>
          </a:p>
        </p:txBody>
      </p:sp>
      <p:sp>
        <p:nvSpPr>
          <p:cNvPr id="9" name="TextBox 8">
            <a:extLst>
              <a:ext uri="{FF2B5EF4-FFF2-40B4-BE49-F238E27FC236}">
                <a16:creationId xmlns:a16="http://schemas.microsoft.com/office/drawing/2014/main" id="{6AD9399C-C45E-C98D-C391-9F558D350A30}"/>
              </a:ext>
            </a:extLst>
          </p:cNvPr>
          <p:cNvSpPr txBox="1"/>
          <p:nvPr/>
        </p:nvSpPr>
        <p:spPr>
          <a:xfrm>
            <a:off x="2994820" y="2014621"/>
            <a:ext cx="1798636" cy="369332"/>
          </a:xfrm>
          <a:prstGeom prst="rect">
            <a:avLst/>
          </a:prstGeom>
          <a:noFill/>
        </p:spPr>
        <p:txBody>
          <a:bodyPr wrap="square" rtlCol="0">
            <a:spAutoFit/>
          </a:bodyPr>
          <a:lstStyle/>
          <a:p>
            <a:r>
              <a:rPr lang="en-US" dirty="0"/>
              <a:t>True information</a:t>
            </a:r>
            <a:endParaRPr lang="en-SG" dirty="0"/>
          </a:p>
        </p:txBody>
      </p:sp>
      <p:graphicFrame>
        <p:nvGraphicFramePr>
          <p:cNvPr id="12" name="Table 11">
            <a:extLst>
              <a:ext uri="{FF2B5EF4-FFF2-40B4-BE49-F238E27FC236}">
                <a16:creationId xmlns:a16="http://schemas.microsoft.com/office/drawing/2014/main" id="{8A2F1B8C-327B-EAD9-7554-9EFFA6C781AF}"/>
              </a:ext>
            </a:extLst>
          </p:cNvPr>
          <p:cNvGraphicFramePr>
            <a:graphicFrameLocks noGrp="1"/>
          </p:cNvGraphicFramePr>
          <p:nvPr/>
        </p:nvGraphicFramePr>
        <p:xfrm>
          <a:off x="7410205" y="4094270"/>
          <a:ext cx="4473338" cy="2052741"/>
        </p:xfrm>
        <a:graphic>
          <a:graphicData uri="http://schemas.openxmlformats.org/drawingml/2006/table">
            <a:tbl>
              <a:tblPr firstRow="1" bandRow="1">
                <a:tableStyleId>{5940675A-B579-460E-94D1-54222C63F5DA}</a:tableStyleId>
              </a:tblPr>
              <a:tblGrid>
                <a:gridCol w="922919">
                  <a:extLst>
                    <a:ext uri="{9D8B030D-6E8A-4147-A177-3AD203B41FA5}">
                      <a16:colId xmlns:a16="http://schemas.microsoft.com/office/drawing/2014/main" val="2941989956"/>
                    </a:ext>
                  </a:extLst>
                </a:gridCol>
                <a:gridCol w="1183473">
                  <a:extLst>
                    <a:ext uri="{9D8B030D-6E8A-4147-A177-3AD203B41FA5}">
                      <a16:colId xmlns:a16="http://schemas.microsoft.com/office/drawing/2014/main" val="1069051651"/>
                    </a:ext>
                  </a:extLst>
                </a:gridCol>
                <a:gridCol w="1183473">
                  <a:extLst>
                    <a:ext uri="{9D8B030D-6E8A-4147-A177-3AD203B41FA5}">
                      <a16:colId xmlns:a16="http://schemas.microsoft.com/office/drawing/2014/main" val="3100492204"/>
                    </a:ext>
                  </a:extLst>
                </a:gridCol>
                <a:gridCol w="1183473">
                  <a:extLst>
                    <a:ext uri="{9D8B030D-6E8A-4147-A177-3AD203B41FA5}">
                      <a16:colId xmlns:a16="http://schemas.microsoft.com/office/drawing/2014/main" val="4108314083"/>
                    </a:ext>
                  </a:extLst>
                </a:gridCol>
              </a:tblGrid>
              <a:tr h="537209">
                <a:tc>
                  <a:txBody>
                    <a:bodyPr/>
                    <a:lstStyle/>
                    <a:p>
                      <a:pPr algn="ctr"/>
                      <a:r>
                        <a:rPr lang="en-US" b="1" dirty="0">
                          <a:solidFill>
                            <a:schemeClr val="tx1"/>
                          </a:solidFill>
                        </a:rPr>
                        <a:t>BNB</a:t>
                      </a:r>
                      <a:endParaRPr lang="en-SG" b="1" dirty="0">
                        <a:solidFill>
                          <a:schemeClr val="tx1"/>
                        </a:solidFill>
                      </a:endParaRPr>
                    </a:p>
                  </a:txBody>
                  <a:tcPr anchor="ctr"/>
                </a:tc>
                <a:tc>
                  <a:txBody>
                    <a:bodyPr/>
                    <a:lstStyle/>
                    <a:p>
                      <a:pPr algn="ctr"/>
                      <a:r>
                        <a:rPr lang="en-US" sz="1400" dirty="0">
                          <a:solidFill>
                            <a:srgbClr val="FF0000"/>
                          </a:solidFill>
                        </a:rPr>
                        <a:t>Passes</a:t>
                      </a:r>
                      <a:endParaRPr lang="en-SG" sz="1400" dirty="0">
                        <a:solidFill>
                          <a:srgbClr val="FF0000"/>
                        </a:solidFill>
                      </a:endParaRPr>
                    </a:p>
                  </a:txBody>
                  <a:tcPr anchor="ctr">
                    <a:solidFill>
                      <a:schemeClr val="bg2"/>
                    </a:solidFill>
                  </a:tcPr>
                </a:tc>
                <a:tc>
                  <a:txBody>
                    <a:bodyPr/>
                    <a:lstStyle/>
                    <a:p>
                      <a:pPr algn="ctr"/>
                      <a:r>
                        <a:rPr lang="en-US" sz="1400" dirty="0">
                          <a:solidFill>
                            <a:srgbClr val="FF0000"/>
                          </a:solidFill>
                        </a:rPr>
                        <a:t>Fails</a:t>
                      </a:r>
                      <a:endParaRPr lang="en-SG" sz="1400" dirty="0">
                        <a:solidFill>
                          <a:srgbClr val="FF0000"/>
                        </a:solidFill>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FF0000"/>
                          </a:solidFill>
                        </a:rPr>
                        <a:t>Overflow</a:t>
                      </a:r>
                      <a:endParaRPr lang="en-SG" sz="1400" b="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93.6%</a:t>
                      </a:r>
                      <a:endParaRPr lang="en-SG" dirty="0"/>
                    </a:p>
                  </a:txBody>
                  <a:tcPr anchor="ctr"/>
                </a:tc>
                <a:tc>
                  <a:txBody>
                    <a:bodyPr/>
                    <a:lstStyle/>
                    <a:p>
                      <a:pPr algn="ctr"/>
                      <a:r>
                        <a:rPr lang="en-US" dirty="0"/>
                        <a:t>5.1%</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1.3%</a:t>
                      </a:r>
                      <a:endParaRPr lang="en-SG" b="0" dirty="0">
                        <a:solidFill>
                          <a:schemeClr val="tx1"/>
                        </a:solidFill>
                      </a:endParaRPr>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Passes containment</a:t>
                      </a:r>
                      <a:endParaRPr lang="en-SG" sz="1400" b="0" dirty="0">
                        <a:solidFill>
                          <a:srgbClr val="FF0000"/>
                        </a:solidFill>
                      </a:endParaRPr>
                    </a:p>
                  </a:txBody>
                  <a:tcPr anchor="ctr">
                    <a:solidFill>
                      <a:schemeClr val="bg2"/>
                    </a:solidFill>
                  </a:tcPr>
                </a:tc>
                <a:tc>
                  <a:txBody>
                    <a:bodyPr/>
                    <a:lstStyle/>
                    <a:p>
                      <a:pPr algn="ctr"/>
                      <a:r>
                        <a:rPr lang="en-US" dirty="0"/>
                        <a:t>94.9%</a:t>
                      </a:r>
                      <a:endParaRPr lang="en-SG" dirty="0"/>
                    </a:p>
                  </a:txBody>
                  <a:tcPr anchor="ctr"/>
                </a:tc>
                <a:tc>
                  <a:txBody>
                    <a:bodyPr/>
                    <a:lstStyle/>
                    <a:p>
                      <a:pPr algn="ctr"/>
                      <a:r>
                        <a:rPr lang="en-US" dirty="0"/>
                        <a:t>3.8%</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1.3%</a:t>
                      </a:r>
                      <a:endParaRPr lang="en-SG" b="0" dirty="0">
                        <a:solidFill>
                          <a:schemeClr val="tx1"/>
                        </a:solidFill>
                      </a:endParaRPr>
                    </a:p>
                  </a:txBody>
                  <a:tcPr anchor="ctr"/>
                </a:tc>
                <a:extLst>
                  <a:ext uri="{0D108BD9-81ED-4DB2-BD59-A6C34878D82A}">
                    <a16:rowId xmlns:a16="http://schemas.microsoft.com/office/drawing/2014/main" val="2781143425"/>
                  </a:ext>
                </a:extLst>
              </a:tr>
            </a:tbl>
          </a:graphicData>
        </a:graphic>
      </p:graphicFrame>
      <p:sp>
        <p:nvSpPr>
          <p:cNvPr id="13" name="TextBox 12">
            <a:extLst>
              <a:ext uri="{FF2B5EF4-FFF2-40B4-BE49-F238E27FC236}">
                <a16:creationId xmlns:a16="http://schemas.microsoft.com/office/drawing/2014/main" id="{E04AC737-F5F6-01B3-63D2-4F1D5D9D0151}"/>
              </a:ext>
            </a:extLst>
          </p:cNvPr>
          <p:cNvSpPr txBox="1"/>
          <p:nvPr/>
        </p:nvSpPr>
        <p:spPr>
          <a:xfrm>
            <a:off x="6096000" y="5120640"/>
            <a:ext cx="1314205" cy="646331"/>
          </a:xfrm>
          <a:prstGeom prst="rect">
            <a:avLst/>
          </a:prstGeom>
          <a:noFill/>
        </p:spPr>
        <p:txBody>
          <a:bodyPr wrap="square" rtlCol="0">
            <a:spAutoFit/>
          </a:bodyPr>
          <a:lstStyle/>
          <a:p>
            <a:r>
              <a:rPr lang="en-US" dirty="0"/>
              <a:t>Reco information</a:t>
            </a:r>
            <a:endParaRPr lang="en-SG" dirty="0"/>
          </a:p>
        </p:txBody>
      </p:sp>
      <p:sp>
        <p:nvSpPr>
          <p:cNvPr id="16" name="TextBox 15">
            <a:extLst>
              <a:ext uri="{FF2B5EF4-FFF2-40B4-BE49-F238E27FC236}">
                <a16:creationId xmlns:a16="http://schemas.microsoft.com/office/drawing/2014/main" id="{E4171A64-6B6F-03D7-85EB-A52ECA83A096}"/>
              </a:ext>
            </a:extLst>
          </p:cNvPr>
          <p:cNvSpPr txBox="1"/>
          <p:nvPr/>
        </p:nvSpPr>
        <p:spPr>
          <a:xfrm>
            <a:off x="8963338" y="3702875"/>
            <a:ext cx="1798636" cy="369332"/>
          </a:xfrm>
          <a:prstGeom prst="rect">
            <a:avLst/>
          </a:prstGeom>
          <a:noFill/>
        </p:spPr>
        <p:txBody>
          <a:bodyPr wrap="square" rtlCol="0">
            <a:spAutoFit/>
          </a:bodyPr>
          <a:lstStyle/>
          <a:p>
            <a:r>
              <a:rPr lang="en-US" dirty="0"/>
              <a:t>True information</a:t>
            </a:r>
            <a:endParaRPr lang="en-SG" dirty="0"/>
          </a:p>
        </p:txBody>
      </p:sp>
      <p:sp>
        <p:nvSpPr>
          <p:cNvPr id="19" name="Content Placeholder 2">
            <a:extLst>
              <a:ext uri="{FF2B5EF4-FFF2-40B4-BE49-F238E27FC236}">
                <a16:creationId xmlns:a16="http://schemas.microsoft.com/office/drawing/2014/main" id="{900FBA11-A1E2-F11A-EB30-C6824F1049F2}"/>
              </a:ext>
            </a:extLst>
          </p:cNvPr>
          <p:cNvSpPr>
            <a:spLocks noGrp="1"/>
          </p:cNvSpPr>
          <p:nvPr>
            <p:ph idx="1"/>
          </p:nvPr>
        </p:nvSpPr>
        <p:spPr>
          <a:xfrm>
            <a:off x="6562725" y="1925051"/>
            <a:ext cx="5304650" cy="1503949"/>
          </a:xfrm>
        </p:spPr>
        <p:txBody>
          <a:bodyPr>
            <a:normAutofit/>
          </a:bodyPr>
          <a:lstStyle/>
          <a:p>
            <a:pPr lvl="1">
              <a:buFont typeface="Arial" panose="020B0604020202020204" pitchFamily="34" charset="0"/>
              <a:buChar char="•"/>
            </a:pPr>
            <a:r>
              <a:rPr lang="en-US" dirty="0">
                <a:solidFill>
                  <a:schemeClr val="tx1"/>
                </a:solidFill>
              </a:rPr>
              <a:t>We look at the reconstructed-level selection mode, and the true </a:t>
            </a:r>
            <a:r>
              <a:rPr lang="en-US" dirty="0"/>
              <a:t>interactions</a:t>
            </a:r>
            <a:r>
              <a:rPr lang="en-US" dirty="0">
                <a:solidFill>
                  <a:schemeClr val="tx1"/>
                </a:solidFill>
              </a:rPr>
              <a:t> information matched to the reconstructed </a:t>
            </a:r>
            <a:r>
              <a:rPr lang="en-US" dirty="0"/>
              <a:t>interactions</a:t>
            </a:r>
            <a:endParaRPr lang="fr-FR" dirty="0">
              <a:solidFill>
                <a:schemeClr val="tx1"/>
              </a:solidFill>
            </a:endParaRPr>
          </a:p>
          <a:p>
            <a:pPr marL="0" indent="0">
              <a:buNone/>
            </a:pPr>
            <a:endParaRPr lang="fr-FR" dirty="0">
              <a:solidFill>
                <a:srgbClr val="FF0000"/>
              </a:solidFill>
            </a:endParaRPr>
          </a:p>
        </p:txBody>
      </p:sp>
    </p:spTree>
    <p:extLst>
      <p:ext uri="{BB962C8B-B14F-4D97-AF65-F5344CB8AC3E}">
        <p14:creationId xmlns:p14="http://schemas.microsoft.com/office/powerpoint/2010/main" val="4289598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862A1-C2F0-710C-C959-4CF4FDE47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66B92-EDED-B040-FB4C-63CFA1600F44}"/>
              </a:ext>
            </a:extLst>
          </p:cNvPr>
          <p:cNvSpPr>
            <a:spLocks noGrp="1"/>
          </p:cNvSpPr>
          <p:nvPr>
            <p:ph type="title"/>
          </p:nvPr>
        </p:nvSpPr>
        <p:spPr/>
        <p:txBody>
          <a:bodyPr/>
          <a:lstStyle/>
          <a:p>
            <a:r>
              <a:rPr lang="en-US" dirty="0"/>
              <a:t>Preselection cut purity </a:t>
            </a:r>
            <a:r>
              <a:rPr lang="en-US" b="1" dirty="0"/>
              <a:t>(True)</a:t>
            </a:r>
            <a:endParaRPr lang="en-SG" b="1" dirty="0"/>
          </a:p>
        </p:txBody>
      </p:sp>
      <p:graphicFrame>
        <p:nvGraphicFramePr>
          <p:cNvPr id="7" name="Table 6">
            <a:extLst>
              <a:ext uri="{FF2B5EF4-FFF2-40B4-BE49-F238E27FC236}">
                <a16:creationId xmlns:a16="http://schemas.microsoft.com/office/drawing/2014/main" id="{4B465F72-87B8-149D-A59E-41B43F81E857}"/>
              </a:ext>
            </a:extLst>
          </p:cNvPr>
          <p:cNvGraphicFramePr>
            <a:graphicFrameLocks noGrp="1"/>
          </p:cNvGraphicFramePr>
          <p:nvPr/>
        </p:nvGraphicFramePr>
        <p:xfrm>
          <a:off x="1441687" y="2406016"/>
          <a:ext cx="4473338" cy="2052741"/>
        </p:xfrm>
        <a:graphic>
          <a:graphicData uri="http://schemas.openxmlformats.org/drawingml/2006/table">
            <a:tbl>
              <a:tblPr firstRow="1" bandRow="1">
                <a:tableStyleId>{5940675A-B579-460E-94D1-54222C63F5DA}</a:tableStyleId>
              </a:tblPr>
              <a:tblGrid>
                <a:gridCol w="922919">
                  <a:extLst>
                    <a:ext uri="{9D8B030D-6E8A-4147-A177-3AD203B41FA5}">
                      <a16:colId xmlns:a16="http://schemas.microsoft.com/office/drawing/2014/main" val="2941989956"/>
                    </a:ext>
                  </a:extLst>
                </a:gridCol>
                <a:gridCol w="1183473">
                  <a:extLst>
                    <a:ext uri="{9D8B030D-6E8A-4147-A177-3AD203B41FA5}">
                      <a16:colId xmlns:a16="http://schemas.microsoft.com/office/drawing/2014/main" val="1069051651"/>
                    </a:ext>
                  </a:extLst>
                </a:gridCol>
                <a:gridCol w="1183473">
                  <a:extLst>
                    <a:ext uri="{9D8B030D-6E8A-4147-A177-3AD203B41FA5}">
                      <a16:colId xmlns:a16="http://schemas.microsoft.com/office/drawing/2014/main" val="3100492204"/>
                    </a:ext>
                  </a:extLst>
                </a:gridCol>
                <a:gridCol w="1183473">
                  <a:extLst>
                    <a:ext uri="{9D8B030D-6E8A-4147-A177-3AD203B41FA5}">
                      <a16:colId xmlns:a16="http://schemas.microsoft.com/office/drawing/2014/main" val="4108314083"/>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Passes</a:t>
                      </a:r>
                      <a:endParaRPr lang="en-SG" sz="1400" dirty="0">
                        <a:solidFill>
                          <a:srgbClr val="FF0000"/>
                        </a:solidFill>
                      </a:endParaRPr>
                    </a:p>
                  </a:txBody>
                  <a:tcPr anchor="ctr">
                    <a:solidFill>
                      <a:schemeClr val="bg2"/>
                    </a:solidFill>
                  </a:tcPr>
                </a:tc>
                <a:tc>
                  <a:txBody>
                    <a:bodyPr/>
                    <a:lstStyle/>
                    <a:p>
                      <a:pPr algn="ctr"/>
                      <a:r>
                        <a:rPr lang="en-US" sz="1400" dirty="0">
                          <a:solidFill>
                            <a:srgbClr val="FF0000"/>
                          </a:solidFill>
                        </a:rPr>
                        <a:t>Fails</a:t>
                      </a:r>
                      <a:endParaRPr lang="en-SG" sz="1400" dirty="0">
                        <a:solidFill>
                          <a:srgbClr val="FF0000"/>
                        </a:solidFill>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FF0000"/>
                          </a:solidFill>
                        </a:rPr>
                        <a:t>Overflow</a:t>
                      </a:r>
                      <a:endParaRPr lang="en-SG" sz="1400" b="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96.7%</a:t>
                      </a:r>
                      <a:endParaRPr lang="en-SG" dirty="0"/>
                    </a:p>
                  </a:txBody>
                  <a:tcPr anchor="ctr"/>
                </a:tc>
                <a:tc>
                  <a:txBody>
                    <a:bodyPr/>
                    <a:lstStyle/>
                    <a:p>
                      <a:pPr algn="ctr"/>
                      <a:r>
                        <a:rPr lang="en-US" dirty="0"/>
                        <a:t>2.4%</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0.86%</a:t>
                      </a:r>
                      <a:endParaRPr lang="en-SG" b="0" dirty="0">
                        <a:solidFill>
                          <a:schemeClr val="tx1"/>
                        </a:solidFill>
                      </a:endParaRPr>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Passes containment</a:t>
                      </a:r>
                      <a:endParaRPr lang="en-SG" sz="1400" b="0" dirty="0">
                        <a:solidFill>
                          <a:srgbClr val="FF0000"/>
                        </a:solidFill>
                      </a:endParaRPr>
                    </a:p>
                  </a:txBody>
                  <a:tcPr anchor="ctr">
                    <a:solidFill>
                      <a:schemeClr val="bg2"/>
                    </a:solidFill>
                  </a:tcPr>
                </a:tc>
                <a:tc>
                  <a:txBody>
                    <a:bodyPr/>
                    <a:lstStyle/>
                    <a:p>
                      <a:pPr algn="ctr"/>
                      <a:r>
                        <a:rPr lang="en-US" dirty="0"/>
                        <a:t>97.7%</a:t>
                      </a:r>
                      <a:endParaRPr lang="en-SG" dirty="0"/>
                    </a:p>
                  </a:txBody>
                  <a:tcPr anchor="ctr"/>
                </a:tc>
                <a:tc>
                  <a:txBody>
                    <a:bodyPr/>
                    <a:lstStyle/>
                    <a:p>
                      <a:pPr algn="ctr"/>
                      <a:r>
                        <a:rPr lang="en-US" dirty="0"/>
                        <a:t>1.5%</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0.86%</a:t>
                      </a:r>
                      <a:endParaRPr lang="en-SG" b="0" dirty="0">
                        <a:solidFill>
                          <a:schemeClr val="tx1"/>
                        </a:solidFill>
                      </a:endParaRPr>
                    </a:p>
                  </a:txBody>
                  <a:tcPr anchor="ctr"/>
                </a:tc>
                <a:extLst>
                  <a:ext uri="{0D108BD9-81ED-4DB2-BD59-A6C34878D82A}">
                    <a16:rowId xmlns:a16="http://schemas.microsoft.com/office/drawing/2014/main" val="2781143425"/>
                  </a:ext>
                </a:extLst>
              </a:tr>
            </a:tbl>
          </a:graphicData>
        </a:graphic>
      </p:graphicFrame>
      <p:sp>
        <p:nvSpPr>
          <p:cNvPr id="8" name="TextBox 7">
            <a:extLst>
              <a:ext uri="{FF2B5EF4-FFF2-40B4-BE49-F238E27FC236}">
                <a16:creationId xmlns:a16="http://schemas.microsoft.com/office/drawing/2014/main" id="{D89A8488-20DB-2279-E741-DAB3F6CDC360}"/>
              </a:ext>
            </a:extLst>
          </p:cNvPr>
          <p:cNvSpPr txBox="1"/>
          <p:nvPr/>
        </p:nvSpPr>
        <p:spPr>
          <a:xfrm>
            <a:off x="127482" y="3432386"/>
            <a:ext cx="1314205" cy="646331"/>
          </a:xfrm>
          <a:prstGeom prst="rect">
            <a:avLst/>
          </a:prstGeom>
          <a:noFill/>
        </p:spPr>
        <p:txBody>
          <a:bodyPr wrap="square" rtlCol="0">
            <a:spAutoFit/>
          </a:bodyPr>
          <a:lstStyle/>
          <a:p>
            <a:r>
              <a:rPr lang="en-US" dirty="0"/>
              <a:t>true information</a:t>
            </a:r>
            <a:endParaRPr lang="en-SG" dirty="0"/>
          </a:p>
        </p:txBody>
      </p:sp>
      <p:sp>
        <p:nvSpPr>
          <p:cNvPr id="9" name="TextBox 8">
            <a:extLst>
              <a:ext uri="{FF2B5EF4-FFF2-40B4-BE49-F238E27FC236}">
                <a16:creationId xmlns:a16="http://schemas.microsoft.com/office/drawing/2014/main" id="{E229C964-F1B5-FC6E-459F-5930E4091A3F}"/>
              </a:ext>
            </a:extLst>
          </p:cNvPr>
          <p:cNvSpPr txBox="1"/>
          <p:nvPr/>
        </p:nvSpPr>
        <p:spPr>
          <a:xfrm>
            <a:off x="2994820" y="2014621"/>
            <a:ext cx="1798636" cy="369332"/>
          </a:xfrm>
          <a:prstGeom prst="rect">
            <a:avLst/>
          </a:prstGeom>
          <a:noFill/>
        </p:spPr>
        <p:txBody>
          <a:bodyPr wrap="square" rtlCol="0">
            <a:spAutoFit/>
          </a:bodyPr>
          <a:lstStyle/>
          <a:p>
            <a:r>
              <a:rPr lang="en-US" dirty="0" err="1"/>
              <a:t>reco</a:t>
            </a:r>
            <a:r>
              <a:rPr lang="en-US" dirty="0"/>
              <a:t> information</a:t>
            </a:r>
            <a:endParaRPr lang="en-SG" dirty="0"/>
          </a:p>
        </p:txBody>
      </p:sp>
      <p:graphicFrame>
        <p:nvGraphicFramePr>
          <p:cNvPr id="12" name="Table 11">
            <a:extLst>
              <a:ext uri="{FF2B5EF4-FFF2-40B4-BE49-F238E27FC236}">
                <a16:creationId xmlns:a16="http://schemas.microsoft.com/office/drawing/2014/main" id="{C2AD1790-684A-C605-9D71-9ADFEE537F7D}"/>
              </a:ext>
            </a:extLst>
          </p:cNvPr>
          <p:cNvGraphicFramePr>
            <a:graphicFrameLocks noGrp="1"/>
          </p:cNvGraphicFramePr>
          <p:nvPr/>
        </p:nvGraphicFramePr>
        <p:xfrm>
          <a:off x="7410205" y="4094270"/>
          <a:ext cx="4473338" cy="2052741"/>
        </p:xfrm>
        <a:graphic>
          <a:graphicData uri="http://schemas.openxmlformats.org/drawingml/2006/table">
            <a:tbl>
              <a:tblPr firstRow="1" bandRow="1">
                <a:tableStyleId>{5940675A-B579-460E-94D1-54222C63F5DA}</a:tableStyleId>
              </a:tblPr>
              <a:tblGrid>
                <a:gridCol w="922919">
                  <a:extLst>
                    <a:ext uri="{9D8B030D-6E8A-4147-A177-3AD203B41FA5}">
                      <a16:colId xmlns:a16="http://schemas.microsoft.com/office/drawing/2014/main" val="2941989956"/>
                    </a:ext>
                  </a:extLst>
                </a:gridCol>
                <a:gridCol w="1183473">
                  <a:extLst>
                    <a:ext uri="{9D8B030D-6E8A-4147-A177-3AD203B41FA5}">
                      <a16:colId xmlns:a16="http://schemas.microsoft.com/office/drawing/2014/main" val="1069051651"/>
                    </a:ext>
                  </a:extLst>
                </a:gridCol>
                <a:gridCol w="1183473">
                  <a:extLst>
                    <a:ext uri="{9D8B030D-6E8A-4147-A177-3AD203B41FA5}">
                      <a16:colId xmlns:a16="http://schemas.microsoft.com/office/drawing/2014/main" val="3100492204"/>
                    </a:ext>
                  </a:extLst>
                </a:gridCol>
                <a:gridCol w="1183473">
                  <a:extLst>
                    <a:ext uri="{9D8B030D-6E8A-4147-A177-3AD203B41FA5}">
                      <a16:colId xmlns:a16="http://schemas.microsoft.com/office/drawing/2014/main" val="4108314083"/>
                    </a:ext>
                  </a:extLst>
                </a:gridCol>
              </a:tblGrid>
              <a:tr h="537209">
                <a:tc>
                  <a:txBody>
                    <a:bodyPr/>
                    <a:lstStyle/>
                    <a:p>
                      <a:pPr algn="ctr"/>
                      <a:r>
                        <a:rPr lang="en-US" b="1" dirty="0">
                          <a:solidFill>
                            <a:schemeClr val="tx1"/>
                          </a:solidFill>
                        </a:rPr>
                        <a:t>BNB</a:t>
                      </a:r>
                      <a:endParaRPr lang="en-SG" b="1" dirty="0">
                        <a:solidFill>
                          <a:schemeClr val="tx1"/>
                        </a:solidFill>
                      </a:endParaRPr>
                    </a:p>
                  </a:txBody>
                  <a:tcPr anchor="ctr"/>
                </a:tc>
                <a:tc>
                  <a:txBody>
                    <a:bodyPr/>
                    <a:lstStyle/>
                    <a:p>
                      <a:pPr algn="ctr"/>
                      <a:r>
                        <a:rPr lang="en-US" sz="1400" dirty="0">
                          <a:solidFill>
                            <a:srgbClr val="FF0000"/>
                          </a:solidFill>
                        </a:rPr>
                        <a:t>Passes</a:t>
                      </a:r>
                      <a:endParaRPr lang="en-SG" sz="1400" dirty="0">
                        <a:solidFill>
                          <a:srgbClr val="FF0000"/>
                        </a:solidFill>
                      </a:endParaRPr>
                    </a:p>
                  </a:txBody>
                  <a:tcPr anchor="ctr">
                    <a:solidFill>
                      <a:schemeClr val="bg2"/>
                    </a:solidFill>
                  </a:tcPr>
                </a:tc>
                <a:tc>
                  <a:txBody>
                    <a:bodyPr/>
                    <a:lstStyle/>
                    <a:p>
                      <a:pPr algn="ctr"/>
                      <a:r>
                        <a:rPr lang="en-US" sz="1400" dirty="0">
                          <a:solidFill>
                            <a:srgbClr val="FF0000"/>
                          </a:solidFill>
                        </a:rPr>
                        <a:t>Fails</a:t>
                      </a:r>
                      <a:endParaRPr lang="en-SG" sz="1400" dirty="0">
                        <a:solidFill>
                          <a:srgbClr val="FF0000"/>
                        </a:solidFill>
                      </a:endParaRP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FF0000"/>
                          </a:solidFill>
                        </a:rPr>
                        <a:t>Overflow</a:t>
                      </a:r>
                      <a:endParaRPr lang="en-SG" sz="1400" b="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97.1%</a:t>
                      </a:r>
                      <a:endParaRPr lang="en-SG" dirty="0"/>
                    </a:p>
                  </a:txBody>
                  <a:tcPr anchor="ctr"/>
                </a:tc>
                <a:tc>
                  <a:txBody>
                    <a:bodyPr/>
                    <a:lstStyle/>
                    <a:p>
                      <a:pPr algn="ctr"/>
                      <a:r>
                        <a:rPr lang="en-US" dirty="0"/>
                        <a:t>2.3%</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0.58%</a:t>
                      </a:r>
                      <a:endParaRPr lang="en-SG" b="0" dirty="0">
                        <a:solidFill>
                          <a:schemeClr val="tx1"/>
                        </a:solidFill>
                      </a:endParaRPr>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Passes containment</a:t>
                      </a:r>
                      <a:endParaRPr lang="en-SG" sz="1400" b="0" dirty="0">
                        <a:solidFill>
                          <a:srgbClr val="FF0000"/>
                        </a:solidFill>
                      </a:endParaRPr>
                    </a:p>
                  </a:txBody>
                  <a:tcPr anchor="ctr">
                    <a:solidFill>
                      <a:schemeClr val="bg2"/>
                    </a:solidFill>
                  </a:tcPr>
                </a:tc>
                <a:tc>
                  <a:txBody>
                    <a:bodyPr/>
                    <a:lstStyle/>
                    <a:p>
                      <a:pPr algn="ctr"/>
                      <a:r>
                        <a:rPr lang="en-US" dirty="0"/>
                        <a:t>98.2%</a:t>
                      </a:r>
                      <a:endParaRPr lang="en-SG" dirty="0"/>
                    </a:p>
                  </a:txBody>
                  <a:tcPr anchor="ctr"/>
                </a:tc>
                <a:tc>
                  <a:txBody>
                    <a:bodyPr/>
                    <a:lstStyle/>
                    <a:p>
                      <a:pPr algn="ctr"/>
                      <a:r>
                        <a:rPr lang="en-US" dirty="0"/>
                        <a:t>1.2%</a:t>
                      </a:r>
                      <a:endParaRPr lang="en-SG"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0.58%</a:t>
                      </a:r>
                      <a:endParaRPr lang="en-SG" b="0" dirty="0">
                        <a:solidFill>
                          <a:schemeClr val="tx1"/>
                        </a:solidFill>
                      </a:endParaRPr>
                    </a:p>
                  </a:txBody>
                  <a:tcPr anchor="ctr"/>
                </a:tc>
                <a:extLst>
                  <a:ext uri="{0D108BD9-81ED-4DB2-BD59-A6C34878D82A}">
                    <a16:rowId xmlns:a16="http://schemas.microsoft.com/office/drawing/2014/main" val="2781143425"/>
                  </a:ext>
                </a:extLst>
              </a:tr>
            </a:tbl>
          </a:graphicData>
        </a:graphic>
      </p:graphicFrame>
      <p:sp>
        <p:nvSpPr>
          <p:cNvPr id="13" name="TextBox 12">
            <a:extLst>
              <a:ext uri="{FF2B5EF4-FFF2-40B4-BE49-F238E27FC236}">
                <a16:creationId xmlns:a16="http://schemas.microsoft.com/office/drawing/2014/main" id="{B69DCB1C-DA83-97CA-9BBA-7C7F39F82003}"/>
              </a:ext>
            </a:extLst>
          </p:cNvPr>
          <p:cNvSpPr txBox="1"/>
          <p:nvPr/>
        </p:nvSpPr>
        <p:spPr>
          <a:xfrm>
            <a:off x="6096000" y="5120640"/>
            <a:ext cx="1314205" cy="646331"/>
          </a:xfrm>
          <a:prstGeom prst="rect">
            <a:avLst/>
          </a:prstGeom>
          <a:noFill/>
        </p:spPr>
        <p:txBody>
          <a:bodyPr wrap="square" rtlCol="0">
            <a:spAutoFit/>
          </a:bodyPr>
          <a:lstStyle/>
          <a:p>
            <a:r>
              <a:rPr lang="en-US" dirty="0"/>
              <a:t>true information</a:t>
            </a:r>
            <a:endParaRPr lang="en-SG" dirty="0"/>
          </a:p>
        </p:txBody>
      </p:sp>
      <p:sp>
        <p:nvSpPr>
          <p:cNvPr id="16" name="TextBox 15">
            <a:extLst>
              <a:ext uri="{FF2B5EF4-FFF2-40B4-BE49-F238E27FC236}">
                <a16:creationId xmlns:a16="http://schemas.microsoft.com/office/drawing/2014/main" id="{92A088CF-ECCB-2891-CDDB-6CA307BDC418}"/>
              </a:ext>
            </a:extLst>
          </p:cNvPr>
          <p:cNvSpPr txBox="1"/>
          <p:nvPr/>
        </p:nvSpPr>
        <p:spPr>
          <a:xfrm>
            <a:off x="8963338" y="3702875"/>
            <a:ext cx="1798636" cy="369332"/>
          </a:xfrm>
          <a:prstGeom prst="rect">
            <a:avLst/>
          </a:prstGeom>
          <a:noFill/>
        </p:spPr>
        <p:txBody>
          <a:bodyPr wrap="square" rtlCol="0">
            <a:spAutoFit/>
          </a:bodyPr>
          <a:lstStyle/>
          <a:p>
            <a:r>
              <a:rPr lang="en-US" dirty="0" err="1"/>
              <a:t>reco</a:t>
            </a:r>
            <a:r>
              <a:rPr lang="en-US" dirty="0"/>
              <a:t> information</a:t>
            </a:r>
            <a:endParaRPr lang="en-SG" dirty="0"/>
          </a:p>
        </p:txBody>
      </p:sp>
      <p:sp>
        <p:nvSpPr>
          <p:cNvPr id="3" name="Content Placeholder 2">
            <a:extLst>
              <a:ext uri="{FF2B5EF4-FFF2-40B4-BE49-F238E27FC236}">
                <a16:creationId xmlns:a16="http://schemas.microsoft.com/office/drawing/2014/main" id="{8AE8B259-357F-2746-33DB-287FC6515D1D}"/>
              </a:ext>
            </a:extLst>
          </p:cNvPr>
          <p:cNvSpPr>
            <a:spLocks noGrp="1"/>
          </p:cNvSpPr>
          <p:nvPr>
            <p:ph idx="1"/>
          </p:nvPr>
        </p:nvSpPr>
        <p:spPr>
          <a:xfrm>
            <a:off x="6562725" y="1925051"/>
            <a:ext cx="5304650" cy="4023360"/>
          </a:xfrm>
        </p:spPr>
        <p:txBody>
          <a:bodyPr>
            <a:normAutofit/>
          </a:bodyPr>
          <a:lstStyle/>
          <a:p>
            <a:pPr lvl="1">
              <a:buFont typeface="Arial" panose="020B0604020202020204" pitchFamily="34" charset="0"/>
              <a:buChar char="•"/>
            </a:pPr>
            <a:r>
              <a:rPr lang="en-US" dirty="0">
                <a:solidFill>
                  <a:schemeClr val="tx1"/>
                </a:solidFill>
              </a:rPr>
              <a:t>We look at the truth-level selection mode, and the reconstructed </a:t>
            </a:r>
            <a:r>
              <a:rPr lang="en-US" dirty="0"/>
              <a:t>interactions</a:t>
            </a:r>
            <a:r>
              <a:rPr lang="en-US" dirty="0">
                <a:solidFill>
                  <a:schemeClr val="tx1"/>
                </a:solidFill>
              </a:rPr>
              <a:t> information matched to the true </a:t>
            </a:r>
            <a:r>
              <a:rPr lang="en-US" dirty="0"/>
              <a:t>interactions</a:t>
            </a:r>
            <a:endParaRPr lang="fr-FR" dirty="0">
              <a:solidFill>
                <a:schemeClr val="tx1"/>
              </a:solidFill>
            </a:endParaRPr>
          </a:p>
          <a:p>
            <a:pPr marL="0" indent="0">
              <a:buNone/>
            </a:pPr>
            <a:endParaRPr lang="fr-FR" dirty="0">
              <a:solidFill>
                <a:srgbClr val="FF0000"/>
              </a:solidFill>
            </a:endParaRPr>
          </a:p>
        </p:txBody>
      </p:sp>
    </p:spTree>
    <p:extLst>
      <p:ext uri="{BB962C8B-B14F-4D97-AF65-F5344CB8AC3E}">
        <p14:creationId xmlns:p14="http://schemas.microsoft.com/office/powerpoint/2010/main" val="235916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199A1-9FA5-90A9-F0EC-DA234D423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8907E-BFFD-B193-CAB7-BA9F31E3918F}"/>
              </a:ext>
            </a:extLst>
          </p:cNvPr>
          <p:cNvSpPr>
            <a:spLocks noGrp="1"/>
          </p:cNvSpPr>
          <p:nvPr>
            <p:ph type="title"/>
          </p:nvPr>
        </p:nvSpPr>
        <p:spPr>
          <a:xfrm>
            <a:off x="1066800" y="3066311"/>
            <a:ext cx="10058400" cy="725378"/>
          </a:xfrm>
        </p:spPr>
        <p:txBody>
          <a:bodyPr/>
          <a:lstStyle/>
          <a:p>
            <a:pPr algn="ctr"/>
            <a:r>
              <a:rPr lang="en-US" b="1" dirty="0"/>
              <a:t>2-shower event selection</a:t>
            </a:r>
            <a:endParaRPr lang="en-SG" b="1" dirty="0"/>
          </a:p>
        </p:txBody>
      </p:sp>
    </p:spTree>
    <p:extLst>
      <p:ext uri="{BB962C8B-B14F-4D97-AF65-F5344CB8AC3E}">
        <p14:creationId xmlns:p14="http://schemas.microsoft.com/office/powerpoint/2010/main" val="3686823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D074-8C41-95FD-B4D9-F17A45F31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A7EC0-596D-72BD-9DFC-AB6CCCC792E0}"/>
              </a:ext>
            </a:extLst>
          </p:cNvPr>
          <p:cNvSpPr>
            <a:spLocks noGrp="1"/>
          </p:cNvSpPr>
          <p:nvPr>
            <p:ph type="title"/>
          </p:nvPr>
        </p:nvSpPr>
        <p:spPr/>
        <p:txBody>
          <a:bodyPr/>
          <a:lstStyle/>
          <a:p>
            <a:r>
              <a:rPr lang="en-US" dirty="0"/>
              <a:t>Looking for ee, </a:t>
            </a:r>
            <a:r>
              <a:rPr lang="en-US" dirty="0" err="1"/>
              <a:t>ey</a:t>
            </a:r>
            <a:r>
              <a:rPr lang="en-US" dirty="0"/>
              <a:t>, and </a:t>
            </a:r>
            <a:r>
              <a:rPr lang="en-US" dirty="0" err="1"/>
              <a:t>yy</a:t>
            </a:r>
            <a:r>
              <a:rPr lang="en-US" dirty="0"/>
              <a:t> shower candidates in </a:t>
            </a:r>
            <a:r>
              <a:rPr lang="en-US" dirty="0" err="1"/>
              <a:t>NuMI</a:t>
            </a:r>
            <a:r>
              <a:rPr lang="en-US" dirty="0"/>
              <a:t> and BNB samples</a:t>
            </a:r>
            <a:endParaRPr lang="en-SG" dirty="0"/>
          </a:p>
        </p:txBody>
      </p:sp>
      <p:sp>
        <p:nvSpPr>
          <p:cNvPr id="12" name="Content Placeholder 2">
            <a:extLst>
              <a:ext uri="{FF2B5EF4-FFF2-40B4-BE49-F238E27FC236}">
                <a16:creationId xmlns:a16="http://schemas.microsoft.com/office/drawing/2014/main" id="{27AE48D9-90DA-927A-182C-6A072CA53BF8}"/>
              </a:ext>
            </a:extLst>
          </p:cNvPr>
          <p:cNvSpPr>
            <a:spLocks noGrp="1"/>
          </p:cNvSpPr>
          <p:nvPr>
            <p:ph idx="1"/>
          </p:nvPr>
        </p:nvSpPr>
        <p:spPr>
          <a:xfrm>
            <a:off x="1097280" y="1845734"/>
            <a:ext cx="4407593" cy="4023360"/>
          </a:xfrm>
        </p:spPr>
        <p:txBody>
          <a:bodyPr>
            <a:normAutofit/>
          </a:bodyPr>
          <a:lstStyle/>
          <a:p>
            <a:pPr lvl="1">
              <a:buFont typeface="Arial" panose="020B0604020202020204" pitchFamily="34" charset="0"/>
              <a:buChar char="•"/>
            </a:pPr>
            <a:r>
              <a:rPr lang="fr-FR" dirty="0" err="1">
                <a:solidFill>
                  <a:schemeClr val="tx1"/>
                </a:solidFill>
              </a:rPr>
              <a:t>Selecting</a:t>
            </a:r>
            <a:r>
              <a:rPr lang="fr-FR" dirty="0">
                <a:solidFill>
                  <a:schemeClr val="tx1"/>
                </a:solidFill>
              </a:rPr>
              <a:t> </a:t>
            </a:r>
            <a:r>
              <a:rPr lang="fr-FR" dirty="0" err="1">
                <a:solidFill>
                  <a:schemeClr val="tx1"/>
                </a:solidFill>
              </a:rPr>
              <a:t>events</a:t>
            </a:r>
            <a:r>
              <a:rPr lang="fr-FR" dirty="0">
                <a:solidFill>
                  <a:schemeClr val="tx1"/>
                </a:solidFill>
              </a:rPr>
              <a:t> </a:t>
            </a:r>
            <a:r>
              <a:rPr lang="fr-FR" dirty="0" err="1">
                <a:solidFill>
                  <a:schemeClr val="tx1"/>
                </a:solidFill>
              </a:rPr>
              <a:t>using</a:t>
            </a:r>
            <a:r>
              <a:rPr lang="fr-FR" dirty="0">
                <a:solidFill>
                  <a:schemeClr val="tx1"/>
                </a:solidFill>
              </a:rPr>
              <a:t> the </a:t>
            </a:r>
            <a:r>
              <a:rPr lang="fr-FR" dirty="0" err="1">
                <a:solidFill>
                  <a:schemeClr val="tx1"/>
                </a:solidFill>
              </a:rPr>
              <a:t>following</a:t>
            </a:r>
            <a:r>
              <a:rPr lang="fr-FR" dirty="0">
                <a:solidFill>
                  <a:schemeClr val="tx1"/>
                </a:solidFill>
              </a:rPr>
              <a:t> </a:t>
            </a:r>
            <a:r>
              <a:rPr lang="fr-FR" dirty="0" err="1">
                <a:solidFill>
                  <a:schemeClr val="tx1"/>
                </a:solidFill>
              </a:rPr>
              <a:t>cuts</a:t>
            </a:r>
            <a:r>
              <a:rPr lang="fr-FR" dirty="0">
                <a:solidFill>
                  <a:schemeClr val="tx1"/>
                </a:solidFill>
              </a:rPr>
              <a:t>, and </a:t>
            </a:r>
            <a:r>
              <a:rPr lang="fr-FR" dirty="0" err="1">
                <a:solidFill>
                  <a:schemeClr val="tx1"/>
                </a:solidFill>
              </a:rPr>
              <a:t>comparing</a:t>
            </a:r>
            <a:r>
              <a:rPr lang="fr-FR" dirty="0">
                <a:solidFill>
                  <a:schemeClr val="tx1"/>
                </a:solidFill>
              </a:rPr>
              <a:t> </a:t>
            </a:r>
            <a:r>
              <a:rPr lang="fr-FR" dirty="0" err="1">
                <a:solidFill>
                  <a:schemeClr val="tx1"/>
                </a:solidFill>
              </a:rPr>
              <a:t>with</a:t>
            </a:r>
            <a:r>
              <a:rPr lang="fr-FR" dirty="0">
                <a:solidFill>
                  <a:schemeClr val="tx1"/>
                </a:solidFill>
              </a:rPr>
              <a:t> </a:t>
            </a:r>
            <a:r>
              <a:rPr lang="fr-FR" dirty="0" err="1">
                <a:solidFill>
                  <a:schemeClr val="tx1"/>
                </a:solidFill>
              </a:rPr>
              <a:t>truth-level</a:t>
            </a:r>
            <a:r>
              <a:rPr lang="fr-FR" dirty="0">
                <a:solidFill>
                  <a:schemeClr val="tx1"/>
                </a:solidFill>
              </a:rPr>
              <a:t> information </a:t>
            </a:r>
          </a:p>
          <a:p>
            <a:pPr lvl="1">
              <a:buFont typeface="Arial" panose="020B0604020202020204" pitchFamily="34" charset="0"/>
              <a:buChar char="•"/>
            </a:pPr>
            <a:r>
              <a:rPr lang="fr-FR" dirty="0">
                <a:solidFill>
                  <a:schemeClr val="tx1"/>
                </a:solidFill>
              </a:rPr>
              <a:t>Interaction-</a:t>
            </a:r>
            <a:r>
              <a:rPr lang="fr-FR" dirty="0" err="1">
                <a:solidFill>
                  <a:schemeClr val="tx1"/>
                </a:solidFill>
              </a:rPr>
              <a:t>level</a:t>
            </a:r>
            <a:r>
              <a:rPr lang="fr-FR" dirty="0">
                <a:solidFill>
                  <a:schemeClr val="tx1"/>
                </a:solidFill>
              </a:rPr>
              <a:t> information and </a:t>
            </a:r>
            <a:r>
              <a:rPr lang="fr-FR" dirty="0" err="1">
                <a:solidFill>
                  <a:schemeClr val="tx1"/>
                </a:solidFill>
              </a:rPr>
              <a:t>particle-level</a:t>
            </a:r>
            <a:r>
              <a:rPr lang="fr-FR" dirty="0">
                <a:solidFill>
                  <a:schemeClr val="tx1"/>
                </a:solidFill>
              </a:rPr>
              <a:t> information split </a:t>
            </a:r>
            <a:r>
              <a:rPr lang="fr-FR" dirty="0" err="1">
                <a:solidFill>
                  <a:schemeClr val="tx1"/>
                </a:solidFill>
              </a:rPr>
              <a:t>into</a:t>
            </a:r>
            <a:r>
              <a:rPr lang="fr-FR" dirty="0">
                <a:solidFill>
                  <a:schemeClr val="tx1"/>
                </a:solidFill>
              </a:rPr>
              <a:t> </a:t>
            </a:r>
            <a:r>
              <a:rPr lang="fr-FR" dirty="0" err="1">
                <a:solidFill>
                  <a:schemeClr val="tx1"/>
                </a:solidFill>
              </a:rPr>
              <a:t>seperate</a:t>
            </a:r>
            <a:r>
              <a:rPr lang="fr-FR" dirty="0">
                <a:solidFill>
                  <a:schemeClr val="tx1"/>
                </a:solidFill>
              </a:rPr>
              <a:t> </a:t>
            </a:r>
            <a:r>
              <a:rPr lang="fr-FR" dirty="0" err="1">
                <a:solidFill>
                  <a:schemeClr val="tx1"/>
                </a:solidFill>
              </a:rPr>
              <a:t>Ttrees</a:t>
            </a:r>
            <a:endParaRPr lang="fr-FR" dirty="0">
              <a:solidFill>
                <a:schemeClr val="tx1"/>
              </a:solidFill>
            </a:endParaRPr>
          </a:p>
          <a:p>
            <a:pPr lvl="1">
              <a:buFont typeface="Arial" panose="020B0604020202020204" pitchFamily="34" charset="0"/>
              <a:buChar char="•"/>
            </a:pPr>
            <a:r>
              <a:rPr lang="fr-FR" dirty="0">
                <a:solidFill>
                  <a:schemeClr val="tx1"/>
                </a:solidFill>
              </a:rPr>
              <a:t>Leading and </a:t>
            </a:r>
            <a:r>
              <a:rPr lang="fr-FR" dirty="0" err="1">
                <a:solidFill>
                  <a:schemeClr val="tx1"/>
                </a:solidFill>
              </a:rPr>
              <a:t>subleading</a:t>
            </a:r>
            <a:r>
              <a:rPr lang="fr-FR" dirty="0">
                <a:solidFill>
                  <a:schemeClr val="tx1"/>
                </a:solidFill>
              </a:rPr>
              <a:t> </a:t>
            </a:r>
            <a:r>
              <a:rPr lang="fr-FR" dirty="0" err="1">
                <a:solidFill>
                  <a:schemeClr val="tx1"/>
                </a:solidFill>
              </a:rPr>
              <a:t>shower</a:t>
            </a:r>
            <a:r>
              <a:rPr lang="fr-FR" dirty="0">
                <a:solidFill>
                  <a:schemeClr val="tx1"/>
                </a:solidFill>
              </a:rPr>
              <a:t> </a:t>
            </a:r>
            <a:r>
              <a:rPr lang="fr-FR" dirty="0" err="1">
                <a:solidFill>
                  <a:schemeClr val="tx1"/>
                </a:solidFill>
              </a:rPr>
              <a:t>particles</a:t>
            </a:r>
            <a:r>
              <a:rPr lang="fr-FR" dirty="0">
                <a:solidFill>
                  <a:schemeClr val="tx1"/>
                </a:solidFill>
              </a:rPr>
              <a:t> </a:t>
            </a:r>
            <a:r>
              <a:rPr lang="fr-FR" dirty="0" err="1">
                <a:solidFill>
                  <a:schemeClr val="tx1"/>
                </a:solidFill>
              </a:rPr>
              <a:t>selected</a:t>
            </a:r>
            <a:r>
              <a:rPr lang="fr-FR" dirty="0">
                <a:solidFill>
                  <a:schemeClr val="tx1"/>
                </a:solidFill>
              </a:rPr>
              <a:t> for </a:t>
            </a:r>
            <a:r>
              <a:rPr lang="fr-FR" dirty="0" err="1">
                <a:solidFill>
                  <a:schemeClr val="tx1"/>
                </a:solidFill>
              </a:rPr>
              <a:t>plotting</a:t>
            </a:r>
            <a:r>
              <a:rPr lang="fr-FR" dirty="0">
                <a:solidFill>
                  <a:schemeClr val="tx1"/>
                </a:solidFill>
              </a:rPr>
              <a:t> of variables</a:t>
            </a:r>
          </a:p>
          <a:p>
            <a:pPr marL="0" indent="0">
              <a:buNone/>
            </a:pPr>
            <a:endParaRPr lang="fr-FR" dirty="0">
              <a:solidFill>
                <a:srgbClr val="FF0000"/>
              </a:solidFill>
            </a:endParaRPr>
          </a:p>
        </p:txBody>
      </p:sp>
      <p:pic>
        <p:nvPicPr>
          <p:cNvPr id="3" name="Picture 2">
            <a:extLst>
              <a:ext uri="{FF2B5EF4-FFF2-40B4-BE49-F238E27FC236}">
                <a16:creationId xmlns:a16="http://schemas.microsoft.com/office/drawing/2014/main" id="{DAFFA51E-3276-A178-941B-AF093EF5F563}"/>
              </a:ext>
            </a:extLst>
          </p:cNvPr>
          <p:cNvPicPr>
            <a:picLocks noChangeAspect="1"/>
          </p:cNvPicPr>
          <p:nvPr/>
        </p:nvPicPr>
        <p:blipFill>
          <a:blip r:embed="rId2"/>
          <a:stretch>
            <a:fillRect/>
          </a:stretch>
        </p:blipFill>
        <p:spPr>
          <a:xfrm>
            <a:off x="6576291" y="1845734"/>
            <a:ext cx="4940732" cy="1304461"/>
          </a:xfrm>
          <a:prstGeom prst="rect">
            <a:avLst/>
          </a:prstGeom>
        </p:spPr>
      </p:pic>
      <p:pic>
        <p:nvPicPr>
          <p:cNvPr id="4" name="Picture 3">
            <a:extLst>
              <a:ext uri="{FF2B5EF4-FFF2-40B4-BE49-F238E27FC236}">
                <a16:creationId xmlns:a16="http://schemas.microsoft.com/office/drawing/2014/main" id="{A3A3BA84-2CD9-5BC8-76E1-565F44F6CFE0}"/>
              </a:ext>
            </a:extLst>
          </p:cNvPr>
          <p:cNvPicPr>
            <a:picLocks noChangeAspect="1"/>
          </p:cNvPicPr>
          <p:nvPr/>
        </p:nvPicPr>
        <p:blipFill>
          <a:blip r:embed="rId3"/>
          <a:stretch>
            <a:fillRect/>
          </a:stretch>
        </p:blipFill>
        <p:spPr>
          <a:xfrm>
            <a:off x="6576288" y="3321396"/>
            <a:ext cx="4940733" cy="1296264"/>
          </a:xfrm>
          <a:prstGeom prst="rect">
            <a:avLst/>
          </a:prstGeom>
        </p:spPr>
      </p:pic>
      <p:pic>
        <p:nvPicPr>
          <p:cNvPr id="6" name="Picture 5">
            <a:extLst>
              <a:ext uri="{FF2B5EF4-FFF2-40B4-BE49-F238E27FC236}">
                <a16:creationId xmlns:a16="http://schemas.microsoft.com/office/drawing/2014/main" id="{B5A374E4-0F5C-EF57-1B15-73B10940A2D0}"/>
              </a:ext>
            </a:extLst>
          </p:cNvPr>
          <p:cNvPicPr>
            <a:picLocks noChangeAspect="1"/>
          </p:cNvPicPr>
          <p:nvPr/>
        </p:nvPicPr>
        <p:blipFill>
          <a:blip r:embed="rId4"/>
          <a:stretch>
            <a:fillRect/>
          </a:stretch>
        </p:blipFill>
        <p:spPr>
          <a:xfrm>
            <a:off x="6576287" y="4858711"/>
            <a:ext cx="4940734" cy="1314818"/>
          </a:xfrm>
          <a:prstGeom prst="rect">
            <a:avLst/>
          </a:prstGeom>
        </p:spPr>
      </p:pic>
      <p:sp>
        <p:nvSpPr>
          <p:cNvPr id="7" name="TextBox 6">
            <a:extLst>
              <a:ext uri="{FF2B5EF4-FFF2-40B4-BE49-F238E27FC236}">
                <a16:creationId xmlns:a16="http://schemas.microsoft.com/office/drawing/2014/main" id="{E2EB2F0B-172B-C801-1B8A-EEB6805D3D0E}"/>
              </a:ext>
            </a:extLst>
          </p:cNvPr>
          <p:cNvSpPr txBox="1"/>
          <p:nvPr/>
        </p:nvSpPr>
        <p:spPr>
          <a:xfrm>
            <a:off x="5643656" y="2236354"/>
            <a:ext cx="1043473" cy="523220"/>
          </a:xfrm>
          <a:prstGeom prst="rect">
            <a:avLst/>
          </a:prstGeom>
          <a:noFill/>
        </p:spPr>
        <p:txBody>
          <a:bodyPr wrap="square" rtlCol="0">
            <a:spAutoFit/>
          </a:bodyPr>
          <a:lstStyle/>
          <a:p>
            <a:r>
              <a:rPr lang="en-US" sz="1400" dirty="0"/>
              <a:t>ee-shower selection</a:t>
            </a:r>
            <a:endParaRPr lang="en-SG" sz="1400" dirty="0"/>
          </a:p>
        </p:txBody>
      </p:sp>
      <p:sp>
        <p:nvSpPr>
          <p:cNvPr id="8" name="TextBox 7">
            <a:extLst>
              <a:ext uri="{FF2B5EF4-FFF2-40B4-BE49-F238E27FC236}">
                <a16:creationId xmlns:a16="http://schemas.microsoft.com/office/drawing/2014/main" id="{A318C06C-9DC0-A83F-E84B-70A661C1927E}"/>
              </a:ext>
            </a:extLst>
          </p:cNvPr>
          <p:cNvSpPr txBox="1"/>
          <p:nvPr/>
        </p:nvSpPr>
        <p:spPr>
          <a:xfrm>
            <a:off x="5643656" y="3707806"/>
            <a:ext cx="1043473" cy="523220"/>
          </a:xfrm>
          <a:prstGeom prst="rect">
            <a:avLst/>
          </a:prstGeom>
          <a:noFill/>
        </p:spPr>
        <p:txBody>
          <a:bodyPr wrap="square" rtlCol="0">
            <a:spAutoFit/>
          </a:bodyPr>
          <a:lstStyle/>
          <a:p>
            <a:r>
              <a:rPr lang="en-US" sz="1400" dirty="0" err="1"/>
              <a:t>yy</a:t>
            </a:r>
            <a:r>
              <a:rPr lang="en-US" sz="1400" dirty="0"/>
              <a:t>-shower selection</a:t>
            </a:r>
            <a:endParaRPr lang="en-SG" sz="1400" dirty="0"/>
          </a:p>
        </p:txBody>
      </p:sp>
      <p:sp>
        <p:nvSpPr>
          <p:cNvPr id="9" name="TextBox 8">
            <a:extLst>
              <a:ext uri="{FF2B5EF4-FFF2-40B4-BE49-F238E27FC236}">
                <a16:creationId xmlns:a16="http://schemas.microsoft.com/office/drawing/2014/main" id="{D0986920-9CAE-3276-F09C-CEC964418FE3}"/>
              </a:ext>
            </a:extLst>
          </p:cNvPr>
          <p:cNvSpPr txBox="1"/>
          <p:nvPr/>
        </p:nvSpPr>
        <p:spPr>
          <a:xfrm>
            <a:off x="5643656" y="5184660"/>
            <a:ext cx="1043473" cy="523220"/>
          </a:xfrm>
          <a:prstGeom prst="rect">
            <a:avLst/>
          </a:prstGeom>
          <a:noFill/>
        </p:spPr>
        <p:txBody>
          <a:bodyPr wrap="square" rtlCol="0">
            <a:spAutoFit/>
          </a:bodyPr>
          <a:lstStyle/>
          <a:p>
            <a:r>
              <a:rPr lang="en-US" sz="1400" dirty="0" err="1"/>
              <a:t>ey</a:t>
            </a:r>
            <a:r>
              <a:rPr lang="en-US" sz="1400" dirty="0"/>
              <a:t>-shower selection</a:t>
            </a:r>
            <a:endParaRPr lang="en-SG" sz="1400" dirty="0"/>
          </a:p>
        </p:txBody>
      </p:sp>
    </p:spTree>
    <p:extLst>
      <p:ext uri="{BB962C8B-B14F-4D97-AF65-F5344CB8AC3E}">
        <p14:creationId xmlns:p14="http://schemas.microsoft.com/office/powerpoint/2010/main" val="1654264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ADBA6-F23F-0212-4E87-1AF3F2454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503E5-08A7-D13D-B9D9-F1861B07002A}"/>
              </a:ext>
            </a:extLst>
          </p:cNvPr>
          <p:cNvSpPr>
            <a:spLocks noGrp="1"/>
          </p:cNvSpPr>
          <p:nvPr>
            <p:ph type="title"/>
          </p:nvPr>
        </p:nvSpPr>
        <p:spPr/>
        <p:txBody>
          <a:bodyPr/>
          <a:lstStyle/>
          <a:p>
            <a:r>
              <a:rPr lang="en-US" dirty="0"/>
              <a:t>Looking for ee, </a:t>
            </a:r>
            <a:r>
              <a:rPr lang="en-US" dirty="0" err="1"/>
              <a:t>ey</a:t>
            </a:r>
            <a:r>
              <a:rPr lang="en-US" dirty="0"/>
              <a:t>, and </a:t>
            </a:r>
            <a:r>
              <a:rPr lang="en-US" dirty="0" err="1"/>
              <a:t>yy</a:t>
            </a:r>
            <a:r>
              <a:rPr lang="en-US" dirty="0"/>
              <a:t> shower candidates in </a:t>
            </a:r>
            <a:r>
              <a:rPr lang="en-US" dirty="0" err="1"/>
              <a:t>NuMI</a:t>
            </a:r>
            <a:r>
              <a:rPr lang="en-US" dirty="0"/>
              <a:t> and BNB samples</a:t>
            </a:r>
            <a:endParaRPr lang="en-SG" dirty="0"/>
          </a:p>
        </p:txBody>
      </p:sp>
      <p:sp>
        <p:nvSpPr>
          <p:cNvPr id="12" name="Content Placeholder 2">
            <a:extLst>
              <a:ext uri="{FF2B5EF4-FFF2-40B4-BE49-F238E27FC236}">
                <a16:creationId xmlns:a16="http://schemas.microsoft.com/office/drawing/2014/main" id="{6D89513D-C31E-92D1-5A65-0FFA9F3CAC6D}"/>
              </a:ext>
            </a:extLst>
          </p:cNvPr>
          <p:cNvSpPr>
            <a:spLocks noGrp="1"/>
          </p:cNvSpPr>
          <p:nvPr>
            <p:ph idx="1"/>
          </p:nvPr>
        </p:nvSpPr>
        <p:spPr>
          <a:xfrm>
            <a:off x="1097281" y="1845734"/>
            <a:ext cx="3970020" cy="4023360"/>
          </a:xfrm>
        </p:spPr>
        <p:txBody>
          <a:bodyPr>
            <a:normAutofit/>
          </a:bodyPr>
          <a:lstStyle/>
          <a:p>
            <a:pPr lvl="1">
              <a:buFont typeface="Arial" panose="020B0604020202020204" pitchFamily="34" charset="0"/>
              <a:buChar char="•"/>
            </a:pPr>
            <a:r>
              <a:rPr lang="fr-FR" dirty="0" err="1">
                <a:solidFill>
                  <a:schemeClr val="tx1"/>
                </a:solidFill>
              </a:rPr>
              <a:t>Based</a:t>
            </a:r>
            <a:r>
              <a:rPr lang="fr-FR" dirty="0">
                <a:solidFill>
                  <a:schemeClr val="tx1"/>
                </a:solidFill>
              </a:rPr>
              <a:t> on </a:t>
            </a:r>
            <a:r>
              <a:rPr lang="fr-FR" dirty="0" err="1">
                <a:solidFill>
                  <a:schemeClr val="tx1"/>
                </a:solidFill>
              </a:rPr>
              <a:t>comparison</a:t>
            </a:r>
            <a:r>
              <a:rPr lang="fr-FR" dirty="0">
                <a:solidFill>
                  <a:schemeClr val="tx1"/>
                </a:solidFill>
              </a:rPr>
              <a:t> of reco and </a:t>
            </a:r>
            <a:r>
              <a:rPr lang="fr-FR" dirty="0" err="1">
                <a:solidFill>
                  <a:schemeClr val="tx1"/>
                </a:solidFill>
              </a:rPr>
              <a:t>truth</a:t>
            </a:r>
            <a:r>
              <a:rPr lang="fr-FR" dirty="0">
                <a:solidFill>
                  <a:schemeClr val="tx1"/>
                </a:solidFill>
              </a:rPr>
              <a:t> </a:t>
            </a:r>
            <a:r>
              <a:rPr lang="fr-FR" dirty="0" err="1">
                <a:solidFill>
                  <a:schemeClr val="tx1"/>
                </a:solidFill>
              </a:rPr>
              <a:t>selection</a:t>
            </a:r>
            <a:endParaRPr lang="fr-FR" dirty="0">
              <a:solidFill>
                <a:schemeClr val="tx1"/>
              </a:solidFill>
            </a:endParaRPr>
          </a:p>
          <a:p>
            <a:pPr lvl="2">
              <a:buFont typeface="Arial" panose="020B0604020202020204" pitchFamily="34" charset="0"/>
              <a:buChar char="•"/>
            </a:pPr>
            <a:r>
              <a:rPr lang="fr-FR" dirty="0" err="1">
                <a:solidFill>
                  <a:schemeClr val="tx1"/>
                </a:solidFill>
              </a:rPr>
              <a:t>Only</a:t>
            </a:r>
            <a:r>
              <a:rPr lang="fr-FR" dirty="0">
                <a:solidFill>
                  <a:schemeClr val="tx1"/>
                </a:solidFill>
              </a:rPr>
              <a:t> 1 </a:t>
            </a:r>
            <a:r>
              <a:rPr lang="fr-FR" dirty="0" err="1">
                <a:solidFill>
                  <a:schemeClr val="tx1"/>
                </a:solidFill>
              </a:rPr>
              <a:t>ee-shower</a:t>
            </a:r>
            <a:r>
              <a:rPr lang="fr-FR" dirty="0">
                <a:solidFill>
                  <a:schemeClr val="tx1"/>
                </a:solidFill>
              </a:rPr>
              <a:t> candidate</a:t>
            </a:r>
          </a:p>
          <a:p>
            <a:pPr lvl="1">
              <a:buFont typeface="Arial" panose="020B0604020202020204" pitchFamily="34" charset="0"/>
              <a:buChar char="•"/>
            </a:pPr>
            <a:r>
              <a:rPr lang="fr-FR" dirty="0">
                <a:solidFill>
                  <a:schemeClr val="tx1"/>
                </a:solidFill>
              </a:rPr>
              <a:t>There are a good </a:t>
            </a:r>
            <a:r>
              <a:rPr lang="fr-FR" dirty="0" err="1">
                <a:solidFill>
                  <a:schemeClr val="tx1"/>
                </a:solidFill>
              </a:rPr>
              <a:t>number</a:t>
            </a:r>
            <a:r>
              <a:rPr lang="fr-FR" dirty="0">
                <a:solidFill>
                  <a:schemeClr val="tx1"/>
                </a:solidFill>
              </a:rPr>
              <a:t> of </a:t>
            </a:r>
            <a:r>
              <a:rPr lang="fr-FR" dirty="0" err="1">
                <a:solidFill>
                  <a:schemeClr val="tx1"/>
                </a:solidFill>
              </a:rPr>
              <a:t>yy-shower</a:t>
            </a:r>
            <a:r>
              <a:rPr lang="fr-FR" dirty="0">
                <a:solidFill>
                  <a:schemeClr val="tx1"/>
                </a:solidFill>
              </a:rPr>
              <a:t> candidates </a:t>
            </a:r>
            <a:r>
              <a:rPr lang="fr-FR" dirty="0" err="1">
                <a:solidFill>
                  <a:schemeClr val="tx1"/>
                </a:solidFill>
              </a:rPr>
              <a:t>from</a:t>
            </a:r>
            <a:r>
              <a:rPr lang="fr-FR" dirty="0">
                <a:solidFill>
                  <a:schemeClr val="tx1"/>
                </a:solidFill>
              </a:rPr>
              <a:t> </a:t>
            </a:r>
            <a:r>
              <a:rPr lang="fr-FR" dirty="0" err="1">
                <a:solidFill>
                  <a:schemeClr val="tx1"/>
                </a:solidFill>
              </a:rPr>
              <a:t>both</a:t>
            </a:r>
            <a:r>
              <a:rPr lang="fr-FR" dirty="0">
                <a:solidFill>
                  <a:schemeClr val="tx1"/>
                </a:solidFill>
              </a:rPr>
              <a:t> BNB and </a:t>
            </a:r>
            <a:r>
              <a:rPr lang="fr-FR" dirty="0" err="1">
                <a:solidFill>
                  <a:schemeClr val="tx1"/>
                </a:solidFill>
              </a:rPr>
              <a:t>NuMI</a:t>
            </a:r>
            <a:r>
              <a:rPr lang="fr-FR" dirty="0">
                <a:solidFill>
                  <a:schemeClr val="tx1"/>
                </a:solidFill>
              </a:rPr>
              <a:t> </a:t>
            </a:r>
            <a:r>
              <a:rPr lang="fr-FR" dirty="0" err="1">
                <a:solidFill>
                  <a:schemeClr val="tx1"/>
                </a:solidFill>
              </a:rPr>
              <a:t>samples</a:t>
            </a:r>
            <a:endParaRPr lang="fr-FR" dirty="0">
              <a:solidFill>
                <a:schemeClr val="tx1"/>
              </a:solidFill>
            </a:endParaRPr>
          </a:p>
          <a:p>
            <a:pPr lvl="1">
              <a:buFont typeface="Arial" panose="020B0604020202020204" pitchFamily="34" charset="0"/>
              <a:buChar char="•"/>
            </a:pPr>
            <a:r>
              <a:rPr lang="fr-FR" dirty="0">
                <a:solidFill>
                  <a:schemeClr val="tx1"/>
                </a:solidFill>
              </a:rPr>
              <a:t>There are </a:t>
            </a:r>
            <a:r>
              <a:rPr lang="fr-FR" dirty="0" err="1">
                <a:solidFill>
                  <a:schemeClr val="tx1"/>
                </a:solidFill>
              </a:rPr>
              <a:t>only</a:t>
            </a:r>
            <a:r>
              <a:rPr lang="fr-FR" dirty="0">
                <a:solidFill>
                  <a:schemeClr val="tx1"/>
                </a:solidFill>
              </a:rPr>
              <a:t> a </a:t>
            </a:r>
            <a:r>
              <a:rPr lang="fr-FR" dirty="0" err="1">
                <a:solidFill>
                  <a:schemeClr val="tx1"/>
                </a:solidFill>
              </a:rPr>
              <a:t>very</a:t>
            </a:r>
            <a:r>
              <a:rPr lang="fr-FR" dirty="0">
                <a:solidFill>
                  <a:schemeClr val="tx1"/>
                </a:solidFill>
              </a:rPr>
              <a:t> </a:t>
            </a:r>
            <a:r>
              <a:rPr lang="fr-FR" dirty="0" err="1">
                <a:solidFill>
                  <a:schemeClr val="tx1"/>
                </a:solidFill>
              </a:rPr>
              <a:t>small</a:t>
            </a:r>
            <a:r>
              <a:rPr lang="fr-FR" dirty="0">
                <a:solidFill>
                  <a:schemeClr val="tx1"/>
                </a:solidFill>
              </a:rPr>
              <a:t> </a:t>
            </a:r>
            <a:r>
              <a:rPr lang="fr-FR" dirty="0" err="1">
                <a:solidFill>
                  <a:schemeClr val="tx1"/>
                </a:solidFill>
              </a:rPr>
              <a:t>number</a:t>
            </a:r>
            <a:r>
              <a:rPr lang="fr-FR" dirty="0">
                <a:solidFill>
                  <a:schemeClr val="tx1"/>
                </a:solidFill>
              </a:rPr>
              <a:t> of </a:t>
            </a:r>
            <a:r>
              <a:rPr lang="fr-FR" dirty="0" err="1">
                <a:solidFill>
                  <a:schemeClr val="tx1"/>
                </a:solidFill>
              </a:rPr>
              <a:t>actual</a:t>
            </a:r>
            <a:r>
              <a:rPr lang="fr-FR" dirty="0">
                <a:solidFill>
                  <a:schemeClr val="tx1"/>
                </a:solidFill>
              </a:rPr>
              <a:t> </a:t>
            </a:r>
            <a:r>
              <a:rPr lang="fr-FR" dirty="0" err="1">
                <a:solidFill>
                  <a:schemeClr val="tx1"/>
                </a:solidFill>
              </a:rPr>
              <a:t>ey-shower</a:t>
            </a:r>
            <a:r>
              <a:rPr lang="fr-FR" dirty="0">
                <a:solidFill>
                  <a:schemeClr val="tx1"/>
                </a:solidFill>
              </a:rPr>
              <a:t> candidates</a:t>
            </a:r>
          </a:p>
          <a:p>
            <a:pPr lvl="1">
              <a:buFont typeface="Arial" panose="020B0604020202020204" pitchFamily="34" charset="0"/>
              <a:buChar char="•"/>
            </a:pPr>
            <a:r>
              <a:rPr lang="fr-FR" dirty="0" err="1">
                <a:solidFill>
                  <a:schemeClr val="tx1"/>
                </a:solidFill>
              </a:rPr>
              <a:t>Based</a:t>
            </a:r>
            <a:r>
              <a:rPr lang="fr-FR" dirty="0">
                <a:solidFill>
                  <a:schemeClr val="tx1"/>
                </a:solidFill>
              </a:rPr>
              <a:t> on </a:t>
            </a:r>
            <a:r>
              <a:rPr lang="fr-FR" dirty="0" err="1">
                <a:solidFill>
                  <a:schemeClr val="tx1"/>
                </a:solidFill>
              </a:rPr>
              <a:t>this</a:t>
            </a:r>
            <a:r>
              <a:rPr lang="fr-FR" dirty="0">
                <a:solidFill>
                  <a:schemeClr val="tx1"/>
                </a:solidFill>
              </a:rPr>
              <a:t> </a:t>
            </a:r>
            <a:r>
              <a:rPr lang="fr-FR" dirty="0" err="1">
                <a:solidFill>
                  <a:schemeClr val="tx1"/>
                </a:solidFill>
              </a:rPr>
              <a:t>selection</a:t>
            </a:r>
            <a:r>
              <a:rPr lang="fr-FR" dirty="0">
                <a:solidFill>
                  <a:schemeClr val="tx1"/>
                </a:solidFill>
              </a:rPr>
              <a:t>, </a:t>
            </a:r>
            <a:r>
              <a:rPr lang="fr-FR" dirty="0" err="1">
                <a:solidFill>
                  <a:schemeClr val="tx1"/>
                </a:solidFill>
              </a:rPr>
              <a:t>will</a:t>
            </a:r>
            <a:r>
              <a:rPr lang="fr-FR" dirty="0">
                <a:solidFill>
                  <a:schemeClr val="tx1"/>
                </a:solidFill>
              </a:rPr>
              <a:t> </a:t>
            </a:r>
            <a:r>
              <a:rPr lang="fr-FR" dirty="0" err="1">
                <a:solidFill>
                  <a:schemeClr val="tx1"/>
                </a:solidFill>
              </a:rPr>
              <a:t>only</a:t>
            </a:r>
            <a:r>
              <a:rPr lang="fr-FR" dirty="0">
                <a:solidFill>
                  <a:schemeClr val="tx1"/>
                </a:solidFill>
              </a:rPr>
              <a:t> </a:t>
            </a:r>
            <a:r>
              <a:rPr lang="fr-FR" dirty="0" err="1">
                <a:solidFill>
                  <a:schemeClr val="tx1"/>
                </a:solidFill>
              </a:rPr>
              <a:t>conduct</a:t>
            </a:r>
            <a:r>
              <a:rPr lang="fr-FR" dirty="0">
                <a:solidFill>
                  <a:schemeClr val="tx1"/>
                </a:solidFill>
              </a:rPr>
              <a:t> </a:t>
            </a:r>
            <a:r>
              <a:rPr lang="fr-FR" dirty="0" err="1">
                <a:solidFill>
                  <a:schemeClr val="tx1"/>
                </a:solidFill>
              </a:rPr>
              <a:t>analysis</a:t>
            </a:r>
            <a:r>
              <a:rPr lang="fr-FR" dirty="0">
                <a:solidFill>
                  <a:schemeClr val="tx1"/>
                </a:solidFill>
              </a:rPr>
              <a:t> of </a:t>
            </a:r>
            <a:r>
              <a:rPr lang="fr-FR" dirty="0" err="1">
                <a:solidFill>
                  <a:schemeClr val="tx1"/>
                </a:solidFill>
              </a:rPr>
              <a:t>particle</a:t>
            </a:r>
            <a:r>
              <a:rPr lang="fr-FR" dirty="0">
                <a:solidFill>
                  <a:schemeClr val="tx1"/>
                </a:solidFill>
              </a:rPr>
              <a:t> variables for the </a:t>
            </a:r>
            <a:r>
              <a:rPr lang="fr-FR" dirty="0" err="1">
                <a:solidFill>
                  <a:schemeClr val="tx1"/>
                </a:solidFill>
              </a:rPr>
              <a:t>yy-selection</a:t>
            </a:r>
            <a:endParaRPr lang="fr-FR" dirty="0">
              <a:solidFill>
                <a:schemeClr val="tx1"/>
              </a:solidFill>
            </a:endParaRPr>
          </a:p>
          <a:p>
            <a:pPr marL="0" indent="0">
              <a:buNone/>
            </a:pPr>
            <a:endParaRPr lang="fr-FR" dirty="0">
              <a:solidFill>
                <a:srgbClr val="FF0000"/>
              </a:solidFill>
            </a:endParaRPr>
          </a:p>
        </p:txBody>
      </p:sp>
      <p:graphicFrame>
        <p:nvGraphicFramePr>
          <p:cNvPr id="5" name="Table 4">
            <a:extLst>
              <a:ext uri="{FF2B5EF4-FFF2-40B4-BE49-F238E27FC236}">
                <a16:creationId xmlns:a16="http://schemas.microsoft.com/office/drawing/2014/main" id="{27E43DC9-4B9C-81A4-3BE1-AE32B116658D}"/>
              </a:ext>
            </a:extLst>
          </p:cNvPr>
          <p:cNvGraphicFramePr>
            <a:graphicFrameLocks noGrp="1"/>
          </p:cNvGraphicFramePr>
          <p:nvPr>
            <p:extLst>
              <p:ext uri="{D42A27DB-BD31-4B8C-83A1-F6EECF244321}">
                <p14:modId xmlns:p14="http://schemas.microsoft.com/office/powerpoint/2010/main" val="3611296152"/>
              </p:ext>
            </p:extLst>
          </p:nvPr>
        </p:nvGraphicFramePr>
        <p:xfrm>
          <a:off x="5295901" y="1962150"/>
          <a:ext cx="6720611" cy="3503852"/>
        </p:xfrm>
        <a:graphic>
          <a:graphicData uri="http://schemas.openxmlformats.org/drawingml/2006/table">
            <a:tbl>
              <a:tblPr firstRow="1" bandRow="1">
                <a:tableStyleId>{5C22544A-7EE6-4342-B048-85BDC9FD1C3A}</a:tableStyleId>
              </a:tblPr>
              <a:tblGrid>
                <a:gridCol w="1651945">
                  <a:extLst>
                    <a:ext uri="{9D8B030D-6E8A-4147-A177-3AD203B41FA5}">
                      <a16:colId xmlns:a16="http://schemas.microsoft.com/office/drawing/2014/main" val="3682903481"/>
                    </a:ext>
                  </a:extLst>
                </a:gridCol>
                <a:gridCol w="1036300">
                  <a:extLst>
                    <a:ext uri="{9D8B030D-6E8A-4147-A177-3AD203B41FA5}">
                      <a16:colId xmlns:a16="http://schemas.microsoft.com/office/drawing/2014/main" val="3311962917"/>
                    </a:ext>
                  </a:extLst>
                </a:gridCol>
                <a:gridCol w="1344122">
                  <a:extLst>
                    <a:ext uri="{9D8B030D-6E8A-4147-A177-3AD203B41FA5}">
                      <a16:colId xmlns:a16="http://schemas.microsoft.com/office/drawing/2014/main" val="1281504000"/>
                    </a:ext>
                  </a:extLst>
                </a:gridCol>
                <a:gridCol w="1344122">
                  <a:extLst>
                    <a:ext uri="{9D8B030D-6E8A-4147-A177-3AD203B41FA5}">
                      <a16:colId xmlns:a16="http://schemas.microsoft.com/office/drawing/2014/main" val="3620214667"/>
                    </a:ext>
                  </a:extLst>
                </a:gridCol>
                <a:gridCol w="1344122">
                  <a:extLst>
                    <a:ext uri="{9D8B030D-6E8A-4147-A177-3AD203B41FA5}">
                      <a16:colId xmlns:a16="http://schemas.microsoft.com/office/drawing/2014/main" val="2305604002"/>
                    </a:ext>
                  </a:extLst>
                </a:gridCol>
              </a:tblGrid>
              <a:tr h="744181">
                <a:tc>
                  <a:txBody>
                    <a:bodyPr/>
                    <a:lstStyle/>
                    <a:p>
                      <a:r>
                        <a:rPr lang="en-US" sz="1400" dirty="0"/>
                        <a:t>Parameter</a:t>
                      </a:r>
                      <a:endParaRPr lang="en-SG" sz="1400" dirty="0"/>
                    </a:p>
                  </a:txBody>
                  <a:tcPr/>
                </a:tc>
                <a:tc>
                  <a:txBody>
                    <a:bodyPr/>
                    <a:lstStyle/>
                    <a:p>
                      <a:r>
                        <a:rPr lang="en-US" sz="1400" dirty="0"/>
                        <a:t>Value from </a:t>
                      </a:r>
                      <a:r>
                        <a:rPr lang="en-US" sz="1400" dirty="0" err="1"/>
                        <a:t>reco</a:t>
                      </a:r>
                      <a:r>
                        <a:rPr lang="en-US" sz="1400" dirty="0"/>
                        <a:t> selection</a:t>
                      </a:r>
                      <a:endParaRPr lang="en-SG" sz="1400" dirty="0"/>
                    </a:p>
                  </a:txBody>
                  <a:tcPr/>
                </a:tc>
                <a:tc>
                  <a:txBody>
                    <a:bodyPr/>
                    <a:lstStyle/>
                    <a:p>
                      <a:r>
                        <a:rPr lang="en-US" sz="1400" dirty="0"/>
                        <a:t>Value from truth selection</a:t>
                      </a:r>
                      <a:endParaRPr lang="en-SG" sz="1400" dirty="0"/>
                    </a:p>
                  </a:txBody>
                  <a:tcPr/>
                </a:tc>
                <a:tc>
                  <a:txBody>
                    <a:bodyPr/>
                    <a:lstStyle/>
                    <a:p>
                      <a:r>
                        <a:rPr lang="en-US" sz="1400" dirty="0"/>
                        <a:t>Value from </a:t>
                      </a:r>
                      <a:r>
                        <a:rPr lang="en-US" sz="1400" dirty="0" err="1"/>
                        <a:t>reco</a:t>
                      </a:r>
                      <a:r>
                        <a:rPr lang="en-US" sz="1400" dirty="0"/>
                        <a:t> selection</a:t>
                      </a:r>
                      <a:endParaRPr lang="en-SG" sz="1400" dirty="0"/>
                    </a:p>
                  </a:txBody>
                  <a:tcPr/>
                </a:tc>
                <a:tc>
                  <a:txBody>
                    <a:bodyPr/>
                    <a:lstStyle/>
                    <a:p>
                      <a:r>
                        <a:rPr lang="en-US" sz="1400" dirty="0"/>
                        <a:t>Value from truth selection</a:t>
                      </a:r>
                      <a:endParaRPr lang="en-SG" sz="1400" dirty="0"/>
                    </a:p>
                  </a:txBody>
                  <a:tcPr/>
                </a:tc>
                <a:extLst>
                  <a:ext uri="{0D108BD9-81ED-4DB2-BD59-A6C34878D82A}">
                    <a16:rowId xmlns:a16="http://schemas.microsoft.com/office/drawing/2014/main" val="804877316"/>
                  </a:ext>
                </a:extLst>
              </a:tr>
              <a:tr h="310075">
                <a:tc>
                  <a:txBody>
                    <a:bodyPr/>
                    <a:lstStyle/>
                    <a:p>
                      <a:r>
                        <a:rPr lang="en-US" sz="1400" dirty="0"/>
                        <a:t>Root file sample</a:t>
                      </a:r>
                      <a:endParaRPr lang="en-SG" sz="1400" dirty="0"/>
                    </a:p>
                  </a:txBody>
                  <a:tcPr/>
                </a:tc>
                <a:tc gridSpan="2">
                  <a:txBody>
                    <a:bodyPr/>
                    <a:lstStyle/>
                    <a:p>
                      <a:pPr algn="ctr"/>
                      <a:r>
                        <a:rPr lang="en-US" sz="1400" b="1" dirty="0"/>
                        <a:t>N</a:t>
                      </a:r>
                      <a:r>
                        <a:rPr lang="en-SG" sz="1400" b="1" dirty="0" err="1"/>
                        <a:t>uMI</a:t>
                      </a:r>
                      <a:endParaRPr lang="en-SG" sz="1400" b="1" dirty="0"/>
                    </a:p>
                  </a:txBody>
                  <a:tcPr/>
                </a:tc>
                <a:tc hMerge="1">
                  <a:txBody>
                    <a:bodyPr/>
                    <a:lstStyle/>
                    <a:p>
                      <a:endParaRPr lang="en-SG" sz="1400" dirty="0"/>
                    </a:p>
                  </a:txBody>
                  <a:tcPr/>
                </a:tc>
                <a:tc gridSpan="2">
                  <a:txBody>
                    <a:bodyPr/>
                    <a:lstStyle/>
                    <a:p>
                      <a:pPr algn="ctr"/>
                      <a:r>
                        <a:rPr lang="en-SG" sz="1400" b="1" dirty="0"/>
                        <a:t>BNB</a:t>
                      </a:r>
                    </a:p>
                  </a:txBody>
                  <a:tcPr/>
                </a:tc>
                <a:tc hMerge="1">
                  <a:txBody>
                    <a:bodyPr/>
                    <a:lstStyle/>
                    <a:p>
                      <a:pPr algn="ctr"/>
                      <a:endParaRPr lang="en-SG" sz="1400" dirty="0"/>
                    </a:p>
                  </a:txBody>
                  <a:tcPr/>
                </a:tc>
                <a:extLst>
                  <a:ext uri="{0D108BD9-81ED-4DB2-BD59-A6C34878D82A}">
                    <a16:rowId xmlns:a16="http://schemas.microsoft.com/office/drawing/2014/main" val="1405745668"/>
                  </a:ext>
                </a:extLst>
              </a:tr>
              <a:tr h="744181">
                <a:tc>
                  <a:txBody>
                    <a:bodyPr/>
                    <a:lstStyle/>
                    <a:p>
                      <a:r>
                        <a:rPr lang="en-US" sz="1400" dirty="0"/>
                        <a:t>no. of interactions that passed ee-selection</a:t>
                      </a:r>
                      <a:endParaRPr lang="en-SG" sz="1400" dirty="0"/>
                    </a:p>
                  </a:txBody>
                  <a:tcPr/>
                </a:tc>
                <a:tc>
                  <a:txBody>
                    <a:bodyPr/>
                    <a:lstStyle/>
                    <a:p>
                      <a:pPr algn="l"/>
                      <a:r>
                        <a:rPr lang="en-US" sz="1400" dirty="0"/>
                        <a:t>46</a:t>
                      </a:r>
                      <a:endParaRPr lang="en-SG" sz="1400" dirty="0"/>
                    </a:p>
                  </a:txBody>
                  <a:tcPr/>
                </a:tc>
                <a:tc>
                  <a:txBody>
                    <a:bodyPr/>
                    <a:lstStyle/>
                    <a:p>
                      <a:r>
                        <a:rPr lang="en-US" sz="1400" dirty="0"/>
                        <a:t>1</a:t>
                      </a:r>
                      <a:endParaRPr lang="en-SG" sz="1400" dirty="0"/>
                    </a:p>
                  </a:txBody>
                  <a:tcPr/>
                </a:tc>
                <a:tc>
                  <a:txBody>
                    <a:bodyPr/>
                    <a:lstStyle/>
                    <a:p>
                      <a:r>
                        <a:rPr lang="en-US" sz="1400" dirty="0"/>
                        <a:t>10</a:t>
                      </a:r>
                      <a:endParaRPr lang="en-SG" sz="1400" dirty="0"/>
                    </a:p>
                  </a:txBody>
                  <a:tcPr/>
                </a:tc>
                <a:tc>
                  <a:txBody>
                    <a:bodyPr/>
                    <a:lstStyle/>
                    <a:p>
                      <a:r>
                        <a:rPr lang="en-US" sz="1400" dirty="0"/>
                        <a:t>1</a:t>
                      </a:r>
                      <a:endParaRPr lang="en-SG" sz="1400" dirty="0"/>
                    </a:p>
                  </a:txBody>
                  <a:tcPr/>
                </a:tc>
                <a:extLst>
                  <a:ext uri="{0D108BD9-81ED-4DB2-BD59-A6C34878D82A}">
                    <a16:rowId xmlns:a16="http://schemas.microsoft.com/office/drawing/2014/main" val="3397454016"/>
                  </a:ext>
                </a:extLst>
              </a:tr>
              <a:tr h="744181">
                <a:tc>
                  <a:txBody>
                    <a:bodyPr/>
                    <a:lstStyle/>
                    <a:p>
                      <a:r>
                        <a:rPr lang="en-US" sz="1400" dirty="0"/>
                        <a:t>no. of interactions that passed </a:t>
                      </a:r>
                      <a:r>
                        <a:rPr lang="en-US" sz="1400" dirty="0" err="1"/>
                        <a:t>yy</a:t>
                      </a:r>
                      <a:r>
                        <a:rPr lang="en-US" sz="1400" dirty="0"/>
                        <a:t>-selection</a:t>
                      </a:r>
                      <a:endParaRPr lang="en-SG" sz="1400" dirty="0"/>
                    </a:p>
                  </a:txBody>
                  <a:tcPr/>
                </a:tc>
                <a:tc>
                  <a:txBody>
                    <a:bodyPr/>
                    <a:lstStyle/>
                    <a:p>
                      <a:r>
                        <a:rPr lang="en-US" sz="1400" dirty="0"/>
                        <a:t>990</a:t>
                      </a:r>
                      <a:endParaRPr lang="en-SG" sz="1400" dirty="0"/>
                    </a:p>
                  </a:txBody>
                  <a:tcPr/>
                </a:tc>
                <a:tc>
                  <a:txBody>
                    <a:bodyPr/>
                    <a:lstStyle/>
                    <a:p>
                      <a:r>
                        <a:rPr lang="en-US" sz="1400" dirty="0"/>
                        <a:t>1400</a:t>
                      </a:r>
                      <a:endParaRPr lang="en-SG" sz="1400" dirty="0"/>
                    </a:p>
                  </a:txBody>
                  <a:tcPr/>
                </a:tc>
                <a:tc>
                  <a:txBody>
                    <a:bodyPr/>
                    <a:lstStyle/>
                    <a:p>
                      <a:r>
                        <a:rPr lang="en-US" sz="1400" dirty="0"/>
                        <a:t>1304</a:t>
                      </a:r>
                      <a:endParaRPr lang="en-SG" sz="1400" dirty="0"/>
                    </a:p>
                  </a:txBody>
                  <a:tcPr/>
                </a:tc>
                <a:tc>
                  <a:txBody>
                    <a:bodyPr/>
                    <a:lstStyle/>
                    <a:p>
                      <a:r>
                        <a:rPr lang="en-US" sz="1400" dirty="0"/>
                        <a:t>2048</a:t>
                      </a:r>
                      <a:endParaRPr lang="en-SG" sz="1400" dirty="0"/>
                    </a:p>
                  </a:txBody>
                  <a:tcPr/>
                </a:tc>
                <a:extLst>
                  <a:ext uri="{0D108BD9-81ED-4DB2-BD59-A6C34878D82A}">
                    <a16:rowId xmlns:a16="http://schemas.microsoft.com/office/drawing/2014/main" val="115071748"/>
                  </a:ext>
                </a:extLst>
              </a:tr>
              <a:tr h="9612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interactions that passed </a:t>
                      </a:r>
                      <a:r>
                        <a:rPr lang="en-US" sz="1400" dirty="0" err="1"/>
                        <a:t>ey</a:t>
                      </a:r>
                      <a:r>
                        <a:rPr lang="en-US" sz="1400" dirty="0"/>
                        <a:t>-selection</a:t>
                      </a:r>
                      <a:endParaRPr lang="en-SG" sz="1400" dirty="0"/>
                    </a:p>
                    <a:p>
                      <a:endParaRPr lang="en-SG" sz="1400" dirty="0"/>
                    </a:p>
                  </a:txBody>
                  <a:tcPr/>
                </a:tc>
                <a:tc>
                  <a:txBody>
                    <a:bodyPr/>
                    <a:lstStyle/>
                    <a:p>
                      <a:r>
                        <a:rPr lang="en-US" sz="1400" dirty="0"/>
                        <a:t>218</a:t>
                      </a:r>
                      <a:endParaRPr lang="en-SG" sz="1400" dirty="0"/>
                    </a:p>
                  </a:txBody>
                  <a:tcPr/>
                </a:tc>
                <a:tc>
                  <a:txBody>
                    <a:bodyPr/>
                    <a:lstStyle/>
                    <a:p>
                      <a:r>
                        <a:rPr lang="en-US" sz="1400" dirty="0"/>
                        <a:t>15</a:t>
                      </a:r>
                      <a:endParaRPr lang="en-SG" sz="1400" dirty="0"/>
                    </a:p>
                  </a:txBody>
                  <a:tcPr/>
                </a:tc>
                <a:tc>
                  <a:txBody>
                    <a:bodyPr/>
                    <a:lstStyle/>
                    <a:p>
                      <a:r>
                        <a:rPr lang="en-US" sz="1400" dirty="0"/>
                        <a:t>230</a:t>
                      </a:r>
                      <a:endParaRPr lang="en-SG" sz="1400" dirty="0"/>
                    </a:p>
                  </a:txBody>
                  <a:tcPr/>
                </a:tc>
                <a:tc>
                  <a:txBody>
                    <a:bodyPr/>
                    <a:lstStyle/>
                    <a:p>
                      <a:r>
                        <a:rPr lang="en-US" sz="1400" dirty="0"/>
                        <a:t>5</a:t>
                      </a:r>
                      <a:endParaRPr lang="en-SG" sz="1400" dirty="0"/>
                    </a:p>
                  </a:txBody>
                  <a:tcPr/>
                </a:tc>
                <a:extLst>
                  <a:ext uri="{0D108BD9-81ED-4DB2-BD59-A6C34878D82A}">
                    <a16:rowId xmlns:a16="http://schemas.microsoft.com/office/drawing/2014/main" val="1814037258"/>
                  </a:ext>
                </a:extLst>
              </a:tr>
            </a:tbl>
          </a:graphicData>
        </a:graphic>
      </p:graphicFrame>
    </p:spTree>
    <p:extLst>
      <p:ext uri="{BB962C8B-B14F-4D97-AF65-F5344CB8AC3E}">
        <p14:creationId xmlns:p14="http://schemas.microsoft.com/office/powerpoint/2010/main" val="345252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E34D9F-51E6-F982-FC1C-DF5F80EEE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F821A-325C-194F-F14C-7F67E40446E9}"/>
              </a:ext>
            </a:extLst>
          </p:cNvPr>
          <p:cNvSpPr>
            <a:spLocks noGrp="1"/>
          </p:cNvSpPr>
          <p:nvPr>
            <p:ph type="title"/>
          </p:nvPr>
        </p:nvSpPr>
        <p:spPr/>
        <p:txBody>
          <a:bodyPr/>
          <a:lstStyle/>
          <a:p>
            <a:r>
              <a:rPr lang="en-US" dirty="0"/>
              <a:t>True and </a:t>
            </a:r>
            <a:r>
              <a:rPr lang="en-US" dirty="0" err="1"/>
              <a:t>reco</a:t>
            </a:r>
            <a:r>
              <a:rPr lang="en-US" dirty="0"/>
              <a:t> interaction-level analysis</a:t>
            </a:r>
            <a:endParaRPr lang="en-SG" dirty="0"/>
          </a:p>
        </p:txBody>
      </p:sp>
      <p:sp>
        <p:nvSpPr>
          <p:cNvPr id="3" name="Content Placeholder 2">
            <a:extLst>
              <a:ext uri="{FF2B5EF4-FFF2-40B4-BE49-F238E27FC236}">
                <a16:creationId xmlns:a16="http://schemas.microsoft.com/office/drawing/2014/main" id="{C75A10F4-B753-283B-F1C6-5EBD592ECA28}"/>
              </a:ext>
            </a:extLst>
          </p:cNvPr>
          <p:cNvSpPr>
            <a:spLocks noGrp="1"/>
          </p:cNvSpPr>
          <p:nvPr>
            <p:ph idx="1"/>
          </p:nvPr>
        </p:nvSpPr>
        <p:spPr>
          <a:xfrm>
            <a:off x="1097280" y="1845734"/>
            <a:ext cx="4042611" cy="4351866"/>
          </a:xfrm>
        </p:spPr>
        <p:txBody>
          <a:bodyPr>
            <a:normAutofit/>
          </a:bodyPr>
          <a:lstStyle/>
          <a:p>
            <a:pPr>
              <a:buFont typeface="Arial" panose="020B0604020202020204" pitchFamily="34" charset="0"/>
              <a:buChar char="•"/>
            </a:pPr>
            <a:r>
              <a:rPr lang="en-US" dirty="0" err="1"/>
              <a:t>Analysed</a:t>
            </a:r>
            <a:r>
              <a:rPr lang="en-US" dirty="0"/>
              <a:t> reconstructed vs truth interaction-level multiplicities for </a:t>
            </a:r>
            <a:r>
              <a:rPr lang="en-US" dirty="0" err="1"/>
              <a:t>yy</a:t>
            </a:r>
            <a:r>
              <a:rPr lang="en-US" dirty="0"/>
              <a:t>-showers </a:t>
            </a:r>
          </a:p>
          <a:p>
            <a:pPr lvl="1">
              <a:buFont typeface="Arial" panose="020B0604020202020204" pitchFamily="34" charset="0"/>
              <a:buChar char="•"/>
            </a:pPr>
            <a:r>
              <a:rPr lang="en-US" dirty="0"/>
              <a:t>Looked at discrepancy between true and </a:t>
            </a:r>
            <a:r>
              <a:rPr lang="en-US" dirty="0" err="1"/>
              <a:t>reco</a:t>
            </a:r>
            <a:r>
              <a:rPr lang="en-US" dirty="0"/>
              <a:t> particle multiplicities in selected interactions</a:t>
            </a:r>
          </a:p>
          <a:p>
            <a:pPr lvl="1">
              <a:buFont typeface="Arial" panose="020B0604020202020204" pitchFamily="34" charset="0"/>
              <a:buChar char="•"/>
            </a:pPr>
            <a:r>
              <a:rPr lang="en-US" dirty="0"/>
              <a:t>Looked at particle multiplicities for wrongly reconstructed interactions</a:t>
            </a:r>
          </a:p>
          <a:p>
            <a:pPr lvl="1">
              <a:buFont typeface="Arial" panose="020B0604020202020204" pitchFamily="34" charset="0"/>
              <a:buChar char="•"/>
            </a:pPr>
            <a:endParaRPr lang="en-US" dirty="0"/>
          </a:p>
          <a:p>
            <a:pPr lvl="1">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54FEF597-F5E6-94F0-26A4-24F11BE2BE39}"/>
              </a:ext>
            </a:extLst>
          </p:cNvPr>
          <p:cNvPicPr>
            <a:picLocks noChangeAspect="1"/>
          </p:cNvPicPr>
          <p:nvPr/>
        </p:nvPicPr>
        <p:blipFill>
          <a:blip r:embed="rId2"/>
          <a:stretch>
            <a:fillRect/>
          </a:stretch>
        </p:blipFill>
        <p:spPr>
          <a:xfrm>
            <a:off x="5842319" y="2035945"/>
            <a:ext cx="5690829" cy="4106625"/>
          </a:xfrm>
          <a:prstGeom prst="rect">
            <a:avLst/>
          </a:prstGeom>
        </p:spPr>
      </p:pic>
    </p:spTree>
    <p:extLst>
      <p:ext uri="{BB962C8B-B14F-4D97-AF65-F5344CB8AC3E}">
        <p14:creationId xmlns:p14="http://schemas.microsoft.com/office/powerpoint/2010/main" val="2069797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3653-D188-51E7-3CA7-1DDD27224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B3799-7CBD-4511-9A2C-D20A35B36CF5}"/>
              </a:ext>
            </a:extLst>
          </p:cNvPr>
          <p:cNvSpPr>
            <a:spLocks noGrp="1"/>
          </p:cNvSpPr>
          <p:nvPr>
            <p:ph type="title"/>
          </p:nvPr>
        </p:nvSpPr>
        <p:spPr/>
        <p:txBody>
          <a:bodyPr/>
          <a:lstStyle/>
          <a:p>
            <a:r>
              <a:rPr lang="en-US" b="1" dirty="0"/>
              <a:t>Reco-level</a:t>
            </a:r>
            <a:r>
              <a:rPr lang="en-US" dirty="0"/>
              <a:t> interaction analysis</a:t>
            </a:r>
            <a:endParaRPr lang="en-SG" dirty="0"/>
          </a:p>
        </p:txBody>
      </p:sp>
      <p:graphicFrame>
        <p:nvGraphicFramePr>
          <p:cNvPr id="5" name="Table 4">
            <a:extLst>
              <a:ext uri="{FF2B5EF4-FFF2-40B4-BE49-F238E27FC236}">
                <a16:creationId xmlns:a16="http://schemas.microsoft.com/office/drawing/2014/main" id="{D59AB34B-3E28-7E80-CD41-6D72D32B9167}"/>
              </a:ext>
            </a:extLst>
          </p:cNvPr>
          <p:cNvGraphicFramePr>
            <a:graphicFrameLocks noGrp="1"/>
          </p:cNvGraphicFramePr>
          <p:nvPr>
            <p:extLst>
              <p:ext uri="{D42A27DB-BD31-4B8C-83A1-F6EECF244321}">
                <p14:modId xmlns:p14="http://schemas.microsoft.com/office/powerpoint/2010/main" val="978587343"/>
              </p:ext>
            </p:extLst>
          </p:nvPr>
        </p:nvGraphicFramePr>
        <p:xfrm>
          <a:off x="608674" y="1854971"/>
          <a:ext cx="10974649" cy="2734799"/>
        </p:xfrm>
        <a:graphic>
          <a:graphicData uri="http://schemas.openxmlformats.org/drawingml/2006/table">
            <a:tbl>
              <a:tblPr firstRow="1" bandRow="1">
                <a:tableStyleId>{5C22544A-7EE6-4342-B048-85BDC9FD1C3A}</a:tableStyleId>
              </a:tblPr>
              <a:tblGrid>
                <a:gridCol w="1923212">
                  <a:extLst>
                    <a:ext uri="{9D8B030D-6E8A-4147-A177-3AD203B41FA5}">
                      <a16:colId xmlns:a16="http://schemas.microsoft.com/office/drawing/2014/main" val="3682903481"/>
                    </a:ext>
                  </a:extLst>
                </a:gridCol>
                <a:gridCol w="1206470">
                  <a:extLst>
                    <a:ext uri="{9D8B030D-6E8A-4147-A177-3AD203B41FA5}">
                      <a16:colId xmlns:a16="http://schemas.microsoft.com/office/drawing/2014/main" val="3311962917"/>
                    </a:ext>
                  </a:extLst>
                </a:gridCol>
                <a:gridCol w="1585607">
                  <a:extLst>
                    <a:ext uri="{9D8B030D-6E8A-4147-A177-3AD203B41FA5}">
                      <a16:colId xmlns:a16="http://schemas.microsoft.com/office/drawing/2014/main" val="1281504000"/>
                    </a:ext>
                  </a:extLst>
                </a:gridCol>
                <a:gridCol w="1564840">
                  <a:extLst>
                    <a:ext uri="{9D8B030D-6E8A-4147-A177-3AD203B41FA5}">
                      <a16:colId xmlns:a16="http://schemas.microsoft.com/office/drawing/2014/main" val="4281862300"/>
                    </a:ext>
                  </a:extLst>
                </a:gridCol>
                <a:gridCol w="1564840">
                  <a:extLst>
                    <a:ext uri="{9D8B030D-6E8A-4147-A177-3AD203B41FA5}">
                      <a16:colId xmlns:a16="http://schemas.microsoft.com/office/drawing/2014/main" val="3620214667"/>
                    </a:ext>
                  </a:extLst>
                </a:gridCol>
                <a:gridCol w="1564840">
                  <a:extLst>
                    <a:ext uri="{9D8B030D-6E8A-4147-A177-3AD203B41FA5}">
                      <a16:colId xmlns:a16="http://schemas.microsoft.com/office/drawing/2014/main" val="2305604002"/>
                    </a:ext>
                  </a:extLst>
                </a:gridCol>
                <a:gridCol w="1564840">
                  <a:extLst>
                    <a:ext uri="{9D8B030D-6E8A-4147-A177-3AD203B41FA5}">
                      <a16:colId xmlns:a16="http://schemas.microsoft.com/office/drawing/2014/main" val="2569969504"/>
                    </a:ext>
                  </a:extLst>
                </a:gridCol>
              </a:tblGrid>
              <a:tr h="662159">
                <a:tc>
                  <a:txBody>
                    <a:bodyPr/>
                    <a:lstStyle/>
                    <a:p>
                      <a:r>
                        <a:rPr lang="en-US" sz="1400" dirty="0"/>
                        <a:t>Parameter</a:t>
                      </a:r>
                      <a:endParaRPr lang="en-SG" sz="1400" dirty="0"/>
                    </a:p>
                  </a:txBody>
                  <a:tcPr/>
                </a:tc>
                <a:tc>
                  <a:txBody>
                    <a:bodyPr/>
                    <a:lstStyle/>
                    <a:p>
                      <a:r>
                        <a:rPr lang="en-US" sz="1400" dirty="0"/>
                        <a:t>Reco value</a:t>
                      </a:r>
                      <a:endParaRPr lang="en-SG" sz="1400" dirty="0"/>
                    </a:p>
                  </a:txBody>
                  <a:tcPr/>
                </a:tc>
                <a:tc>
                  <a:txBody>
                    <a:bodyPr/>
                    <a:lstStyle/>
                    <a:p>
                      <a:r>
                        <a:rPr lang="en-US" sz="1400" dirty="0"/>
                        <a:t>True value</a:t>
                      </a:r>
                      <a:endParaRPr lang="en-SG" sz="1400" dirty="0"/>
                    </a:p>
                  </a:txBody>
                  <a:tcPr/>
                </a:tc>
                <a:tc>
                  <a:txBody>
                    <a:bodyPr/>
                    <a:lstStyle/>
                    <a:p>
                      <a:r>
                        <a:rPr lang="en-US" sz="1400" dirty="0"/>
                        <a:t>Purity</a:t>
                      </a:r>
                      <a:endParaRPr lang="en-SG" sz="1400" dirty="0"/>
                    </a:p>
                  </a:txBody>
                  <a:tcPr/>
                </a:tc>
                <a:tc>
                  <a:txBody>
                    <a:bodyPr/>
                    <a:lstStyle/>
                    <a:p>
                      <a:r>
                        <a:rPr lang="en-US" sz="1400" dirty="0"/>
                        <a:t>Reco value</a:t>
                      </a:r>
                      <a:endParaRPr lang="en-SG" sz="1400" dirty="0"/>
                    </a:p>
                  </a:txBody>
                  <a:tcPr/>
                </a:tc>
                <a:tc>
                  <a:txBody>
                    <a:bodyPr/>
                    <a:lstStyle/>
                    <a:p>
                      <a:r>
                        <a:rPr lang="en-US" sz="1400" dirty="0"/>
                        <a:t>True value</a:t>
                      </a:r>
                      <a:endParaRPr lang="en-SG" sz="1400" dirty="0"/>
                    </a:p>
                  </a:txBody>
                  <a:tcPr/>
                </a:tc>
                <a:tc>
                  <a:txBody>
                    <a:bodyPr/>
                    <a:lstStyle/>
                    <a:p>
                      <a:r>
                        <a:rPr lang="en-US" sz="1400" dirty="0"/>
                        <a:t>Purity</a:t>
                      </a:r>
                      <a:endParaRPr lang="en-SG" sz="1400" dirty="0"/>
                    </a:p>
                    <a:p>
                      <a:endParaRPr lang="en-SG" sz="1400" dirty="0"/>
                    </a:p>
                  </a:txBody>
                  <a:tcPr/>
                </a:tc>
                <a:extLst>
                  <a:ext uri="{0D108BD9-81ED-4DB2-BD59-A6C34878D82A}">
                    <a16:rowId xmlns:a16="http://schemas.microsoft.com/office/drawing/2014/main" val="804877316"/>
                  </a:ext>
                </a:extLst>
              </a:tr>
              <a:tr h="275900">
                <a:tc>
                  <a:txBody>
                    <a:bodyPr/>
                    <a:lstStyle/>
                    <a:p>
                      <a:r>
                        <a:rPr lang="en-US" sz="1400" dirty="0"/>
                        <a:t>Root file sample</a:t>
                      </a:r>
                      <a:endParaRPr lang="en-SG" sz="1400" dirty="0"/>
                    </a:p>
                  </a:txBody>
                  <a:tcPr/>
                </a:tc>
                <a:tc gridSpan="3">
                  <a:txBody>
                    <a:bodyPr/>
                    <a:lstStyle/>
                    <a:p>
                      <a:pPr algn="ctr"/>
                      <a:r>
                        <a:rPr lang="en-SG" sz="1400" b="1" dirty="0" err="1"/>
                        <a:t>NuMI</a:t>
                      </a:r>
                      <a:endParaRPr lang="en-SG" sz="1400" b="1" dirty="0"/>
                    </a:p>
                  </a:txBody>
                  <a:tcPr/>
                </a:tc>
                <a:tc hMerge="1">
                  <a:txBody>
                    <a:bodyPr/>
                    <a:lstStyle/>
                    <a:p>
                      <a:endParaRPr lang="en-SG" sz="1400" dirty="0"/>
                    </a:p>
                  </a:txBody>
                  <a:tcPr/>
                </a:tc>
                <a:tc hMerge="1">
                  <a:txBody>
                    <a:bodyPr/>
                    <a:lstStyle/>
                    <a:p>
                      <a:pPr algn="ctr"/>
                      <a:endParaRPr lang="en-SG" sz="1400" dirty="0"/>
                    </a:p>
                  </a:txBody>
                  <a:tcPr/>
                </a:tc>
                <a:tc gridSpan="3">
                  <a:txBody>
                    <a:bodyPr/>
                    <a:lstStyle/>
                    <a:p>
                      <a:pPr algn="ctr"/>
                      <a:r>
                        <a:rPr lang="en-SG" sz="1400" b="1" dirty="0"/>
                        <a:t>BNB</a:t>
                      </a:r>
                    </a:p>
                  </a:txBody>
                  <a:tcPr/>
                </a:tc>
                <a:tc hMerge="1">
                  <a:txBody>
                    <a:bodyPr/>
                    <a:lstStyle/>
                    <a:p>
                      <a:pPr algn="ct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1405745668"/>
                  </a:ext>
                </a:extLst>
              </a:tr>
              <a:tr h="469029">
                <a:tc>
                  <a:txBody>
                    <a:bodyPr/>
                    <a:lstStyle/>
                    <a:p>
                      <a:r>
                        <a:rPr lang="en-US" sz="1400" dirty="0"/>
                        <a:t>No of 2-electron multiplicity interactions </a:t>
                      </a:r>
                      <a:endParaRPr lang="en-SG" sz="1400" dirty="0"/>
                    </a:p>
                  </a:txBody>
                  <a:tcPr/>
                </a:tc>
                <a:tc>
                  <a:txBody>
                    <a:bodyPr/>
                    <a:lstStyle/>
                    <a:p>
                      <a:r>
                        <a:rPr lang="en-US" sz="1400" dirty="0"/>
                        <a:t>46</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tc>
                  <a:txBody>
                    <a:bodyPr/>
                    <a:lstStyle/>
                    <a:p>
                      <a:r>
                        <a:rPr lang="en-US" sz="1400" dirty="0"/>
                        <a:t>10</a:t>
                      </a:r>
                      <a:endParaRPr lang="en-SG" sz="1400" dirty="0"/>
                    </a:p>
                  </a:txBody>
                  <a:tcPr/>
                </a:tc>
                <a:tc>
                  <a:txBody>
                    <a:bodyPr/>
                    <a:lstStyle/>
                    <a:p>
                      <a:r>
                        <a:rPr lang="en-US" sz="1400" dirty="0"/>
                        <a:t>1</a:t>
                      </a:r>
                      <a:endParaRPr lang="en-SG" sz="1400" dirty="0"/>
                    </a:p>
                  </a:txBody>
                  <a:tcPr/>
                </a:tc>
                <a:tc>
                  <a:txBody>
                    <a:bodyPr/>
                    <a:lstStyle/>
                    <a:p>
                      <a:r>
                        <a:rPr lang="en-US" sz="1400" dirty="0"/>
                        <a:t>10%</a:t>
                      </a:r>
                      <a:endParaRPr lang="en-SG" sz="1400" dirty="0"/>
                    </a:p>
                  </a:txBody>
                  <a:tcPr/>
                </a:tc>
                <a:extLst>
                  <a:ext uri="{0D108BD9-81ED-4DB2-BD59-A6C34878D82A}">
                    <a16:rowId xmlns:a16="http://schemas.microsoft.com/office/drawing/2014/main" val="3397454016"/>
                  </a:ext>
                </a:extLst>
              </a:tr>
              <a:tr h="469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2-photon multiplicity interactions </a:t>
                      </a:r>
                      <a:endParaRPr lang="en-SG" sz="1400" dirty="0"/>
                    </a:p>
                  </a:txBody>
                  <a:tcPr/>
                </a:tc>
                <a:tc>
                  <a:txBody>
                    <a:bodyPr/>
                    <a:lstStyle/>
                    <a:p>
                      <a:r>
                        <a:rPr lang="en-US" sz="1400" dirty="0"/>
                        <a:t>990</a:t>
                      </a:r>
                      <a:endParaRPr lang="en-SG" sz="1400" dirty="0"/>
                    </a:p>
                  </a:txBody>
                  <a:tcPr/>
                </a:tc>
                <a:tc>
                  <a:txBody>
                    <a:bodyPr/>
                    <a:lstStyle/>
                    <a:p>
                      <a:r>
                        <a:rPr lang="en-US" sz="1400" dirty="0"/>
                        <a:t>788</a:t>
                      </a:r>
                      <a:endParaRPr lang="en-SG" sz="1400" dirty="0"/>
                    </a:p>
                  </a:txBody>
                  <a:tcPr/>
                </a:tc>
                <a:tc>
                  <a:txBody>
                    <a:bodyPr/>
                    <a:lstStyle/>
                    <a:p>
                      <a:r>
                        <a:rPr lang="en-US" sz="1400" dirty="0"/>
                        <a:t>79.6%</a:t>
                      </a:r>
                      <a:endParaRPr lang="en-SG" sz="1400" dirty="0"/>
                    </a:p>
                  </a:txBody>
                  <a:tcPr/>
                </a:tc>
                <a:tc>
                  <a:txBody>
                    <a:bodyPr/>
                    <a:lstStyle/>
                    <a:p>
                      <a:r>
                        <a:rPr lang="en-US" sz="1400" dirty="0"/>
                        <a:t>1304</a:t>
                      </a:r>
                      <a:endParaRPr lang="en-SG" sz="1400" dirty="0"/>
                    </a:p>
                  </a:txBody>
                  <a:tcPr/>
                </a:tc>
                <a:tc>
                  <a:txBody>
                    <a:bodyPr/>
                    <a:lstStyle/>
                    <a:p>
                      <a:r>
                        <a:rPr lang="en-US" sz="1400" dirty="0"/>
                        <a:t>1135</a:t>
                      </a:r>
                      <a:endParaRPr lang="en-SG" sz="1400" dirty="0"/>
                    </a:p>
                  </a:txBody>
                  <a:tcPr/>
                </a:tc>
                <a:tc>
                  <a:txBody>
                    <a:bodyPr/>
                    <a:lstStyle/>
                    <a:p>
                      <a:r>
                        <a:rPr lang="en-US" sz="1400" dirty="0"/>
                        <a:t>87%</a:t>
                      </a:r>
                      <a:endParaRPr lang="en-SG" sz="1400" dirty="0"/>
                    </a:p>
                  </a:txBody>
                  <a:tcPr/>
                </a:tc>
                <a:extLst>
                  <a:ext uri="{0D108BD9-81ED-4DB2-BD59-A6C34878D82A}">
                    <a16:rowId xmlns:a16="http://schemas.microsoft.com/office/drawing/2014/main" val="1360159808"/>
                  </a:ext>
                </a:extLst>
              </a:tr>
              <a:tr h="469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1 electron 1 photon multiplicity interactions </a:t>
                      </a:r>
                      <a:endParaRPr lang="en-SG" sz="1400" dirty="0"/>
                    </a:p>
                  </a:txBody>
                  <a:tcPr/>
                </a:tc>
                <a:tc>
                  <a:txBody>
                    <a:bodyPr/>
                    <a:lstStyle/>
                    <a:p>
                      <a:r>
                        <a:rPr lang="en-US" sz="1400" dirty="0"/>
                        <a:t>218</a:t>
                      </a:r>
                      <a:endParaRPr lang="en-SG" sz="1400" dirty="0"/>
                    </a:p>
                  </a:txBody>
                  <a:tcPr/>
                </a:tc>
                <a:tc>
                  <a:txBody>
                    <a:bodyPr/>
                    <a:lstStyle/>
                    <a:p>
                      <a:r>
                        <a:rPr lang="en-US" sz="1400" dirty="0"/>
                        <a:t>7</a:t>
                      </a:r>
                      <a:endParaRPr lang="en-SG" sz="1400" dirty="0"/>
                    </a:p>
                  </a:txBody>
                  <a:tcPr/>
                </a:tc>
                <a:tc>
                  <a:txBody>
                    <a:bodyPr/>
                    <a:lstStyle/>
                    <a:p>
                      <a:r>
                        <a:rPr lang="en-US" sz="1400" dirty="0"/>
                        <a:t>3.2%</a:t>
                      </a:r>
                      <a:endParaRPr lang="en-SG" sz="1400" dirty="0"/>
                    </a:p>
                  </a:txBody>
                  <a:tcPr/>
                </a:tc>
                <a:tc>
                  <a:txBody>
                    <a:bodyPr/>
                    <a:lstStyle/>
                    <a:p>
                      <a:r>
                        <a:rPr lang="en-US" sz="1400" dirty="0"/>
                        <a:t>230</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extLst>
                  <a:ext uri="{0D108BD9-81ED-4DB2-BD59-A6C34878D82A}">
                    <a16:rowId xmlns:a16="http://schemas.microsoft.com/office/drawing/2014/main" val="2824012075"/>
                  </a:ext>
                </a:extLst>
              </a:tr>
            </a:tbl>
          </a:graphicData>
        </a:graphic>
      </p:graphicFrame>
    </p:spTree>
    <p:extLst>
      <p:ext uri="{BB962C8B-B14F-4D97-AF65-F5344CB8AC3E}">
        <p14:creationId xmlns:p14="http://schemas.microsoft.com/office/powerpoint/2010/main" val="3889980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E423A-3AE7-449C-A4F2-9CFF62F08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9C24CD-E2F3-8F96-8223-C1B3473B6F7D}"/>
              </a:ext>
            </a:extLst>
          </p:cNvPr>
          <p:cNvSpPr>
            <a:spLocks noGrp="1"/>
          </p:cNvSpPr>
          <p:nvPr>
            <p:ph type="title"/>
          </p:nvPr>
        </p:nvSpPr>
        <p:spPr/>
        <p:txBody>
          <a:bodyPr/>
          <a:lstStyle/>
          <a:p>
            <a:r>
              <a:rPr lang="en-US" b="1" dirty="0"/>
              <a:t>Truth-level</a:t>
            </a:r>
            <a:r>
              <a:rPr lang="en-US" dirty="0"/>
              <a:t> interaction analysis</a:t>
            </a:r>
            <a:endParaRPr lang="en-SG" dirty="0"/>
          </a:p>
        </p:txBody>
      </p:sp>
      <p:graphicFrame>
        <p:nvGraphicFramePr>
          <p:cNvPr id="5" name="Table 4">
            <a:extLst>
              <a:ext uri="{FF2B5EF4-FFF2-40B4-BE49-F238E27FC236}">
                <a16:creationId xmlns:a16="http://schemas.microsoft.com/office/drawing/2014/main" id="{D416FA0F-F3CD-8240-BA32-F89F5CCAE5BB}"/>
              </a:ext>
            </a:extLst>
          </p:cNvPr>
          <p:cNvGraphicFramePr>
            <a:graphicFrameLocks noGrp="1"/>
          </p:cNvGraphicFramePr>
          <p:nvPr>
            <p:extLst>
              <p:ext uri="{D42A27DB-BD31-4B8C-83A1-F6EECF244321}">
                <p14:modId xmlns:p14="http://schemas.microsoft.com/office/powerpoint/2010/main" val="1966733191"/>
              </p:ext>
            </p:extLst>
          </p:nvPr>
        </p:nvGraphicFramePr>
        <p:xfrm>
          <a:off x="608674" y="1854971"/>
          <a:ext cx="10974649" cy="2734799"/>
        </p:xfrm>
        <a:graphic>
          <a:graphicData uri="http://schemas.openxmlformats.org/drawingml/2006/table">
            <a:tbl>
              <a:tblPr firstRow="1" bandRow="1">
                <a:tableStyleId>{5C22544A-7EE6-4342-B048-85BDC9FD1C3A}</a:tableStyleId>
              </a:tblPr>
              <a:tblGrid>
                <a:gridCol w="1923212">
                  <a:extLst>
                    <a:ext uri="{9D8B030D-6E8A-4147-A177-3AD203B41FA5}">
                      <a16:colId xmlns:a16="http://schemas.microsoft.com/office/drawing/2014/main" val="3682903481"/>
                    </a:ext>
                  </a:extLst>
                </a:gridCol>
                <a:gridCol w="1206470">
                  <a:extLst>
                    <a:ext uri="{9D8B030D-6E8A-4147-A177-3AD203B41FA5}">
                      <a16:colId xmlns:a16="http://schemas.microsoft.com/office/drawing/2014/main" val="3311962917"/>
                    </a:ext>
                  </a:extLst>
                </a:gridCol>
                <a:gridCol w="1585607">
                  <a:extLst>
                    <a:ext uri="{9D8B030D-6E8A-4147-A177-3AD203B41FA5}">
                      <a16:colId xmlns:a16="http://schemas.microsoft.com/office/drawing/2014/main" val="1281504000"/>
                    </a:ext>
                  </a:extLst>
                </a:gridCol>
                <a:gridCol w="1564840">
                  <a:extLst>
                    <a:ext uri="{9D8B030D-6E8A-4147-A177-3AD203B41FA5}">
                      <a16:colId xmlns:a16="http://schemas.microsoft.com/office/drawing/2014/main" val="4281862300"/>
                    </a:ext>
                  </a:extLst>
                </a:gridCol>
                <a:gridCol w="1564840">
                  <a:extLst>
                    <a:ext uri="{9D8B030D-6E8A-4147-A177-3AD203B41FA5}">
                      <a16:colId xmlns:a16="http://schemas.microsoft.com/office/drawing/2014/main" val="3620214667"/>
                    </a:ext>
                  </a:extLst>
                </a:gridCol>
                <a:gridCol w="1564840">
                  <a:extLst>
                    <a:ext uri="{9D8B030D-6E8A-4147-A177-3AD203B41FA5}">
                      <a16:colId xmlns:a16="http://schemas.microsoft.com/office/drawing/2014/main" val="2305604002"/>
                    </a:ext>
                  </a:extLst>
                </a:gridCol>
                <a:gridCol w="1564840">
                  <a:extLst>
                    <a:ext uri="{9D8B030D-6E8A-4147-A177-3AD203B41FA5}">
                      <a16:colId xmlns:a16="http://schemas.microsoft.com/office/drawing/2014/main" val="2569969504"/>
                    </a:ext>
                  </a:extLst>
                </a:gridCol>
              </a:tblGrid>
              <a:tr h="662159">
                <a:tc>
                  <a:txBody>
                    <a:bodyPr/>
                    <a:lstStyle/>
                    <a:p>
                      <a:r>
                        <a:rPr lang="en-US" sz="1400" dirty="0"/>
                        <a:t>Parameter</a:t>
                      </a:r>
                      <a:endParaRPr lang="en-SG" sz="1400" dirty="0"/>
                    </a:p>
                  </a:txBody>
                  <a:tcPr/>
                </a:tc>
                <a:tc>
                  <a:txBody>
                    <a:bodyPr/>
                    <a:lstStyle/>
                    <a:p>
                      <a:r>
                        <a:rPr lang="en-US" sz="1400" dirty="0"/>
                        <a:t>true value</a:t>
                      </a:r>
                      <a:endParaRPr lang="en-SG" sz="1400" dirty="0"/>
                    </a:p>
                  </a:txBody>
                  <a:tcPr/>
                </a:tc>
                <a:tc>
                  <a:txBody>
                    <a:bodyPr/>
                    <a:lstStyle/>
                    <a:p>
                      <a:r>
                        <a:rPr lang="en-US" sz="1400" dirty="0" err="1"/>
                        <a:t>reco</a:t>
                      </a:r>
                      <a:r>
                        <a:rPr lang="en-US" sz="1400" dirty="0"/>
                        <a:t> value</a:t>
                      </a:r>
                      <a:endParaRPr lang="en-SG" sz="1400" dirty="0"/>
                    </a:p>
                  </a:txBody>
                  <a:tcPr/>
                </a:tc>
                <a:tc>
                  <a:txBody>
                    <a:bodyPr/>
                    <a:lstStyle/>
                    <a:p>
                      <a:r>
                        <a:rPr lang="en-US" sz="1400" dirty="0"/>
                        <a:t>Percentage of </a:t>
                      </a:r>
                      <a:r>
                        <a:rPr lang="en-US" sz="1400" dirty="0" err="1"/>
                        <a:t>reco</a:t>
                      </a:r>
                      <a:r>
                        <a:rPr lang="en-US" sz="1400" dirty="0"/>
                        <a:t> over true</a:t>
                      </a:r>
                      <a:endParaRPr lang="en-SG" sz="1400" dirty="0"/>
                    </a:p>
                  </a:txBody>
                  <a:tcPr/>
                </a:tc>
                <a:tc>
                  <a:txBody>
                    <a:bodyPr/>
                    <a:lstStyle/>
                    <a:p>
                      <a:r>
                        <a:rPr lang="en-US" sz="1400" dirty="0"/>
                        <a:t>true</a:t>
                      </a:r>
                      <a:endParaRPr lang="en-SG" sz="1400" dirty="0"/>
                    </a:p>
                  </a:txBody>
                  <a:tcPr/>
                </a:tc>
                <a:tc>
                  <a:txBody>
                    <a:bodyPr/>
                    <a:lstStyle/>
                    <a:p>
                      <a:r>
                        <a:rPr lang="en-US" sz="1400" dirty="0"/>
                        <a:t>Reco value</a:t>
                      </a:r>
                      <a:endParaRPr lang="en-SG" sz="1400" dirty="0"/>
                    </a:p>
                  </a:txBody>
                  <a:tcPr/>
                </a:tc>
                <a:tc>
                  <a:txBody>
                    <a:bodyPr/>
                    <a:lstStyle/>
                    <a:p>
                      <a:r>
                        <a:rPr lang="en-US" sz="1400" dirty="0"/>
                        <a:t>Percentage of </a:t>
                      </a:r>
                      <a:r>
                        <a:rPr lang="en-US" sz="1400" dirty="0" err="1"/>
                        <a:t>reco</a:t>
                      </a:r>
                      <a:r>
                        <a:rPr lang="en-US" sz="1400" dirty="0"/>
                        <a:t> over true</a:t>
                      </a:r>
                      <a:endParaRPr lang="en-SG" sz="1400" dirty="0"/>
                    </a:p>
                  </a:txBody>
                  <a:tcPr/>
                </a:tc>
                <a:extLst>
                  <a:ext uri="{0D108BD9-81ED-4DB2-BD59-A6C34878D82A}">
                    <a16:rowId xmlns:a16="http://schemas.microsoft.com/office/drawing/2014/main" val="804877316"/>
                  </a:ext>
                </a:extLst>
              </a:tr>
              <a:tr h="275900">
                <a:tc>
                  <a:txBody>
                    <a:bodyPr/>
                    <a:lstStyle/>
                    <a:p>
                      <a:r>
                        <a:rPr lang="en-US" sz="1400" dirty="0"/>
                        <a:t>Root file sample</a:t>
                      </a:r>
                      <a:endParaRPr lang="en-SG" sz="1400" dirty="0"/>
                    </a:p>
                  </a:txBody>
                  <a:tcPr/>
                </a:tc>
                <a:tc gridSpan="3">
                  <a:txBody>
                    <a:bodyPr/>
                    <a:lstStyle/>
                    <a:p>
                      <a:pPr algn="ctr"/>
                      <a:r>
                        <a:rPr lang="en-SG" sz="1400" b="1" dirty="0" err="1"/>
                        <a:t>NuMI</a:t>
                      </a:r>
                      <a:endParaRPr lang="en-SG" sz="1400" b="1" dirty="0"/>
                    </a:p>
                  </a:txBody>
                  <a:tcPr/>
                </a:tc>
                <a:tc hMerge="1">
                  <a:txBody>
                    <a:bodyPr/>
                    <a:lstStyle/>
                    <a:p>
                      <a:endParaRPr lang="en-SG" sz="1400" dirty="0"/>
                    </a:p>
                  </a:txBody>
                  <a:tcPr/>
                </a:tc>
                <a:tc hMerge="1">
                  <a:txBody>
                    <a:bodyPr/>
                    <a:lstStyle/>
                    <a:p>
                      <a:pPr algn="ctr"/>
                      <a:endParaRPr lang="en-SG" sz="1400" dirty="0"/>
                    </a:p>
                  </a:txBody>
                  <a:tcPr/>
                </a:tc>
                <a:tc gridSpan="3">
                  <a:txBody>
                    <a:bodyPr/>
                    <a:lstStyle/>
                    <a:p>
                      <a:pPr algn="ctr"/>
                      <a:r>
                        <a:rPr lang="en-SG" sz="1400" b="1" dirty="0"/>
                        <a:t>BNB</a:t>
                      </a:r>
                    </a:p>
                  </a:txBody>
                  <a:tcPr/>
                </a:tc>
                <a:tc hMerge="1">
                  <a:txBody>
                    <a:bodyPr/>
                    <a:lstStyle/>
                    <a:p>
                      <a:pPr algn="ct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1405745668"/>
                  </a:ext>
                </a:extLst>
              </a:tr>
              <a:tr h="469029">
                <a:tc>
                  <a:txBody>
                    <a:bodyPr/>
                    <a:lstStyle/>
                    <a:p>
                      <a:r>
                        <a:rPr lang="en-US" sz="1400" dirty="0"/>
                        <a:t>No. of 2-electron multiplicity interactions </a:t>
                      </a:r>
                      <a:endParaRPr lang="en-SG" sz="1400" dirty="0"/>
                    </a:p>
                  </a:txBody>
                  <a:tcPr/>
                </a:tc>
                <a:tc>
                  <a:txBody>
                    <a:bodyPr/>
                    <a:lstStyle/>
                    <a:p>
                      <a:r>
                        <a:rPr lang="en-US" sz="1400" dirty="0"/>
                        <a:t>1</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tc>
                  <a:txBody>
                    <a:bodyPr/>
                    <a:lstStyle/>
                    <a:p>
                      <a:r>
                        <a:rPr lang="en-US" sz="1400" dirty="0"/>
                        <a:t>1</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extLst>
                  <a:ext uri="{0D108BD9-81ED-4DB2-BD59-A6C34878D82A}">
                    <a16:rowId xmlns:a16="http://schemas.microsoft.com/office/drawing/2014/main" val="3397454016"/>
                  </a:ext>
                </a:extLst>
              </a:tr>
              <a:tr h="469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2-photon multiplicity interactions </a:t>
                      </a:r>
                      <a:endParaRPr lang="en-SG" sz="1400" dirty="0"/>
                    </a:p>
                  </a:txBody>
                  <a:tcPr/>
                </a:tc>
                <a:tc>
                  <a:txBody>
                    <a:bodyPr/>
                    <a:lstStyle/>
                    <a:p>
                      <a:r>
                        <a:rPr lang="en-US" sz="1400" dirty="0"/>
                        <a:t>1400</a:t>
                      </a:r>
                      <a:endParaRPr lang="en-SG" sz="1400" dirty="0"/>
                    </a:p>
                  </a:txBody>
                  <a:tcPr/>
                </a:tc>
                <a:tc>
                  <a:txBody>
                    <a:bodyPr/>
                    <a:lstStyle/>
                    <a:p>
                      <a:r>
                        <a:rPr lang="en-US" sz="1400" dirty="0"/>
                        <a:t>815</a:t>
                      </a:r>
                      <a:endParaRPr lang="en-SG" sz="1400" dirty="0"/>
                    </a:p>
                  </a:txBody>
                  <a:tcPr/>
                </a:tc>
                <a:tc>
                  <a:txBody>
                    <a:bodyPr/>
                    <a:lstStyle/>
                    <a:p>
                      <a:r>
                        <a:rPr lang="en-US" sz="1400" dirty="0"/>
                        <a:t>58.2%</a:t>
                      </a:r>
                      <a:endParaRPr lang="en-SG" sz="1400" dirty="0"/>
                    </a:p>
                  </a:txBody>
                  <a:tcPr/>
                </a:tc>
                <a:tc>
                  <a:txBody>
                    <a:bodyPr/>
                    <a:lstStyle/>
                    <a:p>
                      <a:r>
                        <a:rPr lang="en-US" sz="1400" dirty="0"/>
                        <a:t>2048</a:t>
                      </a:r>
                      <a:endParaRPr lang="en-SG" sz="1400" dirty="0"/>
                    </a:p>
                  </a:txBody>
                  <a:tcPr/>
                </a:tc>
                <a:tc>
                  <a:txBody>
                    <a:bodyPr/>
                    <a:lstStyle/>
                    <a:p>
                      <a:r>
                        <a:rPr lang="en-US" sz="1400" dirty="0"/>
                        <a:t>1305</a:t>
                      </a:r>
                      <a:endParaRPr lang="en-SG" sz="1400" dirty="0"/>
                    </a:p>
                  </a:txBody>
                  <a:tcPr/>
                </a:tc>
                <a:tc>
                  <a:txBody>
                    <a:bodyPr/>
                    <a:lstStyle/>
                    <a:p>
                      <a:r>
                        <a:rPr lang="en-US" sz="1400" dirty="0"/>
                        <a:t>63.7%</a:t>
                      </a:r>
                      <a:endParaRPr lang="en-SG" sz="1400" dirty="0"/>
                    </a:p>
                  </a:txBody>
                  <a:tcPr/>
                </a:tc>
                <a:extLst>
                  <a:ext uri="{0D108BD9-81ED-4DB2-BD59-A6C34878D82A}">
                    <a16:rowId xmlns:a16="http://schemas.microsoft.com/office/drawing/2014/main" val="1360159808"/>
                  </a:ext>
                </a:extLst>
              </a:tr>
              <a:tr h="4690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No. of 1 electron 1 photon multiplicity interactions </a:t>
                      </a:r>
                      <a:endParaRPr lang="en-SG" sz="1400" dirty="0"/>
                    </a:p>
                  </a:txBody>
                  <a:tcPr/>
                </a:tc>
                <a:tc>
                  <a:txBody>
                    <a:bodyPr/>
                    <a:lstStyle/>
                    <a:p>
                      <a:r>
                        <a:rPr lang="en-US" sz="1400" dirty="0"/>
                        <a:t>15</a:t>
                      </a:r>
                      <a:endParaRPr lang="en-SG" sz="1400" dirty="0"/>
                    </a:p>
                  </a:txBody>
                  <a:tcPr/>
                </a:tc>
                <a:tc>
                  <a:txBody>
                    <a:bodyPr/>
                    <a:lstStyle/>
                    <a:p>
                      <a:r>
                        <a:rPr lang="en-US" sz="1400" dirty="0"/>
                        <a:t>5</a:t>
                      </a:r>
                      <a:endParaRPr lang="en-SG" sz="1400" dirty="0"/>
                    </a:p>
                  </a:txBody>
                  <a:tcPr/>
                </a:tc>
                <a:tc>
                  <a:txBody>
                    <a:bodyPr/>
                    <a:lstStyle/>
                    <a:p>
                      <a:r>
                        <a:rPr lang="en-US" sz="1400" dirty="0"/>
                        <a:t>33.3%</a:t>
                      </a:r>
                      <a:endParaRPr lang="en-SG" sz="1400" dirty="0"/>
                    </a:p>
                  </a:txBody>
                  <a:tcPr/>
                </a:tc>
                <a:tc>
                  <a:txBody>
                    <a:bodyPr/>
                    <a:lstStyle/>
                    <a:p>
                      <a:r>
                        <a:rPr lang="en-US" sz="1400" dirty="0"/>
                        <a:t>5</a:t>
                      </a:r>
                      <a:endParaRPr lang="en-SG" sz="1400" dirty="0"/>
                    </a:p>
                  </a:txBody>
                  <a:tcPr/>
                </a:tc>
                <a:tc>
                  <a:txBody>
                    <a:bodyPr/>
                    <a:lstStyle/>
                    <a:p>
                      <a:r>
                        <a:rPr lang="en-US" sz="1400" dirty="0"/>
                        <a:t>0</a:t>
                      </a:r>
                      <a:endParaRPr lang="en-SG" sz="1400" dirty="0"/>
                    </a:p>
                  </a:txBody>
                  <a:tcPr/>
                </a:tc>
                <a:tc>
                  <a:txBody>
                    <a:bodyPr/>
                    <a:lstStyle/>
                    <a:p>
                      <a:r>
                        <a:rPr lang="en-US" sz="1400" dirty="0"/>
                        <a:t>0%</a:t>
                      </a:r>
                      <a:endParaRPr lang="en-SG" sz="1400" dirty="0"/>
                    </a:p>
                  </a:txBody>
                  <a:tcPr/>
                </a:tc>
                <a:extLst>
                  <a:ext uri="{0D108BD9-81ED-4DB2-BD59-A6C34878D82A}">
                    <a16:rowId xmlns:a16="http://schemas.microsoft.com/office/drawing/2014/main" val="2824012075"/>
                  </a:ext>
                </a:extLst>
              </a:tr>
            </a:tbl>
          </a:graphicData>
        </a:graphic>
      </p:graphicFrame>
    </p:spTree>
    <p:extLst>
      <p:ext uri="{BB962C8B-B14F-4D97-AF65-F5344CB8AC3E}">
        <p14:creationId xmlns:p14="http://schemas.microsoft.com/office/powerpoint/2010/main" val="2721860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4E404-FF4F-A7DD-A278-29D411FDF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9C797-FDAA-B8A6-0835-109A46F78433}"/>
              </a:ext>
            </a:extLst>
          </p:cNvPr>
          <p:cNvSpPr>
            <a:spLocks noGrp="1"/>
          </p:cNvSpPr>
          <p:nvPr>
            <p:ph type="title"/>
          </p:nvPr>
        </p:nvSpPr>
        <p:spPr/>
        <p:txBody>
          <a:bodyPr>
            <a:normAutofit/>
          </a:bodyPr>
          <a:lstStyle/>
          <a:p>
            <a:r>
              <a:rPr lang="en-US" sz="4400" dirty="0"/>
              <a:t>Analysis of wrongly matched true interactions to </a:t>
            </a:r>
            <a:r>
              <a:rPr lang="en-US" sz="4400" dirty="0" err="1"/>
              <a:t>reco</a:t>
            </a:r>
            <a:r>
              <a:rPr lang="en-US" sz="4400" dirty="0"/>
              <a:t> </a:t>
            </a:r>
            <a:r>
              <a:rPr lang="en-US" sz="4400" dirty="0" err="1"/>
              <a:t>yy</a:t>
            </a:r>
            <a:r>
              <a:rPr lang="en-US" sz="4400" dirty="0"/>
              <a:t> interactions </a:t>
            </a:r>
            <a:r>
              <a:rPr lang="en-US" sz="4400" b="1" dirty="0"/>
              <a:t>(</a:t>
            </a:r>
            <a:r>
              <a:rPr lang="en-US" sz="4400" b="1" dirty="0" err="1"/>
              <a:t>reco</a:t>
            </a:r>
            <a:r>
              <a:rPr lang="en-US" sz="4400" b="1" dirty="0"/>
              <a:t>)</a:t>
            </a:r>
            <a:endParaRPr lang="en-SG" sz="4400" b="1" dirty="0"/>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58874267-F9CB-8344-BC64-99E948548772}"/>
                  </a:ext>
                </a:extLst>
              </p:cNvPr>
              <p:cNvGraphicFramePr>
                <a:graphicFrameLocks noGrp="1"/>
              </p:cNvGraphicFramePr>
              <p:nvPr>
                <p:extLst>
                  <p:ext uri="{D42A27DB-BD31-4B8C-83A1-F6EECF244321}">
                    <p14:modId xmlns:p14="http://schemas.microsoft.com/office/powerpoint/2010/main" val="3942964826"/>
                  </p:ext>
                </p:extLst>
              </p:nvPr>
            </p:nvGraphicFramePr>
            <p:xfrm>
              <a:off x="346363" y="1981927"/>
              <a:ext cx="5688788" cy="3508220"/>
            </p:xfrm>
            <a:graphic>
              <a:graphicData uri="http://schemas.openxmlformats.org/drawingml/2006/table">
                <a:tbl>
                  <a:tblPr firstRow="1" bandRow="1">
                    <a:tableStyleId>{5C22544A-7EE6-4342-B048-85BDC9FD1C3A}</a:tableStyleId>
                  </a:tblPr>
                  <a:tblGrid>
                    <a:gridCol w="2349212">
                      <a:extLst>
                        <a:ext uri="{9D8B030D-6E8A-4147-A177-3AD203B41FA5}">
                          <a16:colId xmlns:a16="http://schemas.microsoft.com/office/drawing/2014/main" val="164537708"/>
                        </a:ext>
                      </a:extLst>
                    </a:gridCol>
                    <a:gridCol w="955033">
                      <a:extLst>
                        <a:ext uri="{9D8B030D-6E8A-4147-A177-3AD203B41FA5}">
                          <a16:colId xmlns:a16="http://schemas.microsoft.com/office/drawing/2014/main" val="1497192061"/>
                        </a:ext>
                      </a:extLst>
                    </a:gridCol>
                    <a:gridCol w="2384543">
                      <a:extLst>
                        <a:ext uri="{9D8B030D-6E8A-4147-A177-3AD203B41FA5}">
                          <a16:colId xmlns:a16="http://schemas.microsoft.com/office/drawing/2014/main" val="2388750764"/>
                        </a:ext>
                      </a:extLst>
                    </a:gridCol>
                  </a:tblGrid>
                  <a:tr h="3098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4236083"/>
                      </a:ext>
                    </a:extLst>
                  </a:tr>
                  <a:tr h="309820">
                    <a:tc>
                      <a:txBody>
                        <a:bodyPr/>
                        <a:lstStyle/>
                        <a:p>
                          <a:r>
                            <a:rPr lang="en-US" sz="1400" dirty="0"/>
                            <a:t>Root file sample</a:t>
                          </a:r>
                          <a:endParaRPr lang="en-SG" sz="1400" dirty="0"/>
                        </a:p>
                      </a:txBody>
                      <a:tcPr/>
                    </a:tc>
                    <a:tc gridSpan="2">
                      <a:txBody>
                        <a:bodyPr/>
                        <a:lstStyle/>
                        <a:p>
                          <a:pPr algn="ctr"/>
                          <a:r>
                            <a:rPr lang="en-SG" sz="1400" b="1" dirty="0" err="1"/>
                            <a:t>NuMI</a:t>
                          </a:r>
                          <a:endParaRPr lang="en-SG" sz="1400" b="1" dirty="0"/>
                        </a:p>
                      </a:txBody>
                      <a:tcPr/>
                    </a:tc>
                    <a:tc hMerge="1">
                      <a:txBody>
                        <a:bodyPr/>
                        <a:lstStyle/>
                        <a:p>
                          <a:pPr algn="ctr"/>
                          <a:endParaRPr lang="en-SG" sz="1400" b="1" dirty="0"/>
                        </a:p>
                      </a:txBody>
                      <a:tcPr/>
                    </a:tc>
                    <a:extLst>
                      <a:ext uri="{0D108BD9-81ED-4DB2-BD59-A6C34878D82A}">
                        <a16:rowId xmlns:a16="http://schemas.microsoft.com/office/drawing/2014/main" val="3801965240"/>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Total number of wrongly matched interactions</a:t>
                          </a:r>
                          <a:endParaRPr lang="en-SG" sz="1400" dirty="0"/>
                        </a:p>
                      </a:txBody>
                      <a:tcPr/>
                    </a:tc>
                    <a:tc gridSpan="2">
                      <a:txBody>
                        <a:bodyPr/>
                        <a:lstStyle/>
                        <a:p>
                          <a:pPr algn="ctr"/>
                          <a:r>
                            <a:rPr lang="en-US" sz="1400" dirty="0"/>
                            <a:t>202</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171447094"/>
                      </a:ext>
                    </a:extLst>
                  </a:tr>
                  <a:tr h="395740">
                    <a:tc>
                      <a:txBody>
                        <a:bodyPr/>
                        <a:lstStyle/>
                        <a:p>
                          <a:pPr algn="ctr"/>
                          <a:r>
                            <a:rPr lang="en-US" sz="1400" dirty="0"/>
                            <a:t>1y</a:t>
                          </a:r>
                          <a:endParaRPr lang="en-SG" sz="1400" dirty="0"/>
                        </a:p>
                      </a:txBody>
                      <a:tcPr/>
                    </a:tc>
                    <a:tc>
                      <a:txBody>
                        <a:bodyPr/>
                        <a:lstStyle/>
                        <a:p>
                          <a:pPr algn="ctr"/>
                          <a:r>
                            <a:rPr lang="en-US" sz="1400" dirty="0"/>
                            <a:t>36</a:t>
                          </a:r>
                          <a:endParaRPr lang="en-SG" sz="1400" dirty="0"/>
                        </a:p>
                      </a:txBody>
                      <a:tcPr/>
                    </a:tc>
                    <a:tc>
                      <a:txBody>
                        <a:bodyPr/>
                        <a:lstStyle/>
                        <a:p>
                          <a:pPr algn="ctr"/>
                          <a:r>
                            <a:rPr lang="en-US" sz="1400" dirty="0"/>
                            <a:t>17.8%</a:t>
                          </a:r>
                          <a:endParaRPr lang="en-SG" sz="1400" dirty="0"/>
                        </a:p>
                      </a:txBody>
                      <a:tcPr/>
                    </a:tc>
                    <a:extLst>
                      <a:ext uri="{0D108BD9-81ED-4DB2-BD59-A6C34878D82A}">
                        <a16:rowId xmlns:a16="http://schemas.microsoft.com/office/drawing/2014/main" val="142716589"/>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0 multiplicity</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14.4%</a:t>
                          </a:r>
                          <a:endParaRPr lang="en-SG" sz="1400" dirty="0"/>
                        </a:p>
                      </a:txBody>
                      <a:tcPr/>
                    </a:tc>
                    <a:extLst>
                      <a:ext uri="{0D108BD9-81ED-4DB2-BD59-A6C34878D82A}">
                        <a16:rowId xmlns:a16="http://schemas.microsoft.com/office/drawing/2014/main" val="15250979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14.4%</a:t>
                          </a:r>
                          <a:endParaRPr lang="en-SG" sz="1400" dirty="0"/>
                        </a:p>
                      </a:txBody>
                      <a:tcPr/>
                    </a:tc>
                    <a:extLst>
                      <a:ext uri="{0D108BD9-81ED-4DB2-BD59-A6C34878D82A}">
                        <a16:rowId xmlns:a16="http://schemas.microsoft.com/office/drawing/2014/main" val="514495980"/>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1mu</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12</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5.9%</a:t>
                          </a:r>
                          <a:endParaRPr lang="en-SG" sz="1400" dirty="0"/>
                        </a:p>
                      </a:txBody>
                      <a:tcPr/>
                    </a:tc>
                    <a:extLst>
                      <a:ext uri="{0D108BD9-81ED-4DB2-BD59-A6C34878D82A}">
                        <a16:rowId xmlns:a16="http://schemas.microsoft.com/office/drawing/2014/main" val="174847786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11</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5.5%</a:t>
                          </a:r>
                          <a:endParaRPr lang="en-SG" sz="1400" dirty="0"/>
                        </a:p>
                      </a:txBody>
                      <a:tcPr/>
                    </a:tc>
                    <a:extLst>
                      <a:ext uri="{0D108BD9-81ED-4DB2-BD59-A6C34878D82A}">
                        <a16:rowId xmlns:a16="http://schemas.microsoft.com/office/drawing/2014/main" val="2083957442"/>
                      </a:ext>
                    </a:extLst>
                  </a:tr>
                </a:tbl>
              </a:graphicData>
            </a:graphic>
          </p:graphicFrame>
        </mc:Choice>
        <mc:Fallback xmlns="">
          <p:graphicFrame>
            <p:nvGraphicFramePr>
              <p:cNvPr id="6" name="Table 5">
                <a:extLst>
                  <a:ext uri="{FF2B5EF4-FFF2-40B4-BE49-F238E27FC236}">
                    <a16:creationId xmlns:a16="http://schemas.microsoft.com/office/drawing/2014/main" id="{58874267-F9CB-8344-BC64-99E948548772}"/>
                  </a:ext>
                </a:extLst>
              </p:cNvPr>
              <p:cNvGraphicFramePr>
                <a:graphicFrameLocks noGrp="1"/>
              </p:cNvGraphicFramePr>
              <p:nvPr>
                <p:extLst>
                  <p:ext uri="{D42A27DB-BD31-4B8C-83A1-F6EECF244321}">
                    <p14:modId xmlns:p14="http://schemas.microsoft.com/office/powerpoint/2010/main" val="3942964826"/>
                  </p:ext>
                </p:extLst>
              </p:nvPr>
            </p:nvGraphicFramePr>
            <p:xfrm>
              <a:off x="346363" y="1981927"/>
              <a:ext cx="5688788" cy="3508220"/>
            </p:xfrm>
            <a:graphic>
              <a:graphicData uri="http://schemas.openxmlformats.org/drawingml/2006/table">
                <a:tbl>
                  <a:tblPr firstRow="1" bandRow="1">
                    <a:tableStyleId>{5C22544A-7EE6-4342-B048-85BDC9FD1C3A}</a:tableStyleId>
                  </a:tblPr>
                  <a:tblGrid>
                    <a:gridCol w="2349212">
                      <a:extLst>
                        <a:ext uri="{9D8B030D-6E8A-4147-A177-3AD203B41FA5}">
                          <a16:colId xmlns:a16="http://schemas.microsoft.com/office/drawing/2014/main" val="164537708"/>
                        </a:ext>
                      </a:extLst>
                    </a:gridCol>
                    <a:gridCol w="955033">
                      <a:extLst>
                        <a:ext uri="{9D8B030D-6E8A-4147-A177-3AD203B41FA5}">
                          <a16:colId xmlns:a16="http://schemas.microsoft.com/office/drawing/2014/main" val="1497192061"/>
                        </a:ext>
                      </a:extLst>
                    </a:gridCol>
                    <a:gridCol w="2384543">
                      <a:extLst>
                        <a:ext uri="{9D8B030D-6E8A-4147-A177-3AD203B41FA5}">
                          <a16:colId xmlns:a16="http://schemas.microsoft.com/office/drawing/2014/main" val="2388750764"/>
                        </a:ext>
                      </a:extLst>
                    </a:gridCol>
                  </a:tblGrid>
                  <a:tr h="5791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4236083"/>
                      </a:ext>
                    </a:extLst>
                  </a:tr>
                  <a:tr h="309820">
                    <a:tc>
                      <a:txBody>
                        <a:bodyPr/>
                        <a:lstStyle/>
                        <a:p>
                          <a:r>
                            <a:rPr lang="en-US" sz="1400" dirty="0"/>
                            <a:t>Root file sample</a:t>
                          </a:r>
                          <a:endParaRPr lang="en-SG" sz="1400" dirty="0"/>
                        </a:p>
                      </a:txBody>
                      <a:tcPr/>
                    </a:tc>
                    <a:tc gridSpan="2">
                      <a:txBody>
                        <a:bodyPr/>
                        <a:lstStyle/>
                        <a:p>
                          <a:pPr algn="ctr"/>
                          <a:r>
                            <a:rPr lang="en-SG" sz="1400" b="1" dirty="0" err="1"/>
                            <a:t>NuMI</a:t>
                          </a:r>
                          <a:endParaRPr lang="en-SG" sz="1400" b="1" dirty="0"/>
                        </a:p>
                      </a:txBody>
                      <a:tcPr/>
                    </a:tc>
                    <a:tc hMerge="1">
                      <a:txBody>
                        <a:bodyPr/>
                        <a:lstStyle/>
                        <a:p>
                          <a:pPr algn="ctr"/>
                          <a:endParaRPr lang="en-SG" sz="1400" b="1" dirty="0"/>
                        </a:p>
                      </a:txBody>
                      <a:tcPr/>
                    </a:tc>
                    <a:extLst>
                      <a:ext uri="{0D108BD9-81ED-4DB2-BD59-A6C34878D82A}">
                        <a16:rowId xmlns:a16="http://schemas.microsoft.com/office/drawing/2014/main" val="3801965240"/>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Total number of wrongly matched interactions</a:t>
                          </a:r>
                          <a:endParaRPr lang="en-SG" sz="1400" dirty="0"/>
                        </a:p>
                      </a:txBody>
                      <a:tcPr/>
                    </a:tc>
                    <a:tc gridSpan="2">
                      <a:txBody>
                        <a:bodyPr/>
                        <a:lstStyle/>
                        <a:p>
                          <a:pPr algn="ctr"/>
                          <a:r>
                            <a:rPr lang="en-US" sz="1400" dirty="0"/>
                            <a:t>202</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171447094"/>
                      </a:ext>
                    </a:extLst>
                  </a:tr>
                  <a:tr h="395740">
                    <a:tc>
                      <a:txBody>
                        <a:bodyPr/>
                        <a:lstStyle/>
                        <a:p>
                          <a:pPr algn="ctr"/>
                          <a:r>
                            <a:rPr lang="en-US" sz="1400" dirty="0"/>
                            <a:t>1y</a:t>
                          </a:r>
                          <a:endParaRPr lang="en-SG" sz="1400" dirty="0"/>
                        </a:p>
                      </a:txBody>
                      <a:tcPr/>
                    </a:tc>
                    <a:tc>
                      <a:txBody>
                        <a:bodyPr/>
                        <a:lstStyle/>
                        <a:p>
                          <a:pPr algn="ctr"/>
                          <a:r>
                            <a:rPr lang="en-US" sz="1400" dirty="0"/>
                            <a:t>36</a:t>
                          </a:r>
                          <a:endParaRPr lang="en-SG" sz="1400" dirty="0"/>
                        </a:p>
                      </a:txBody>
                      <a:tcPr/>
                    </a:tc>
                    <a:tc>
                      <a:txBody>
                        <a:bodyPr/>
                        <a:lstStyle/>
                        <a:p>
                          <a:pPr algn="ctr"/>
                          <a:r>
                            <a:rPr lang="en-US" sz="1400" dirty="0"/>
                            <a:t>17.8%</a:t>
                          </a:r>
                          <a:endParaRPr lang="en-SG" sz="1400" dirty="0"/>
                        </a:p>
                      </a:txBody>
                      <a:tcPr/>
                    </a:tc>
                    <a:extLst>
                      <a:ext uri="{0D108BD9-81ED-4DB2-BD59-A6C34878D82A}">
                        <a16:rowId xmlns:a16="http://schemas.microsoft.com/office/drawing/2014/main" val="142716589"/>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0 multiplicity</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14.4%</a:t>
                          </a:r>
                          <a:endParaRPr lang="en-SG" sz="1400" dirty="0"/>
                        </a:p>
                      </a:txBody>
                      <a:tcPr/>
                    </a:tc>
                    <a:extLst>
                      <a:ext uri="{0D108BD9-81ED-4DB2-BD59-A6C34878D82A}">
                        <a16:rowId xmlns:a16="http://schemas.microsoft.com/office/drawing/2014/main" val="152509792"/>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14.4%</a:t>
                          </a:r>
                          <a:endParaRPr lang="en-SG" sz="1400" dirty="0"/>
                        </a:p>
                      </a:txBody>
                      <a:tcPr/>
                    </a:tc>
                    <a:extLst>
                      <a:ext uri="{0D108BD9-81ED-4DB2-BD59-A6C34878D82A}">
                        <a16:rowId xmlns:a16="http://schemas.microsoft.com/office/drawing/2014/main" val="514495980"/>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1mu</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12</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5.9%</a:t>
                          </a:r>
                          <a:endParaRPr lang="en-SG" sz="1400" dirty="0"/>
                        </a:p>
                      </a:txBody>
                      <a:tcPr/>
                    </a:tc>
                    <a:extLst>
                      <a:ext uri="{0D108BD9-81ED-4DB2-BD59-A6C34878D82A}">
                        <a16:rowId xmlns:a16="http://schemas.microsoft.com/office/drawing/2014/main" val="1748477864"/>
                      </a:ext>
                    </a:extLst>
                  </a:tr>
                  <a:tr h="395740">
                    <a:tc>
                      <a:txBody>
                        <a:bodyPr/>
                        <a:lstStyle/>
                        <a:p>
                          <a:endParaRPr lang="en-US"/>
                        </a:p>
                      </a:txBody>
                      <a:tcPr>
                        <a:blipFill>
                          <a:blip r:embed="rId3"/>
                          <a:stretch>
                            <a:fillRect l="-259" t="-790769" r="-143264" b="-307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11</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5.5%</a:t>
                          </a:r>
                          <a:endParaRPr lang="en-SG" sz="1400" dirty="0"/>
                        </a:p>
                      </a:txBody>
                      <a:tcPr/>
                    </a:tc>
                    <a:extLst>
                      <a:ext uri="{0D108BD9-81ED-4DB2-BD59-A6C34878D82A}">
                        <a16:rowId xmlns:a16="http://schemas.microsoft.com/office/drawing/2014/main" val="208395744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412F4DA-9134-743A-BB70-21C2267C8A9C}"/>
                  </a:ext>
                </a:extLst>
              </p:cNvPr>
              <p:cNvGraphicFramePr>
                <a:graphicFrameLocks noGrp="1"/>
              </p:cNvGraphicFramePr>
              <p:nvPr>
                <p:extLst>
                  <p:ext uri="{D42A27DB-BD31-4B8C-83A1-F6EECF244321}">
                    <p14:modId xmlns:p14="http://schemas.microsoft.com/office/powerpoint/2010/main" val="2065123466"/>
                  </p:ext>
                </p:extLst>
              </p:nvPr>
            </p:nvGraphicFramePr>
            <p:xfrm>
              <a:off x="6156849" y="1981927"/>
              <a:ext cx="5688788" cy="3508220"/>
            </p:xfrm>
            <a:graphic>
              <a:graphicData uri="http://schemas.openxmlformats.org/drawingml/2006/table">
                <a:tbl>
                  <a:tblPr firstRow="1" bandRow="1">
                    <a:tableStyleId>{5C22544A-7EE6-4342-B048-85BDC9FD1C3A}</a:tableStyleId>
                  </a:tblPr>
                  <a:tblGrid>
                    <a:gridCol w="2244201">
                      <a:extLst>
                        <a:ext uri="{9D8B030D-6E8A-4147-A177-3AD203B41FA5}">
                          <a16:colId xmlns:a16="http://schemas.microsoft.com/office/drawing/2014/main" val="2139926121"/>
                        </a:ext>
                      </a:extLst>
                    </a:gridCol>
                    <a:gridCol w="1060044">
                      <a:extLst>
                        <a:ext uri="{9D8B030D-6E8A-4147-A177-3AD203B41FA5}">
                          <a16:colId xmlns:a16="http://schemas.microsoft.com/office/drawing/2014/main" val="238043143"/>
                        </a:ext>
                      </a:extLst>
                    </a:gridCol>
                    <a:gridCol w="2384543">
                      <a:extLst>
                        <a:ext uri="{9D8B030D-6E8A-4147-A177-3AD203B41FA5}">
                          <a16:colId xmlns:a16="http://schemas.microsoft.com/office/drawing/2014/main" val="1503881149"/>
                        </a:ext>
                      </a:extLst>
                    </a:gridCol>
                  </a:tblGrid>
                  <a:tr h="3098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008758758"/>
                      </a:ext>
                    </a:extLst>
                  </a:tr>
                  <a:tr h="309820">
                    <a:tc>
                      <a:txBody>
                        <a:bodyPr/>
                        <a:lstStyle/>
                        <a:p>
                          <a:r>
                            <a:rPr lang="en-US" sz="1400" dirty="0"/>
                            <a:t>Root file sample</a:t>
                          </a:r>
                          <a:endParaRPr lang="en-SG" sz="1400" dirty="0"/>
                        </a:p>
                      </a:txBody>
                      <a:tcPr/>
                    </a:tc>
                    <a:tc gridSpan="2">
                      <a:txBody>
                        <a:bodyPr/>
                        <a:lstStyle/>
                        <a:p>
                          <a:pPr algn="ctr"/>
                          <a:r>
                            <a:rPr lang="en-US" sz="1400" b="1" dirty="0"/>
                            <a:t>B</a:t>
                          </a:r>
                          <a:r>
                            <a:rPr lang="en-SG" sz="1400" b="1" dirty="0"/>
                            <a:t>NB</a:t>
                          </a:r>
                        </a:p>
                      </a:txBody>
                      <a:tcPr/>
                    </a:tc>
                    <a:tc hMerge="1">
                      <a:txBody>
                        <a:bodyPr/>
                        <a:lstStyle/>
                        <a:p>
                          <a:pPr algn="ctr"/>
                          <a:endParaRPr lang="en-SG" sz="1400" b="1" dirty="0"/>
                        </a:p>
                      </a:txBody>
                      <a:tcPr/>
                    </a:tc>
                    <a:extLst>
                      <a:ext uri="{0D108BD9-81ED-4DB2-BD59-A6C34878D82A}">
                        <a16:rowId xmlns:a16="http://schemas.microsoft.com/office/drawing/2014/main" val="8933758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Total number of wrongly matched interactions</a:t>
                          </a:r>
                          <a:endParaRPr lang="en-SG" sz="1400" dirty="0"/>
                        </a:p>
                      </a:txBody>
                      <a:tcPr/>
                    </a:tc>
                    <a:tc gridSpan="2">
                      <a:txBody>
                        <a:bodyPr/>
                        <a:lstStyle/>
                        <a:p>
                          <a:pPr algn="ctr"/>
                          <a:r>
                            <a:rPr lang="en-US" sz="1400" dirty="0"/>
                            <a:t>169</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669440555"/>
                      </a:ext>
                    </a:extLst>
                  </a:tr>
                  <a:tr h="395740">
                    <a:tc>
                      <a:txBody>
                        <a:bodyPr/>
                        <a:lstStyle/>
                        <a:p>
                          <a:pPr algn="ctr"/>
                          <a:r>
                            <a:rPr lang="en-US" sz="1400" dirty="0"/>
                            <a:t>2y1p</a:t>
                          </a:r>
                          <a:endParaRPr lang="en-SG" sz="1400" dirty="0"/>
                        </a:p>
                      </a:txBody>
                      <a:tcPr/>
                    </a:tc>
                    <a:tc>
                      <a:txBody>
                        <a:bodyPr/>
                        <a:lstStyle/>
                        <a:p>
                          <a:pPr algn="ctr"/>
                          <a:r>
                            <a:rPr lang="en-US" sz="1400" dirty="0"/>
                            <a:t>53</a:t>
                          </a:r>
                          <a:endParaRPr lang="en-SG" sz="1400" dirty="0"/>
                        </a:p>
                      </a:txBody>
                      <a:tcPr/>
                    </a:tc>
                    <a:tc>
                      <a:txBody>
                        <a:bodyPr/>
                        <a:lstStyle/>
                        <a:p>
                          <a:pPr algn="ctr"/>
                          <a:r>
                            <a:rPr lang="en-US" sz="1400" dirty="0"/>
                            <a:t>31.4%</a:t>
                          </a:r>
                          <a:endParaRPr lang="en-SG" sz="1400" dirty="0"/>
                        </a:p>
                      </a:txBody>
                      <a:tcPr/>
                    </a:tc>
                    <a:extLst>
                      <a:ext uri="{0D108BD9-81ED-4DB2-BD59-A6C34878D82A}">
                        <a16:rowId xmlns:a16="http://schemas.microsoft.com/office/drawing/2014/main" val="544123231"/>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17.2%</a:t>
                          </a:r>
                          <a:endParaRPr lang="en-SG" sz="1400" dirty="0"/>
                        </a:p>
                      </a:txBody>
                      <a:tcPr/>
                    </a:tc>
                    <a:extLst>
                      <a:ext uri="{0D108BD9-81ED-4DB2-BD59-A6C34878D82A}">
                        <a16:rowId xmlns:a16="http://schemas.microsoft.com/office/drawing/2014/main" val="248932740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26</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15.4%</a:t>
                          </a:r>
                          <a:endParaRPr lang="en-SG" sz="1400" dirty="0"/>
                        </a:p>
                      </a:txBody>
                      <a:tcPr/>
                    </a:tc>
                    <a:extLst>
                      <a:ext uri="{0D108BD9-81ED-4DB2-BD59-A6C34878D82A}">
                        <a16:rowId xmlns:a16="http://schemas.microsoft.com/office/drawing/2014/main" val="118888737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4.7%</a:t>
                          </a:r>
                          <a:endParaRPr lang="en-SG" sz="1400" dirty="0"/>
                        </a:p>
                      </a:txBody>
                      <a:tcPr/>
                    </a:tc>
                    <a:extLst>
                      <a:ext uri="{0D108BD9-81ED-4DB2-BD59-A6C34878D82A}">
                        <a16:rowId xmlns:a16="http://schemas.microsoft.com/office/drawing/2014/main" val="3123593497"/>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1mu1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7</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4.1%</a:t>
                          </a:r>
                          <a:endParaRPr lang="en-SG" sz="1400" dirty="0"/>
                        </a:p>
                      </a:txBody>
                      <a:tcPr/>
                    </a:tc>
                    <a:extLst>
                      <a:ext uri="{0D108BD9-81ED-4DB2-BD59-A6C34878D82A}">
                        <a16:rowId xmlns:a16="http://schemas.microsoft.com/office/drawing/2014/main" val="3460727544"/>
                      </a:ext>
                    </a:extLst>
                  </a:tr>
                </a:tbl>
              </a:graphicData>
            </a:graphic>
          </p:graphicFrame>
        </mc:Choice>
        <mc:Fallback xmlns="">
          <p:graphicFrame>
            <p:nvGraphicFramePr>
              <p:cNvPr id="4" name="Table 3">
                <a:extLst>
                  <a:ext uri="{FF2B5EF4-FFF2-40B4-BE49-F238E27FC236}">
                    <a16:creationId xmlns:a16="http://schemas.microsoft.com/office/drawing/2014/main" id="{7412F4DA-9134-743A-BB70-21C2267C8A9C}"/>
                  </a:ext>
                </a:extLst>
              </p:cNvPr>
              <p:cNvGraphicFramePr>
                <a:graphicFrameLocks noGrp="1"/>
              </p:cNvGraphicFramePr>
              <p:nvPr>
                <p:extLst>
                  <p:ext uri="{D42A27DB-BD31-4B8C-83A1-F6EECF244321}">
                    <p14:modId xmlns:p14="http://schemas.microsoft.com/office/powerpoint/2010/main" val="2065123466"/>
                  </p:ext>
                </p:extLst>
              </p:nvPr>
            </p:nvGraphicFramePr>
            <p:xfrm>
              <a:off x="6156849" y="1981927"/>
              <a:ext cx="5688788" cy="3508220"/>
            </p:xfrm>
            <a:graphic>
              <a:graphicData uri="http://schemas.openxmlformats.org/drawingml/2006/table">
                <a:tbl>
                  <a:tblPr firstRow="1" bandRow="1">
                    <a:tableStyleId>{5C22544A-7EE6-4342-B048-85BDC9FD1C3A}</a:tableStyleId>
                  </a:tblPr>
                  <a:tblGrid>
                    <a:gridCol w="2244201">
                      <a:extLst>
                        <a:ext uri="{9D8B030D-6E8A-4147-A177-3AD203B41FA5}">
                          <a16:colId xmlns:a16="http://schemas.microsoft.com/office/drawing/2014/main" val="2139926121"/>
                        </a:ext>
                      </a:extLst>
                    </a:gridCol>
                    <a:gridCol w="1060044">
                      <a:extLst>
                        <a:ext uri="{9D8B030D-6E8A-4147-A177-3AD203B41FA5}">
                          <a16:colId xmlns:a16="http://schemas.microsoft.com/office/drawing/2014/main" val="238043143"/>
                        </a:ext>
                      </a:extLst>
                    </a:gridCol>
                    <a:gridCol w="2384543">
                      <a:extLst>
                        <a:ext uri="{9D8B030D-6E8A-4147-A177-3AD203B41FA5}">
                          <a16:colId xmlns:a16="http://schemas.microsoft.com/office/drawing/2014/main" val="1503881149"/>
                        </a:ext>
                      </a:extLst>
                    </a:gridCol>
                  </a:tblGrid>
                  <a:tr h="5791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008758758"/>
                      </a:ext>
                    </a:extLst>
                  </a:tr>
                  <a:tr h="309820">
                    <a:tc>
                      <a:txBody>
                        <a:bodyPr/>
                        <a:lstStyle/>
                        <a:p>
                          <a:r>
                            <a:rPr lang="en-US" sz="1400" dirty="0"/>
                            <a:t>Root file sample</a:t>
                          </a:r>
                          <a:endParaRPr lang="en-SG" sz="1400" dirty="0"/>
                        </a:p>
                      </a:txBody>
                      <a:tcPr/>
                    </a:tc>
                    <a:tc gridSpan="2">
                      <a:txBody>
                        <a:bodyPr/>
                        <a:lstStyle/>
                        <a:p>
                          <a:pPr algn="ctr"/>
                          <a:r>
                            <a:rPr lang="en-US" sz="1400" b="1" dirty="0"/>
                            <a:t>B</a:t>
                          </a:r>
                          <a:r>
                            <a:rPr lang="en-SG" sz="1400" b="1" dirty="0"/>
                            <a:t>NB</a:t>
                          </a:r>
                        </a:p>
                      </a:txBody>
                      <a:tcPr/>
                    </a:tc>
                    <a:tc hMerge="1">
                      <a:txBody>
                        <a:bodyPr/>
                        <a:lstStyle/>
                        <a:p>
                          <a:pPr algn="ctr"/>
                          <a:endParaRPr lang="en-SG" sz="1400" b="1" dirty="0"/>
                        </a:p>
                      </a:txBody>
                      <a:tcPr/>
                    </a:tc>
                    <a:extLst>
                      <a:ext uri="{0D108BD9-81ED-4DB2-BD59-A6C34878D82A}">
                        <a16:rowId xmlns:a16="http://schemas.microsoft.com/office/drawing/2014/main" val="89337582"/>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Total number of wrongly matched interactions</a:t>
                          </a:r>
                          <a:endParaRPr lang="en-SG" sz="1400" dirty="0"/>
                        </a:p>
                      </a:txBody>
                      <a:tcPr/>
                    </a:tc>
                    <a:tc gridSpan="2">
                      <a:txBody>
                        <a:bodyPr/>
                        <a:lstStyle/>
                        <a:p>
                          <a:pPr algn="ctr"/>
                          <a:r>
                            <a:rPr lang="en-US" sz="1400" dirty="0"/>
                            <a:t>169</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669440555"/>
                      </a:ext>
                    </a:extLst>
                  </a:tr>
                  <a:tr h="395740">
                    <a:tc>
                      <a:txBody>
                        <a:bodyPr/>
                        <a:lstStyle/>
                        <a:p>
                          <a:pPr algn="ctr"/>
                          <a:r>
                            <a:rPr lang="en-US" sz="1400" dirty="0"/>
                            <a:t>2y1p</a:t>
                          </a:r>
                          <a:endParaRPr lang="en-SG" sz="1400" dirty="0"/>
                        </a:p>
                      </a:txBody>
                      <a:tcPr/>
                    </a:tc>
                    <a:tc>
                      <a:txBody>
                        <a:bodyPr/>
                        <a:lstStyle/>
                        <a:p>
                          <a:pPr algn="ctr"/>
                          <a:r>
                            <a:rPr lang="en-US" sz="1400" dirty="0"/>
                            <a:t>53</a:t>
                          </a:r>
                          <a:endParaRPr lang="en-SG" sz="1400" dirty="0"/>
                        </a:p>
                      </a:txBody>
                      <a:tcPr/>
                    </a:tc>
                    <a:tc>
                      <a:txBody>
                        <a:bodyPr/>
                        <a:lstStyle/>
                        <a:p>
                          <a:pPr algn="ctr"/>
                          <a:r>
                            <a:rPr lang="en-US" sz="1400" dirty="0"/>
                            <a:t>31.4%</a:t>
                          </a:r>
                          <a:endParaRPr lang="en-SG" sz="1400" dirty="0"/>
                        </a:p>
                      </a:txBody>
                      <a:tcPr/>
                    </a:tc>
                    <a:extLst>
                      <a:ext uri="{0D108BD9-81ED-4DB2-BD59-A6C34878D82A}">
                        <a16:rowId xmlns:a16="http://schemas.microsoft.com/office/drawing/2014/main" val="544123231"/>
                      </a:ext>
                    </a:extLst>
                  </a:tr>
                  <a:tr h="395740">
                    <a:tc>
                      <a:txBody>
                        <a:bodyPr/>
                        <a:lstStyle/>
                        <a:p>
                          <a:endParaRPr lang="en-US"/>
                        </a:p>
                      </a:txBody>
                      <a:tcPr>
                        <a:blipFill>
                          <a:blip r:embed="rId4"/>
                          <a:stretch>
                            <a:fillRect l="-271" t="-460000" r="-154472" b="-33384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29</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17.2%</a:t>
                          </a:r>
                          <a:endParaRPr lang="en-SG" sz="1400" dirty="0"/>
                        </a:p>
                      </a:txBody>
                      <a:tcPr/>
                    </a:tc>
                    <a:extLst>
                      <a:ext uri="{0D108BD9-81ED-4DB2-BD59-A6C34878D82A}">
                        <a16:rowId xmlns:a16="http://schemas.microsoft.com/office/drawing/2014/main" val="2489327402"/>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26</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15.4%</a:t>
                          </a:r>
                          <a:endParaRPr lang="en-SG" sz="1400" dirty="0"/>
                        </a:p>
                      </a:txBody>
                      <a:tcPr/>
                    </a:tc>
                    <a:extLst>
                      <a:ext uri="{0D108BD9-81ED-4DB2-BD59-A6C34878D82A}">
                        <a16:rowId xmlns:a16="http://schemas.microsoft.com/office/drawing/2014/main" val="1188887374"/>
                      </a:ext>
                    </a:extLst>
                  </a:tr>
                  <a:tr h="395740">
                    <a:tc>
                      <a:txBody>
                        <a:bodyPr/>
                        <a:lstStyle/>
                        <a:p>
                          <a:endParaRPr lang="en-US"/>
                        </a:p>
                      </a:txBody>
                      <a:tcPr>
                        <a:blipFill>
                          <a:blip r:embed="rId4"/>
                          <a:stretch>
                            <a:fillRect l="-271" t="-690769" r="-154472" b="-10307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4.7%</a:t>
                          </a:r>
                          <a:endParaRPr lang="en-SG" sz="1400" dirty="0"/>
                        </a:p>
                      </a:txBody>
                      <a:tcPr/>
                    </a:tc>
                    <a:extLst>
                      <a:ext uri="{0D108BD9-81ED-4DB2-BD59-A6C34878D82A}">
                        <a16:rowId xmlns:a16="http://schemas.microsoft.com/office/drawing/2014/main" val="3123593497"/>
                      </a:ext>
                    </a:extLst>
                  </a:tr>
                  <a:tr h="395740">
                    <a:tc>
                      <a:txBody>
                        <a:bodyPr/>
                        <a:lstStyle/>
                        <a:p>
                          <a:endParaRPr lang="en-US"/>
                        </a:p>
                      </a:txBody>
                      <a:tcPr>
                        <a:blipFill>
                          <a:blip r:embed="rId4"/>
                          <a:stretch>
                            <a:fillRect l="-271" t="-790769" r="-154472" b="-307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7</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4.1%</a:t>
                          </a:r>
                          <a:endParaRPr lang="en-SG" sz="1400" dirty="0"/>
                        </a:p>
                      </a:txBody>
                      <a:tcPr/>
                    </a:tc>
                    <a:extLst>
                      <a:ext uri="{0D108BD9-81ED-4DB2-BD59-A6C34878D82A}">
                        <a16:rowId xmlns:a16="http://schemas.microsoft.com/office/drawing/2014/main" val="3460727544"/>
                      </a:ext>
                    </a:extLst>
                  </a:tr>
                </a:tbl>
              </a:graphicData>
            </a:graphic>
          </p:graphicFrame>
        </mc:Fallback>
      </mc:AlternateContent>
    </p:spTree>
    <p:extLst>
      <p:ext uri="{BB962C8B-B14F-4D97-AF65-F5344CB8AC3E}">
        <p14:creationId xmlns:p14="http://schemas.microsoft.com/office/powerpoint/2010/main" val="4016977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C4A6A-5C51-1C5D-69FF-4953063CC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3E4DB-158D-7F0B-41CA-7E0DA774CA5B}"/>
              </a:ext>
            </a:extLst>
          </p:cNvPr>
          <p:cNvSpPr>
            <a:spLocks noGrp="1"/>
          </p:cNvSpPr>
          <p:nvPr>
            <p:ph type="title"/>
          </p:nvPr>
        </p:nvSpPr>
        <p:spPr/>
        <p:txBody>
          <a:bodyPr>
            <a:normAutofit fontScale="90000"/>
          </a:bodyPr>
          <a:lstStyle/>
          <a:p>
            <a:r>
              <a:rPr lang="en-US" dirty="0"/>
              <a:t>Analysis of wrongly matched </a:t>
            </a:r>
            <a:r>
              <a:rPr lang="en-US" dirty="0" err="1"/>
              <a:t>reco</a:t>
            </a:r>
            <a:r>
              <a:rPr lang="en-US" dirty="0"/>
              <a:t> interactions to true </a:t>
            </a:r>
            <a:r>
              <a:rPr lang="en-US" dirty="0" err="1"/>
              <a:t>yy</a:t>
            </a:r>
            <a:r>
              <a:rPr lang="en-US" dirty="0"/>
              <a:t> interactions </a:t>
            </a:r>
            <a:r>
              <a:rPr lang="en-US" b="1" dirty="0"/>
              <a:t>(Truth)</a:t>
            </a:r>
            <a:endParaRPr lang="en-SG" b="1" dirty="0"/>
          </a:p>
        </p:txBody>
      </p:sp>
      <p:graphicFrame>
        <p:nvGraphicFramePr>
          <p:cNvPr id="6" name="Table 5">
            <a:extLst>
              <a:ext uri="{FF2B5EF4-FFF2-40B4-BE49-F238E27FC236}">
                <a16:creationId xmlns:a16="http://schemas.microsoft.com/office/drawing/2014/main" id="{165DD7BA-98B8-0A8F-73B7-3D6651B04202}"/>
              </a:ext>
            </a:extLst>
          </p:cNvPr>
          <p:cNvGraphicFramePr>
            <a:graphicFrameLocks noGrp="1"/>
          </p:cNvGraphicFramePr>
          <p:nvPr>
            <p:extLst>
              <p:ext uri="{D42A27DB-BD31-4B8C-83A1-F6EECF244321}">
                <p14:modId xmlns:p14="http://schemas.microsoft.com/office/powerpoint/2010/main" val="1311679765"/>
              </p:ext>
            </p:extLst>
          </p:nvPr>
        </p:nvGraphicFramePr>
        <p:xfrm>
          <a:off x="346363" y="1981927"/>
          <a:ext cx="5688788" cy="3508220"/>
        </p:xfrm>
        <a:graphic>
          <a:graphicData uri="http://schemas.openxmlformats.org/drawingml/2006/table">
            <a:tbl>
              <a:tblPr firstRow="1" bandRow="1">
                <a:tableStyleId>{5C22544A-7EE6-4342-B048-85BDC9FD1C3A}</a:tableStyleId>
              </a:tblPr>
              <a:tblGrid>
                <a:gridCol w="2368262">
                  <a:extLst>
                    <a:ext uri="{9D8B030D-6E8A-4147-A177-3AD203B41FA5}">
                      <a16:colId xmlns:a16="http://schemas.microsoft.com/office/drawing/2014/main" val="164537708"/>
                    </a:ext>
                  </a:extLst>
                </a:gridCol>
                <a:gridCol w="935983">
                  <a:extLst>
                    <a:ext uri="{9D8B030D-6E8A-4147-A177-3AD203B41FA5}">
                      <a16:colId xmlns:a16="http://schemas.microsoft.com/office/drawing/2014/main" val="1497192061"/>
                    </a:ext>
                  </a:extLst>
                </a:gridCol>
                <a:gridCol w="2384543">
                  <a:extLst>
                    <a:ext uri="{9D8B030D-6E8A-4147-A177-3AD203B41FA5}">
                      <a16:colId xmlns:a16="http://schemas.microsoft.com/office/drawing/2014/main" val="2388750764"/>
                    </a:ext>
                  </a:extLst>
                </a:gridCol>
              </a:tblGrid>
              <a:tr h="3098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4236083"/>
                  </a:ext>
                </a:extLst>
              </a:tr>
              <a:tr h="309820">
                <a:tc>
                  <a:txBody>
                    <a:bodyPr/>
                    <a:lstStyle/>
                    <a:p>
                      <a:r>
                        <a:rPr lang="en-US" sz="1400" dirty="0"/>
                        <a:t>Root file sample</a:t>
                      </a:r>
                      <a:endParaRPr lang="en-SG" sz="1400" dirty="0"/>
                    </a:p>
                  </a:txBody>
                  <a:tcPr/>
                </a:tc>
                <a:tc gridSpan="2">
                  <a:txBody>
                    <a:bodyPr/>
                    <a:lstStyle/>
                    <a:p>
                      <a:pPr algn="ctr"/>
                      <a:r>
                        <a:rPr lang="en-SG" sz="1400" b="1" dirty="0" err="1"/>
                        <a:t>NuMI</a:t>
                      </a:r>
                      <a:endParaRPr lang="en-SG" sz="1400" b="1" dirty="0"/>
                    </a:p>
                  </a:txBody>
                  <a:tcPr/>
                </a:tc>
                <a:tc hMerge="1">
                  <a:txBody>
                    <a:bodyPr/>
                    <a:lstStyle/>
                    <a:p>
                      <a:pPr algn="ctr"/>
                      <a:endParaRPr lang="en-SG" sz="1400" b="1" dirty="0"/>
                    </a:p>
                  </a:txBody>
                  <a:tcPr/>
                </a:tc>
                <a:extLst>
                  <a:ext uri="{0D108BD9-81ED-4DB2-BD59-A6C34878D82A}">
                    <a16:rowId xmlns:a16="http://schemas.microsoft.com/office/drawing/2014/main" val="3801965240"/>
                  </a:ext>
                </a:extLst>
              </a:tr>
              <a:tr h="395740">
                <a:tc>
                  <a:txBody>
                    <a:bodyPr/>
                    <a:lstStyle/>
                    <a:p>
                      <a:pPr algn="ctr"/>
                      <a:r>
                        <a:rPr lang="en-US" sz="1400" dirty="0"/>
                        <a:t>Total number of wrongly matched interactions</a:t>
                      </a:r>
                      <a:endParaRPr lang="en-SG" sz="1400" dirty="0"/>
                    </a:p>
                  </a:txBody>
                  <a:tcPr/>
                </a:tc>
                <a:tc gridSpan="2">
                  <a:txBody>
                    <a:bodyPr/>
                    <a:lstStyle/>
                    <a:p>
                      <a:pPr algn="ctr"/>
                      <a:r>
                        <a:rPr lang="en-US" sz="1400" dirty="0"/>
                        <a:t>585</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2438895856"/>
                  </a:ext>
                </a:extLst>
              </a:tr>
              <a:tr h="395740">
                <a:tc>
                  <a:txBody>
                    <a:bodyPr/>
                    <a:lstStyle/>
                    <a:p>
                      <a:pPr algn="ctr"/>
                      <a:r>
                        <a:rPr lang="en-US" sz="1400" dirty="0"/>
                        <a:t>1e1y</a:t>
                      </a:r>
                      <a:endParaRPr lang="en-SG" sz="1400" dirty="0"/>
                    </a:p>
                  </a:txBody>
                  <a:tcPr/>
                </a:tc>
                <a:tc>
                  <a:txBody>
                    <a:bodyPr/>
                    <a:lstStyle/>
                    <a:p>
                      <a:pPr algn="ctr"/>
                      <a:r>
                        <a:rPr lang="en-US" sz="1400" dirty="0"/>
                        <a:t>146</a:t>
                      </a:r>
                      <a:endParaRPr lang="en-SG" sz="1400" dirty="0"/>
                    </a:p>
                  </a:txBody>
                  <a:tcPr/>
                </a:tc>
                <a:tc>
                  <a:txBody>
                    <a:bodyPr/>
                    <a:lstStyle/>
                    <a:p>
                      <a:pPr algn="ctr"/>
                      <a:r>
                        <a:rPr lang="en-US" sz="1400" dirty="0"/>
                        <a:t>25.0%</a:t>
                      </a:r>
                      <a:endParaRPr lang="en-SG" sz="1400" dirty="0"/>
                    </a:p>
                  </a:txBody>
                  <a:tcPr/>
                </a:tc>
                <a:extLst>
                  <a:ext uri="{0D108BD9-81ED-4DB2-BD59-A6C34878D82A}">
                    <a16:rowId xmlns:a16="http://schemas.microsoft.com/office/drawing/2014/main" val="142716589"/>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100</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17.1%</a:t>
                      </a:r>
                      <a:endParaRPr lang="en-SG" sz="1400" dirty="0"/>
                    </a:p>
                  </a:txBody>
                  <a:tcPr/>
                </a:tc>
                <a:extLst>
                  <a:ext uri="{0D108BD9-81ED-4DB2-BD59-A6C34878D82A}">
                    <a16:rowId xmlns:a16="http://schemas.microsoft.com/office/drawing/2014/main" val="15250979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1e</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66</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11.3%</a:t>
                      </a:r>
                      <a:endParaRPr lang="en-SG" sz="1400" dirty="0"/>
                    </a:p>
                  </a:txBody>
                  <a:tcPr/>
                </a:tc>
                <a:extLst>
                  <a:ext uri="{0D108BD9-81ED-4DB2-BD59-A6C34878D82A}">
                    <a16:rowId xmlns:a16="http://schemas.microsoft.com/office/drawing/2014/main" val="514495980"/>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50</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8.6%</a:t>
                      </a:r>
                      <a:endParaRPr lang="en-SG" sz="1400" dirty="0"/>
                    </a:p>
                  </a:txBody>
                  <a:tcPr/>
                </a:tc>
                <a:extLst>
                  <a:ext uri="{0D108BD9-81ED-4DB2-BD59-A6C34878D82A}">
                    <a16:rowId xmlns:a16="http://schemas.microsoft.com/office/drawing/2014/main" val="174847786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2y2p</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25</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4.3%</a:t>
                      </a:r>
                      <a:endParaRPr lang="en-SG" sz="1400" dirty="0"/>
                    </a:p>
                  </a:txBody>
                  <a:tcPr/>
                </a:tc>
                <a:extLst>
                  <a:ext uri="{0D108BD9-81ED-4DB2-BD59-A6C34878D82A}">
                    <a16:rowId xmlns:a16="http://schemas.microsoft.com/office/drawing/2014/main" val="2083957442"/>
                  </a:ext>
                </a:extLst>
              </a:tr>
            </a:tbl>
          </a:graphicData>
        </a:graphic>
      </p:graphicFrame>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CA24C0D-E913-9B9C-59FB-5EC2BBF56466}"/>
                  </a:ext>
                </a:extLst>
              </p:cNvPr>
              <p:cNvGraphicFramePr>
                <a:graphicFrameLocks noGrp="1"/>
              </p:cNvGraphicFramePr>
              <p:nvPr>
                <p:extLst>
                  <p:ext uri="{D42A27DB-BD31-4B8C-83A1-F6EECF244321}">
                    <p14:modId xmlns:p14="http://schemas.microsoft.com/office/powerpoint/2010/main" val="2168593857"/>
                  </p:ext>
                </p:extLst>
              </p:nvPr>
            </p:nvGraphicFramePr>
            <p:xfrm>
              <a:off x="6156849" y="1981927"/>
              <a:ext cx="5688788" cy="3508220"/>
            </p:xfrm>
            <a:graphic>
              <a:graphicData uri="http://schemas.openxmlformats.org/drawingml/2006/table">
                <a:tbl>
                  <a:tblPr firstRow="1" bandRow="1">
                    <a:tableStyleId>{5C22544A-7EE6-4342-B048-85BDC9FD1C3A}</a:tableStyleId>
                  </a:tblPr>
                  <a:tblGrid>
                    <a:gridCol w="2263251">
                      <a:extLst>
                        <a:ext uri="{9D8B030D-6E8A-4147-A177-3AD203B41FA5}">
                          <a16:colId xmlns:a16="http://schemas.microsoft.com/office/drawing/2014/main" val="2139926121"/>
                        </a:ext>
                      </a:extLst>
                    </a:gridCol>
                    <a:gridCol w="1040994">
                      <a:extLst>
                        <a:ext uri="{9D8B030D-6E8A-4147-A177-3AD203B41FA5}">
                          <a16:colId xmlns:a16="http://schemas.microsoft.com/office/drawing/2014/main" val="238043143"/>
                        </a:ext>
                      </a:extLst>
                    </a:gridCol>
                    <a:gridCol w="2384543">
                      <a:extLst>
                        <a:ext uri="{9D8B030D-6E8A-4147-A177-3AD203B41FA5}">
                          <a16:colId xmlns:a16="http://schemas.microsoft.com/office/drawing/2014/main" val="1503881149"/>
                        </a:ext>
                      </a:extLst>
                    </a:gridCol>
                  </a:tblGrid>
                  <a:tr h="3098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008758758"/>
                      </a:ext>
                    </a:extLst>
                  </a:tr>
                  <a:tr h="309820">
                    <a:tc>
                      <a:txBody>
                        <a:bodyPr/>
                        <a:lstStyle/>
                        <a:p>
                          <a:r>
                            <a:rPr lang="en-US" sz="1400" dirty="0"/>
                            <a:t>Root file sample</a:t>
                          </a:r>
                          <a:endParaRPr lang="en-SG" sz="1400" dirty="0"/>
                        </a:p>
                      </a:txBody>
                      <a:tcPr/>
                    </a:tc>
                    <a:tc gridSpan="2">
                      <a:txBody>
                        <a:bodyPr/>
                        <a:lstStyle/>
                        <a:p>
                          <a:pPr algn="ctr"/>
                          <a:r>
                            <a:rPr lang="en-US" sz="1400" b="1" dirty="0"/>
                            <a:t>B</a:t>
                          </a:r>
                          <a:r>
                            <a:rPr lang="en-SG" sz="1400" b="1" dirty="0"/>
                            <a:t>NB</a:t>
                          </a:r>
                        </a:p>
                      </a:txBody>
                      <a:tcPr/>
                    </a:tc>
                    <a:tc hMerge="1">
                      <a:txBody>
                        <a:bodyPr/>
                        <a:lstStyle/>
                        <a:p>
                          <a:pPr algn="ctr"/>
                          <a:endParaRPr lang="en-SG" sz="1400" b="1" dirty="0"/>
                        </a:p>
                      </a:txBody>
                      <a:tcPr/>
                    </a:tc>
                    <a:extLst>
                      <a:ext uri="{0D108BD9-81ED-4DB2-BD59-A6C34878D82A}">
                        <a16:rowId xmlns:a16="http://schemas.microsoft.com/office/drawing/2014/main" val="89337582"/>
                      </a:ext>
                    </a:extLst>
                  </a:tr>
                  <a:tr h="395740">
                    <a:tc>
                      <a:txBody>
                        <a:bodyPr/>
                        <a:lstStyle/>
                        <a:p>
                          <a:pPr algn="ctr"/>
                          <a:r>
                            <a:rPr lang="en-US" sz="1400" dirty="0"/>
                            <a:t>Total number of wrongly matched interactions</a:t>
                          </a:r>
                          <a:endParaRPr lang="en-SG" sz="1400" dirty="0"/>
                        </a:p>
                      </a:txBody>
                      <a:tcPr/>
                    </a:tc>
                    <a:tc gridSpan="2">
                      <a:txBody>
                        <a:bodyPr/>
                        <a:lstStyle/>
                        <a:p>
                          <a:pPr algn="ctr"/>
                          <a:r>
                            <a:rPr lang="en-US" sz="1400" dirty="0"/>
                            <a:t>743</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929895647"/>
                      </a:ext>
                    </a:extLst>
                  </a:tr>
                  <a:tr h="395740">
                    <a:tc>
                      <a:txBody>
                        <a:bodyPr/>
                        <a:lstStyle/>
                        <a:p>
                          <a:pPr algn="ctr"/>
                          <a:r>
                            <a:rPr lang="en-US" sz="1400" dirty="0"/>
                            <a:t>1e1y</a:t>
                          </a:r>
                          <a:endParaRPr lang="en-SG" sz="1400" dirty="0"/>
                        </a:p>
                      </a:txBody>
                      <a:tcPr/>
                    </a:tc>
                    <a:tc>
                      <a:txBody>
                        <a:bodyPr/>
                        <a:lstStyle/>
                        <a:p>
                          <a:pPr algn="ctr"/>
                          <a:r>
                            <a:rPr lang="en-US" sz="1400" dirty="0"/>
                            <a:t>201</a:t>
                          </a:r>
                          <a:endParaRPr lang="en-SG" sz="1400" dirty="0"/>
                        </a:p>
                      </a:txBody>
                      <a:tcPr/>
                    </a:tc>
                    <a:tc>
                      <a:txBody>
                        <a:bodyPr/>
                        <a:lstStyle/>
                        <a:p>
                          <a:pPr algn="ctr"/>
                          <a:r>
                            <a:rPr lang="en-US" sz="1400" dirty="0"/>
                            <a:t>27.1%</a:t>
                          </a:r>
                          <a:endParaRPr lang="en-SG" sz="1400" dirty="0"/>
                        </a:p>
                      </a:txBody>
                      <a:tcPr/>
                    </a:tc>
                    <a:extLst>
                      <a:ext uri="{0D108BD9-81ED-4DB2-BD59-A6C34878D82A}">
                        <a16:rowId xmlns:a16="http://schemas.microsoft.com/office/drawing/2014/main" val="544123231"/>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134</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18.0%</a:t>
                          </a:r>
                          <a:endParaRPr lang="en-SG" sz="1400" dirty="0"/>
                        </a:p>
                      </a:txBody>
                      <a:tcPr/>
                    </a:tc>
                    <a:extLst>
                      <a:ext uri="{0D108BD9-81ED-4DB2-BD59-A6C34878D82A}">
                        <a16:rowId xmlns:a16="http://schemas.microsoft.com/office/drawing/2014/main" val="2489327402"/>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91</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12.2%</a:t>
                          </a:r>
                          <a:endParaRPr lang="en-SG" sz="1400" dirty="0"/>
                        </a:p>
                      </a:txBody>
                      <a:tcPr/>
                    </a:tc>
                    <a:extLst>
                      <a:ext uri="{0D108BD9-81ED-4DB2-BD59-A6C34878D82A}">
                        <a16:rowId xmlns:a16="http://schemas.microsoft.com/office/drawing/2014/main" val="118888737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1e</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9.2%</a:t>
                          </a:r>
                          <a:endParaRPr lang="en-SG" sz="1400" dirty="0"/>
                        </a:p>
                      </a:txBody>
                      <a:tcPr/>
                    </a:tc>
                    <a:extLst>
                      <a:ext uri="{0D108BD9-81ED-4DB2-BD59-A6C34878D82A}">
                        <a16:rowId xmlns:a16="http://schemas.microsoft.com/office/drawing/2014/main" val="3123593497"/>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a:t>
                          </a:r>
                          <a14:m>
                            <m:oMath xmlns:m="http://schemas.openxmlformats.org/officeDocument/2006/math">
                              <m:r>
                                <a:rPr lang="el-GR" sz="1400" i="1" smtClean="0">
                                  <a:latin typeface="Cambria Math" panose="02040503050406030204" pitchFamily="18" charset="0"/>
                                </a:rPr>
                                <m:t>𝜋</m:t>
                              </m:r>
                            </m:oMath>
                          </a14:m>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6.5%</a:t>
                          </a:r>
                          <a:endParaRPr lang="en-SG" sz="1400" dirty="0"/>
                        </a:p>
                      </a:txBody>
                      <a:tcPr/>
                    </a:tc>
                    <a:extLst>
                      <a:ext uri="{0D108BD9-81ED-4DB2-BD59-A6C34878D82A}">
                        <a16:rowId xmlns:a16="http://schemas.microsoft.com/office/drawing/2014/main" val="3460727544"/>
                      </a:ext>
                    </a:extLst>
                  </a:tr>
                </a:tbl>
              </a:graphicData>
            </a:graphic>
          </p:graphicFrame>
        </mc:Choice>
        <mc:Fallback xmlns="">
          <p:graphicFrame>
            <p:nvGraphicFramePr>
              <p:cNvPr id="4" name="Table 3">
                <a:extLst>
                  <a:ext uri="{FF2B5EF4-FFF2-40B4-BE49-F238E27FC236}">
                    <a16:creationId xmlns:a16="http://schemas.microsoft.com/office/drawing/2014/main" id="{0CA24C0D-E913-9B9C-59FB-5EC2BBF56466}"/>
                  </a:ext>
                </a:extLst>
              </p:cNvPr>
              <p:cNvGraphicFramePr>
                <a:graphicFrameLocks noGrp="1"/>
              </p:cNvGraphicFramePr>
              <p:nvPr>
                <p:extLst>
                  <p:ext uri="{D42A27DB-BD31-4B8C-83A1-F6EECF244321}">
                    <p14:modId xmlns:p14="http://schemas.microsoft.com/office/powerpoint/2010/main" val="2168593857"/>
                  </p:ext>
                </p:extLst>
              </p:nvPr>
            </p:nvGraphicFramePr>
            <p:xfrm>
              <a:off x="6156849" y="1981927"/>
              <a:ext cx="5688788" cy="3508220"/>
            </p:xfrm>
            <a:graphic>
              <a:graphicData uri="http://schemas.openxmlformats.org/drawingml/2006/table">
                <a:tbl>
                  <a:tblPr firstRow="1" bandRow="1">
                    <a:tableStyleId>{5C22544A-7EE6-4342-B048-85BDC9FD1C3A}</a:tableStyleId>
                  </a:tblPr>
                  <a:tblGrid>
                    <a:gridCol w="2263251">
                      <a:extLst>
                        <a:ext uri="{9D8B030D-6E8A-4147-A177-3AD203B41FA5}">
                          <a16:colId xmlns:a16="http://schemas.microsoft.com/office/drawing/2014/main" val="2139926121"/>
                        </a:ext>
                      </a:extLst>
                    </a:gridCol>
                    <a:gridCol w="1040994">
                      <a:extLst>
                        <a:ext uri="{9D8B030D-6E8A-4147-A177-3AD203B41FA5}">
                          <a16:colId xmlns:a16="http://schemas.microsoft.com/office/drawing/2014/main" val="238043143"/>
                        </a:ext>
                      </a:extLst>
                    </a:gridCol>
                    <a:gridCol w="2384543">
                      <a:extLst>
                        <a:ext uri="{9D8B030D-6E8A-4147-A177-3AD203B41FA5}">
                          <a16:colId xmlns:a16="http://schemas.microsoft.com/office/drawing/2014/main" val="1503881149"/>
                        </a:ext>
                      </a:extLst>
                    </a:gridCol>
                  </a:tblGrid>
                  <a:tr h="579120">
                    <a:tc>
                      <a:txBody>
                        <a:bodyPr/>
                        <a:lstStyle/>
                        <a:p>
                          <a:r>
                            <a:rPr lang="en-US" sz="1600" dirty="0"/>
                            <a:t>PARAMETER</a:t>
                          </a:r>
                          <a:endParaRPr lang="en-SG" sz="1600" dirty="0"/>
                        </a:p>
                      </a:txBody>
                      <a:tcPr/>
                    </a:tc>
                    <a:tc>
                      <a:txBody>
                        <a:bodyPr/>
                        <a:lstStyle/>
                        <a:p>
                          <a:pPr algn="ctr"/>
                          <a:r>
                            <a:rPr lang="en-US" sz="1600" dirty="0"/>
                            <a:t>VALUE</a:t>
                          </a:r>
                          <a:endParaRPr lang="en-SG" sz="1600" dirty="0"/>
                        </a:p>
                      </a:txBody>
                      <a:tcPr/>
                    </a:tc>
                    <a:tc>
                      <a:txBody>
                        <a:bodyPr/>
                        <a:lstStyle/>
                        <a:p>
                          <a:pPr algn="ctr"/>
                          <a:r>
                            <a:rPr lang="en-US" sz="1600" dirty="0"/>
                            <a:t>% over tot no. of wrongly matched interactions</a:t>
                          </a:r>
                          <a:endParaRPr lang="en-SG" sz="1600" dirty="0"/>
                        </a:p>
                      </a:txBody>
                      <a:tcPr/>
                    </a:tc>
                    <a:extLst>
                      <a:ext uri="{0D108BD9-81ED-4DB2-BD59-A6C34878D82A}">
                        <a16:rowId xmlns:a16="http://schemas.microsoft.com/office/drawing/2014/main" val="2008758758"/>
                      </a:ext>
                    </a:extLst>
                  </a:tr>
                  <a:tr h="309820">
                    <a:tc>
                      <a:txBody>
                        <a:bodyPr/>
                        <a:lstStyle/>
                        <a:p>
                          <a:r>
                            <a:rPr lang="en-US" sz="1400" dirty="0"/>
                            <a:t>Root file sample</a:t>
                          </a:r>
                          <a:endParaRPr lang="en-SG" sz="1400" dirty="0"/>
                        </a:p>
                      </a:txBody>
                      <a:tcPr/>
                    </a:tc>
                    <a:tc gridSpan="2">
                      <a:txBody>
                        <a:bodyPr/>
                        <a:lstStyle/>
                        <a:p>
                          <a:pPr algn="ctr"/>
                          <a:r>
                            <a:rPr lang="en-US" sz="1400" b="1" dirty="0"/>
                            <a:t>B</a:t>
                          </a:r>
                          <a:r>
                            <a:rPr lang="en-SG" sz="1400" b="1" dirty="0"/>
                            <a:t>NB</a:t>
                          </a:r>
                        </a:p>
                      </a:txBody>
                      <a:tcPr/>
                    </a:tc>
                    <a:tc hMerge="1">
                      <a:txBody>
                        <a:bodyPr/>
                        <a:lstStyle/>
                        <a:p>
                          <a:pPr algn="ctr"/>
                          <a:endParaRPr lang="en-SG" sz="1400" b="1" dirty="0"/>
                        </a:p>
                      </a:txBody>
                      <a:tcPr/>
                    </a:tc>
                    <a:extLst>
                      <a:ext uri="{0D108BD9-81ED-4DB2-BD59-A6C34878D82A}">
                        <a16:rowId xmlns:a16="http://schemas.microsoft.com/office/drawing/2014/main" val="89337582"/>
                      </a:ext>
                    </a:extLst>
                  </a:tr>
                  <a:tr h="518160">
                    <a:tc>
                      <a:txBody>
                        <a:bodyPr/>
                        <a:lstStyle/>
                        <a:p>
                          <a:pPr algn="ctr"/>
                          <a:r>
                            <a:rPr lang="en-US" sz="1400" dirty="0"/>
                            <a:t>Total number of wrongly matched interactions</a:t>
                          </a:r>
                          <a:endParaRPr lang="en-SG" sz="1400" dirty="0"/>
                        </a:p>
                      </a:txBody>
                      <a:tcPr/>
                    </a:tc>
                    <a:tc gridSpan="2">
                      <a:txBody>
                        <a:bodyPr/>
                        <a:lstStyle/>
                        <a:p>
                          <a:pPr algn="ctr"/>
                          <a:r>
                            <a:rPr lang="en-US" sz="1400" dirty="0"/>
                            <a:t>743</a:t>
                          </a:r>
                          <a:endParaRPr lang="en-SG" sz="1400" dirty="0"/>
                        </a:p>
                      </a:txBody>
                      <a:tcPr/>
                    </a:tc>
                    <a:tc hMerge="1">
                      <a:txBody>
                        <a:bodyPr/>
                        <a:lstStyle/>
                        <a:p>
                          <a:pPr algn="ctr"/>
                          <a:endParaRPr lang="en-SG" sz="1400" dirty="0"/>
                        </a:p>
                      </a:txBody>
                      <a:tcPr/>
                    </a:tc>
                    <a:extLst>
                      <a:ext uri="{0D108BD9-81ED-4DB2-BD59-A6C34878D82A}">
                        <a16:rowId xmlns:a16="http://schemas.microsoft.com/office/drawing/2014/main" val="3929895647"/>
                      </a:ext>
                    </a:extLst>
                  </a:tr>
                  <a:tr h="395740">
                    <a:tc>
                      <a:txBody>
                        <a:bodyPr/>
                        <a:lstStyle/>
                        <a:p>
                          <a:pPr algn="ctr"/>
                          <a:r>
                            <a:rPr lang="en-US" sz="1400" dirty="0"/>
                            <a:t>1e1y</a:t>
                          </a:r>
                          <a:endParaRPr lang="en-SG" sz="1400" dirty="0"/>
                        </a:p>
                      </a:txBody>
                      <a:tcPr/>
                    </a:tc>
                    <a:tc>
                      <a:txBody>
                        <a:bodyPr/>
                        <a:lstStyle/>
                        <a:p>
                          <a:pPr algn="ctr"/>
                          <a:r>
                            <a:rPr lang="en-US" sz="1400" dirty="0"/>
                            <a:t>201</a:t>
                          </a:r>
                          <a:endParaRPr lang="en-SG" sz="1400" dirty="0"/>
                        </a:p>
                      </a:txBody>
                      <a:tcPr/>
                    </a:tc>
                    <a:tc>
                      <a:txBody>
                        <a:bodyPr/>
                        <a:lstStyle/>
                        <a:p>
                          <a:pPr algn="ctr"/>
                          <a:r>
                            <a:rPr lang="en-US" sz="1400" dirty="0"/>
                            <a:t>27.1%</a:t>
                          </a:r>
                          <a:endParaRPr lang="en-SG" sz="1400" dirty="0"/>
                        </a:p>
                      </a:txBody>
                      <a:tcPr/>
                    </a:tc>
                    <a:extLst>
                      <a:ext uri="{0D108BD9-81ED-4DB2-BD59-A6C34878D82A}">
                        <a16:rowId xmlns:a16="http://schemas.microsoft.com/office/drawing/2014/main" val="544123231"/>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2y1p</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134</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18.0%</a:t>
                          </a:r>
                          <a:endParaRPr lang="en-SG" sz="1400" dirty="0"/>
                        </a:p>
                      </a:txBody>
                      <a:tcPr/>
                    </a:tc>
                    <a:extLst>
                      <a:ext uri="{0D108BD9-81ED-4DB2-BD59-A6C34878D82A}">
                        <a16:rowId xmlns:a16="http://schemas.microsoft.com/office/drawing/2014/main" val="2489327402"/>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1y</a:t>
                          </a:r>
                          <a:endParaRPr lang="en-SG"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91</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12.2%</a:t>
                          </a:r>
                          <a:endParaRPr lang="en-SG" sz="1400" dirty="0"/>
                        </a:p>
                      </a:txBody>
                      <a:tcPr/>
                    </a:tc>
                    <a:extLst>
                      <a:ext uri="{0D108BD9-81ED-4DB2-BD59-A6C34878D82A}">
                        <a16:rowId xmlns:a16="http://schemas.microsoft.com/office/drawing/2014/main" val="1188887374"/>
                      </a:ext>
                    </a:extLst>
                  </a:tr>
                  <a:tr h="395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1e</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9.2%</a:t>
                          </a:r>
                          <a:endParaRPr lang="en-SG" sz="1400" dirty="0"/>
                        </a:p>
                      </a:txBody>
                      <a:tcPr/>
                    </a:tc>
                    <a:extLst>
                      <a:ext uri="{0D108BD9-81ED-4DB2-BD59-A6C34878D82A}">
                        <a16:rowId xmlns:a16="http://schemas.microsoft.com/office/drawing/2014/main" val="3123593497"/>
                      </a:ext>
                    </a:extLst>
                  </a:tr>
                  <a:tr h="395740">
                    <a:tc>
                      <a:txBody>
                        <a:bodyPr/>
                        <a:lstStyle/>
                        <a:p>
                          <a:endParaRPr lang="en-US"/>
                        </a:p>
                      </a:txBody>
                      <a:tcPr>
                        <a:blipFill>
                          <a:blip r:embed="rId3"/>
                          <a:stretch>
                            <a:fillRect l="-269" t="-790769" r="-152419" b="-307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48</a:t>
                          </a:r>
                          <a:endParaRPr lang="en-SG"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6.5%</a:t>
                          </a:r>
                          <a:endParaRPr lang="en-SG" sz="1400" dirty="0"/>
                        </a:p>
                      </a:txBody>
                      <a:tcPr/>
                    </a:tc>
                    <a:extLst>
                      <a:ext uri="{0D108BD9-81ED-4DB2-BD59-A6C34878D82A}">
                        <a16:rowId xmlns:a16="http://schemas.microsoft.com/office/drawing/2014/main" val="3460727544"/>
                      </a:ext>
                    </a:extLst>
                  </a:tr>
                </a:tbl>
              </a:graphicData>
            </a:graphic>
          </p:graphicFrame>
        </mc:Fallback>
      </mc:AlternateContent>
    </p:spTree>
    <p:extLst>
      <p:ext uri="{BB962C8B-B14F-4D97-AF65-F5344CB8AC3E}">
        <p14:creationId xmlns:p14="http://schemas.microsoft.com/office/powerpoint/2010/main" val="16413669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3438</TotalTime>
  <Words>1873</Words>
  <Application>Microsoft Office PowerPoint</Application>
  <PresentationFormat>Widescreen</PresentationFormat>
  <Paragraphs>395</Paragraphs>
  <Slides>15</Slides>
  <Notes>12</Notes>
  <HiddenSlides>1</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Aptos</vt:lpstr>
      <vt:lpstr>Arial</vt:lpstr>
      <vt:lpstr>Calibri</vt:lpstr>
      <vt:lpstr>Calibri Light</vt:lpstr>
      <vt:lpstr>Cambria Math</vt:lpstr>
      <vt:lpstr>Retrospect</vt:lpstr>
      <vt:lpstr>Packager Shell Object</vt:lpstr>
      <vt:lpstr>Tasks completed (12 Feb) </vt:lpstr>
      <vt:lpstr>Pre-event selection</vt:lpstr>
      <vt:lpstr>Preselection </vt:lpstr>
      <vt:lpstr>Preselection total efficiency (reco)</vt:lpstr>
      <vt:lpstr>Preselection total efficiency (Truth)</vt:lpstr>
      <vt:lpstr>Preselection cut purity (reco)</vt:lpstr>
      <vt:lpstr>Preselection cut purity (True)</vt:lpstr>
      <vt:lpstr>2-shower event selection</vt:lpstr>
      <vt:lpstr>Looking for ee, ey, and yy shower candidates in NuMI and BNB samples</vt:lpstr>
      <vt:lpstr>Looking for ee, ey, and yy shower candidates in NuMI and BNB samples</vt:lpstr>
      <vt:lpstr>True and reco interaction-level analysis</vt:lpstr>
      <vt:lpstr>Reco-level interaction analysis</vt:lpstr>
      <vt:lpstr>Truth-level interaction analysis</vt:lpstr>
      <vt:lpstr>Analysis of wrongly matched true interactions to reco yy interactions (reco)</vt:lpstr>
      <vt:lpstr>Analysis of wrongly matched reco interactions to true yy interactions (Truth)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#JORDON KOH JIN CHEN#</dc:creator>
  <cp:lastModifiedBy>#JORDON KOH JIN CHEN#</cp:lastModifiedBy>
  <cp:revision>19</cp:revision>
  <dcterms:created xsi:type="dcterms:W3CDTF">2025-11-12T13:24:12Z</dcterms:created>
  <dcterms:modified xsi:type="dcterms:W3CDTF">2026-02-19T17:18:33Z</dcterms:modified>
</cp:coreProperties>
</file>