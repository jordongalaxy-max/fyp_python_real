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41"/>
  </p:notesMasterIdLst>
  <p:sldIdLst>
    <p:sldId id="351" r:id="rId2"/>
    <p:sldId id="371" r:id="rId3"/>
    <p:sldId id="372" r:id="rId4"/>
    <p:sldId id="370" r:id="rId5"/>
    <p:sldId id="352" r:id="rId6"/>
    <p:sldId id="373" r:id="rId7"/>
    <p:sldId id="382" r:id="rId8"/>
    <p:sldId id="374" r:id="rId9"/>
    <p:sldId id="375" r:id="rId10"/>
    <p:sldId id="376" r:id="rId11"/>
    <p:sldId id="377" r:id="rId12"/>
    <p:sldId id="379" r:id="rId13"/>
    <p:sldId id="380" r:id="rId14"/>
    <p:sldId id="378" r:id="rId15"/>
    <p:sldId id="381" r:id="rId16"/>
    <p:sldId id="383" r:id="rId17"/>
    <p:sldId id="384" r:id="rId18"/>
    <p:sldId id="385" r:id="rId19"/>
    <p:sldId id="386" r:id="rId20"/>
    <p:sldId id="387" r:id="rId21"/>
    <p:sldId id="388" r:id="rId22"/>
    <p:sldId id="390" r:id="rId23"/>
    <p:sldId id="391" r:id="rId24"/>
    <p:sldId id="392" r:id="rId25"/>
    <p:sldId id="393" r:id="rId26"/>
    <p:sldId id="394" r:id="rId27"/>
    <p:sldId id="395" r:id="rId28"/>
    <p:sldId id="396" r:id="rId29"/>
    <p:sldId id="397" r:id="rId30"/>
    <p:sldId id="398" r:id="rId31"/>
    <p:sldId id="399" r:id="rId32"/>
    <p:sldId id="400" r:id="rId33"/>
    <p:sldId id="401" r:id="rId34"/>
    <p:sldId id="402" r:id="rId35"/>
    <p:sldId id="403" r:id="rId36"/>
    <p:sldId id="404" r:id="rId37"/>
    <p:sldId id="405" r:id="rId38"/>
    <p:sldId id="406" r:id="rId39"/>
    <p:sldId id="407"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3630" autoAdjust="0"/>
  </p:normalViewPr>
  <p:slideViewPr>
    <p:cSldViewPr snapToGrid="0">
      <p:cViewPr>
        <p:scale>
          <a:sx n="125" d="100"/>
          <a:sy n="125" d="100"/>
        </p:scale>
        <p:origin x="36"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BD9BC-DEF3-4382-83D6-5C0A0444C18A}" type="datetimeFigureOut">
              <a:rPr lang="en-SG" smtClean="0"/>
              <a:t>5/3/2026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B5FDCB-33CC-4AD4-B363-617329C34B90}" type="slidenum">
              <a:rPr lang="en-SG" smtClean="0"/>
              <a:t>‹#›</a:t>
            </a:fld>
            <a:endParaRPr lang="en-SG"/>
          </a:p>
        </p:txBody>
      </p:sp>
    </p:spTree>
    <p:extLst>
      <p:ext uri="{BB962C8B-B14F-4D97-AF65-F5344CB8AC3E}">
        <p14:creationId xmlns:p14="http://schemas.microsoft.com/office/powerpoint/2010/main" val="3661102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FA4BA-4D29-A8DF-B57D-85882B6D3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C80DA-365B-C047-1DEC-58D6D5B2F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8B8D1C-17EA-F430-CF55-D15A23D189E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6B8C0B01-45D4-6BF3-1074-6D74E0E73FA3}"/>
              </a:ext>
            </a:extLst>
          </p:cNvPr>
          <p:cNvSpPr>
            <a:spLocks noGrp="1"/>
          </p:cNvSpPr>
          <p:nvPr>
            <p:ph type="sldNum" sz="quarter" idx="5"/>
          </p:nvPr>
        </p:nvSpPr>
        <p:spPr/>
        <p:txBody>
          <a:bodyPr/>
          <a:lstStyle/>
          <a:p>
            <a:fld id="{02B5FDCB-33CC-4AD4-B363-617329C34B90}" type="slidenum">
              <a:rPr lang="en-SG" smtClean="0"/>
              <a:t>1</a:t>
            </a:fld>
            <a:endParaRPr lang="en-SG"/>
          </a:p>
        </p:txBody>
      </p:sp>
    </p:spTree>
    <p:extLst>
      <p:ext uri="{BB962C8B-B14F-4D97-AF65-F5344CB8AC3E}">
        <p14:creationId xmlns:p14="http://schemas.microsoft.com/office/powerpoint/2010/main" val="639299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06C14-CB48-BD5A-4C06-FFD809FAB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C162F-AEE1-2ED3-A7DA-F6D07295A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A73A3-1437-583F-6137-AEAAAA224E5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EB1BF180-3E24-1F08-48EB-D8DF5DC524BD}"/>
              </a:ext>
            </a:extLst>
          </p:cNvPr>
          <p:cNvSpPr>
            <a:spLocks noGrp="1"/>
          </p:cNvSpPr>
          <p:nvPr>
            <p:ph type="sldNum" sz="quarter" idx="5"/>
          </p:nvPr>
        </p:nvSpPr>
        <p:spPr/>
        <p:txBody>
          <a:bodyPr/>
          <a:lstStyle/>
          <a:p>
            <a:fld id="{02B5FDCB-33CC-4AD4-B363-617329C34B90}" type="slidenum">
              <a:rPr lang="en-SG" smtClean="0"/>
              <a:t>4</a:t>
            </a:fld>
            <a:endParaRPr lang="en-SG"/>
          </a:p>
        </p:txBody>
      </p:sp>
    </p:spTree>
    <p:extLst>
      <p:ext uri="{BB962C8B-B14F-4D97-AF65-F5344CB8AC3E}">
        <p14:creationId xmlns:p14="http://schemas.microsoft.com/office/powerpoint/2010/main" val="2594816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FD9FC-6CCC-FB8D-FA4D-2B6A8AAEA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FC049-7638-6A56-CB78-CC7C80E7E6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0C35C1-64BE-C204-FBA7-98A197C31D42}"/>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36930409-6E84-CE06-156C-B4AE551FFA9F}"/>
              </a:ext>
            </a:extLst>
          </p:cNvPr>
          <p:cNvSpPr>
            <a:spLocks noGrp="1"/>
          </p:cNvSpPr>
          <p:nvPr>
            <p:ph type="sldNum" sz="quarter" idx="5"/>
          </p:nvPr>
        </p:nvSpPr>
        <p:spPr/>
        <p:txBody>
          <a:bodyPr/>
          <a:lstStyle/>
          <a:p>
            <a:fld id="{02B5FDCB-33CC-4AD4-B363-617329C34B90}" type="slidenum">
              <a:rPr lang="en-SG" smtClean="0"/>
              <a:t>7</a:t>
            </a:fld>
            <a:endParaRPr lang="en-SG"/>
          </a:p>
        </p:txBody>
      </p:sp>
    </p:spTree>
    <p:extLst>
      <p:ext uri="{BB962C8B-B14F-4D97-AF65-F5344CB8AC3E}">
        <p14:creationId xmlns:p14="http://schemas.microsoft.com/office/powerpoint/2010/main" val="1581252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3951A-563B-D311-3D49-198C0A660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D85703-33B1-2256-F1D7-D73DEC5440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E123F-554C-05F8-756F-F086409E06B3}"/>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7C1FFC4-39F6-4380-F35D-2A4EE699B048}"/>
              </a:ext>
            </a:extLst>
          </p:cNvPr>
          <p:cNvSpPr>
            <a:spLocks noGrp="1"/>
          </p:cNvSpPr>
          <p:nvPr>
            <p:ph type="sldNum" sz="quarter" idx="5"/>
          </p:nvPr>
        </p:nvSpPr>
        <p:spPr/>
        <p:txBody>
          <a:bodyPr/>
          <a:lstStyle/>
          <a:p>
            <a:fld id="{02B5FDCB-33CC-4AD4-B363-617329C34B90}" type="slidenum">
              <a:rPr lang="en-SG" smtClean="0"/>
              <a:t>16</a:t>
            </a:fld>
            <a:endParaRPr lang="en-SG"/>
          </a:p>
        </p:txBody>
      </p:sp>
    </p:spTree>
    <p:extLst>
      <p:ext uri="{BB962C8B-B14F-4D97-AF65-F5344CB8AC3E}">
        <p14:creationId xmlns:p14="http://schemas.microsoft.com/office/powerpoint/2010/main" val="6017987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A9931-1315-8DA5-7C71-4A96A87E9E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D0F1C8-9067-2B92-CD7F-12667FF5D1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0FFD7D-7716-CBE8-AA30-0FCD12CE6E78}"/>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FF0BB827-6C18-8D77-23A6-9B610F653DED}"/>
              </a:ext>
            </a:extLst>
          </p:cNvPr>
          <p:cNvSpPr>
            <a:spLocks noGrp="1"/>
          </p:cNvSpPr>
          <p:nvPr>
            <p:ph type="sldNum" sz="quarter" idx="5"/>
          </p:nvPr>
        </p:nvSpPr>
        <p:spPr/>
        <p:txBody>
          <a:bodyPr/>
          <a:lstStyle/>
          <a:p>
            <a:fld id="{02B5FDCB-33CC-4AD4-B363-617329C34B90}" type="slidenum">
              <a:rPr lang="en-SG" smtClean="0"/>
              <a:t>20</a:t>
            </a:fld>
            <a:endParaRPr lang="en-SG"/>
          </a:p>
        </p:txBody>
      </p:sp>
    </p:spTree>
    <p:extLst>
      <p:ext uri="{BB962C8B-B14F-4D97-AF65-F5344CB8AC3E}">
        <p14:creationId xmlns:p14="http://schemas.microsoft.com/office/powerpoint/2010/main" val="8430582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5/3/2026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95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5/3/2026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2467805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AFE32E-95B7-4367-9495-9CBC389572F3}" type="datetimeFigureOut">
              <a:rPr lang="en-SG" smtClean="0"/>
              <a:t>5/3/2026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9563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AFE32E-95B7-4367-9495-9CBC389572F3}" type="datetimeFigureOut">
              <a:rPr lang="en-SG" smtClean="0"/>
              <a:t>5/3/2026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770304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AFE32E-95B7-4367-9495-9CBC389572F3}" type="datetimeFigureOut">
              <a:rPr lang="en-SG" smtClean="0"/>
              <a:t>5/3/2026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2522599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AFE32E-95B7-4367-9495-9CBC389572F3}" type="datetimeFigureOut">
              <a:rPr lang="en-SG" smtClean="0"/>
              <a:t>5/3/2026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772012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EAFE32E-95B7-4367-9495-9CBC389572F3}" type="datetimeFigureOut">
              <a:rPr lang="en-SG" smtClean="0"/>
              <a:t>5/3/2026</a:t>
            </a:fld>
            <a:endParaRPr lang="en-SG"/>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SG"/>
          </a:p>
        </p:txBody>
      </p:sp>
      <p:sp>
        <p:nvSpPr>
          <p:cNvPr id="9" name="Slide Number Placeholder 8"/>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081388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EAFE32E-95B7-4367-9495-9CBC389572F3}" type="datetimeFigureOut">
              <a:rPr lang="en-SG" smtClean="0"/>
              <a:t>5/3/2026</a:t>
            </a:fld>
            <a:endParaRPr lang="en-SG"/>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S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CD8743-5A53-4A98-BC6F-5DFD6CC2F469}" type="slidenum">
              <a:rPr lang="en-SG" smtClean="0"/>
              <a:t>‹#›</a:t>
            </a:fld>
            <a:endParaRPr lang="en-SG"/>
          </a:p>
        </p:txBody>
      </p:sp>
    </p:spTree>
    <p:extLst>
      <p:ext uri="{BB962C8B-B14F-4D97-AF65-F5344CB8AC3E}">
        <p14:creationId xmlns:p14="http://schemas.microsoft.com/office/powerpoint/2010/main" val="4105455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EAFE32E-95B7-4367-9495-9CBC389572F3}" type="datetimeFigureOut">
              <a:rPr lang="en-SG" smtClean="0"/>
              <a:t>5/3/2026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352348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5/3/2026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1219288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AFE32E-95B7-4367-9495-9CBC389572F3}" type="datetimeFigureOut">
              <a:rPr lang="en-SG" smtClean="0"/>
              <a:t>5/3/2026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BBCD8743-5A53-4A98-BC6F-5DFD6CC2F469}" type="slidenum">
              <a:rPr lang="en-SG" smtClean="0"/>
              <a:t>‹#›</a:t>
            </a:fld>
            <a:endParaRPr lang="en-SG"/>
          </a:p>
        </p:txBody>
      </p:sp>
    </p:spTree>
    <p:extLst>
      <p:ext uri="{BB962C8B-B14F-4D97-AF65-F5344CB8AC3E}">
        <p14:creationId xmlns:p14="http://schemas.microsoft.com/office/powerpoint/2010/main" val="3693067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SG"/>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EAFE32E-95B7-4367-9495-9CBC389572F3}" type="datetimeFigureOut">
              <a:rPr lang="en-SG" smtClean="0"/>
              <a:t>5/3/2026</a:t>
            </a:fld>
            <a:endParaRPr lang="en-SG"/>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SG"/>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BCD8743-5A53-4A98-BC6F-5DFD6CC2F469}" type="slidenum">
              <a:rPr lang="en-SG" smtClean="0"/>
              <a:t>‹#›</a:t>
            </a:fld>
            <a:endParaRPr lang="en-SG"/>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597738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D7BDB-9701-984E-3B5C-CAFEA31C7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78366-A442-6703-8E8A-09627C3215C5}"/>
              </a:ext>
            </a:extLst>
          </p:cNvPr>
          <p:cNvSpPr>
            <a:spLocks noGrp="1"/>
          </p:cNvSpPr>
          <p:nvPr>
            <p:ph type="title"/>
          </p:nvPr>
        </p:nvSpPr>
        <p:spPr/>
        <p:txBody>
          <a:bodyPr/>
          <a:lstStyle/>
          <a:p>
            <a:r>
              <a:rPr lang="en-US" dirty="0"/>
              <a:t>Tasks completed (5 Mar) </a:t>
            </a:r>
            <a:endParaRPr lang="en-SG" dirty="0"/>
          </a:p>
        </p:txBody>
      </p:sp>
      <p:sp>
        <p:nvSpPr>
          <p:cNvPr id="3" name="Content Placeholder 2">
            <a:extLst>
              <a:ext uri="{FF2B5EF4-FFF2-40B4-BE49-F238E27FC236}">
                <a16:creationId xmlns:a16="http://schemas.microsoft.com/office/drawing/2014/main" id="{9A3A9378-1C91-D033-6E65-8E0A3680C8BB}"/>
              </a:ext>
            </a:extLst>
          </p:cNvPr>
          <p:cNvSpPr>
            <a:spLocks noGrp="1"/>
          </p:cNvSpPr>
          <p:nvPr>
            <p:ph idx="1"/>
          </p:nvPr>
        </p:nvSpPr>
        <p:spPr>
          <a:xfrm>
            <a:off x="1097280" y="1845734"/>
            <a:ext cx="10651375" cy="4351866"/>
          </a:xfrm>
        </p:spPr>
        <p:txBody>
          <a:bodyPr>
            <a:normAutofit/>
          </a:bodyPr>
          <a:lstStyle/>
          <a:p>
            <a:pPr>
              <a:buFont typeface="Arial" panose="020B0604020202020204" pitchFamily="34" charset="0"/>
              <a:buChar char="•"/>
            </a:pPr>
            <a:r>
              <a:rPr lang="en-US" dirty="0"/>
              <a:t>Recreated some results from Lane’s paper “Measurement  of  Muon  Neutrino  Charged-Current Neutral Pion Production at ICARUS</a:t>
            </a:r>
          </a:p>
          <a:p>
            <a:pPr>
              <a:buFont typeface="Arial" panose="020B0604020202020204" pitchFamily="34" charset="0"/>
              <a:buChar char="•"/>
            </a:pPr>
            <a:endParaRPr lang="en-SG" dirty="0"/>
          </a:p>
        </p:txBody>
      </p:sp>
    </p:spTree>
    <p:extLst>
      <p:ext uri="{BB962C8B-B14F-4D97-AF65-F5344CB8AC3E}">
        <p14:creationId xmlns:p14="http://schemas.microsoft.com/office/powerpoint/2010/main" val="245474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7B572-32EC-1ABD-4D5C-10544EF4A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56526D-69BD-6957-2605-22AFE579FDBE}"/>
              </a:ext>
            </a:extLst>
          </p:cNvPr>
          <p:cNvSpPr>
            <a:spLocks noGrp="1"/>
          </p:cNvSpPr>
          <p:nvPr>
            <p:ph type="title"/>
          </p:nvPr>
        </p:nvSpPr>
        <p:spPr/>
        <p:txBody>
          <a:bodyPr/>
          <a:lstStyle/>
          <a:p>
            <a:r>
              <a:rPr lang="en-US" dirty="0"/>
              <a:t>Reference paper</a:t>
            </a:r>
            <a:endParaRPr lang="en-SG" dirty="0"/>
          </a:p>
        </p:txBody>
      </p:sp>
      <p:sp>
        <p:nvSpPr>
          <p:cNvPr id="15" name="TextBox 14">
            <a:extLst>
              <a:ext uri="{FF2B5EF4-FFF2-40B4-BE49-F238E27FC236}">
                <a16:creationId xmlns:a16="http://schemas.microsoft.com/office/drawing/2014/main" id="{D160446C-9B78-6CEA-58DF-36C4F6D17000}"/>
              </a:ext>
            </a:extLst>
          </p:cNvPr>
          <p:cNvSpPr txBox="1"/>
          <p:nvPr/>
        </p:nvSpPr>
        <p:spPr>
          <a:xfrm>
            <a:off x="1097280" y="1870839"/>
            <a:ext cx="5802284" cy="4524315"/>
          </a:xfrm>
          <a:prstGeom prst="rect">
            <a:avLst/>
          </a:prstGeom>
          <a:noFill/>
        </p:spPr>
        <p:txBody>
          <a:bodyPr wrap="square">
            <a:spAutoFit/>
          </a:bodyPr>
          <a:lstStyle/>
          <a:p>
            <a:pPr marL="285750" indent="-285750">
              <a:buFont typeface="Arial" panose="020B0604020202020204" pitchFamily="34" charset="0"/>
              <a:buChar char="•"/>
            </a:pPr>
            <a:r>
              <a:rPr lang="en-US" dirty="0"/>
              <a:t>Selection and analysis of Charged Current (CC) muon neutrino interactions producing final state neutral </a:t>
            </a:r>
            <a:r>
              <a:rPr lang="en-US" dirty="0" err="1"/>
              <a:t>pions</a:t>
            </a:r>
            <a:endParaRPr lang="en-US" dirty="0"/>
          </a:p>
          <a:p>
            <a:pPr marL="285750" indent="-285750">
              <a:buFont typeface="Arial" panose="020B0604020202020204" pitchFamily="34" charset="0"/>
              <a:buChar char="•"/>
            </a:pPr>
            <a:r>
              <a:rPr lang="en-US" dirty="0"/>
              <a:t>Used data and Monte Carlo (MC) BNB samples</a:t>
            </a:r>
          </a:p>
          <a:p>
            <a:pPr marL="285750" indent="-285750">
              <a:buFont typeface="Arial" panose="020B0604020202020204" pitchFamily="34" charset="0"/>
              <a:buChar char="•"/>
            </a:pPr>
            <a:endParaRPr lang="en-US" dirty="0"/>
          </a:p>
          <a:p>
            <a:r>
              <a:rPr lang="en-US" b="1" dirty="0"/>
              <a:t>What I focused on </a:t>
            </a:r>
          </a:p>
          <a:p>
            <a:pPr marL="285750" indent="-285750">
              <a:buFont typeface="Arial" panose="020B0604020202020204" pitchFamily="34" charset="0"/>
              <a:buChar char="•"/>
            </a:pPr>
            <a:r>
              <a:rPr lang="en-US" dirty="0"/>
              <a:t>Focused on recreating results and plots from section 2 of paper using the BNB MC sample I have been working with </a:t>
            </a:r>
          </a:p>
          <a:p>
            <a:pPr marL="285750" indent="-285750">
              <a:buFont typeface="Arial" panose="020B0604020202020204" pitchFamily="34" charset="0"/>
              <a:buChar char="•"/>
            </a:pPr>
            <a:r>
              <a:rPr lang="en-US" dirty="0"/>
              <a:t>Focused only on simulation plots, not data, no MC statistical uncertainties as well for now </a:t>
            </a:r>
          </a:p>
          <a:p>
            <a:pPr marL="285750" indent="-285750">
              <a:buFont typeface="Arial" panose="020B0604020202020204" pitchFamily="34" charset="0"/>
              <a:buChar char="•"/>
            </a:pPr>
            <a:r>
              <a:rPr lang="en-US" dirty="0"/>
              <a:t>Utilized many of lane’s customized cuts and variables that he created for his paper</a:t>
            </a:r>
          </a:p>
          <a:p>
            <a:pPr marL="285750" indent="-285750">
              <a:buFont typeface="Arial" panose="020B0604020202020204" pitchFamily="34" charset="0"/>
              <a:buChar char="•"/>
            </a:pPr>
            <a:endParaRPr lang="en-US" dirty="0"/>
          </a:p>
          <a:p>
            <a:r>
              <a:rPr lang="en-US" b="1" dirty="0"/>
              <a:t>Medulla branch used</a:t>
            </a:r>
          </a:p>
          <a:p>
            <a:pPr marL="285750" indent="-285750">
              <a:buFont typeface="Arial" panose="020B0604020202020204" pitchFamily="34" charset="0"/>
              <a:buChar char="•"/>
            </a:pPr>
            <a:r>
              <a:rPr lang="en-US" dirty="0"/>
              <a:t>feature/lkashur_pi0_thesis</a:t>
            </a:r>
          </a:p>
          <a:p>
            <a:pPr marL="285750" indent="-285750">
              <a:buFont typeface="Arial" panose="020B0604020202020204" pitchFamily="34" charset="0"/>
              <a:buChar char="•"/>
            </a:pPr>
            <a:endParaRPr lang="en-US" dirty="0"/>
          </a:p>
        </p:txBody>
      </p:sp>
      <p:pic>
        <p:nvPicPr>
          <p:cNvPr id="4" name="Picture 3">
            <a:extLst>
              <a:ext uri="{FF2B5EF4-FFF2-40B4-BE49-F238E27FC236}">
                <a16:creationId xmlns:a16="http://schemas.microsoft.com/office/drawing/2014/main" id="{8908501A-87E2-1EEF-8AA9-38D44578F248}"/>
              </a:ext>
            </a:extLst>
          </p:cNvPr>
          <p:cNvPicPr>
            <a:picLocks noChangeAspect="1"/>
          </p:cNvPicPr>
          <p:nvPr/>
        </p:nvPicPr>
        <p:blipFill>
          <a:blip r:embed="rId2"/>
          <a:stretch>
            <a:fillRect/>
          </a:stretch>
        </p:blipFill>
        <p:spPr>
          <a:xfrm>
            <a:off x="7455909" y="1980045"/>
            <a:ext cx="3819525" cy="533400"/>
          </a:xfrm>
          <a:prstGeom prst="rect">
            <a:avLst/>
          </a:prstGeom>
        </p:spPr>
      </p:pic>
      <p:sp>
        <p:nvSpPr>
          <p:cNvPr id="7" name="TextBox 6">
            <a:extLst>
              <a:ext uri="{FF2B5EF4-FFF2-40B4-BE49-F238E27FC236}">
                <a16:creationId xmlns:a16="http://schemas.microsoft.com/office/drawing/2014/main" id="{BAE8E86E-48C1-C429-F2F6-C5FCE36A16E0}"/>
              </a:ext>
            </a:extLst>
          </p:cNvPr>
          <p:cNvSpPr txBox="1"/>
          <p:nvPr/>
        </p:nvSpPr>
        <p:spPr>
          <a:xfrm>
            <a:off x="8023186" y="2359555"/>
            <a:ext cx="2798446" cy="307777"/>
          </a:xfrm>
          <a:prstGeom prst="rect">
            <a:avLst/>
          </a:prstGeom>
          <a:noFill/>
        </p:spPr>
        <p:txBody>
          <a:bodyPr wrap="square">
            <a:spAutoFit/>
          </a:bodyPr>
          <a:lstStyle/>
          <a:p>
            <a:r>
              <a:rPr lang="en-US" sz="1400" dirty="0"/>
              <a:t>Decay channel we are interested in</a:t>
            </a:r>
            <a:endParaRPr lang="en-SG" sz="1400" dirty="0"/>
          </a:p>
        </p:txBody>
      </p:sp>
    </p:spTree>
    <p:extLst>
      <p:ext uri="{BB962C8B-B14F-4D97-AF65-F5344CB8AC3E}">
        <p14:creationId xmlns:p14="http://schemas.microsoft.com/office/powerpoint/2010/main" val="2365201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07817-CAED-23EB-6D30-39A6025B0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EF6B7D-F257-1396-45B2-2921F1619C65}"/>
              </a:ext>
            </a:extLst>
          </p:cNvPr>
          <p:cNvSpPr>
            <a:spLocks noGrp="1"/>
          </p:cNvSpPr>
          <p:nvPr>
            <p:ph type="title"/>
          </p:nvPr>
        </p:nvSpPr>
        <p:spPr/>
        <p:txBody>
          <a:bodyPr/>
          <a:lstStyle/>
          <a:p>
            <a:r>
              <a:rPr lang="en-US" dirty="0"/>
              <a:t>Key differences</a:t>
            </a:r>
            <a:endParaRPr lang="en-SG" dirty="0"/>
          </a:p>
        </p:txBody>
      </p:sp>
      <p:sp>
        <p:nvSpPr>
          <p:cNvPr id="15" name="TextBox 14">
            <a:extLst>
              <a:ext uri="{FF2B5EF4-FFF2-40B4-BE49-F238E27FC236}">
                <a16:creationId xmlns:a16="http://schemas.microsoft.com/office/drawing/2014/main" id="{830A7CC6-E70B-1FB4-EA87-5CE7B7CA3D41}"/>
              </a:ext>
            </a:extLst>
          </p:cNvPr>
          <p:cNvSpPr txBox="1"/>
          <p:nvPr/>
        </p:nvSpPr>
        <p:spPr>
          <a:xfrm>
            <a:off x="638174" y="1870839"/>
            <a:ext cx="7309485" cy="3323987"/>
          </a:xfrm>
          <a:prstGeom prst="rect">
            <a:avLst/>
          </a:prstGeom>
          <a:noFill/>
        </p:spPr>
        <p:txBody>
          <a:bodyPr wrap="square">
            <a:spAutoFit/>
          </a:bodyPr>
          <a:lstStyle/>
          <a:p>
            <a:pPr marL="285750" indent="-285750">
              <a:buFont typeface="Arial" panose="020B0604020202020204" pitchFamily="34" charset="0"/>
              <a:buChar char="•"/>
            </a:pPr>
            <a:r>
              <a:rPr lang="en-US" sz="1600" dirty="0"/>
              <a:t>There are some differences in the BNB sample that I used and his thesis simulation sample</a:t>
            </a:r>
          </a:p>
          <a:p>
            <a:pPr marL="285750" indent="-285750">
              <a:buFont typeface="Arial" panose="020B0604020202020204" pitchFamily="34" charset="0"/>
              <a:buChar char="•"/>
            </a:pPr>
            <a:r>
              <a:rPr lang="en-US" sz="1600" dirty="0"/>
              <a:t>According to paper, his POT for BNB v + </a:t>
            </a:r>
            <a:r>
              <a:rPr lang="en-US" sz="1600" dirty="0" err="1"/>
              <a:t>cosmics</a:t>
            </a:r>
            <a:r>
              <a:rPr lang="en-US" sz="1600" dirty="0"/>
              <a:t> is 1.68e21, while the POT for the BNB simulation sample I used is 1.74e20</a:t>
            </a:r>
          </a:p>
          <a:p>
            <a:pPr marL="742950" lvl="1" indent="-285750">
              <a:buFont typeface="Arial" panose="020B0604020202020204" pitchFamily="34" charset="0"/>
              <a:buChar char="•"/>
            </a:pPr>
            <a:r>
              <a:rPr lang="en-US" sz="1600" dirty="0"/>
              <a:t>Believe that he added on </a:t>
            </a:r>
            <a:r>
              <a:rPr lang="en-US" sz="1600" dirty="0">
                <a:solidFill>
                  <a:srgbClr val="FF0000"/>
                </a:solidFill>
              </a:rPr>
              <a:t>/</a:t>
            </a:r>
            <a:r>
              <a:rPr lang="en-US" sz="1600" dirty="0" err="1">
                <a:solidFill>
                  <a:srgbClr val="FF0000"/>
                </a:solidFill>
              </a:rPr>
              <a:t>pnfs</a:t>
            </a:r>
            <a:r>
              <a:rPr lang="en-US" sz="1600" dirty="0">
                <a:solidFill>
                  <a:srgbClr val="FF0000"/>
                </a:solidFill>
              </a:rPr>
              <a:t>/</a:t>
            </a:r>
            <a:r>
              <a:rPr lang="en-US" sz="1600" dirty="0" err="1">
                <a:solidFill>
                  <a:srgbClr val="FF0000"/>
                </a:solidFill>
              </a:rPr>
              <a:t>icarus</a:t>
            </a:r>
            <a:r>
              <a:rPr lang="en-US" sz="1600" dirty="0">
                <a:solidFill>
                  <a:srgbClr val="FF0000"/>
                </a:solidFill>
              </a:rPr>
              <a:t>/persistent/users/</a:t>
            </a:r>
            <a:r>
              <a:rPr lang="en-US" sz="1600" dirty="0" err="1">
                <a:solidFill>
                  <a:srgbClr val="FF0000"/>
                </a:solidFill>
              </a:rPr>
              <a:t>mueller</a:t>
            </a:r>
            <a:r>
              <a:rPr lang="en-US" sz="1600" dirty="0">
                <a:solidFill>
                  <a:srgbClr val="FF0000"/>
                </a:solidFill>
              </a:rPr>
              <a:t>/production/simulation/</a:t>
            </a:r>
            <a:r>
              <a:rPr lang="en-US" sz="1600" dirty="0" err="1">
                <a:solidFill>
                  <a:srgbClr val="FF0000"/>
                </a:solidFill>
              </a:rPr>
              <a:t>cvext</a:t>
            </a:r>
            <a:r>
              <a:rPr lang="en-US" sz="1600" dirty="0">
                <a:solidFill>
                  <a:srgbClr val="FF0000"/>
                </a:solidFill>
              </a:rPr>
              <a:t>/input*.</a:t>
            </a:r>
            <a:r>
              <a:rPr lang="en-US" sz="1600" dirty="0" err="1">
                <a:solidFill>
                  <a:srgbClr val="FF0000"/>
                </a:solidFill>
              </a:rPr>
              <a:t>flat.root</a:t>
            </a:r>
            <a:r>
              <a:rPr lang="en-US" sz="1600" dirty="0">
                <a:solidFill>
                  <a:srgbClr val="FF0000"/>
                </a:solidFill>
              </a:rPr>
              <a:t> </a:t>
            </a:r>
            <a:r>
              <a:rPr lang="en-US" sz="1600" dirty="0"/>
              <a:t>to simulation analysis</a:t>
            </a:r>
          </a:p>
          <a:p>
            <a:pPr marL="742950" lvl="1" indent="-285750">
              <a:buFont typeface="Arial" panose="020B0604020202020204" pitchFamily="34" charset="0"/>
              <a:buChar char="•"/>
            </a:pPr>
            <a:r>
              <a:rPr lang="en-US" sz="1600" dirty="0"/>
              <a:t>For my analysis I only used </a:t>
            </a:r>
            <a:r>
              <a:rPr lang="fr-FR" sz="1600" dirty="0">
                <a:solidFill>
                  <a:srgbClr val="FF0000"/>
                </a:solidFill>
              </a:rPr>
              <a:t>/</a:t>
            </a:r>
            <a:r>
              <a:rPr lang="fr-FR" sz="1600" dirty="0" err="1">
                <a:solidFill>
                  <a:srgbClr val="FF0000"/>
                </a:solidFill>
              </a:rPr>
              <a:t>pnfs</a:t>
            </a:r>
            <a:r>
              <a:rPr lang="fr-FR" sz="1600" dirty="0">
                <a:solidFill>
                  <a:srgbClr val="FF0000"/>
                </a:solidFill>
              </a:rPr>
              <a:t>/</a:t>
            </a:r>
            <a:r>
              <a:rPr lang="fr-FR" sz="1600" dirty="0" err="1">
                <a:solidFill>
                  <a:srgbClr val="FF0000"/>
                </a:solidFill>
              </a:rPr>
              <a:t>icarus</a:t>
            </a:r>
            <a:r>
              <a:rPr lang="fr-FR" sz="1600" dirty="0">
                <a:solidFill>
                  <a:srgbClr val="FF0000"/>
                </a:solidFill>
              </a:rPr>
              <a:t>/persistent/</a:t>
            </a:r>
            <a:r>
              <a:rPr lang="fr-FR" sz="1600" dirty="0" err="1">
                <a:solidFill>
                  <a:srgbClr val="FF0000"/>
                </a:solidFill>
              </a:rPr>
              <a:t>users</a:t>
            </a:r>
            <a:r>
              <a:rPr lang="fr-FR" sz="1600" dirty="0">
                <a:solidFill>
                  <a:srgbClr val="FF0000"/>
                </a:solidFill>
              </a:rPr>
              <a:t>/</a:t>
            </a:r>
            <a:r>
              <a:rPr lang="fr-FR" sz="1600" dirty="0" err="1">
                <a:solidFill>
                  <a:srgbClr val="FF0000"/>
                </a:solidFill>
              </a:rPr>
              <a:t>mueller</a:t>
            </a:r>
            <a:r>
              <a:rPr lang="fr-FR" sz="1600" dirty="0">
                <a:solidFill>
                  <a:srgbClr val="FF0000"/>
                </a:solidFill>
              </a:rPr>
              <a:t>/production/simulation/nominal/input*.</a:t>
            </a:r>
            <a:r>
              <a:rPr lang="fr-FR" sz="1600" dirty="0" err="1">
                <a:solidFill>
                  <a:srgbClr val="FF0000"/>
                </a:solidFill>
              </a:rPr>
              <a:t>flat.root</a:t>
            </a:r>
            <a:endParaRPr lang="en-US" sz="1600" dirty="0">
              <a:solidFill>
                <a:srgbClr val="FF0000"/>
              </a:solidFill>
            </a:endParaRPr>
          </a:p>
          <a:p>
            <a:pPr marL="285750" indent="-285750">
              <a:buFont typeface="Arial" panose="020B0604020202020204" pitchFamily="34" charset="0"/>
              <a:buChar char="•"/>
            </a:pPr>
            <a:r>
              <a:rPr lang="en-US" sz="1600" dirty="0"/>
              <a:t>Therefore there is less data to work with, about x10 lesser considering POT size</a:t>
            </a:r>
          </a:p>
          <a:p>
            <a:pPr marL="285750" indent="-285750">
              <a:buFont typeface="Arial" panose="020B0604020202020204" pitchFamily="34" charset="0"/>
              <a:buChar char="•"/>
            </a:pPr>
            <a:r>
              <a:rPr lang="en-US" sz="1600" dirty="0"/>
              <a:t>Some cuts I did not apply to my selection which he may have applied to his</a:t>
            </a:r>
          </a:p>
          <a:p>
            <a:pPr marL="285750" indent="-285750">
              <a:buFont typeface="Arial" panose="020B0604020202020204" pitchFamily="34" charset="0"/>
              <a:buChar char="•"/>
            </a:pPr>
            <a:endParaRPr lang="en-US" sz="1600" dirty="0"/>
          </a:p>
        </p:txBody>
      </p:sp>
      <p:pic>
        <p:nvPicPr>
          <p:cNvPr id="6" name="Picture 5">
            <a:extLst>
              <a:ext uri="{FF2B5EF4-FFF2-40B4-BE49-F238E27FC236}">
                <a16:creationId xmlns:a16="http://schemas.microsoft.com/office/drawing/2014/main" id="{974F3BFF-0799-B560-6F55-919C7E47E19E}"/>
              </a:ext>
            </a:extLst>
          </p:cNvPr>
          <p:cNvPicPr>
            <a:picLocks noChangeAspect="1"/>
          </p:cNvPicPr>
          <p:nvPr/>
        </p:nvPicPr>
        <p:blipFill>
          <a:blip r:embed="rId2"/>
          <a:stretch>
            <a:fillRect/>
          </a:stretch>
        </p:blipFill>
        <p:spPr>
          <a:xfrm>
            <a:off x="8001000" y="1870839"/>
            <a:ext cx="4110679" cy="1220719"/>
          </a:xfrm>
          <a:prstGeom prst="rect">
            <a:avLst/>
          </a:prstGeom>
        </p:spPr>
      </p:pic>
      <p:pic>
        <p:nvPicPr>
          <p:cNvPr id="5" name="Picture 4">
            <a:extLst>
              <a:ext uri="{FF2B5EF4-FFF2-40B4-BE49-F238E27FC236}">
                <a16:creationId xmlns:a16="http://schemas.microsoft.com/office/drawing/2014/main" id="{FFBDEBD0-6519-6B0D-D641-77F943D1AF17}"/>
              </a:ext>
            </a:extLst>
          </p:cNvPr>
          <p:cNvPicPr>
            <a:picLocks noChangeAspect="1"/>
          </p:cNvPicPr>
          <p:nvPr/>
        </p:nvPicPr>
        <p:blipFill>
          <a:blip r:embed="rId3"/>
          <a:stretch>
            <a:fillRect/>
          </a:stretch>
        </p:blipFill>
        <p:spPr>
          <a:xfrm>
            <a:off x="447186" y="4995446"/>
            <a:ext cx="11297627" cy="906920"/>
          </a:xfrm>
          <a:prstGeom prst="rect">
            <a:avLst/>
          </a:prstGeom>
        </p:spPr>
      </p:pic>
      <p:sp>
        <p:nvSpPr>
          <p:cNvPr id="7" name="TextBox 6">
            <a:extLst>
              <a:ext uri="{FF2B5EF4-FFF2-40B4-BE49-F238E27FC236}">
                <a16:creationId xmlns:a16="http://schemas.microsoft.com/office/drawing/2014/main" id="{1A8B8ED6-9FC9-9A79-4502-81DFEA176B09}"/>
              </a:ext>
            </a:extLst>
          </p:cNvPr>
          <p:cNvSpPr txBox="1"/>
          <p:nvPr/>
        </p:nvSpPr>
        <p:spPr>
          <a:xfrm>
            <a:off x="8694420" y="3009612"/>
            <a:ext cx="2859406" cy="523220"/>
          </a:xfrm>
          <a:prstGeom prst="rect">
            <a:avLst/>
          </a:prstGeom>
          <a:noFill/>
        </p:spPr>
        <p:txBody>
          <a:bodyPr wrap="square">
            <a:spAutoFit/>
          </a:bodyPr>
          <a:lstStyle/>
          <a:p>
            <a:pPr algn="ctr"/>
            <a:r>
              <a:rPr lang="en-US" sz="1400" dirty="0"/>
              <a:t>Table of samples used with POT size and Beam gates for lane’s paper</a:t>
            </a:r>
            <a:endParaRPr lang="en-SG" sz="1400" dirty="0"/>
          </a:p>
        </p:txBody>
      </p:sp>
      <p:sp>
        <p:nvSpPr>
          <p:cNvPr id="8" name="TextBox 7">
            <a:extLst>
              <a:ext uri="{FF2B5EF4-FFF2-40B4-BE49-F238E27FC236}">
                <a16:creationId xmlns:a16="http://schemas.microsoft.com/office/drawing/2014/main" id="{E201A3BE-6B6F-F819-495B-7E50B1A2FABC}"/>
              </a:ext>
            </a:extLst>
          </p:cNvPr>
          <p:cNvSpPr txBox="1"/>
          <p:nvPr/>
        </p:nvSpPr>
        <p:spPr>
          <a:xfrm>
            <a:off x="348614" y="5902366"/>
            <a:ext cx="5927329" cy="307777"/>
          </a:xfrm>
          <a:prstGeom prst="rect">
            <a:avLst/>
          </a:prstGeom>
          <a:noFill/>
        </p:spPr>
        <p:txBody>
          <a:bodyPr wrap="square">
            <a:spAutoFit/>
          </a:bodyPr>
          <a:lstStyle/>
          <a:p>
            <a:r>
              <a:rPr lang="en-US" sz="1400" dirty="0"/>
              <a:t>Cuts that I did not apply that he may have applied in his paper</a:t>
            </a:r>
            <a:endParaRPr lang="en-SG" sz="1400" dirty="0"/>
          </a:p>
        </p:txBody>
      </p:sp>
    </p:spTree>
    <p:extLst>
      <p:ext uri="{BB962C8B-B14F-4D97-AF65-F5344CB8AC3E}">
        <p14:creationId xmlns:p14="http://schemas.microsoft.com/office/powerpoint/2010/main" val="2194519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FEF90-4FAC-ACF0-9D4A-566547B4EF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B1DC4-0B47-E2F7-4B23-5B5C5D0DC360}"/>
              </a:ext>
            </a:extLst>
          </p:cNvPr>
          <p:cNvSpPr>
            <a:spLocks noGrp="1"/>
          </p:cNvSpPr>
          <p:nvPr>
            <p:ph type="title"/>
          </p:nvPr>
        </p:nvSpPr>
        <p:spPr>
          <a:xfrm>
            <a:off x="1066800" y="3066311"/>
            <a:ext cx="10058400" cy="725378"/>
          </a:xfrm>
        </p:spPr>
        <p:txBody>
          <a:bodyPr/>
          <a:lstStyle/>
          <a:p>
            <a:pPr algn="ctr"/>
            <a:r>
              <a:rPr lang="en-US" b="1" dirty="0"/>
              <a:t>Signal definition selection</a:t>
            </a:r>
            <a:endParaRPr lang="en-SG" b="1" dirty="0"/>
          </a:p>
        </p:txBody>
      </p:sp>
    </p:spTree>
    <p:extLst>
      <p:ext uri="{BB962C8B-B14F-4D97-AF65-F5344CB8AC3E}">
        <p14:creationId xmlns:p14="http://schemas.microsoft.com/office/powerpoint/2010/main" val="2921627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C1751-B148-C9D0-04F1-0BFB7FDF60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EF855A-BD6A-6D1B-FE59-4902E345154D}"/>
              </a:ext>
            </a:extLst>
          </p:cNvPr>
          <p:cNvSpPr>
            <a:spLocks noGrp="1"/>
          </p:cNvSpPr>
          <p:nvPr>
            <p:ph type="title"/>
          </p:nvPr>
        </p:nvSpPr>
        <p:spPr/>
        <p:txBody>
          <a:bodyPr/>
          <a:lstStyle/>
          <a:p>
            <a:r>
              <a:rPr lang="en-US" dirty="0"/>
              <a:t>Signal definition </a:t>
            </a:r>
            <a:endParaRPr lang="en-SG" dirty="0"/>
          </a:p>
        </p:txBody>
      </p:sp>
      <p:sp>
        <p:nvSpPr>
          <p:cNvPr id="15" name="TextBox 14">
            <a:extLst>
              <a:ext uri="{FF2B5EF4-FFF2-40B4-BE49-F238E27FC236}">
                <a16:creationId xmlns:a16="http://schemas.microsoft.com/office/drawing/2014/main" id="{45F7BBA5-645B-2A3A-A501-2C8361519B1A}"/>
              </a:ext>
            </a:extLst>
          </p:cNvPr>
          <p:cNvSpPr txBox="1"/>
          <p:nvPr/>
        </p:nvSpPr>
        <p:spPr>
          <a:xfrm>
            <a:off x="1097280" y="1870839"/>
            <a:ext cx="8998065" cy="4247317"/>
          </a:xfrm>
          <a:prstGeom prst="rect">
            <a:avLst/>
          </a:prstGeom>
          <a:noFill/>
        </p:spPr>
        <p:txBody>
          <a:bodyPr wrap="square">
            <a:spAutoFit/>
          </a:bodyPr>
          <a:lstStyle/>
          <a:p>
            <a:r>
              <a:rPr lang="en-US" b="1" dirty="0"/>
              <a:t>Signal is defined as a true Charged Current muon neutrino interaction that is </a:t>
            </a:r>
          </a:p>
          <a:p>
            <a:pPr marL="742950" lvl="1" indent="-285750">
              <a:buFont typeface="Arial" panose="020B0604020202020204" pitchFamily="34" charset="0"/>
              <a:buChar char="•"/>
            </a:pPr>
            <a:r>
              <a:rPr lang="en-US" dirty="0" err="1"/>
              <a:t>Fiducialized</a:t>
            </a:r>
            <a:endParaRPr lang="en-US" dirty="0"/>
          </a:p>
          <a:p>
            <a:pPr marL="742950" lvl="1" indent="-285750">
              <a:buFont typeface="Arial" panose="020B0604020202020204" pitchFamily="34" charset="0"/>
              <a:buChar char="•"/>
            </a:pPr>
            <a:r>
              <a:rPr lang="en-US" dirty="0"/>
              <a:t>Not within the region deﬁning the central 200 cm of the detector (z-axis not within -100cm to 100cm in detector coordinates)</a:t>
            </a:r>
          </a:p>
          <a:p>
            <a:pPr marL="742950" lvl="1" indent="-285750">
              <a:buFont typeface="Arial" panose="020B0604020202020204" pitchFamily="34" charset="0"/>
              <a:buChar char="•"/>
            </a:pPr>
            <a:r>
              <a:rPr lang="en-US" dirty="0"/>
              <a:t>Exactly one primary muon (KE ≥ 143.425 MeV)</a:t>
            </a:r>
          </a:p>
          <a:p>
            <a:pPr marL="742950" lvl="1" indent="-285750">
              <a:buFont typeface="Arial" panose="020B0604020202020204" pitchFamily="34" charset="0"/>
              <a:buChar char="•"/>
            </a:pPr>
            <a:r>
              <a:rPr lang="en-US" dirty="0"/>
              <a:t>Zero primary charged </a:t>
            </a:r>
            <a:r>
              <a:rPr lang="en-US" dirty="0" err="1"/>
              <a:t>pions</a:t>
            </a:r>
            <a:r>
              <a:rPr lang="en-US" dirty="0"/>
              <a:t>  (KE ≥ 25 MeV)</a:t>
            </a:r>
          </a:p>
          <a:p>
            <a:pPr marL="742950" lvl="1" indent="-285750">
              <a:buFont typeface="Arial" panose="020B0604020202020204" pitchFamily="34" charset="0"/>
              <a:buChar char="•"/>
            </a:pPr>
            <a:r>
              <a:rPr lang="en-US" dirty="0"/>
              <a:t>Exactly one neutral pion (no KE threshold)</a:t>
            </a:r>
          </a:p>
          <a:p>
            <a:pPr marL="742950" lvl="1" indent="-285750">
              <a:buFont typeface="Arial" panose="020B0604020202020204" pitchFamily="34" charset="0"/>
              <a:buChar char="•"/>
            </a:pPr>
            <a:r>
              <a:rPr lang="en-US" dirty="0"/>
              <a:t>Any number of particles that are not muons or </a:t>
            </a:r>
            <a:r>
              <a:rPr lang="en-US" dirty="0" err="1"/>
              <a:t>pions</a:t>
            </a:r>
            <a:endParaRPr lang="en-US" dirty="0"/>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Requirement for interaction to not lie within central 200 cm of detector is made in an eﬀort to avoid potential eﬀects in data and simulation related to the split ﬁrst induction wire plane geometry</a:t>
            </a:r>
          </a:p>
          <a:p>
            <a:pPr marL="742950" lvl="1" indent="-285750">
              <a:buFont typeface="Arial" panose="020B0604020202020204" pitchFamily="34" charset="0"/>
              <a:buChar char="•"/>
            </a:pPr>
            <a:endParaRPr lang="en-US" dirty="0"/>
          </a:p>
          <a:p>
            <a:pPr lvl="1"/>
            <a:endParaRPr lang="en-US" dirty="0"/>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3780455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5262A-A835-2A96-6122-9780372AC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22D821-F49D-CEA4-4709-597732C7F8F1}"/>
              </a:ext>
            </a:extLst>
          </p:cNvPr>
          <p:cNvSpPr>
            <a:spLocks noGrp="1"/>
          </p:cNvSpPr>
          <p:nvPr>
            <p:ph type="title"/>
          </p:nvPr>
        </p:nvSpPr>
        <p:spPr/>
        <p:txBody>
          <a:bodyPr/>
          <a:lstStyle/>
          <a:p>
            <a:r>
              <a:rPr lang="en-US" dirty="0"/>
              <a:t>Signal selection </a:t>
            </a:r>
            <a:endParaRPr lang="en-SG" dirty="0"/>
          </a:p>
        </p:txBody>
      </p:sp>
      <p:sp>
        <p:nvSpPr>
          <p:cNvPr id="15" name="TextBox 14">
            <a:extLst>
              <a:ext uri="{FF2B5EF4-FFF2-40B4-BE49-F238E27FC236}">
                <a16:creationId xmlns:a16="http://schemas.microsoft.com/office/drawing/2014/main" id="{0C2CF86F-B493-2283-AA71-BD319F147E7F}"/>
              </a:ext>
            </a:extLst>
          </p:cNvPr>
          <p:cNvSpPr txBox="1"/>
          <p:nvPr/>
        </p:nvSpPr>
        <p:spPr>
          <a:xfrm>
            <a:off x="4052917" y="1737360"/>
            <a:ext cx="7474066" cy="400110"/>
          </a:xfrm>
          <a:prstGeom prst="rect">
            <a:avLst/>
          </a:prstGeom>
          <a:noFill/>
        </p:spPr>
        <p:txBody>
          <a:bodyPr wrap="square">
            <a:spAutoFit/>
          </a:bodyPr>
          <a:lstStyle/>
          <a:p>
            <a:r>
              <a:rPr lang="en-US" sz="2000" b="1" dirty="0"/>
              <a:t>Cuts applied to select true signal interactions</a:t>
            </a:r>
          </a:p>
        </p:txBody>
      </p:sp>
      <p:graphicFrame>
        <p:nvGraphicFramePr>
          <p:cNvPr id="3" name="Table 2">
            <a:extLst>
              <a:ext uri="{FF2B5EF4-FFF2-40B4-BE49-F238E27FC236}">
                <a16:creationId xmlns:a16="http://schemas.microsoft.com/office/drawing/2014/main" id="{1394A2A5-28A5-17F2-DACA-4139F0108980}"/>
              </a:ext>
            </a:extLst>
          </p:cNvPr>
          <p:cNvGraphicFramePr>
            <a:graphicFrameLocks noGrp="1"/>
          </p:cNvGraphicFramePr>
          <p:nvPr>
            <p:extLst>
              <p:ext uri="{D42A27DB-BD31-4B8C-83A1-F6EECF244321}">
                <p14:modId xmlns:p14="http://schemas.microsoft.com/office/powerpoint/2010/main" val="1620444685"/>
              </p:ext>
            </p:extLst>
          </p:nvPr>
        </p:nvGraphicFramePr>
        <p:xfrm>
          <a:off x="871913" y="2070894"/>
          <a:ext cx="10839796" cy="4115572"/>
        </p:xfrm>
        <a:graphic>
          <a:graphicData uri="http://schemas.openxmlformats.org/drawingml/2006/table">
            <a:tbl>
              <a:tblPr firstRow="1" bandRow="1">
                <a:tableStyleId>{5C22544A-7EE6-4342-B048-85BDC9FD1C3A}</a:tableStyleId>
              </a:tblPr>
              <a:tblGrid>
                <a:gridCol w="2993263">
                  <a:extLst>
                    <a:ext uri="{9D8B030D-6E8A-4147-A177-3AD203B41FA5}">
                      <a16:colId xmlns:a16="http://schemas.microsoft.com/office/drawing/2014/main" val="2992495720"/>
                    </a:ext>
                  </a:extLst>
                </a:gridCol>
                <a:gridCol w="7846533">
                  <a:extLst>
                    <a:ext uri="{9D8B030D-6E8A-4147-A177-3AD203B41FA5}">
                      <a16:colId xmlns:a16="http://schemas.microsoft.com/office/drawing/2014/main" val="2787103391"/>
                    </a:ext>
                  </a:extLst>
                </a:gridCol>
              </a:tblGrid>
              <a:tr h="247674">
                <a:tc>
                  <a:txBody>
                    <a:bodyPr/>
                    <a:lstStyle/>
                    <a:p>
                      <a:r>
                        <a:rPr lang="en-US" dirty="0"/>
                        <a:t>Cut name</a:t>
                      </a:r>
                      <a:endParaRPr lang="en-SG" dirty="0"/>
                    </a:p>
                  </a:txBody>
                  <a:tcPr/>
                </a:tc>
                <a:tc>
                  <a:txBody>
                    <a:bodyPr/>
                    <a:lstStyle/>
                    <a:p>
                      <a:r>
                        <a:rPr lang="en-US" dirty="0"/>
                        <a:t>definition</a:t>
                      </a:r>
                      <a:endParaRPr lang="en-SG" dirty="0"/>
                    </a:p>
                  </a:txBody>
                  <a:tcPr/>
                </a:tc>
                <a:extLst>
                  <a:ext uri="{0D108BD9-81ED-4DB2-BD59-A6C34878D82A}">
                    <a16:rowId xmlns:a16="http://schemas.microsoft.com/office/drawing/2014/main" val="601497203"/>
                  </a:ext>
                </a:extLst>
              </a:tr>
              <a:tr h="247674">
                <a:tc>
                  <a:txBody>
                    <a:bodyPr/>
                    <a:lstStyle/>
                    <a:p>
                      <a:r>
                        <a:rPr lang="en-US" sz="1600" b="1" dirty="0"/>
                        <a:t>Neutrino</a:t>
                      </a:r>
                      <a:endParaRPr lang="en-SG" sz="1600" b="1" dirty="0"/>
                    </a:p>
                  </a:txBody>
                  <a:tcPr/>
                </a:tc>
                <a:tc>
                  <a:txBody>
                    <a:bodyPr/>
                    <a:lstStyle/>
                    <a:p>
                      <a:r>
                        <a:rPr lang="en-US" sz="1600" dirty="0"/>
                        <a:t>Selects true neutrino interactions only</a:t>
                      </a:r>
                      <a:endParaRPr lang="en-SG" sz="1600" dirty="0"/>
                    </a:p>
                  </a:txBody>
                  <a:tcPr/>
                </a:tc>
                <a:extLst>
                  <a:ext uri="{0D108BD9-81ED-4DB2-BD59-A6C34878D82A}">
                    <a16:rowId xmlns:a16="http://schemas.microsoft.com/office/drawing/2014/main" val="2226880349"/>
                  </a:ext>
                </a:extLst>
              </a:tr>
              <a:tr h="247674">
                <a:tc>
                  <a:txBody>
                    <a:bodyPr/>
                    <a:lstStyle/>
                    <a:p>
                      <a:r>
                        <a:rPr lang="en-US" sz="1600" b="1" dirty="0" err="1"/>
                        <a:t>Isnumu</a:t>
                      </a:r>
                      <a:endParaRPr lang="en-SG" sz="1600" b="1" dirty="0"/>
                    </a:p>
                  </a:txBody>
                  <a:tcPr/>
                </a:tc>
                <a:tc>
                  <a:txBody>
                    <a:bodyPr/>
                    <a:lstStyle/>
                    <a:p>
                      <a:r>
                        <a:rPr lang="en-US" sz="1600" dirty="0"/>
                        <a:t>Selects true muon neutrino interactions only</a:t>
                      </a:r>
                      <a:endParaRPr lang="en-SG" sz="1600" dirty="0"/>
                    </a:p>
                  </a:txBody>
                  <a:tcPr/>
                </a:tc>
                <a:extLst>
                  <a:ext uri="{0D108BD9-81ED-4DB2-BD59-A6C34878D82A}">
                    <a16:rowId xmlns:a16="http://schemas.microsoft.com/office/drawing/2014/main" val="3265387992"/>
                  </a:ext>
                </a:extLst>
              </a:tr>
              <a:tr h="427492">
                <a:tc>
                  <a:txBody>
                    <a:bodyPr/>
                    <a:lstStyle/>
                    <a:p>
                      <a:r>
                        <a:rPr lang="en-US" sz="1600" b="1" dirty="0" err="1"/>
                        <a:t>Fiducial_cut</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Selects true interactions with vertex within the fiducial volume of the ICARUS detector</a:t>
                      </a:r>
                    </a:p>
                  </a:txBody>
                  <a:tcPr/>
                </a:tc>
                <a:extLst>
                  <a:ext uri="{0D108BD9-81ED-4DB2-BD59-A6C34878D82A}">
                    <a16:rowId xmlns:a16="http://schemas.microsoft.com/office/drawing/2014/main" val="331992549"/>
                  </a:ext>
                </a:extLst>
              </a:tr>
              <a:tr h="427492">
                <a:tc>
                  <a:txBody>
                    <a:bodyPr/>
                    <a:lstStyle/>
                    <a:p>
                      <a:r>
                        <a:rPr lang="en-US" sz="1600" b="1" dirty="0" err="1"/>
                        <a:t>Avoid_mystery_zgap</a:t>
                      </a:r>
                      <a:endParaRPr lang="en-SG" sz="1600" b="1" dirty="0"/>
                    </a:p>
                  </a:txBody>
                  <a:tcPr/>
                </a:tc>
                <a:tc>
                  <a:txBody>
                    <a:bodyPr/>
                    <a:lstStyle/>
                    <a:p>
                      <a:r>
                        <a:rPr lang="en-US" sz="1600" dirty="0"/>
                        <a:t>Selects true interactions with vertex outside of the area between -100 cm and 100 cm in the z-axis of the detector.</a:t>
                      </a:r>
                      <a:endParaRPr lang="en-SG" sz="1600" dirty="0"/>
                    </a:p>
                  </a:txBody>
                  <a:tcPr/>
                </a:tc>
                <a:extLst>
                  <a:ext uri="{0D108BD9-81ED-4DB2-BD59-A6C34878D82A}">
                    <a16:rowId xmlns:a16="http://schemas.microsoft.com/office/drawing/2014/main" val="3285609703"/>
                  </a:ext>
                </a:extLst>
              </a:tr>
              <a:tr h="427492">
                <a:tc>
                  <a:txBody>
                    <a:bodyPr/>
                    <a:lstStyle/>
                    <a:p>
                      <a:r>
                        <a:rPr lang="en-US" sz="1600" b="1" dirty="0" err="1"/>
                        <a:t>Iscc</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Selects true Charged Current (CC) interactions.</a:t>
                      </a:r>
                    </a:p>
                    <a:p>
                      <a:endParaRPr lang="en-SG" sz="1600" dirty="0"/>
                    </a:p>
                  </a:txBody>
                  <a:tcPr/>
                </a:tc>
                <a:extLst>
                  <a:ext uri="{0D108BD9-81ED-4DB2-BD59-A6C34878D82A}">
                    <a16:rowId xmlns:a16="http://schemas.microsoft.com/office/drawing/2014/main" val="3154359969"/>
                  </a:ext>
                </a:extLst>
              </a:tr>
              <a:tr h="427492">
                <a:tc>
                  <a:txBody>
                    <a:bodyPr/>
                    <a:lstStyle/>
                    <a:p>
                      <a:r>
                        <a:rPr lang="en-US" sz="1600" b="1" dirty="0" err="1"/>
                        <a:t>Single_muon</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Selects true interactions containing a primary muon with energy equal to or above 143.425 MeV.</a:t>
                      </a:r>
                    </a:p>
                  </a:txBody>
                  <a:tcPr/>
                </a:tc>
                <a:extLst>
                  <a:ext uri="{0D108BD9-81ED-4DB2-BD59-A6C34878D82A}">
                    <a16:rowId xmlns:a16="http://schemas.microsoft.com/office/drawing/2014/main" val="3536769870"/>
                  </a:ext>
                </a:extLst>
              </a:tr>
              <a:tr h="427492">
                <a:tc>
                  <a:txBody>
                    <a:bodyPr/>
                    <a:lstStyle/>
                    <a:p>
                      <a:r>
                        <a:rPr lang="en-US" sz="1600" b="1" dirty="0" err="1"/>
                        <a:t>No_charged_pions</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Selects true interactions that do not contain primary charged </a:t>
                      </a:r>
                      <a:r>
                        <a:rPr lang="en-US" sz="1600" dirty="0" err="1"/>
                        <a:t>pions</a:t>
                      </a:r>
                      <a:r>
                        <a:rPr lang="en-US" sz="1600" dirty="0"/>
                        <a:t> with energy equal to or above 25 MeV. </a:t>
                      </a:r>
                    </a:p>
                  </a:txBody>
                  <a:tcPr/>
                </a:tc>
                <a:extLst>
                  <a:ext uri="{0D108BD9-81ED-4DB2-BD59-A6C34878D82A}">
                    <a16:rowId xmlns:a16="http://schemas.microsoft.com/office/drawing/2014/main" val="3860578354"/>
                  </a:ext>
                </a:extLst>
              </a:tr>
              <a:tr h="247674">
                <a:tc>
                  <a:txBody>
                    <a:bodyPr/>
                    <a:lstStyle/>
                    <a:p>
                      <a:r>
                        <a:rPr lang="en-US" sz="1600" b="1" dirty="0"/>
                        <a:t>Single_pi0</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Selects true interactions that contain a single primary neutral pion. </a:t>
                      </a:r>
                    </a:p>
                  </a:txBody>
                  <a:tcPr/>
                </a:tc>
                <a:extLst>
                  <a:ext uri="{0D108BD9-81ED-4DB2-BD59-A6C34878D82A}">
                    <a16:rowId xmlns:a16="http://schemas.microsoft.com/office/drawing/2014/main" val="3880198171"/>
                  </a:ext>
                </a:extLst>
              </a:tr>
            </a:tbl>
          </a:graphicData>
        </a:graphic>
      </p:graphicFrame>
    </p:spTree>
    <p:extLst>
      <p:ext uri="{BB962C8B-B14F-4D97-AF65-F5344CB8AC3E}">
        <p14:creationId xmlns:p14="http://schemas.microsoft.com/office/powerpoint/2010/main" val="3769366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011F0-23D3-5611-3FC7-F005B1CF4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B52EF-124E-4DD1-C28B-9FE9014BAC22}"/>
              </a:ext>
            </a:extLst>
          </p:cNvPr>
          <p:cNvSpPr>
            <a:spLocks noGrp="1"/>
          </p:cNvSpPr>
          <p:nvPr>
            <p:ph type="title"/>
          </p:nvPr>
        </p:nvSpPr>
        <p:spPr>
          <a:xfrm>
            <a:off x="1066800" y="3066311"/>
            <a:ext cx="10058400" cy="725378"/>
          </a:xfrm>
        </p:spPr>
        <p:txBody>
          <a:bodyPr/>
          <a:lstStyle/>
          <a:p>
            <a:pPr algn="ctr"/>
            <a:r>
              <a:rPr lang="en-US" b="1" dirty="0"/>
              <a:t>Selected definition selection</a:t>
            </a:r>
            <a:endParaRPr lang="en-SG" b="1" dirty="0"/>
          </a:p>
        </p:txBody>
      </p:sp>
    </p:spTree>
    <p:extLst>
      <p:ext uri="{BB962C8B-B14F-4D97-AF65-F5344CB8AC3E}">
        <p14:creationId xmlns:p14="http://schemas.microsoft.com/office/powerpoint/2010/main" val="1952646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2407B-8695-3E92-AD17-2015ABE3C9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C8975-6867-F2F7-67F6-3E153FD0345B}"/>
              </a:ext>
            </a:extLst>
          </p:cNvPr>
          <p:cNvSpPr>
            <a:spLocks noGrp="1"/>
          </p:cNvSpPr>
          <p:nvPr>
            <p:ph type="title"/>
          </p:nvPr>
        </p:nvSpPr>
        <p:spPr/>
        <p:txBody>
          <a:bodyPr/>
          <a:lstStyle/>
          <a:p>
            <a:r>
              <a:rPr lang="en-US" dirty="0"/>
              <a:t>Selected selection process</a:t>
            </a:r>
            <a:endParaRPr lang="en-SG" dirty="0"/>
          </a:p>
        </p:txBody>
      </p:sp>
      <p:sp>
        <p:nvSpPr>
          <p:cNvPr id="5" name="TextBox 4">
            <a:extLst>
              <a:ext uri="{FF2B5EF4-FFF2-40B4-BE49-F238E27FC236}">
                <a16:creationId xmlns:a16="http://schemas.microsoft.com/office/drawing/2014/main" id="{86781711-1752-C279-26C7-E6885D68FE75}"/>
              </a:ext>
            </a:extLst>
          </p:cNvPr>
          <p:cNvSpPr txBox="1"/>
          <p:nvPr/>
        </p:nvSpPr>
        <p:spPr>
          <a:xfrm>
            <a:off x="1097280" y="1815053"/>
            <a:ext cx="8914938" cy="1754326"/>
          </a:xfrm>
          <a:prstGeom prst="rect">
            <a:avLst/>
          </a:prstGeom>
          <a:noFill/>
        </p:spPr>
        <p:txBody>
          <a:bodyPr wrap="square">
            <a:spAutoFit/>
          </a:bodyPr>
          <a:lstStyle/>
          <a:p>
            <a:r>
              <a:rPr lang="en-US" b="1" dirty="0"/>
              <a:t>The selection of reconstructed selected interactions performed in 3 stages</a:t>
            </a:r>
          </a:p>
          <a:p>
            <a:endParaRPr lang="en-US" b="1" dirty="0"/>
          </a:p>
          <a:p>
            <a:pPr marL="514350" indent="-514350">
              <a:buFont typeface="+mj-lt"/>
              <a:buAutoNum type="arabicPeriod"/>
            </a:pPr>
            <a:r>
              <a:rPr lang="en-US" dirty="0"/>
              <a:t>Initial selection</a:t>
            </a:r>
            <a:endParaRPr lang="en-SG" dirty="0"/>
          </a:p>
          <a:p>
            <a:pPr marL="514350" indent="-514350">
              <a:buFont typeface="+mj-lt"/>
              <a:buAutoNum type="arabicPeriod"/>
            </a:pPr>
            <a:r>
              <a:rPr lang="en-SG" dirty="0"/>
              <a:t>Electromagnetic shower energy scale adjustment</a:t>
            </a:r>
          </a:p>
          <a:p>
            <a:pPr marL="514350" indent="-514350">
              <a:buFont typeface="+mj-lt"/>
              <a:buAutoNum type="arabicPeriod"/>
            </a:pPr>
            <a:r>
              <a:rPr lang="en-SG" dirty="0"/>
              <a:t>Cuts on reconstructed neutral pion mass</a:t>
            </a:r>
            <a:endParaRPr lang="en-US" dirty="0"/>
          </a:p>
          <a:p>
            <a:endParaRPr lang="en-SG" b="1" dirty="0"/>
          </a:p>
        </p:txBody>
      </p:sp>
    </p:spTree>
    <p:extLst>
      <p:ext uri="{BB962C8B-B14F-4D97-AF65-F5344CB8AC3E}">
        <p14:creationId xmlns:p14="http://schemas.microsoft.com/office/powerpoint/2010/main" val="2565741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79D23-A267-1C7D-4A78-A0733E6D3D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D7B6F5-1023-20AE-CFD5-B5A792B70884}"/>
              </a:ext>
            </a:extLst>
          </p:cNvPr>
          <p:cNvSpPr>
            <a:spLocks noGrp="1"/>
          </p:cNvSpPr>
          <p:nvPr>
            <p:ph type="title"/>
          </p:nvPr>
        </p:nvSpPr>
        <p:spPr/>
        <p:txBody>
          <a:bodyPr/>
          <a:lstStyle/>
          <a:p>
            <a:r>
              <a:rPr lang="en-US" b="1" dirty="0"/>
              <a:t>Initial selection</a:t>
            </a:r>
            <a:r>
              <a:rPr lang="en-US" dirty="0"/>
              <a:t>: cuts</a:t>
            </a:r>
            <a:endParaRPr lang="en-SG" dirty="0"/>
          </a:p>
        </p:txBody>
      </p:sp>
      <p:graphicFrame>
        <p:nvGraphicFramePr>
          <p:cNvPr id="7" name="Table 6">
            <a:extLst>
              <a:ext uri="{FF2B5EF4-FFF2-40B4-BE49-F238E27FC236}">
                <a16:creationId xmlns:a16="http://schemas.microsoft.com/office/drawing/2014/main" id="{E25C9E89-7B14-145F-C2F3-5A185FB5CA02}"/>
              </a:ext>
            </a:extLst>
          </p:cNvPr>
          <p:cNvGraphicFramePr>
            <a:graphicFrameLocks noGrp="1"/>
          </p:cNvGraphicFramePr>
          <p:nvPr>
            <p:extLst>
              <p:ext uri="{D42A27DB-BD31-4B8C-83A1-F6EECF244321}">
                <p14:modId xmlns:p14="http://schemas.microsoft.com/office/powerpoint/2010/main" val="986600898"/>
              </p:ext>
            </p:extLst>
          </p:nvPr>
        </p:nvGraphicFramePr>
        <p:xfrm>
          <a:off x="706582" y="2262078"/>
          <a:ext cx="10839796" cy="3840480"/>
        </p:xfrm>
        <a:graphic>
          <a:graphicData uri="http://schemas.openxmlformats.org/drawingml/2006/table">
            <a:tbl>
              <a:tblPr firstRow="1" bandRow="1">
                <a:tableStyleId>{5C22544A-7EE6-4342-B048-85BDC9FD1C3A}</a:tableStyleId>
              </a:tblPr>
              <a:tblGrid>
                <a:gridCol w="2993263">
                  <a:extLst>
                    <a:ext uri="{9D8B030D-6E8A-4147-A177-3AD203B41FA5}">
                      <a16:colId xmlns:a16="http://schemas.microsoft.com/office/drawing/2014/main" val="2992495720"/>
                    </a:ext>
                  </a:extLst>
                </a:gridCol>
                <a:gridCol w="7846533">
                  <a:extLst>
                    <a:ext uri="{9D8B030D-6E8A-4147-A177-3AD203B41FA5}">
                      <a16:colId xmlns:a16="http://schemas.microsoft.com/office/drawing/2014/main" val="2787103391"/>
                    </a:ext>
                  </a:extLst>
                </a:gridCol>
              </a:tblGrid>
              <a:tr h="247674">
                <a:tc>
                  <a:txBody>
                    <a:bodyPr/>
                    <a:lstStyle/>
                    <a:p>
                      <a:r>
                        <a:rPr lang="en-US" dirty="0"/>
                        <a:t>Cut name</a:t>
                      </a:r>
                      <a:endParaRPr lang="en-SG" dirty="0"/>
                    </a:p>
                  </a:txBody>
                  <a:tcPr/>
                </a:tc>
                <a:tc>
                  <a:txBody>
                    <a:bodyPr/>
                    <a:lstStyle/>
                    <a:p>
                      <a:r>
                        <a:rPr lang="en-US" dirty="0"/>
                        <a:t>definition</a:t>
                      </a:r>
                      <a:endParaRPr lang="en-SG" dirty="0"/>
                    </a:p>
                  </a:txBody>
                  <a:tcPr/>
                </a:tc>
                <a:extLst>
                  <a:ext uri="{0D108BD9-81ED-4DB2-BD59-A6C34878D82A}">
                    <a16:rowId xmlns:a16="http://schemas.microsoft.com/office/drawing/2014/main" val="601497203"/>
                  </a:ext>
                </a:extLst>
              </a:tr>
              <a:tr h="247674">
                <a:tc>
                  <a:txBody>
                    <a:bodyPr/>
                    <a:lstStyle/>
                    <a:p>
                      <a:r>
                        <a:rPr lang="en-US" sz="1600" b="1" dirty="0" err="1"/>
                        <a:t>Fiducial_cut</a:t>
                      </a:r>
                      <a:endParaRPr lang="en-SG" sz="1600" b="1" dirty="0"/>
                    </a:p>
                  </a:txBody>
                  <a:tcPr/>
                </a:tc>
                <a:tc>
                  <a:txBody>
                    <a:bodyPr/>
                    <a:lstStyle/>
                    <a:p>
                      <a:r>
                        <a:rPr lang="en-US" sz="1600" b="0" dirty="0">
                          <a:effectLst/>
                        </a:rPr>
                        <a:t>Selects reconstructed interactions with vertex within the fiducial volume of the ICARUS detector</a:t>
                      </a:r>
                      <a:r>
                        <a:rPr lang="en-US" sz="1600" b="0" dirty="0"/>
                        <a:t>. </a:t>
                      </a:r>
                      <a:endParaRPr lang="en-SG" sz="1600" b="0" dirty="0"/>
                    </a:p>
                  </a:txBody>
                  <a:tcPr/>
                </a:tc>
                <a:extLst>
                  <a:ext uri="{0D108BD9-81ED-4DB2-BD59-A6C34878D82A}">
                    <a16:rowId xmlns:a16="http://schemas.microsoft.com/office/drawing/2014/main" val="2226880349"/>
                  </a:ext>
                </a:extLst>
              </a:tr>
              <a:tr h="247674">
                <a:tc>
                  <a:txBody>
                    <a:bodyPr/>
                    <a:lstStyle/>
                    <a:p>
                      <a:r>
                        <a:rPr lang="en-US" sz="1600" b="1" dirty="0" err="1"/>
                        <a:t>Avoid_mystery_zgap</a:t>
                      </a:r>
                      <a:endParaRPr lang="en-SG" sz="1600" b="1" dirty="0"/>
                    </a:p>
                  </a:txBody>
                  <a:tcPr/>
                </a:tc>
                <a:tc>
                  <a:txBody>
                    <a:bodyPr/>
                    <a:lstStyle/>
                    <a:p>
                      <a:r>
                        <a:rPr lang="en-US" sz="1600" b="0" dirty="0">
                          <a:effectLst/>
                        </a:rPr>
                        <a:t>Selects reconstructed interactions with vertex outside of the area between -100 cm and 100 cm in the z-axis of the detector. </a:t>
                      </a:r>
                      <a:endParaRPr lang="en-SG" sz="1600" b="0" dirty="0"/>
                    </a:p>
                  </a:txBody>
                  <a:tcPr/>
                </a:tc>
                <a:extLst>
                  <a:ext uri="{0D108BD9-81ED-4DB2-BD59-A6C34878D82A}">
                    <a16:rowId xmlns:a16="http://schemas.microsoft.com/office/drawing/2014/main" val="3265387992"/>
                  </a:ext>
                </a:extLst>
              </a:tr>
              <a:tr h="427492">
                <a:tc>
                  <a:txBody>
                    <a:bodyPr/>
                    <a:lstStyle/>
                    <a:p>
                      <a:r>
                        <a:rPr lang="en-SG" sz="1600" b="1" dirty="0" err="1">
                          <a:effectLst/>
                        </a:rPr>
                        <a:t>flash_cut</a:t>
                      </a:r>
                      <a:r>
                        <a:rPr lang="en-SG" sz="1600" b="1" dirty="0">
                          <a:effectLst/>
                        </a:rPr>
                        <a:t> </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effectLst/>
                        </a:rPr>
                        <a:t>Selects reconstructed interactions with a flash time within a specified duration. </a:t>
                      </a:r>
                      <a:r>
                        <a:rPr lang="en-US" sz="1600" b="0" dirty="0"/>
                        <a:t>In this case we refer to the BNB beam gate time between -0.5 and 1.6 us</a:t>
                      </a:r>
                    </a:p>
                  </a:txBody>
                  <a:tcPr/>
                </a:tc>
                <a:extLst>
                  <a:ext uri="{0D108BD9-81ED-4DB2-BD59-A6C34878D82A}">
                    <a16:rowId xmlns:a16="http://schemas.microsoft.com/office/drawing/2014/main" val="331992549"/>
                  </a:ext>
                </a:extLst>
              </a:tr>
              <a:tr h="427492">
                <a:tc>
                  <a:txBody>
                    <a:bodyPr/>
                    <a:lstStyle/>
                    <a:p>
                      <a:r>
                        <a:rPr lang="en-SG" sz="1600" b="1" dirty="0" err="1">
                          <a:effectLst/>
                        </a:rPr>
                        <a:t>single_muon</a:t>
                      </a:r>
                      <a:endParaRPr lang="en-SG" sz="1600" b="1" dirty="0"/>
                    </a:p>
                  </a:txBody>
                  <a:tcPr/>
                </a:tc>
                <a:tc>
                  <a:txBody>
                    <a:bodyPr/>
                    <a:lstStyle/>
                    <a:p>
                      <a:r>
                        <a:rPr lang="en-US" sz="1600" b="0" dirty="0">
                          <a:effectLst/>
                        </a:rPr>
                        <a:t>Selects reconstructed interactions containing a primary muon with energy equal to or above 143.425 MeV. </a:t>
                      </a:r>
                      <a:endParaRPr lang="en-SG" sz="1600" b="0" dirty="0"/>
                    </a:p>
                  </a:txBody>
                  <a:tcPr/>
                </a:tc>
                <a:extLst>
                  <a:ext uri="{0D108BD9-81ED-4DB2-BD59-A6C34878D82A}">
                    <a16:rowId xmlns:a16="http://schemas.microsoft.com/office/drawing/2014/main" val="3285609703"/>
                  </a:ext>
                </a:extLst>
              </a:tr>
              <a:tr h="427492">
                <a:tc>
                  <a:txBody>
                    <a:bodyPr/>
                    <a:lstStyle/>
                    <a:p>
                      <a:r>
                        <a:rPr lang="en-SG" sz="1600" b="1" dirty="0" err="1">
                          <a:effectLst/>
                        </a:rPr>
                        <a:t>no_charged_pions</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effectLst/>
                        </a:rPr>
                        <a:t>Selects reconstructed interactions that do not contain primary charged </a:t>
                      </a:r>
                      <a:r>
                        <a:rPr lang="en-US" sz="1600" b="0" dirty="0" err="1">
                          <a:effectLst/>
                        </a:rPr>
                        <a:t>pions</a:t>
                      </a:r>
                      <a:r>
                        <a:rPr lang="en-US" sz="1600" b="0" dirty="0">
                          <a:effectLst/>
                        </a:rPr>
                        <a:t> with energy equal to or above 25 MeV. </a:t>
                      </a:r>
                      <a:endParaRPr lang="en-SG" sz="1600" b="0" dirty="0"/>
                    </a:p>
                  </a:txBody>
                  <a:tcPr/>
                </a:tc>
                <a:extLst>
                  <a:ext uri="{0D108BD9-81ED-4DB2-BD59-A6C34878D82A}">
                    <a16:rowId xmlns:a16="http://schemas.microsoft.com/office/drawing/2014/main" val="3154359969"/>
                  </a:ext>
                </a:extLst>
              </a:tr>
              <a:tr h="427492">
                <a:tc>
                  <a:txBody>
                    <a:bodyPr/>
                    <a:lstStyle/>
                    <a:p>
                      <a:r>
                        <a:rPr lang="en-SG" sz="1600" b="1" dirty="0" err="1">
                          <a:effectLst/>
                        </a:rPr>
                        <a:t>two_photons</a:t>
                      </a:r>
                      <a:endParaRPr lang="en-SG"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effectLst/>
                        </a:rPr>
                        <a:t>Selects reconstructed interactions that contain 2 primary photons with energy equal to or above 25 MeV</a:t>
                      </a:r>
                      <a:endParaRPr lang="en-US" sz="1600" b="0" dirty="0"/>
                    </a:p>
                  </a:txBody>
                  <a:tcPr/>
                </a:tc>
                <a:extLst>
                  <a:ext uri="{0D108BD9-81ED-4DB2-BD59-A6C34878D82A}">
                    <a16:rowId xmlns:a16="http://schemas.microsoft.com/office/drawing/2014/main" val="3536769870"/>
                  </a:ext>
                </a:extLst>
              </a:tr>
            </a:tbl>
          </a:graphicData>
        </a:graphic>
      </p:graphicFrame>
      <p:sp>
        <p:nvSpPr>
          <p:cNvPr id="4" name="TextBox 3">
            <a:extLst>
              <a:ext uri="{FF2B5EF4-FFF2-40B4-BE49-F238E27FC236}">
                <a16:creationId xmlns:a16="http://schemas.microsoft.com/office/drawing/2014/main" id="{D19B6CA6-73F9-5F30-ED0D-2E3E6566C731}"/>
              </a:ext>
            </a:extLst>
          </p:cNvPr>
          <p:cNvSpPr txBox="1"/>
          <p:nvPr/>
        </p:nvSpPr>
        <p:spPr>
          <a:xfrm>
            <a:off x="1097280" y="1815053"/>
            <a:ext cx="8914938" cy="369332"/>
          </a:xfrm>
          <a:prstGeom prst="rect">
            <a:avLst/>
          </a:prstGeom>
          <a:noFill/>
        </p:spPr>
        <p:txBody>
          <a:bodyPr wrap="square">
            <a:spAutoFit/>
          </a:bodyPr>
          <a:lstStyle/>
          <a:p>
            <a:r>
              <a:rPr lang="en-US" dirty="0"/>
              <a:t>An initial selection will first be performed, with the following initial reconstructed cuts applied </a:t>
            </a:r>
            <a:endParaRPr lang="en-SG" b="1" dirty="0"/>
          </a:p>
        </p:txBody>
      </p:sp>
    </p:spTree>
    <p:extLst>
      <p:ext uri="{BB962C8B-B14F-4D97-AF65-F5344CB8AC3E}">
        <p14:creationId xmlns:p14="http://schemas.microsoft.com/office/powerpoint/2010/main" val="1102423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51AB2-5D35-8BCD-D6EA-868C1917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AA96C8-2A2A-8760-85B8-57D7F58896A4}"/>
              </a:ext>
            </a:extLst>
          </p:cNvPr>
          <p:cNvSpPr>
            <a:spLocks noGrp="1"/>
          </p:cNvSpPr>
          <p:nvPr>
            <p:ph type="title"/>
          </p:nvPr>
        </p:nvSpPr>
        <p:spPr/>
        <p:txBody>
          <a:bodyPr/>
          <a:lstStyle/>
          <a:p>
            <a:r>
              <a:rPr lang="en-US" b="1" dirty="0"/>
              <a:t>Initial selection: </a:t>
            </a:r>
            <a:r>
              <a:rPr lang="en-US" dirty="0"/>
              <a:t>neutral pion mass calculation</a:t>
            </a:r>
            <a:endParaRPr lang="en-SG" dirty="0"/>
          </a:p>
        </p:txBody>
      </p:sp>
      <p:sp>
        <p:nvSpPr>
          <p:cNvPr id="4" name="TextBox 3">
            <a:extLst>
              <a:ext uri="{FF2B5EF4-FFF2-40B4-BE49-F238E27FC236}">
                <a16:creationId xmlns:a16="http://schemas.microsoft.com/office/drawing/2014/main" id="{419CCBE3-14AF-EC7B-97D3-D5955D24B667}"/>
              </a:ext>
            </a:extLst>
          </p:cNvPr>
          <p:cNvSpPr txBox="1"/>
          <p:nvPr/>
        </p:nvSpPr>
        <p:spPr>
          <a:xfrm>
            <a:off x="1097280" y="1815053"/>
            <a:ext cx="8914938" cy="2308324"/>
          </a:xfrm>
          <a:prstGeom prst="rect">
            <a:avLst/>
          </a:prstGeom>
          <a:noFill/>
        </p:spPr>
        <p:txBody>
          <a:bodyPr wrap="square">
            <a:spAutoFit/>
          </a:bodyPr>
          <a:lstStyle/>
          <a:p>
            <a:pPr marL="285750" indent="-285750">
              <a:buFont typeface="Arial" panose="020B0604020202020204" pitchFamily="34" charset="0"/>
              <a:buChar char="•"/>
            </a:pPr>
            <a:r>
              <a:rPr lang="en-US" dirty="0"/>
              <a:t>With the following cuts applied, next was to extract and plot a variable known as pi0_mass. This variable is obtained from the following equation </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dirty="0"/>
              <a:t>Where E1 and E2 is the kinetic energy of the leading and </a:t>
            </a:r>
            <a:r>
              <a:rPr lang="en-US" dirty="0" err="1"/>
              <a:t>subleading</a:t>
            </a:r>
            <a:r>
              <a:rPr lang="en-US" dirty="0"/>
              <a:t> shower, </a:t>
            </a:r>
            <a:r>
              <a:rPr lang="el-GR" dirty="0"/>
              <a:t>θ</a:t>
            </a:r>
            <a:r>
              <a:rPr lang="en-US" b="1" dirty="0"/>
              <a:t> </a:t>
            </a:r>
            <a:r>
              <a:rPr lang="en-US" dirty="0"/>
              <a:t>is the angle between the leading and </a:t>
            </a:r>
            <a:r>
              <a:rPr lang="en-US" dirty="0" err="1"/>
              <a:t>subleading</a:t>
            </a:r>
            <a:r>
              <a:rPr lang="en-US" dirty="0"/>
              <a:t> shower direction vector.</a:t>
            </a:r>
            <a:endParaRPr lang="en-SG" b="1" dirty="0"/>
          </a:p>
        </p:txBody>
      </p:sp>
      <p:pic>
        <p:nvPicPr>
          <p:cNvPr id="8" name="Picture 7">
            <a:extLst>
              <a:ext uri="{FF2B5EF4-FFF2-40B4-BE49-F238E27FC236}">
                <a16:creationId xmlns:a16="http://schemas.microsoft.com/office/drawing/2014/main" id="{A02DF756-5A9D-0614-78E8-0FB1512C98A5}"/>
              </a:ext>
            </a:extLst>
          </p:cNvPr>
          <p:cNvPicPr>
            <a:picLocks noChangeAspect="1"/>
          </p:cNvPicPr>
          <p:nvPr/>
        </p:nvPicPr>
        <p:blipFill>
          <a:blip r:embed="rId2"/>
          <a:stretch>
            <a:fillRect/>
          </a:stretch>
        </p:blipFill>
        <p:spPr>
          <a:xfrm>
            <a:off x="3805237" y="2590800"/>
            <a:ext cx="4581525" cy="838200"/>
          </a:xfrm>
          <a:prstGeom prst="rect">
            <a:avLst/>
          </a:prstGeom>
        </p:spPr>
      </p:pic>
    </p:spTree>
    <p:extLst>
      <p:ext uri="{BB962C8B-B14F-4D97-AF65-F5344CB8AC3E}">
        <p14:creationId xmlns:p14="http://schemas.microsoft.com/office/powerpoint/2010/main" val="1276552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0050A-7551-AB7A-7512-FE8CFB61A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99ED5-2811-1D20-9076-D9AB08FD1BE7}"/>
              </a:ext>
            </a:extLst>
          </p:cNvPr>
          <p:cNvSpPr>
            <a:spLocks noGrp="1"/>
          </p:cNvSpPr>
          <p:nvPr>
            <p:ph type="title"/>
          </p:nvPr>
        </p:nvSpPr>
        <p:spPr/>
        <p:txBody>
          <a:bodyPr/>
          <a:lstStyle/>
          <a:p>
            <a:r>
              <a:rPr lang="en-US" b="1" dirty="0"/>
              <a:t>Initial selection: </a:t>
            </a:r>
            <a:r>
              <a:rPr lang="en-US" dirty="0"/>
              <a:t>Categorizing interactions</a:t>
            </a:r>
            <a:endParaRPr lang="en-SG" dirty="0"/>
          </a:p>
        </p:txBody>
      </p:sp>
      <p:sp>
        <p:nvSpPr>
          <p:cNvPr id="4" name="TextBox 3">
            <a:extLst>
              <a:ext uri="{FF2B5EF4-FFF2-40B4-BE49-F238E27FC236}">
                <a16:creationId xmlns:a16="http://schemas.microsoft.com/office/drawing/2014/main" id="{94D8F7A9-B4F6-CA72-D5E3-EED0DA6CCEC8}"/>
              </a:ext>
            </a:extLst>
          </p:cNvPr>
          <p:cNvSpPr txBox="1"/>
          <p:nvPr/>
        </p:nvSpPr>
        <p:spPr>
          <a:xfrm>
            <a:off x="1097280" y="1815053"/>
            <a:ext cx="10058400" cy="923330"/>
          </a:xfrm>
          <a:prstGeom prst="rect">
            <a:avLst/>
          </a:prstGeom>
          <a:noFill/>
        </p:spPr>
        <p:txBody>
          <a:bodyPr wrap="square">
            <a:spAutoFit/>
          </a:bodyPr>
          <a:lstStyle/>
          <a:p>
            <a:r>
              <a:rPr lang="en-US" dirty="0"/>
              <a:t>For easier analysis of truth-level information of the reconstructed interactions, a </a:t>
            </a:r>
            <a:r>
              <a:rPr lang="en-US" dirty="0" err="1"/>
              <a:t>variablE</a:t>
            </a:r>
            <a:r>
              <a:rPr lang="en-US" dirty="0"/>
              <a:t> known as category_topology_ccpi0_simple2 was extracted. This variable tells us which of the following 5 categories does the reconstructed interaction fall under based on its matched true interaction</a:t>
            </a:r>
            <a:endParaRPr lang="en-SG" b="1" dirty="0"/>
          </a:p>
        </p:txBody>
      </p:sp>
      <p:graphicFrame>
        <p:nvGraphicFramePr>
          <p:cNvPr id="3" name="Table 2">
            <a:extLst>
              <a:ext uri="{FF2B5EF4-FFF2-40B4-BE49-F238E27FC236}">
                <a16:creationId xmlns:a16="http://schemas.microsoft.com/office/drawing/2014/main" id="{173080C7-F761-609D-D7F2-B59A3E0C80BA}"/>
              </a:ext>
            </a:extLst>
          </p:cNvPr>
          <p:cNvGraphicFramePr>
            <a:graphicFrameLocks noGrp="1"/>
          </p:cNvGraphicFramePr>
          <p:nvPr>
            <p:extLst>
              <p:ext uri="{D42A27DB-BD31-4B8C-83A1-F6EECF244321}">
                <p14:modId xmlns:p14="http://schemas.microsoft.com/office/powerpoint/2010/main" val="2963120337"/>
              </p:ext>
            </p:extLst>
          </p:nvPr>
        </p:nvGraphicFramePr>
        <p:xfrm>
          <a:off x="771236" y="2917676"/>
          <a:ext cx="10649527" cy="3134360"/>
        </p:xfrm>
        <a:graphic>
          <a:graphicData uri="http://schemas.openxmlformats.org/drawingml/2006/table">
            <a:tbl>
              <a:tblPr firstRow="1" bandRow="1">
                <a:tableStyleId>{5C22544A-7EE6-4342-B048-85BDC9FD1C3A}</a:tableStyleId>
              </a:tblPr>
              <a:tblGrid>
                <a:gridCol w="1512716">
                  <a:extLst>
                    <a:ext uri="{9D8B030D-6E8A-4147-A177-3AD203B41FA5}">
                      <a16:colId xmlns:a16="http://schemas.microsoft.com/office/drawing/2014/main" val="649620636"/>
                    </a:ext>
                  </a:extLst>
                </a:gridCol>
                <a:gridCol w="9136811">
                  <a:extLst>
                    <a:ext uri="{9D8B030D-6E8A-4147-A177-3AD203B41FA5}">
                      <a16:colId xmlns:a16="http://schemas.microsoft.com/office/drawing/2014/main" val="3751636486"/>
                    </a:ext>
                  </a:extLst>
                </a:gridCol>
              </a:tblGrid>
              <a:tr h="370840">
                <a:tc>
                  <a:txBody>
                    <a:bodyPr/>
                    <a:lstStyle/>
                    <a:p>
                      <a:r>
                        <a:rPr lang="en-US" dirty="0"/>
                        <a:t>Category</a:t>
                      </a:r>
                      <a:endParaRPr lang="en-SG" dirty="0"/>
                    </a:p>
                  </a:txBody>
                  <a:tcPr/>
                </a:tc>
                <a:tc>
                  <a:txBody>
                    <a:bodyPr/>
                    <a:lstStyle/>
                    <a:p>
                      <a:r>
                        <a:rPr lang="en-US" dirty="0"/>
                        <a:t>definition</a:t>
                      </a:r>
                      <a:endParaRPr lang="en-SG" dirty="0"/>
                    </a:p>
                  </a:txBody>
                  <a:tcPr/>
                </a:tc>
                <a:extLst>
                  <a:ext uri="{0D108BD9-81ED-4DB2-BD59-A6C34878D82A}">
                    <a16:rowId xmlns:a16="http://schemas.microsoft.com/office/drawing/2014/main" val="606806661"/>
                  </a:ext>
                </a:extLst>
              </a:tr>
              <a:tr h="370840">
                <a:tc>
                  <a:txBody>
                    <a:bodyPr/>
                    <a:lstStyle/>
                    <a:p>
                      <a:r>
                        <a:rPr lang="en-US" b="1" dirty="0"/>
                        <a:t>0</a:t>
                      </a:r>
                      <a:endParaRPr lang="en-SG"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Neutrino interaction with 1 primary muon, 0 primary charged </a:t>
                      </a:r>
                      <a:r>
                        <a:rPr lang="en-US" dirty="0" err="1"/>
                        <a:t>pions</a:t>
                      </a:r>
                      <a:r>
                        <a:rPr lang="en-US" dirty="0"/>
                        <a:t>, and 1 primary neutral pion</a:t>
                      </a:r>
                    </a:p>
                  </a:txBody>
                  <a:tcPr/>
                </a:tc>
                <a:extLst>
                  <a:ext uri="{0D108BD9-81ED-4DB2-BD59-A6C34878D82A}">
                    <a16:rowId xmlns:a16="http://schemas.microsoft.com/office/drawing/2014/main" val="304109672"/>
                  </a:ext>
                </a:extLst>
              </a:tr>
              <a:tr h="370840">
                <a:tc>
                  <a:txBody>
                    <a:bodyPr/>
                    <a:lstStyle/>
                    <a:p>
                      <a:r>
                        <a:rPr lang="en-US" b="1" dirty="0"/>
                        <a:t>1</a:t>
                      </a:r>
                      <a:endParaRPr lang="en-SG"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Neutrino </a:t>
                      </a:r>
                      <a:r>
                        <a:rPr lang="en-US" b="1" dirty="0"/>
                        <a:t>i</a:t>
                      </a:r>
                      <a:r>
                        <a:rPr lang="en-US" dirty="0"/>
                        <a:t>nteraction with 1 primary muon, 0 primary charged </a:t>
                      </a:r>
                      <a:r>
                        <a:rPr lang="en-US" dirty="0" err="1"/>
                        <a:t>pions</a:t>
                      </a:r>
                      <a:r>
                        <a:rPr lang="en-US" dirty="0"/>
                        <a:t>, and 2 or more neutral </a:t>
                      </a:r>
                      <a:r>
                        <a:rPr lang="en-US" dirty="0" err="1"/>
                        <a:t>pions</a:t>
                      </a:r>
                      <a:endParaRPr lang="en-US" dirty="0"/>
                    </a:p>
                  </a:txBody>
                  <a:tcPr/>
                </a:tc>
                <a:extLst>
                  <a:ext uri="{0D108BD9-81ED-4DB2-BD59-A6C34878D82A}">
                    <a16:rowId xmlns:a16="http://schemas.microsoft.com/office/drawing/2014/main" val="372735243"/>
                  </a:ext>
                </a:extLst>
              </a:tr>
              <a:tr h="370840">
                <a:tc>
                  <a:txBody>
                    <a:bodyPr/>
                    <a:lstStyle/>
                    <a:p>
                      <a:r>
                        <a:rPr lang="en-US" b="1" dirty="0"/>
                        <a:t>2</a:t>
                      </a:r>
                      <a:endParaRPr lang="en-SG"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Neutrino interaction with 1 primary muon, 1 or more primary charged </a:t>
                      </a:r>
                      <a:r>
                        <a:rPr lang="en-US" dirty="0" err="1"/>
                        <a:t>pions</a:t>
                      </a:r>
                      <a:r>
                        <a:rPr lang="en-US" dirty="0"/>
                        <a:t>, and any number of primary neutral </a:t>
                      </a:r>
                      <a:r>
                        <a:rPr lang="en-US" dirty="0" err="1"/>
                        <a:t>pions</a:t>
                      </a:r>
                      <a:endParaRPr lang="en-US" dirty="0"/>
                    </a:p>
                  </a:txBody>
                  <a:tcPr/>
                </a:tc>
                <a:extLst>
                  <a:ext uri="{0D108BD9-81ED-4DB2-BD59-A6C34878D82A}">
                    <a16:rowId xmlns:a16="http://schemas.microsoft.com/office/drawing/2014/main" val="1698670330"/>
                  </a:ext>
                </a:extLst>
              </a:tr>
              <a:tr h="370840">
                <a:tc>
                  <a:txBody>
                    <a:bodyPr/>
                    <a:lstStyle/>
                    <a:p>
                      <a:r>
                        <a:rPr lang="en-US" b="1" dirty="0"/>
                        <a:t>3</a:t>
                      </a:r>
                      <a:endParaRPr lang="en-SG" b="1" dirty="0"/>
                    </a:p>
                  </a:txBody>
                  <a:tcPr/>
                </a:tc>
                <a:tc>
                  <a:txBody>
                    <a:bodyPr/>
                    <a:lstStyle/>
                    <a:p>
                      <a:r>
                        <a:rPr lang="en-US" dirty="0"/>
                        <a:t>Neutrino interaction with 0 primary muons, and 1 or more primary neutral </a:t>
                      </a:r>
                      <a:r>
                        <a:rPr lang="en-US" dirty="0" err="1"/>
                        <a:t>pions</a:t>
                      </a:r>
                      <a:endParaRPr lang="en-SG" dirty="0"/>
                    </a:p>
                  </a:txBody>
                  <a:tcPr/>
                </a:tc>
                <a:extLst>
                  <a:ext uri="{0D108BD9-81ED-4DB2-BD59-A6C34878D82A}">
                    <a16:rowId xmlns:a16="http://schemas.microsoft.com/office/drawing/2014/main" val="792361712"/>
                  </a:ext>
                </a:extLst>
              </a:tr>
              <a:tr h="370840">
                <a:tc>
                  <a:txBody>
                    <a:bodyPr/>
                    <a:lstStyle/>
                    <a:p>
                      <a:r>
                        <a:rPr lang="en-US" b="1" dirty="0"/>
                        <a:t>4</a:t>
                      </a:r>
                      <a:endParaRPr lang="en-SG" b="1" dirty="0"/>
                    </a:p>
                  </a:txBody>
                  <a:tcPr/>
                </a:tc>
                <a:tc>
                  <a:txBody>
                    <a:bodyPr/>
                    <a:lstStyle/>
                    <a:p>
                      <a:r>
                        <a:rPr lang="en-US" dirty="0"/>
                        <a:t>Neutrino interactions that do not fall within these categories</a:t>
                      </a:r>
                      <a:endParaRPr lang="en-SG" dirty="0"/>
                    </a:p>
                  </a:txBody>
                  <a:tcPr/>
                </a:tc>
                <a:extLst>
                  <a:ext uri="{0D108BD9-81ED-4DB2-BD59-A6C34878D82A}">
                    <a16:rowId xmlns:a16="http://schemas.microsoft.com/office/drawing/2014/main" val="2793363765"/>
                  </a:ext>
                </a:extLst>
              </a:tr>
              <a:tr h="370840">
                <a:tc>
                  <a:txBody>
                    <a:bodyPr/>
                    <a:lstStyle/>
                    <a:p>
                      <a:r>
                        <a:rPr lang="en-US" b="1" dirty="0" err="1"/>
                        <a:t>NaN</a:t>
                      </a:r>
                      <a:endParaRPr lang="en-SG" b="1" dirty="0"/>
                    </a:p>
                  </a:txBody>
                  <a:tcPr/>
                </a:tc>
                <a:tc>
                  <a:txBody>
                    <a:bodyPr/>
                    <a:lstStyle/>
                    <a:p>
                      <a:r>
                        <a:rPr lang="en-US" dirty="0" err="1"/>
                        <a:t>cosmics</a:t>
                      </a:r>
                      <a:endParaRPr lang="en-SG" dirty="0"/>
                    </a:p>
                  </a:txBody>
                  <a:tcPr/>
                </a:tc>
                <a:extLst>
                  <a:ext uri="{0D108BD9-81ED-4DB2-BD59-A6C34878D82A}">
                    <a16:rowId xmlns:a16="http://schemas.microsoft.com/office/drawing/2014/main" val="613219302"/>
                  </a:ext>
                </a:extLst>
              </a:tr>
            </a:tbl>
          </a:graphicData>
        </a:graphic>
      </p:graphicFrame>
    </p:spTree>
    <p:extLst>
      <p:ext uri="{BB962C8B-B14F-4D97-AF65-F5344CB8AC3E}">
        <p14:creationId xmlns:p14="http://schemas.microsoft.com/office/powerpoint/2010/main" val="2703756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76505-366B-3071-13B9-B0186282D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836B37-DF93-2900-1C2D-80BF8A2F68D6}"/>
              </a:ext>
            </a:extLst>
          </p:cNvPr>
          <p:cNvSpPr>
            <a:spLocks noGrp="1"/>
          </p:cNvSpPr>
          <p:nvPr>
            <p:ph type="title"/>
          </p:nvPr>
        </p:nvSpPr>
        <p:spPr/>
        <p:txBody>
          <a:bodyPr/>
          <a:lstStyle/>
          <a:p>
            <a:r>
              <a:rPr lang="en-US" b="1" dirty="0"/>
              <a:t>Initial selection: </a:t>
            </a:r>
            <a:r>
              <a:rPr lang="en-US" dirty="0"/>
              <a:t>neutral pion mass distribution</a:t>
            </a:r>
            <a:endParaRPr lang="en-SG" dirty="0"/>
          </a:p>
        </p:txBody>
      </p:sp>
      <p:sp>
        <p:nvSpPr>
          <p:cNvPr id="4" name="TextBox 3">
            <a:extLst>
              <a:ext uri="{FF2B5EF4-FFF2-40B4-BE49-F238E27FC236}">
                <a16:creationId xmlns:a16="http://schemas.microsoft.com/office/drawing/2014/main" id="{7B727EAE-A771-3C99-0087-8E9B17E5C5E0}"/>
              </a:ext>
            </a:extLst>
          </p:cNvPr>
          <p:cNvSpPr txBox="1"/>
          <p:nvPr/>
        </p:nvSpPr>
        <p:spPr>
          <a:xfrm>
            <a:off x="1097279" y="1815053"/>
            <a:ext cx="10902161" cy="646331"/>
          </a:xfrm>
          <a:prstGeom prst="rect">
            <a:avLst/>
          </a:prstGeom>
          <a:noFill/>
        </p:spPr>
        <p:txBody>
          <a:bodyPr wrap="square">
            <a:spAutoFit/>
          </a:bodyPr>
          <a:lstStyle/>
          <a:p>
            <a:r>
              <a:rPr lang="en-US" dirty="0"/>
              <a:t>A plot of the reconstructed neutral pion mass distribution for reconstructed interactions split into their true interaction categories is shown</a:t>
            </a:r>
            <a:endParaRPr lang="en-SG" b="1" dirty="0"/>
          </a:p>
        </p:txBody>
      </p:sp>
      <p:pic>
        <p:nvPicPr>
          <p:cNvPr id="9" name="Picture 8">
            <a:extLst>
              <a:ext uri="{FF2B5EF4-FFF2-40B4-BE49-F238E27FC236}">
                <a16:creationId xmlns:a16="http://schemas.microsoft.com/office/drawing/2014/main" id="{F07D6F23-3348-4D5F-FFC3-A19189E9B699}"/>
              </a:ext>
            </a:extLst>
          </p:cNvPr>
          <p:cNvPicPr>
            <a:picLocks noChangeAspect="1"/>
          </p:cNvPicPr>
          <p:nvPr/>
        </p:nvPicPr>
        <p:blipFill>
          <a:blip r:embed="rId2"/>
          <a:stretch>
            <a:fillRect/>
          </a:stretch>
        </p:blipFill>
        <p:spPr>
          <a:xfrm>
            <a:off x="33339" y="2728459"/>
            <a:ext cx="5929312" cy="3100387"/>
          </a:xfrm>
          <a:prstGeom prst="rect">
            <a:avLst/>
          </a:prstGeom>
        </p:spPr>
      </p:pic>
      <p:sp>
        <p:nvSpPr>
          <p:cNvPr id="10" name="TextBox 9">
            <a:extLst>
              <a:ext uri="{FF2B5EF4-FFF2-40B4-BE49-F238E27FC236}">
                <a16:creationId xmlns:a16="http://schemas.microsoft.com/office/drawing/2014/main" id="{973505F4-87D5-9F87-22BA-23F4BCFEA3BE}"/>
              </a:ext>
            </a:extLst>
          </p:cNvPr>
          <p:cNvSpPr txBox="1"/>
          <p:nvPr/>
        </p:nvSpPr>
        <p:spPr>
          <a:xfrm>
            <a:off x="168670" y="5763424"/>
            <a:ext cx="5927329" cy="307777"/>
          </a:xfrm>
          <a:prstGeom prst="rect">
            <a:avLst/>
          </a:prstGeom>
          <a:noFill/>
        </p:spPr>
        <p:txBody>
          <a:bodyPr wrap="square">
            <a:spAutoFit/>
          </a:bodyPr>
          <a:lstStyle/>
          <a:p>
            <a:r>
              <a:rPr lang="en-US" sz="1400" b="1" dirty="0"/>
              <a:t>Reconstructed neutral pion mass plot from lane’s paper, </a:t>
            </a:r>
            <a:r>
              <a:rPr lang="en-US" sz="1400" b="1" dirty="0" err="1"/>
              <a:t>normalised</a:t>
            </a:r>
            <a:r>
              <a:rPr lang="en-US" sz="1400" b="1" dirty="0"/>
              <a:t> to unity</a:t>
            </a:r>
            <a:endParaRPr lang="en-SG" sz="1400" b="1" dirty="0"/>
          </a:p>
        </p:txBody>
      </p:sp>
      <p:sp>
        <p:nvSpPr>
          <p:cNvPr id="11" name="TextBox 10">
            <a:extLst>
              <a:ext uri="{FF2B5EF4-FFF2-40B4-BE49-F238E27FC236}">
                <a16:creationId xmlns:a16="http://schemas.microsoft.com/office/drawing/2014/main" id="{D86ECC95-6159-0502-7A59-4AAFAD06552D}"/>
              </a:ext>
            </a:extLst>
          </p:cNvPr>
          <p:cNvSpPr txBox="1"/>
          <p:nvPr/>
        </p:nvSpPr>
        <p:spPr>
          <a:xfrm>
            <a:off x="6900035" y="5674957"/>
            <a:ext cx="4574841" cy="307777"/>
          </a:xfrm>
          <a:prstGeom prst="rect">
            <a:avLst/>
          </a:prstGeom>
          <a:noFill/>
        </p:spPr>
        <p:txBody>
          <a:bodyPr wrap="square">
            <a:spAutoFit/>
          </a:bodyPr>
          <a:lstStyle/>
          <a:p>
            <a:r>
              <a:rPr lang="en-US" sz="1400" b="1" dirty="0"/>
              <a:t>Reconstructed neutral pion mass plot from my BNB sample</a:t>
            </a:r>
            <a:endParaRPr lang="en-SG" sz="1400" b="1" dirty="0"/>
          </a:p>
        </p:txBody>
      </p:sp>
      <p:pic>
        <p:nvPicPr>
          <p:cNvPr id="19" name="Picture 18">
            <a:extLst>
              <a:ext uri="{FF2B5EF4-FFF2-40B4-BE49-F238E27FC236}">
                <a16:creationId xmlns:a16="http://schemas.microsoft.com/office/drawing/2014/main" id="{DE562C6B-89AA-A159-3461-108938311981}"/>
              </a:ext>
            </a:extLst>
          </p:cNvPr>
          <p:cNvPicPr>
            <a:picLocks noChangeAspect="1"/>
          </p:cNvPicPr>
          <p:nvPr/>
        </p:nvPicPr>
        <p:blipFill>
          <a:blip r:embed="rId3"/>
          <a:stretch>
            <a:fillRect/>
          </a:stretch>
        </p:blipFill>
        <p:spPr>
          <a:xfrm>
            <a:off x="6457107" y="2539077"/>
            <a:ext cx="5017769" cy="3195250"/>
          </a:xfrm>
          <a:prstGeom prst="rect">
            <a:avLst/>
          </a:prstGeom>
        </p:spPr>
      </p:pic>
    </p:spTree>
    <p:extLst>
      <p:ext uri="{BB962C8B-B14F-4D97-AF65-F5344CB8AC3E}">
        <p14:creationId xmlns:p14="http://schemas.microsoft.com/office/powerpoint/2010/main" val="3267208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241E6-702C-42DB-8AE8-F7B687E20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C1AC84-78F6-56F2-407D-AD21D49D413D}"/>
              </a:ext>
            </a:extLst>
          </p:cNvPr>
          <p:cNvSpPr>
            <a:spLocks noGrp="1"/>
          </p:cNvSpPr>
          <p:nvPr>
            <p:ph type="title"/>
          </p:nvPr>
        </p:nvSpPr>
        <p:spPr/>
        <p:txBody>
          <a:bodyPr/>
          <a:lstStyle/>
          <a:p>
            <a:r>
              <a:rPr lang="en-US" b="1" dirty="0"/>
              <a:t>Shower energy correction: </a:t>
            </a:r>
            <a:r>
              <a:rPr lang="en-US" dirty="0"/>
              <a:t>Crystal ball fitting</a:t>
            </a:r>
            <a:endParaRPr lang="en-SG" dirty="0"/>
          </a:p>
        </p:txBody>
      </p:sp>
      <p:sp>
        <p:nvSpPr>
          <p:cNvPr id="4" name="TextBox 3">
            <a:extLst>
              <a:ext uri="{FF2B5EF4-FFF2-40B4-BE49-F238E27FC236}">
                <a16:creationId xmlns:a16="http://schemas.microsoft.com/office/drawing/2014/main" id="{D7BE6839-E122-E8C4-7A00-8329A7BF732C}"/>
              </a:ext>
            </a:extLst>
          </p:cNvPr>
          <p:cNvSpPr txBox="1"/>
          <p:nvPr/>
        </p:nvSpPr>
        <p:spPr>
          <a:xfrm>
            <a:off x="1097280" y="1815053"/>
            <a:ext cx="8914938" cy="2031325"/>
          </a:xfrm>
          <a:prstGeom prst="rect">
            <a:avLst/>
          </a:prstGeom>
          <a:noFill/>
        </p:spPr>
        <p:txBody>
          <a:bodyPr wrap="square">
            <a:spAutoFit/>
          </a:bodyPr>
          <a:lstStyle/>
          <a:p>
            <a:pPr marL="285750" indent="-285750">
              <a:buFont typeface="Arial" panose="020B0604020202020204" pitchFamily="34" charset="0"/>
              <a:buChar char="•"/>
            </a:pPr>
            <a:r>
              <a:rPr lang="en-US" dirty="0"/>
              <a:t>As bias between the location of the reconstructed neutral pion mass peak and true neutral pion mass (∼135 MeV/c2 ) is driven by reconstructed shower energy, the reconstructed distribution can be used to inform the shower energy scale in the next selection stage</a:t>
            </a:r>
          </a:p>
          <a:p>
            <a:pPr marL="285750" indent="-285750">
              <a:buFont typeface="Arial" panose="020B0604020202020204" pitchFamily="34" charset="0"/>
              <a:buChar char="•"/>
            </a:pPr>
            <a:r>
              <a:rPr lang="en-US" dirty="0"/>
              <a:t>Crystal ball fits are applied to the distribution, and the ratio of the gaussian mean to the true neutral pion mass (~135 MeV/c^2 ) can be used as a correction factor to adjust the reconstructed shower energy and bring the reconstructed pion mass towards true neutral pion peak.</a:t>
            </a:r>
            <a:endParaRPr lang="en-SG" b="1" dirty="0"/>
          </a:p>
        </p:txBody>
      </p:sp>
    </p:spTree>
    <p:extLst>
      <p:ext uri="{BB962C8B-B14F-4D97-AF65-F5344CB8AC3E}">
        <p14:creationId xmlns:p14="http://schemas.microsoft.com/office/powerpoint/2010/main" val="2043318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209E2-47C9-8963-261A-95A0470032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9C3081-8CAC-285E-81DA-962AEC40466A}"/>
              </a:ext>
            </a:extLst>
          </p:cNvPr>
          <p:cNvSpPr>
            <a:spLocks noGrp="1"/>
          </p:cNvSpPr>
          <p:nvPr>
            <p:ph type="title"/>
          </p:nvPr>
        </p:nvSpPr>
        <p:spPr/>
        <p:txBody>
          <a:bodyPr/>
          <a:lstStyle/>
          <a:p>
            <a:r>
              <a:rPr lang="en-US" b="1" dirty="0"/>
              <a:t>Shower energy correction: </a:t>
            </a:r>
            <a:r>
              <a:rPr lang="en-US" dirty="0"/>
              <a:t>Crystal ball fitting</a:t>
            </a:r>
            <a:endParaRPr lang="en-SG" b="1" dirty="0"/>
          </a:p>
        </p:txBody>
      </p:sp>
      <p:sp>
        <p:nvSpPr>
          <p:cNvPr id="4" name="TextBox 3">
            <a:extLst>
              <a:ext uri="{FF2B5EF4-FFF2-40B4-BE49-F238E27FC236}">
                <a16:creationId xmlns:a16="http://schemas.microsoft.com/office/drawing/2014/main" id="{0BDD1871-A860-19EF-2262-4E69558D8D53}"/>
              </a:ext>
            </a:extLst>
          </p:cNvPr>
          <p:cNvSpPr txBox="1"/>
          <p:nvPr/>
        </p:nvSpPr>
        <p:spPr>
          <a:xfrm>
            <a:off x="1097279" y="1815053"/>
            <a:ext cx="10346575" cy="1477328"/>
          </a:xfrm>
          <a:prstGeom prst="rect">
            <a:avLst/>
          </a:prstGeom>
          <a:noFill/>
        </p:spPr>
        <p:txBody>
          <a:bodyPr wrap="square">
            <a:spAutoFit/>
          </a:bodyPr>
          <a:lstStyle/>
          <a:p>
            <a:pPr marL="285750" indent="-285750">
              <a:buFont typeface="Arial" panose="020B0604020202020204" pitchFamily="34" charset="0"/>
              <a:buChar char="•"/>
            </a:pPr>
            <a:r>
              <a:rPr lang="en-US" dirty="0"/>
              <a:t>Applying a quick single sided crystal ball function from </a:t>
            </a:r>
            <a:r>
              <a:rPr lang="en-US" dirty="0" err="1"/>
              <a:t>scipy</a:t>
            </a:r>
            <a:r>
              <a:rPr lang="en-US" dirty="0"/>
              <a:t> in python to the reconstructed neutral pion mass distribution </a:t>
            </a:r>
          </a:p>
          <a:p>
            <a:pPr marL="285750" indent="-285750">
              <a:buFont typeface="Arial" panose="020B0604020202020204" pitchFamily="34" charset="0"/>
              <a:buChar char="•"/>
            </a:pPr>
            <a:r>
              <a:rPr lang="en-US" dirty="0"/>
              <a:t>Crystal ball fit for my plot is not as good as lane’s. This result should be taken with caution</a:t>
            </a:r>
          </a:p>
          <a:p>
            <a:pPr marL="742950" lvl="1" indent="-285750">
              <a:buFont typeface="Arial" panose="020B0604020202020204" pitchFamily="34" charset="0"/>
              <a:buChar char="•"/>
            </a:pPr>
            <a:r>
              <a:rPr lang="en-US" dirty="0"/>
              <a:t>I used a single-sided crystal ball fit form </a:t>
            </a:r>
            <a:r>
              <a:rPr lang="en-US" dirty="0" err="1"/>
              <a:t>scipy</a:t>
            </a:r>
            <a:r>
              <a:rPr lang="en-US" dirty="0"/>
              <a:t> in python, while he used a double-sided crystal ball fit, likely built into </a:t>
            </a:r>
            <a:r>
              <a:rPr lang="en-US" dirty="0" err="1"/>
              <a:t>spineplot</a:t>
            </a:r>
            <a:r>
              <a:rPr lang="en-US" dirty="0"/>
              <a:t>. </a:t>
            </a:r>
            <a:endParaRPr lang="en-SG" dirty="0"/>
          </a:p>
        </p:txBody>
      </p:sp>
      <p:pic>
        <p:nvPicPr>
          <p:cNvPr id="8" name="Picture 7">
            <a:extLst>
              <a:ext uri="{FF2B5EF4-FFF2-40B4-BE49-F238E27FC236}">
                <a16:creationId xmlns:a16="http://schemas.microsoft.com/office/drawing/2014/main" id="{FCE7F7D5-520C-67D2-3C42-F9A3C07A9D72}"/>
              </a:ext>
            </a:extLst>
          </p:cNvPr>
          <p:cNvPicPr>
            <a:picLocks noChangeAspect="1"/>
          </p:cNvPicPr>
          <p:nvPr/>
        </p:nvPicPr>
        <p:blipFill>
          <a:blip r:embed="rId2"/>
          <a:stretch>
            <a:fillRect/>
          </a:stretch>
        </p:blipFill>
        <p:spPr>
          <a:xfrm>
            <a:off x="371352" y="3260865"/>
            <a:ext cx="5267058" cy="2745819"/>
          </a:xfrm>
          <a:prstGeom prst="rect">
            <a:avLst/>
          </a:prstGeom>
        </p:spPr>
      </p:pic>
      <p:sp>
        <p:nvSpPr>
          <p:cNvPr id="9" name="TextBox 8">
            <a:extLst>
              <a:ext uri="{FF2B5EF4-FFF2-40B4-BE49-F238E27FC236}">
                <a16:creationId xmlns:a16="http://schemas.microsoft.com/office/drawing/2014/main" id="{97FC79AA-7562-F5DD-B8C7-A14E39204FBA}"/>
              </a:ext>
            </a:extLst>
          </p:cNvPr>
          <p:cNvSpPr txBox="1"/>
          <p:nvPr/>
        </p:nvSpPr>
        <p:spPr>
          <a:xfrm>
            <a:off x="612349" y="5968387"/>
            <a:ext cx="5927329" cy="307777"/>
          </a:xfrm>
          <a:prstGeom prst="rect">
            <a:avLst/>
          </a:prstGeom>
          <a:noFill/>
        </p:spPr>
        <p:txBody>
          <a:bodyPr wrap="square">
            <a:spAutoFit/>
          </a:bodyPr>
          <a:lstStyle/>
          <a:p>
            <a:r>
              <a:rPr lang="en-US" sz="1400" b="1" dirty="0"/>
              <a:t>Crystal ball fitting plot from lane’s paper</a:t>
            </a:r>
            <a:endParaRPr lang="en-SG" sz="1400" b="1" dirty="0"/>
          </a:p>
        </p:txBody>
      </p:sp>
      <p:sp>
        <p:nvSpPr>
          <p:cNvPr id="10" name="TextBox 9">
            <a:extLst>
              <a:ext uri="{FF2B5EF4-FFF2-40B4-BE49-F238E27FC236}">
                <a16:creationId xmlns:a16="http://schemas.microsoft.com/office/drawing/2014/main" id="{AE6609D8-2D26-608B-42EA-C1865B652DCA}"/>
              </a:ext>
            </a:extLst>
          </p:cNvPr>
          <p:cNvSpPr txBox="1"/>
          <p:nvPr/>
        </p:nvSpPr>
        <p:spPr>
          <a:xfrm>
            <a:off x="6539678" y="5968386"/>
            <a:ext cx="4574841" cy="307777"/>
          </a:xfrm>
          <a:prstGeom prst="rect">
            <a:avLst/>
          </a:prstGeom>
          <a:noFill/>
        </p:spPr>
        <p:txBody>
          <a:bodyPr wrap="square">
            <a:spAutoFit/>
          </a:bodyPr>
          <a:lstStyle/>
          <a:p>
            <a:r>
              <a:rPr lang="en-US" sz="1400" b="1" dirty="0"/>
              <a:t>Crystal ball fitting plot</a:t>
            </a:r>
            <a:r>
              <a:rPr lang="en-SG" sz="1400" b="1" dirty="0"/>
              <a:t> </a:t>
            </a:r>
            <a:r>
              <a:rPr lang="en-US" sz="1400" b="1" dirty="0"/>
              <a:t>from my BNB sample analysis</a:t>
            </a:r>
            <a:endParaRPr lang="en-SG" sz="1400" b="1" dirty="0"/>
          </a:p>
        </p:txBody>
      </p:sp>
      <p:pic>
        <p:nvPicPr>
          <p:cNvPr id="12" name="Picture 11">
            <a:extLst>
              <a:ext uri="{FF2B5EF4-FFF2-40B4-BE49-F238E27FC236}">
                <a16:creationId xmlns:a16="http://schemas.microsoft.com/office/drawing/2014/main" id="{75E78843-2321-4C26-A471-BA9BD836FEB4}"/>
              </a:ext>
            </a:extLst>
          </p:cNvPr>
          <p:cNvPicPr>
            <a:picLocks noChangeAspect="1"/>
          </p:cNvPicPr>
          <p:nvPr/>
        </p:nvPicPr>
        <p:blipFill>
          <a:blip r:embed="rId3"/>
          <a:stretch>
            <a:fillRect/>
          </a:stretch>
        </p:blipFill>
        <p:spPr>
          <a:xfrm>
            <a:off x="5926584" y="3245748"/>
            <a:ext cx="5517270" cy="2737754"/>
          </a:xfrm>
          <a:prstGeom prst="rect">
            <a:avLst/>
          </a:prstGeom>
        </p:spPr>
      </p:pic>
    </p:spTree>
    <p:extLst>
      <p:ext uri="{BB962C8B-B14F-4D97-AF65-F5344CB8AC3E}">
        <p14:creationId xmlns:p14="http://schemas.microsoft.com/office/powerpoint/2010/main" val="148146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18EBA-B50B-2E34-9B7B-E4142FCCF8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9F267C-9532-8CAA-BF00-D53BB1B26B85}"/>
              </a:ext>
            </a:extLst>
          </p:cNvPr>
          <p:cNvSpPr>
            <a:spLocks noGrp="1"/>
          </p:cNvSpPr>
          <p:nvPr>
            <p:ph type="title"/>
          </p:nvPr>
        </p:nvSpPr>
        <p:spPr/>
        <p:txBody>
          <a:bodyPr/>
          <a:lstStyle/>
          <a:p>
            <a:r>
              <a:rPr lang="en-SG" b="1" dirty="0"/>
              <a:t>Cuts on reconstructed neutral pion mass</a:t>
            </a:r>
            <a:endParaRPr lang="en-SG" dirty="0"/>
          </a:p>
        </p:txBody>
      </p:sp>
      <p:sp>
        <p:nvSpPr>
          <p:cNvPr id="4" name="TextBox 3">
            <a:extLst>
              <a:ext uri="{FF2B5EF4-FFF2-40B4-BE49-F238E27FC236}">
                <a16:creationId xmlns:a16="http://schemas.microsoft.com/office/drawing/2014/main" id="{99032292-3979-8FA1-314D-9995387EEFE6}"/>
              </a:ext>
            </a:extLst>
          </p:cNvPr>
          <p:cNvSpPr txBox="1"/>
          <p:nvPr/>
        </p:nvSpPr>
        <p:spPr>
          <a:xfrm>
            <a:off x="1097279" y="1815053"/>
            <a:ext cx="10058399" cy="1200329"/>
          </a:xfrm>
          <a:prstGeom prst="rect">
            <a:avLst/>
          </a:prstGeom>
          <a:noFill/>
        </p:spPr>
        <p:txBody>
          <a:bodyPr wrap="square">
            <a:spAutoFit/>
          </a:bodyPr>
          <a:lstStyle/>
          <a:p>
            <a:pPr marL="285750" indent="-285750">
              <a:buFont typeface="Arial" panose="020B0604020202020204" pitchFamily="34" charset="0"/>
              <a:buChar char="•"/>
            </a:pPr>
            <a:r>
              <a:rPr lang="en-US" dirty="0"/>
              <a:t>Extending the mass plot from 400 to 600 MeV/c^2 shows a noticeable uptick in selected events belonging to other neutrino interactions category due to </a:t>
            </a:r>
            <a:r>
              <a:rPr lang="el-GR" i="1" dirty="0"/>
              <a:t>η</a:t>
            </a:r>
            <a:r>
              <a:rPr lang="en-US" dirty="0"/>
              <a:t> mesons. region from 0 to about 60 MeV is also primarily filled by non-true signal interactions</a:t>
            </a:r>
          </a:p>
          <a:p>
            <a:pPr marL="285750" indent="-285750">
              <a:buFont typeface="Arial" panose="020B0604020202020204" pitchFamily="34" charset="0"/>
              <a:buChar char="•"/>
            </a:pPr>
            <a:r>
              <a:rPr lang="en-US" dirty="0"/>
              <a:t>A cut on the pi0 mass is thus applied in the next selection at 60 MeV/c^2 and 300 MeV/c^2</a:t>
            </a:r>
          </a:p>
        </p:txBody>
      </p:sp>
      <p:pic>
        <p:nvPicPr>
          <p:cNvPr id="9" name="Picture 8">
            <a:extLst>
              <a:ext uri="{FF2B5EF4-FFF2-40B4-BE49-F238E27FC236}">
                <a16:creationId xmlns:a16="http://schemas.microsoft.com/office/drawing/2014/main" id="{F6987B2D-6A2D-A18B-AD59-1C58CA314F45}"/>
              </a:ext>
            </a:extLst>
          </p:cNvPr>
          <p:cNvPicPr>
            <a:picLocks noChangeAspect="1"/>
          </p:cNvPicPr>
          <p:nvPr/>
        </p:nvPicPr>
        <p:blipFill>
          <a:blip r:embed="rId2"/>
          <a:stretch>
            <a:fillRect/>
          </a:stretch>
        </p:blipFill>
        <p:spPr>
          <a:xfrm>
            <a:off x="738273" y="3124200"/>
            <a:ext cx="5357727" cy="2895600"/>
          </a:xfrm>
          <a:prstGeom prst="rect">
            <a:avLst/>
          </a:prstGeom>
        </p:spPr>
      </p:pic>
      <p:sp>
        <p:nvSpPr>
          <p:cNvPr id="10" name="TextBox 9">
            <a:extLst>
              <a:ext uri="{FF2B5EF4-FFF2-40B4-BE49-F238E27FC236}">
                <a16:creationId xmlns:a16="http://schemas.microsoft.com/office/drawing/2014/main" id="{A727234C-BE19-723D-8B73-87DB35EF801B}"/>
              </a:ext>
            </a:extLst>
          </p:cNvPr>
          <p:cNvSpPr txBox="1"/>
          <p:nvPr/>
        </p:nvSpPr>
        <p:spPr>
          <a:xfrm>
            <a:off x="889806" y="5968386"/>
            <a:ext cx="5927329" cy="307777"/>
          </a:xfrm>
          <a:prstGeom prst="rect">
            <a:avLst/>
          </a:prstGeom>
          <a:noFill/>
        </p:spPr>
        <p:txBody>
          <a:bodyPr wrap="square">
            <a:spAutoFit/>
          </a:bodyPr>
          <a:lstStyle/>
          <a:p>
            <a:r>
              <a:rPr lang="en-US" sz="1400" b="1" dirty="0"/>
              <a:t>Reconstructed Pi0 mass plot from lane’s paper</a:t>
            </a:r>
            <a:endParaRPr lang="en-SG" sz="1400" b="1" dirty="0"/>
          </a:p>
        </p:txBody>
      </p:sp>
      <p:sp>
        <p:nvSpPr>
          <p:cNvPr id="11" name="TextBox 10">
            <a:extLst>
              <a:ext uri="{FF2B5EF4-FFF2-40B4-BE49-F238E27FC236}">
                <a16:creationId xmlns:a16="http://schemas.microsoft.com/office/drawing/2014/main" id="{84D5C88E-09AE-7981-E0F1-3B8FC21CDB7D}"/>
              </a:ext>
            </a:extLst>
          </p:cNvPr>
          <p:cNvSpPr txBox="1"/>
          <p:nvPr/>
        </p:nvSpPr>
        <p:spPr>
          <a:xfrm>
            <a:off x="6968668" y="5982376"/>
            <a:ext cx="4574841" cy="279797"/>
          </a:xfrm>
          <a:prstGeom prst="rect">
            <a:avLst/>
          </a:prstGeom>
          <a:noFill/>
        </p:spPr>
        <p:txBody>
          <a:bodyPr wrap="square">
            <a:spAutoFit/>
          </a:bodyPr>
          <a:lstStyle/>
          <a:p>
            <a:r>
              <a:rPr lang="en-US" sz="1400" b="1" dirty="0"/>
              <a:t>Reconstructed Pi0 mass plot from my BNB sample analysis</a:t>
            </a:r>
            <a:endParaRPr lang="en-SG" sz="1400" b="1" dirty="0"/>
          </a:p>
        </p:txBody>
      </p:sp>
      <p:pic>
        <p:nvPicPr>
          <p:cNvPr id="15" name="Picture 14">
            <a:extLst>
              <a:ext uri="{FF2B5EF4-FFF2-40B4-BE49-F238E27FC236}">
                <a16:creationId xmlns:a16="http://schemas.microsoft.com/office/drawing/2014/main" id="{5794562C-D8E4-D596-F967-B4F34891E3D3}"/>
              </a:ext>
            </a:extLst>
          </p:cNvPr>
          <p:cNvPicPr>
            <a:picLocks noChangeAspect="1"/>
          </p:cNvPicPr>
          <p:nvPr/>
        </p:nvPicPr>
        <p:blipFill>
          <a:blip r:embed="rId3"/>
          <a:stretch>
            <a:fillRect/>
          </a:stretch>
        </p:blipFill>
        <p:spPr>
          <a:xfrm>
            <a:off x="6670301" y="2959213"/>
            <a:ext cx="4783426" cy="3046023"/>
          </a:xfrm>
          <a:prstGeom prst="rect">
            <a:avLst/>
          </a:prstGeom>
        </p:spPr>
      </p:pic>
    </p:spTree>
    <p:extLst>
      <p:ext uri="{BB962C8B-B14F-4D97-AF65-F5344CB8AC3E}">
        <p14:creationId xmlns:p14="http://schemas.microsoft.com/office/powerpoint/2010/main" val="1605346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0F106-E4D2-6390-7BFF-5B251E684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9B8137-7C0C-BCC7-B32A-D9F8B8606C72}"/>
              </a:ext>
            </a:extLst>
          </p:cNvPr>
          <p:cNvSpPr>
            <a:spLocks noGrp="1"/>
          </p:cNvSpPr>
          <p:nvPr>
            <p:ph type="title"/>
          </p:nvPr>
        </p:nvSpPr>
        <p:spPr>
          <a:xfrm>
            <a:off x="1066800" y="3066311"/>
            <a:ext cx="10058400" cy="725378"/>
          </a:xfrm>
        </p:spPr>
        <p:txBody>
          <a:bodyPr/>
          <a:lstStyle/>
          <a:p>
            <a:pPr algn="ctr"/>
            <a:r>
              <a:rPr lang="en-US" b="1" dirty="0"/>
              <a:t>Selection performance analysis</a:t>
            </a:r>
            <a:endParaRPr lang="en-SG" b="1" dirty="0"/>
          </a:p>
        </p:txBody>
      </p:sp>
    </p:spTree>
    <p:extLst>
      <p:ext uri="{BB962C8B-B14F-4D97-AF65-F5344CB8AC3E}">
        <p14:creationId xmlns:p14="http://schemas.microsoft.com/office/powerpoint/2010/main" val="1711633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B4144-36F2-840B-8590-F00E22E32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F9056-A598-1597-35F3-A324DC3AAD13}"/>
              </a:ext>
            </a:extLst>
          </p:cNvPr>
          <p:cNvSpPr>
            <a:spLocks noGrp="1"/>
          </p:cNvSpPr>
          <p:nvPr>
            <p:ph type="title"/>
          </p:nvPr>
        </p:nvSpPr>
        <p:spPr/>
        <p:txBody>
          <a:bodyPr/>
          <a:lstStyle/>
          <a:p>
            <a:r>
              <a:rPr lang="en-US" b="1" dirty="0"/>
              <a:t>Efficiency and Purity analysis</a:t>
            </a:r>
            <a:endParaRPr lang="en-SG" dirty="0"/>
          </a:p>
        </p:txBody>
      </p:sp>
      <p:sp>
        <p:nvSpPr>
          <p:cNvPr id="4" name="TextBox 3">
            <a:extLst>
              <a:ext uri="{FF2B5EF4-FFF2-40B4-BE49-F238E27FC236}">
                <a16:creationId xmlns:a16="http://schemas.microsoft.com/office/drawing/2014/main" id="{11F267A1-6DDE-E38A-5349-210EB6C2ACB5}"/>
              </a:ext>
            </a:extLst>
          </p:cNvPr>
          <p:cNvSpPr txBox="1"/>
          <p:nvPr/>
        </p:nvSpPr>
        <p:spPr>
          <a:xfrm>
            <a:off x="1097279" y="1815053"/>
            <a:ext cx="10399395" cy="646331"/>
          </a:xfrm>
          <a:prstGeom prst="rect">
            <a:avLst/>
          </a:prstGeom>
          <a:noFill/>
        </p:spPr>
        <p:txBody>
          <a:bodyPr wrap="square">
            <a:spAutoFit/>
          </a:bodyPr>
          <a:lstStyle/>
          <a:p>
            <a:pPr marL="285750" indent="-285750">
              <a:buFont typeface="Arial" panose="020B0604020202020204" pitchFamily="34" charset="0"/>
              <a:buChar char="•"/>
            </a:pPr>
            <a:r>
              <a:rPr lang="en-US" dirty="0"/>
              <a:t>Efficiency defined as fraction of true signal interactions that are matched to selected interactions</a:t>
            </a:r>
          </a:p>
          <a:p>
            <a:pPr marL="285750" indent="-285750">
              <a:buFont typeface="Arial" panose="020B0604020202020204" pitchFamily="34" charset="0"/>
              <a:buChar char="•"/>
            </a:pPr>
            <a:r>
              <a:rPr lang="en-US" dirty="0"/>
              <a:t>Purity defined as the fraction of selected interactions that are matched to true signal interactions</a:t>
            </a:r>
            <a:endParaRPr lang="en-SG" dirty="0"/>
          </a:p>
        </p:txBody>
      </p:sp>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414EE5EB-2216-C1EB-781E-057499EA2EB7}"/>
                  </a:ext>
                </a:extLst>
              </p:cNvPr>
              <p:cNvGraphicFramePr>
                <a:graphicFrameLocks noGrp="1"/>
              </p:cNvGraphicFramePr>
              <p:nvPr>
                <p:extLst>
                  <p:ext uri="{D42A27DB-BD31-4B8C-83A1-F6EECF244321}">
                    <p14:modId xmlns:p14="http://schemas.microsoft.com/office/powerpoint/2010/main" val="81842994"/>
                  </p:ext>
                </p:extLst>
              </p:nvPr>
            </p:nvGraphicFramePr>
            <p:xfrm>
              <a:off x="5800725" y="2588471"/>
              <a:ext cx="6187844" cy="3250311"/>
            </p:xfrm>
            <a:graphic>
              <a:graphicData uri="http://schemas.openxmlformats.org/drawingml/2006/table">
                <a:tbl>
                  <a:tblPr firstRow="1" bandRow="1">
                    <a:tableStyleId>{5C22544A-7EE6-4342-B048-85BDC9FD1C3A}</a:tableStyleId>
                  </a:tblPr>
                  <a:tblGrid>
                    <a:gridCol w="2062615">
                      <a:extLst>
                        <a:ext uri="{9D8B030D-6E8A-4147-A177-3AD203B41FA5}">
                          <a16:colId xmlns:a16="http://schemas.microsoft.com/office/drawing/2014/main" val="600944633"/>
                        </a:ext>
                      </a:extLst>
                    </a:gridCol>
                    <a:gridCol w="1871661">
                      <a:extLst>
                        <a:ext uri="{9D8B030D-6E8A-4147-A177-3AD203B41FA5}">
                          <a16:colId xmlns:a16="http://schemas.microsoft.com/office/drawing/2014/main" val="1151758864"/>
                        </a:ext>
                      </a:extLst>
                    </a:gridCol>
                    <a:gridCol w="2253568">
                      <a:extLst>
                        <a:ext uri="{9D8B030D-6E8A-4147-A177-3AD203B41FA5}">
                          <a16:colId xmlns:a16="http://schemas.microsoft.com/office/drawing/2014/main" val="3768504631"/>
                        </a:ext>
                      </a:extLst>
                    </a:gridCol>
                  </a:tblGrid>
                  <a:tr h="544423">
                    <a:tc>
                      <a:txBody>
                        <a:bodyPr/>
                        <a:lstStyle/>
                        <a:p>
                          <a:pPr>
                            <a:buNone/>
                          </a:pPr>
                          <a:r>
                            <a:rPr lang="en-SG" sz="1800" b="1" dirty="0">
                              <a:effectLst/>
                            </a:rPr>
                            <a:t>Selection Cut</a:t>
                          </a:r>
                          <a:endParaRPr lang="en-SG" sz="1800" dirty="0">
                            <a:effectLst/>
                          </a:endParaRPr>
                        </a:p>
                      </a:txBody>
                      <a:tcPr anchor="ctr"/>
                    </a:tc>
                    <a:tc>
                      <a:txBody>
                        <a:bodyPr/>
                        <a:lstStyle/>
                        <a:p>
                          <a:pPr>
                            <a:buNone/>
                          </a:pPr>
                          <a:r>
                            <a:rPr lang="en-SG" sz="1800" b="1">
                              <a:effectLst/>
                            </a:rPr>
                            <a:t>Cumulative efficiency (%)</a:t>
                          </a:r>
                          <a:endParaRPr lang="en-SG" sz="1800">
                            <a:effectLst/>
                          </a:endParaRPr>
                        </a:p>
                      </a:txBody>
                      <a:tcPr anchor="ctr"/>
                    </a:tc>
                    <a:tc>
                      <a:txBody>
                        <a:bodyPr/>
                        <a:lstStyle/>
                        <a:p>
                          <a:pPr>
                            <a:buNone/>
                          </a:pPr>
                          <a:r>
                            <a:rPr lang="en-SG" sz="1800" b="1" dirty="0">
                              <a:effectLst/>
                            </a:rPr>
                            <a:t>Cumulative Purity (%)</a:t>
                          </a:r>
                          <a:endParaRPr lang="en-SG" sz="1800" dirty="0">
                            <a:effectLst/>
                          </a:endParaRPr>
                        </a:p>
                      </a:txBody>
                      <a:tcPr anchor="ctr"/>
                    </a:tc>
                    <a:extLst>
                      <a:ext uri="{0D108BD9-81ED-4DB2-BD59-A6C34878D82A}">
                        <a16:rowId xmlns:a16="http://schemas.microsoft.com/office/drawing/2014/main" val="2903664905"/>
                      </a:ext>
                    </a:extLst>
                  </a:tr>
                  <a:tr h="311099">
                    <a:tc>
                      <a:txBody>
                        <a:bodyPr/>
                        <a:lstStyle/>
                        <a:p>
                          <a:pPr>
                            <a:buNone/>
                          </a:pPr>
                          <a:r>
                            <a:rPr lang="en-SG" sz="1600">
                              <a:effectLst/>
                            </a:rPr>
                            <a:t>no cut</a:t>
                          </a:r>
                        </a:p>
                      </a:txBody>
                      <a:tcPr anchor="ctr"/>
                    </a:tc>
                    <a:tc>
                      <a:txBody>
                        <a:bodyPr/>
                        <a:lstStyle/>
                        <a:p>
                          <a:pPr>
                            <a:buNone/>
                          </a:pPr>
                          <a:r>
                            <a:rPr lang="en-SG" sz="1600" dirty="0">
                              <a:effectLst/>
                            </a:rPr>
                            <a:t>100.0</a:t>
                          </a:r>
                        </a:p>
                      </a:txBody>
                      <a:tcPr anchor="ctr"/>
                    </a:tc>
                    <a:tc>
                      <a:txBody>
                        <a:bodyPr/>
                        <a:lstStyle/>
                        <a:p>
                          <a:pPr>
                            <a:buNone/>
                          </a:pPr>
                          <a:r>
                            <a:rPr lang="en-SG" sz="1600">
                              <a:effectLst/>
                            </a:rPr>
                            <a:t>0.0</a:t>
                          </a:r>
                        </a:p>
                      </a:txBody>
                      <a:tcPr anchor="ctr"/>
                    </a:tc>
                    <a:extLst>
                      <a:ext uri="{0D108BD9-81ED-4DB2-BD59-A6C34878D82A}">
                        <a16:rowId xmlns:a16="http://schemas.microsoft.com/office/drawing/2014/main" val="1418742392"/>
                      </a:ext>
                    </a:extLst>
                  </a:tr>
                  <a:tr h="311099">
                    <a:tc>
                      <a:txBody>
                        <a:bodyPr/>
                        <a:lstStyle/>
                        <a:p>
                          <a:pPr>
                            <a:buNone/>
                          </a:pPr>
                          <a:r>
                            <a:rPr lang="en-SG" sz="1600">
                              <a:effectLst/>
                            </a:rPr>
                            <a:t>In-Time Flash</a:t>
                          </a:r>
                        </a:p>
                      </a:txBody>
                      <a:tcPr anchor="ctr"/>
                    </a:tc>
                    <a:tc>
                      <a:txBody>
                        <a:bodyPr/>
                        <a:lstStyle/>
                        <a:p>
                          <a:pPr>
                            <a:buNone/>
                          </a:pPr>
                          <a:r>
                            <a:rPr lang="en-SG" sz="1600">
                              <a:effectLst/>
                            </a:rPr>
                            <a:t>97.1</a:t>
                          </a:r>
                        </a:p>
                      </a:txBody>
                      <a:tcPr anchor="ctr"/>
                    </a:tc>
                    <a:tc>
                      <a:txBody>
                        <a:bodyPr/>
                        <a:lstStyle/>
                        <a:p>
                          <a:pPr>
                            <a:buNone/>
                          </a:pPr>
                          <a:r>
                            <a:rPr lang="en-SG" sz="1600">
                              <a:effectLst/>
                            </a:rPr>
                            <a:t>2.7</a:t>
                          </a:r>
                        </a:p>
                      </a:txBody>
                      <a:tcPr anchor="ctr"/>
                    </a:tc>
                    <a:extLst>
                      <a:ext uri="{0D108BD9-81ED-4DB2-BD59-A6C34878D82A}">
                        <a16:rowId xmlns:a16="http://schemas.microsoft.com/office/drawing/2014/main" val="2619895179"/>
                      </a:ext>
                    </a:extLst>
                  </a:tr>
                  <a:tr h="311099">
                    <a:tc>
                      <a:txBody>
                        <a:bodyPr/>
                        <a:lstStyle/>
                        <a:p>
                          <a:pPr>
                            <a:buNone/>
                          </a:pPr>
                          <a:r>
                            <a:rPr lang="en-SG" sz="1600">
                              <a:effectLst/>
                            </a:rPr>
                            <a:t>Fiducial Volume</a:t>
                          </a:r>
                        </a:p>
                      </a:txBody>
                      <a:tcPr anchor="ctr"/>
                    </a:tc>
                    <a:tc>
                      <a:txBody>
                        <a:bodyPr/>
                        <a:lstStyle/>
                        <a:p>
                          <a:pPr>
                            <a:buNone/>
                          </a:pPr>
                          <a:r>
                            <a:rPr lang="en-SG" sz="1600">
                              <a:effectLst/>
                            </a:rPr>
                            <a:t>96.6</a:t>
                          </a:r>
                        </a:p>
                      </a:txBody>
                      <a:tcPr anchor="ctr"/>
                    </a:tc>
                    <a:tc>
                      <a:txBody>
                        <a:bodyPr/>
                        <a:lstStyle/>
                        <a:p>
                          <a:pPr>
                            <a:buNone/>
                          </a:pPr>
                          <a:r>
                            <a:rPr lang="en-SG" sz="1600">
                              <a:effectLst/>
                            </a:rPr>
                            <a:t>4.0</a:t>
                          </a:r>
                        </a:p>
                      </a:txBody>
                      <a:tcPr anchor="ctr"/>
                    </a:tc>
                    <a:extLst>
                      <a:ext uri="{0D108BD9-81ED-4DB2-BD59-A6C34878D82A}">
                        <a16:rowId xmlns:a16="http://schemas.microsoft.com/office/drawing/2014/main" val="978431209"/>
                      </a:ext>
                    </a:extLst>
                  </a:tr>
                  <a:tr h="311099">
                    <a:tc>
                      <a:txBody>
                        <a:bodyPr/>
                        <a:lstStyle/>
                        <a:p>
                          <a:pPr>
                            <a:buNone/>
                          </a:pPr>
                          <a:r>
                            <a:rPr lang="en-SG" sz="1600">
                              <a:effectLst/>
                            </a:rPr>
                            <a:t>Single Muon</a:t>
                          </a:r>
                        </a:p>
                      </a:txBody>
                      <a:tcPr anchor="ctr"/>
                    </a:tc>
                    <a:tc>
                      <a:txBody>
                        <a:bodyPr/>
                        <a:lstStyle/>
                        <a:p>
                          <a:pPr>
                            <a:buNone/>
                          </a:pPr>
                          <a:r>
                            <a:rPr lang="en-SG" sz="1600">
                              <a:effectLst/>
                            </a:rPr>
                            <a:t>90.9</a:t>
                          </a:r>
                        </a:p>
                      </a:txBody>
                      <a:tcPr anchor="ctr"/>
                    </a:tc>
                    <a:tc>
                      <a:txBody>
                        <a:bodyPr/>
                        <a:lstStyle/>
                        <a:p>
                          <a:pPr>
                            <a:buNone/>
                          </a:pPr>
                          <a:r>
                            <a:rPr lang="en-SG" sz="1600" dirty="0">
                              <a:effectLst/>
                            </a:rPr>
                            <a:t>5.9</a:t>
                          </a:r>
                        </a:p>
                      </a:txBody>
                      <a:tcPr anchor="ctr"/>
                    </a:tc>
                    <a:extLst>
                      <a:ext uri="{0D108BD9-81ED-4DB2-BD59-A6C34878D82A}">
                        <a16:rowId xmlns:a16="http://schemas.microsoft.com/office/drawing/2014/main" val="1034497719"/>
                      </a:ext>
                    </a:extLst>
                  </a:tr>
                  <a:tr h="311099">
                    <a:tc>
                      <a:txBody>
                        <a:bodyPr/>
                        <a:lstStyle/>
                        <a:p>
                          <a:pPr>
                            <a:buNone/>
                          </a:pPr>
                          <a:r>
                            <a:rPr lang="en-SG" sz="1600">
                              <a:effectLst/>
                            </a:rPr>
                            <a:t>No charged Pions</a:t>
                          </a:r>
                        </a:p>
                      </a:txBody>
                      <a:tcPr anchor="ctr"/>
                    </a:tc>
                    <a:tc>
                      <a:txBody>
                        <a:bodyPr/>
                        <a:lstStyle/>
                        <a:p>
                          <a:pPr>
                            <a:buNone/>
                          </a:pPr>
                          <a:r>
                            <a:rPr lang="en-SG" sz="1600">
                              <a:effectLst/>
                            </a:rPr>
                            <a:t>83.4</a:t>
                          </a:r>
                        </a:p>
                      </a:txBody>
                      <a:tcPr anchor="ctr"/>
                    </a:tc>
                    <a:tc>
                      <a:txBody>
                        <a:bodyPr/>
                        <a:lstStyle/>
                        <a:p>
                          <a:pPr>
                            <a:buNone/>
                          </a:pPr>
                          <a:r>
                            <a:rPr lang="en-SG" sz="1600">
                              <a:effectLst/>
                            </a:rPr>
                            <a:t>6.5</a:t>
                          </a:r>
                        </a:p>
                      </a:txBody>
                      <a:tcPr anchor="ctr"/>
                    </a:tc>
                    <a:extLst>
                      <a:ext uri="{0D108BD9-81ED-4DB2-BD59-A6C34878D82A}">
                        <a16:rowId xmlns:a16="http://schemas.microsoft.com/office/drawing/2014/main" val="2727189938"/>
                      </a:ext>
                    </a:extLst>
                  </a:tr>
                  <a:tr h="311099">
                    <a:tc>
                      <a:txBody>
                        <a:bodyPr/>
                        <a:lstStyle/>
                        <a:p>
                          <a:pPr>
                            <a:buNone/>
                          </a:pPr>
                          <a:r>
                            <a:rPr lang="en-SG" sz="1600">
                              <a:effectLst/>
                            </a:rPr>
                            <a:t>Two Photons</a:t>
                          </a:r>
                        </a:p>
                      </a:txBody>
                      <a:tcPr anchor="ctr"/>
                    </a:tc>
                    <a:tc>
                      <a:txBody>
                        <a:bodyPr/>
                        <a:lstStyle/>
                        <a:p>
                          <a:pPr>
                            <a:buNone/>
                          </a:pPr>
                          <a:r>
                            <a:rPr lang="en-SG" sz="1600">
                              <a:effectLst/>
                            </a:rPr>
                            <a:t>70.4</a:t>
                          </a:r>
                        </a:p>
                      </a:txBody>
                      <a:tcPr anchor="ctr"/>
                    </a:tc>
                    <a:tc>
                      <a:txBody>
                        <a:bodyPr/>
                        <a:lstStyle/>
                        <a:p>
                          <a:pPr>
                            <a:buNone/>
                          </a:pPr>
                          <a:r>
                            <a:rPr lang="en-SG" sz="1600">
                              <a:effectLst/>
                            </a:rPr>
                            <a:t>79.5</a:t>
                          </a:r>
                        </a:p>
                      </a:txBody>
                      <a:tcPr anchor="ctr"/>
                    </a:tc>
                    <a:extLst>
                      <a:ext uri="{0D108BD9-81ED-4DB2-BD59-A6C34878D82A}">
                        <a16:rowId xmlns:a16="http://schemas.microsoft.com/office/drawing/2014/main" val="581167627"/>
                      </a:ext>
                    </a:extLst>
                  </a:tr>
                  <a:tr h="563111">
                    <a:tc>
                      <a:txBody>
                        <a:bodyPr/>
                        <a:lstStyle/>
                        <a:p>
                          <a:pPr>
                            <a:buNone/>
                          </a:pPr>
                          <a14:m>
                            <m:oMath xmlns:m="http://schemas.openxmlformats.org/officeDocument/2006/math">
                              <m:sSub>
                                <m:sSubPr>
                                  <m:ctrlPr>
                                    <a:rPr lang="ar-AE" sz="1600">
                                      <a:latin typeface="Cambria Math" panose="02040503050406030204" pitchFamily="18" charset="0"/>
                                    </a:rPr>
                                  </m:ctrlPr>
                                </m:sSubPr>
                                <m:e>
                                  <m:r>
                                    <a:rPr lang="ar-AE" sz="1600" i="1">
                                      <a:latin typeface="Cambria Math" panose="02040503050406030204" pitchFamily="18" charset="0"/>
                                    </a:rPr>
                                    <m:t>𝑚</m:t>
                                  </m:r>
                                </m:e>
                                <m:sub>
                                  <m:r>
                                    <a:rPr lang="ar-AE" sz="1600" i="1">
                                      <a:latin typeface="Cambria Math" panose="02040503050406030204" pitchFamily="18" charset="0"/>
                                    </a:rPr>
                                    <m:t>𝛾𝛾</m:t>
                                  </m:r>
                                </m:sub>
                              </m:sSub>
                              <m:r>
                                <a:rPr lang="ar-AE" sz="1600" i="0">
                                  <a:latin typeface="Cambria Math" panose="02040503050406030204" pitchFamily="18" charset="0"/>
                                </a:rPr>
                                <m:t>∈</m:t>
                              </m:r>
                              <m:d>
                                <m:dPr>
                                  <m:begChr m:val="["/>
                                  <m:endChr m:val="]"/>
                                  <m:sepChr m:val=","/>
                                  <m:ctrlPr>
                                    <a:rPr lang="ar-AE" sz="1600" i="1">
                                      <a:latin typeface="Cambria Math" panose="02040503050406030204" pitchFamily="18" charset="0"/>
                                    </a:rPr>
                                  </m:ctrlPr>
                                </m:dPr>
                                <m:e>
                                  <m:r>
                                    <a:rPr lang="ar-AE" sz="1600" i="0">
                                      <a:latin typeface="Cambria Math" panose="02040503050406030204" pitchFamily="18" charset="0"/>
                                    </a:rPr>
                                    <m:t>60</m:t>
                                  </m:r>
                                </m:e>
                                <m:e>
                                  <m:r>
                                    <a:rPr lang="ar-AE" sz="1600" i="0">
                                      <a:latin typeface="Cambria Math" panose="02040503050406030204" pitchFamily="18" charset="0"/>
                                    </a:rPr>
                                    <m:t>300</m:t>
                                  </m:r>
                                </m:e>
                              </m:d>
                            </m:oMath>
                          </a14:m>
                          <a:r>
                            <a:rPr lang="ar-AE" sz="1600">
                              <a:effectLst/>
                            </a:rPr>
                            <a:t>﻿ </a:t>
                          </a:r>
                          <a:r>
                            <a:rPr lang="en-SG" sz="1600">
                              <a:effectLst/>
                            </a:rPr>
                            <a:t>MeV/c2</a:t>
                          </a:r>
                        </a:p>
                      </a:txBody>
                      <a:tcPr anchor="ctr"/>
                    </a:tc>
                    <a:tc>
                      <a:txBody>
                        <a:bodyPr/>
                        <a:lstStyle/>
                        <a:p>
                          <a:pPr>
                            <a:buNone/>
                          </a:pPr>
                          <a:r>
                            <a:rPr lang="en-SG" sz="1600">
                              <a:effectLst/>
                            </a:rPr>
                            <a:t>68.9</a:t>
                          </a:r>
                        </a:p>
                      </a:txBody>
                      <a:tcPr anchor="ctr"/>
                    </a:tc>
                    <a:tc>
                      <a:txBody>
                        <a:bodyPr/>
                        <a:lstStyle/>
                        <a:p>
                          <a:pPr>
                            <a:buNone/>
                          </a:pPr>
                          <a:r>
                            <a:rPr lang="en-SG" sz="1600" dirty="0">
                              <a:effectLst/>
                            </a:rPr>
                            <a:t>82.4</a:t>
                          </a:r>
                        </a:p>
                      </a:txBody>
                      <a:tcPr anchor="ctr"/>
                    </a:tc>
                    <a:extLst>
                      <a:ext uri="{0D108BD9-81ED-4DB2-BD59-A6C34878D82A}">
                        <a16:rowId xmlns:a16="http://schemas.microsoft.com/office/drawing/2014/main" val="1549417771"/>
                      </a:ext>
                    </a:extLst>
                  </a:tr>
                </a:tbl>
              </a:graphicData>
            </a:graphic>
          </p:graphicFrame>
        </mc:Choice>
        <mc:Fallback>
          <p:graphicFrame>
            <p:nvGraphicFramePr>
              <p:cNvPr id="5" name="Table 4">
                <a:extLst>
                  <a:ext uri="{FF2B5EF4-FFF2-40B4-BE49-F238E27FC236}">
                    <a16:creationId xmlns:a16="http://schemas.microsoft.com/office/drawing/2014/main" id="{414EE5EB-2216-C1EB-781E-057499EA2EB7}"/>
                  </a:ext>
                </a:extLst>
              </p:cNvPr>
              <p:cNvGraphicFramePr>
                <a:graphicFrameLocks noGrp="1"/>
              </p:cNvGraphicFramePr>
              <p:nvPr>
                <p:extLst>
                  <p:ext uri="{D42A27DB-BD31-4B8C-83A1-F6EECF244321}">
                    <p14:modId xmlns:p14="http://schemas.microsoft.com/office/powerpoint/2010/main" val="81842994"/>
                  </p:ext>
                </p:extLst>
              </p:nvPr>
            </p:nvGraphicFramePr>
            <p:xfrm>
              <a:off x="5800725" y="2588471"/>
              <a:ext cx="6187844" cy="3250311"/>
            </p:xfrm>
            <a:graphic>
              <a:graphicData uri="http://schemas.openxmlformats.org/drawingml/2006/table">
                <a:tbl>
                  <a:tblPr firstRow="1" bandRow="1">
                    <a:tableStyleId>{5C22544A-7EE6-4342-B048-85BDC9FD1C3A}</a:tableStyleId>
                  </a:tblPr>
                  <a:tblGrid>
                    <a:gridCol w="2062615">
                      <a:extLst>
                        <a:ext uri="{9D8B030D-6E8A-4147-A177-3AD203B41FA5}">
                          <a16:colId xmlns:a16="http://schemas.microsoft.com/office/drawing/2014/main" val="600944633"/>
                        </a:ext>
                      </a:extLst>
                    </a:gridCol>
                    <a:gridCol w="1871661">
                      <a:extLst>
                        <a:ext uri="{9D8B030D-6E8A-4147-A177-3AD203B41FA5}">
                          <a16:colId xmlns:a16="http://schemas.microsoft.com/office/drawing/2014/main" val="1151758864"/>
                        </a:ext>
                      </a:extLst>
                    </a:gridCol>
                    <a:gridCol w="2253568">
                      <a:extLst>
                        <a:ext uri="{9D8B030D-6E8A-4147-A177-3AD203B41FA5}">
                          <a16:colId xmlns:a16="http://schemas.microsoft.com/office/drawing/2014/main" val="3768504631"/>
                        </a:ext>
                      </a:extLst>
                    </a:gridCol>
                  </a:tblGrid>
                  <a:tr h="640080">
                    <a:tc>
                      <a:txBody>
                        <a:bodyPr/>
                        <a:lstStyle/>
                        <a:p>
                          <a:pPr>
                            <a:buNone/>
                          </a:pPr>
                          <a:r>
                            <a:rPr lang="en-SG" sz="1800" b="1" dirty="0">
                              <a:effectLst/>
                            </a:rPr>
                            <a:t>Selection Cut</a:t>
                          </a:r>
                          <a:endParaRPr lang="en-SG" sz="1800" dirty="0">
                            <a:effectLst/>
                          </a:endParaRPr>
                        </a:p>
                      </a:txBody>
                      <a:tcPr anchor="ctr"/>
                    </a:tc>
                    <a:tc>
                      <a:txBody>
                        <a:bodyPr/>
                        <a:lstStyle/>
                        <a:p>
                          <a:pPr>
                            <a:buNone/>
                          </a:pPr>
                          <a:r>
                            <a:rPr lang="en-SG" sz="1800" b="1">
                              <a:effectLst/>
                            </a:rPr>
                            <a:t>Cumulative efficiency (%)</a:t>
                          </a:r>
                          <a:endParaRPr lang="en-SG" sz="1800">
                            <a:effectLst/>
                          </a:endParaRPr>
                        </a:p>
                      </a:txBody>
                      <a:tcPr anchor="ctr"/>
                    </a:tc>
                    <a:tc>
                      <a:txBody>
                        <a:bodyPr/>
                        <a:lstStyle/>
                        <a:p>
                          <a:pPr>
                            <a:buNone/>
                          </a:pPr>
                          <a:r>
                            <a:rPr lang="en-SG" sz="1800" b="1" dirty="0">
                              <a:effectLst/>
                            </a:rPr>
                            <a:t>Cumulative Purity (%)</a:t>
                          </a:r>
                          <a:endParaRPr lang="en-SG" sz="1800" dirty="0">
                            <a:effectLst/>
                          </a:endParaRPr>
                        </a:p>
                      </a:txBody>
                      <a:tcPr anchor="ctr"/>
                    </a:tc>
                    <a:extLst>
                      <a:ext uri="{0D108BD9-81ED-4DB2-BD59-A6C34878D82A}">
                        <a16:rowId xmlns:a16="http://schemas.microsoft.com/office/drawing/2014/main" val="2903664905"/>
                      </a:ext>
                    </a:extLst>
                  </a:tr>
                  <a:tr h="335280">
                    <a:tc>
                      <a:txBody>
                        <a:bodyPr/>
                        <a:lstStyle/>
                        <a:p>
                          <a:pPr>
                            <a:buNone/>
                          </a:pPr>
                          <a:r>
                            <a:rPr lang="en-SG" sz="1600">
                              <a:effectLst/>
                            </a:rPr>
                            <a:t>no cut</a:t>
                          </a:r>
                        </a:p>
                      </a:txBody>
                      <a:tcPr anchor="ctr"/>
                    </a:tc>
                    <a:tc>
                      <a:txBody>
                        <a:bodyPr/>
                        <a:lstStyle/>
                        <a:p>
                          <a:pPr>
                            <a:buNone/>
                          </a:pPr>
                          <a:r>
                            <a:rPr lang="en-SG" sz="1600" dirty="0">
                              <a:effectLst/>
                            </a:rPr>
                            <a:t>100.0</a:t>
                          </a:r>
                        </a:p>
                      </a:txBody>
                      <a:tcPr anchor="ctr"/>
                    </a:tc>
                    <a:tc>
                      <a:txBody>
                        <a:bodyPr/>
                        <a:lstStyle/>
                        <a:p>
                          <a:pPr>
                            <a:buNone/>
                          </a:pPr>
                          <a:r>
                            <a:rPr lang="en-SG" sz="1600">
                              <a:effectLst/>
                            </a:rPr>
                            <a:t>0.0</a:t>
                          </a:r>
                        </a:p>
                      </a:txBody>
                      <a:tcPr anchor="ctr"/>
                    </a:tc>
                    <a:extLst>
                      <a:ext uri="{0D108BD9-81ED-4DB2-BD59-A6C34878D82A}">
                        <a16:rowId xmlns:a16="http://schemas.microsoft.com/office/drawing/2014/main" val="1418742392"/>
                      </a:ext>
                    </a:extLst>
                  </a:tr>
                  <a:tr h="335280">
                    <a:tc>
                      <a:txBody>
                        <a:bodyPr/>
                        <a:lstStyle/>
                        <a:p>
                          <a:pPr>
                            <a:buNone/>
                          </a:pPr>
                          <a:r>
                            <a:rPr lang="en-SG" sz="1600">
                              <a:effectLst/>
                            </a:rPr>
                            <a:t>In-Time Flash</a:t>
                          </a:r>
                        </a:p>
                      </a:txBody>
                      <a:tcPr anchor="ctr"/>
                    </a:tc>
                    <a:tc>
                      <a:txBody>
                        <a:bodyPr/>
                        <a:lstStyle/>
                        <a:p>
                          <a:pPr>
                            <a:buNone/>
                          </a:pPr>
                          <a:r>
                            <a:rPr lang="en-SG" sz="1600">
                              <a:effectLst/>
                            </a:rPr>
                            <a:t>97.1</a:t>
                          </a:r>
                        </a:p>
                      </a:txBody>
                      <a:tcPr anchor="ctr"/>
                    </a:tc>
                    <a:tc>
                      <a:txBody>
                        <a:bodyPr/>
                        <a:lstStyle/>
                        <a:p>
                          <a:pPr>
                            <a:buNone/>
                          </a:pPr>
                          <a:r>
                            <a:rPr lang="en-SG" sz="1600">
                              <a:effectLst/>
                            </a:rPr>
                            <a:t>2.7</a:t>
                          </a:r>
                        </a:p>
                      </a:txBody>
                      <a:tcPr anchor="ctr"/>
                    </a:tc>
                    <a:extLst>
                      <a:ext uri="{0D108BD9-81ED-4DB2-BD59-A6C34878D82A}">
                        <a16:rowId xmlns:a16="http://schemas.microsoft.com/office/drawing/2014/main" val="2619895179"/>
                      </a:ext>
                    </a:extLst>
                  </a:tr>
                  <a:tr h="335280">
                    <a:tc>
                      <a:txBody>
                        <a:bodyPr/>
                        <a:lstStyle/>
                        <a:p>
                          <a:pPr>
                            <a:buNone/>
                          </a:pPr>
                          <a:r>
                            <a:rPr lang="en-SG" sz="1600">
                              <a:effectLst/>
                            </a:rPr>
                            <a:t>Fiducial Volume</a:t>
                          </a:r>
                        </a:p>
                      </a:txBody>
                      <a:tcPr anchor="ctr"/>
                    </a:tc>
                    <a:tc>
                      <a:txBody>
                        <a:bodyPr/>
                        <a:lstStyle/>
                        <a:p>
                          <a:pPr>
                            <a:buNone/>
                          </a:pPr>
                          <a:r>
                            <a:rPr lang="en-SG" sz="1600">
                              <a:effectLst/>
                            </a:rPr>
                            <a:t>96.6</a:t>
                          </a:r>
                        </a:p>
                      </a:txBody>
                      <a:tcPr anchor="ctr"/>
                    </a:tc>
                    <a:tc>
                      <a:txBody>
                        <a:bodyPr/>
                        <a:lstStyle/>
                        <a:p>
                          <a:pPr>
                            <a:buNone/>
                          </a:pPr>
                          <a:r>
                            <a:rPr lang="en-SG" sz="1600">
                              <a:effectLst/>
                            </a:rPr>
                            <a:t>4.0</a:t>
                          </a:r>
                        </a:p>
                      </a:txBody>
                      <a:tcPr anchor="ctr"/>
                    </a:tc>
                    <a:extLst>
                      <a:ext uri="{0D108BD9-81ED-4DB2-BD59-A6C34878D82A}">
                        <a16:rowId xmlns:a16="http://schemas.microsoft.com/office/drawing/2014/main" val="978431209"/>
                      </a:ext>
                    </a:extLst>
                  </a:tr>
                  <a:tr h="335280">
                    <a:tc>
                      <a:txBody>
                        <a:bodyPr/>
                        <a:lstStyle/>
                        <a:p>
                          <a:pPr>
                            <a:buNone/>
                          </a:pPr>
                          <a:r>
                            <a:rPr lang="en-SG" sz="1600">
                              <a:effectLst/>
                            </a:rPr>
                            <a:t>Single Muon</a:t>
                          </a:r>
                        </a:p>
                      </a:txBody>
                      <a:tcPr anchor="ctr"/>
                    </a:tc>
                    <a:tc>
                      <a:txBody>
                        <a:bodyPr/>
                        <a:lstStyle/>
                        <a:p>
                          <a:pPr>
                            <a:buNone/>
                          </a:pPr>
                          <a:r>
                            <a:rPr lang="en-SG" sz="1600">
                              <a:effectLst/>
                            </a:rPr>
                            <a:t>90.9</a:t>
                          </a:r>
                        </a:p>
                      </a:txBody>
                      <a:tcPr anchor="ctr"/>
                    </a:tc>
                    <a:tc>
                      <a:txBody>
                        <a:bodyPr/>
                        <a:lstStyle/>
                        <a:p>
                          <a:pPr>
                            <a:buNone/>
                          </a:pPr>
                          <a:r>
                            <a:rPr lang="en-SG" sz="1600" dirty="0">
                              <a:effectLst/>
                            </a:rPr>
                            <a:t>5.9</a:t>
                          </a:r>
                        </a:p>
                      </a:txBody>
                      <a:tcPr anchor="ctr"/>
                    </a:tc>
                    <a:extLst>
                      <a:ext uri="{0D108BD9-81ED-4DB2-BD59-A6C34878D82A}">
                        <a16:rowId xmlns:a16="http://schemas.microsoft.com/office/drawing/2014/main" val="1034497719"/>
                      </a:ext>
                    </a:extLst>
                  </a:tr>
                  <a:tr h="335280">
                    <a:tc>
                      <a:txBody>
                        <a:bodyPr/>
                        <a:lstStyle/>
                        <a:p>
                          <a:pPr>
                            <a:buNone/>
                          </a:pPr>
                          <a:r>
                            <a:rPr lang="en-SG" sz="1600">
                              <a:effectLst/>
                            </a:rPr>
                            <a:t>No charged Pions</a:t>
                          </a:r>
                        </a:p>
                      </a:txBody>
                      <a:tcPr anchor="ctr"/>
                    </a:tc>
                    <a:tc>
                      <a:txBody>
                        <a:bodyPr/>
                        <a:lstStyle/>
                        <a:p>
                          <a:pPr>
                            <a:buNone/>
                          </a:pPr>
                          <a:r>
                            <a:rPr lang="en-SG" sz="1600">
                              <a:effectLst/>
                            </a:rPr>
                            <a:t>83.4</a:t>
                          </a:r>
                        </a:p>
                      </a:txBody>
                      <a:tcPr anchor="ctr"/>
                    </a:tc>
                    <a:tc>
                      <a:txBody>
                        <a:bodyPr/>
                        <a:lstStyle/>
                        <a:p>
                          <a:pPr>
                            <a:buNone/>
                          </a:pPr>
                          <a:r>
                            <a:rPr lang="en-SG" sz="1600">
                              <a:effectLst/>
                            </a:rPr>
                            <a:t>6.5</a:t>
                          </a:r>
                        </a:p>
                      </a:txBody>
                      <a:tcPr anchor="ctr"/>
                    </a:tc>
                    <a:extLst>
                      <a:ext uri="{0D108BD9-81ED-4DB2-BD59-A6C34878D82A}">
                        <a16:rowId xmlns:a16="http://schemas.microsoft.com/office/drawing/2014/main" val="2727189938"/>
                      </a:ext>
                    </a:extLst>
                  </a:tr>
                  <a:tr h="335280">
                    <a:tc>
                      <a:txBody>
                        <a:bodyPr/>
                        <a:lstStyle/>
                        <a:p>
                          <a:pPr>
                            <a:buNone/>
                          </a:pPr>
                          <a:r>
                            <a:rPr lang="en-SG" sz="1600">
                              <a:effectLst/>
                            </a:rPr>
                            <a:t>Two Photons</a:t>
                          </a:r>
                        </a:p>
                      </a:txBody>
                      <a:tcPr anchor="ctr"/>
                    </a:tc>
                    <a:tc>
                      <a:txBody>
                        <a:bodyPr/>
                        <a:lstStyle/>
                        <a:p>
                          <a:pPr>
                            <a:buNone/>
                          </a:pPr>
                          <a:r>
                            <a:rPr lang="en-SG" sz="1600">
                              <a:effectLst/>
                            </a:rPr>
                            <a:t>70.4</a:t>
                          </a:r>
                        </a:p>
                      </a:txBody>
                      <a:tcPr anchor="ctr"/>
                    </a:tc>
                    <a:tc>
                      <a:txBody>
                        <a:bodyPr/>
                        <a:lstStyle/>
                        <a:p>
                          <a:pPr>
                            <a:buNone/>
                          </a:pPr>
                          <a:r>
                            <a:rPr lang="en-SG" sz="1600">
                              <a:effectLst/>
                            </a:rPr>
                            <a:t>79.5</a:t>
                          </a:r>
                        </a:p>
                      </a:txBody>
                      <a:tcPr anchor="ctr"/>
                    </a:tc>
                    <a:extLst>
                      <a:ext uri="{0D108BD9-81ED-4DB2-BD59-A6C34878D82A}">
                        <a16:rowId xmlns:a16="http://schemas.microsoft.com/office/drawing/2014/main" val="581167627"/>
                      </a:ext>
                    </a:extLst>
                  </a:tr>
                  <a:tr h="598551">
                    <a:tc>
                      <a:txBody>
                        <a:bodyPr/>
                        <a:lstStyle/>
                        <a:p>
                          <a:endParaRPr lang="en-US"/>
                        </a:p>
                      </a:txBody>
                      <a:tcPr anchor="ctr">
                        <a:blipFill>
                          <a:blip r:embed="rId2"/>
                          <a:stretch>
                            <a:fillRect l="-295" t="-450000" r="-200885" b="-13265"/>
                          </a:stretch>
                        </a:blipFill>
                      </a:tcPr>
                    </a:tc>
                    <a:tc>
                      <a:txBody>
                        <a:bodyPr/>
                        <a:lstStyle/>
                        <a:p>
                          <a:pPr>
                            <a:buNone/>
                          </a:pPr>
                          <a:r>
                            <a:rPr lang="en-SG" sz="1600">
                              <a:effectLst/>
                            </a:rPr>
                            <a:t>68.9</a:t>
                          </a:r>
                        </a:p>
                      </a:txBody>
                      <a:tcPr anchor="ctr"/>
                    </a:tc>
                    <a:tc>
                      <a:txBody>
                        <a:bodyPr/>
                        <a:lstStyle/>
                        <a:p>
                          <a:pPr>
                            <a:buNone/>
                          </a:pPr>
                          <a:r>
                            <a:rPr lang="en-SG" sz="1600" dirty="0">
                              <a:effectLst/>
                            </a:rPr>
                            <a:t>82.4</a:t>
                          </a:r>
                        </a:p>
                      </a:txBody>
                      <a:tcPr anchor="ctr"/>
                    </a:tc>
                    <a:extLst>
                      <a:ext uri="{0D108BD9-81ED-4DB2-BD59-A6C34878D82A}">
                        <a16:rowId xmlns:a16="http://schemas.microsoft.com/office/drawing/2014/main" val="1549417771"/>
                      </a:ext>
                    </a:extLst>
                  </a:tr>
                </a:tbl>
              </a:graphicData>
            </a:graphic>
          </p:graphicFrame>
        </mc:Fallback>
      </mc:AlternateContent>
      <p:pic>
        <p:nvPicPr>
          <p:cNvPr id="7" name="Picture 6">
            <a:extLst>
              <a:ext uri="{FF2B5EF4-FFF2-40B4-BE49-F238E27FC236}">
                <a16:creationId xmlns:a16="http://schemas.microsoft.com/office/drawing/2014/main" id="{FCC7F37B-6BEB-2FFE-934A-1FDB3F067277}"/>
              </a:ext>
            </a:extLst>
          </p:cNvPr>
          <p:cNvPicPr>
            <a:picLocks noChangeAspect="1"/>
          </p:cNvPicPr>
          <p:nvPr/>
        </p:nvPicPr>
        <p:blipFill>
          <a:blip r:embed="rId3"/>
          <a:stretch>
            <a:fillRect/>
          </a:stretch>
        </p:blipFill>
        <p:spPr>
          <a:xfrm>
            <a:off x="585787" y="3133724"/>
            <a:ext cx="5126537" cy="2314575"/>
          </a:xfrm>
          <a:prstGeom prst="rect">
            <a:avLst/>
          </a:prstGeom>
        </p:spPr>
      </p:pic>
      <p:sp>
        <p:nvSpPr>
          <p:cNvPr id="8" name="TextBox 7">
            <a:extLst>
              <a:ext uri="{FF2B5EF4-FFF2-40B4-BE49-F238E27FC236}">
                <a16:creationId xmlns:a16="http://schemas.microsoft.com/office/drawing/2014/main" id="{A0CCB21C-9D0A-D6E9-4C92-15D6D975D9AF}"/>
              </a:ext>
            </a:extLst>
          </p:cNvPr>
          <p:cNvSpPr txBox="1"/>
          <p:nvPr/>
        </p:nvSpPr>
        <p:spPr>
          <a:xfrm>
            <a:off x="585787" y="5448299"/>
            <a:ext cx="5927329" cy="307777"/>
          </a:xfrm>
          <a:prstGeom prst="rect">
            <a:avLst/>
          </a:prstGeom>
          <a:noFill/>
        </p:spPr>
        <p:txBody>
          <a:bodyPr wrap="square">
            <a:spAutoFit/>
          </a:bodyPr>
          <a:lstStyle/>
          <a:p>
            <a:r>
              <a:rPr lang="en-US" sz="1400" b="1" dirty="0"/>
              <a:t>Efficiency and Purity from Lane’s paper</a:t>
            </a:r>
            <a:endParaRPr lang="en-SG" sz="1400" b="1" dirty="0"/>
          </a:p>
        </p:txBody>
      </p:sp>
      <p:sp>
        <p:nvSpPr>
          <p:cNvPr id="9" name="TextBox 8">
            <a:extLst>
              <a:ext uri="{FF2B5EF4-FFF2-40B4-BE49-F238E27FC236}">
                <a16:creationId xmlns:a16="http://schemas.microsoft.com/office/drawing/2014/main" id="{920B0FF2-8672-142F-7451-861ABCBEC5CD}"/>
              </a:ext>
            </a:extLst>
          </p:cNvPr>
          <p:cNvSpPr txBox="1"/>
          <p:nvPr/>
        </p:nvSpPr>
        <p:spPr>
          <a:xfrm>
            <a:off x="5712324" y="5965869"/>
            <a:ext cx="4574841" cy="307777"/>
          </a:xfrm>
          <a:prstGeom prst="rect">
            <a:avLst/>
          </a:prstGeom>
          <a:noFill/>
        </p:spPr>
        <p:txBody>
          <a:bodyPr wrap="square">
            <a:spAutoFit/>
          </a:bodyPr>
          <a:lstStyle/>
          <a:p>
            <a:r>
              <a:rPr lang="en-US" sz="1400" b="1" dirty="0"/>
              <a:t>Efficiency and Purity from my BNB sample</a:t>
            </a:r>
            <a:endParaRPr lang="en-SG" sz="1400" b="1" dirty="0"/>
          </a:p>
        </p:txBody>
      </p:sp>
    </p:spTree>
    <p:extLst>
      <p:ext uri="{BB962C8B-B14F-4D97-AF65-F5344CB8AC3E}">
        <p14:creationId xmlns:p14="http://schemas.microsoft.com/office/powerpoint/2010/main" val="3768856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CDCFD-44DF-F70A-70F3-FA4F47CCC6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B3994-68A0-96C1-082F-5B4F794FB866}"/>
              </a:ext>
            </a:extLst>
          </p:cNvPr>
          <p:cNvSpPr>
            <a:spLocks noGrp="1"/>
          </p:cNvSpPr>
          <p:nvPr>
            <p:ph type="title"/>
          </p:nvPr>
        </p:nvSpPr>
        <p:spPr/>
        <p:txBody>
          <a:bodyPr/>
          <a:lstStyle/>
          <a:p>
            <a:r>
              <a:rPr lang="en-US" b="1" dirty="0"/>
              <a:t>PID Truth to Reco confusion matrix</a:t>
            </a:r>
            <a:endParaRPr lang="en-SG" dirty="0"/>
          </a:p>
        </p:txBody>
      </p:sp>
      <p:sp>
        <p:nvSpPr>
          <p:cNvPr id="4" name="TextBox 3">
            <a:extLst>
              <a:ext uri="{FF2B5EF4-FFF2-40B4-BE49-F238E27FC236}">
                <a16:creationId xmlns:a16="http://schemas.microsoft.com/office/drawing/2014/main" id="{A8046E30-6369-82EF-83B2-78046C0EF136}"/>
              </a:ext>
            </a:extLst>
          </p:cNvPr>
          <p:cNvSpPr txBox="1"/>
          <p:nvPr/>
        </p:nvSpPr>
        <p:spPr>
          <a:xfrm>
            <a:off x="1097279" y="1815053"/>
            <a:ext cx="10399395" cy="646331"/>
          </a:xfrm>
          <a:prstGeom prst="rect">
            <a:avLst/>
          </a:prstGeom>
          <a:noFill/>
        </p:spPr>
        <p:txBody>
          <a:bodyPr wrap="square">
            <a:spAutoFit/>
          </a:bodyPr>
          <a:lstStyle/>
          <a:p>
            <a:pPr marL="285750" indent="-285750">
              <a:buFont typeface="Arial" panose="020B0604020202020204" pitchFamily="34" charset="0"/>
              <a:buChar char="•"/>
            </a:pPr>
            <a:r>
              <a:rPr lang="en-US" dirty="0"/>
              <a:t>Plotting confusion matrix for PID particle type for true signal interactions</a:t>
            </a:r>
          </a:p>
          <a:p>
            <a:pPr marL="285750" indent="-285750">
              <a:buFont typeface="Arial" panose="020B0604020202020204" pitchFamily="34" charset="0"/>
              <a:buChar char="•"/>
            </a:pPr>
            <a:r>
              <a:rPr lang="en-US" dirty="0"/>
              <a:t>primary reason for inefficiency is due to true final state protons misidentified as muons or </a:t>
            </a:r>
            <a:r>
              <a:rPr lang="en-US" dirty="0" err="1"/>
              <a:t>pions</a:t>
            </a:r>
            <a:endParaRPr lang="en-SG" dirty="0"/>
          </a:p>
        </p:txBody>
      </p:sp>
      <p:pic>
        <p:nvPicPr>
          <p:cNvPr id="11" name="Picture 10">
            <a:extLst>
              <a:ext uri="{FF2B5EF4-FFF2-40B4-BE49-F238E27FC236}">
                <a16:creationId xmlns:a16="http://schemas.microsoft.com/office/drawing/2014/main" id="{E5B328E1-3426-01B7-4D7C-5CEDBAC6F45B}"/>
              </a:ext>
            </a:extLst>
          </p:cNvPr>
          <p:cNvPicPr>
            <a:picLocks noChangeAspect="1"/>
          </p:cNvPicPr>
          <p:nvPr/>
        </p:nvPicPr>
        <p:blipFill>
          <a:blip r:embed="rId2"/>
          <a:srcRect b="11269"/>
          <a:stretch>
            <a:fillRect/>
          </a:stretch>
        </p:blipFill>
        <p:spPr>
          <a:xfrm>
            <a:off x="1097279" y="2539077"/>
            <a:ext cx="3436709" cy="3557697"/>
          </a:xfrm>
          <a:prstGeom prst="rect">
            <a:avLst/>
          </a:prstGeom>
        </p:spPr>
      </p:pic>
      <p:pic>
        <p:nvPicPr>
          <p:cNvPr id="13" name="Picture 12">
            <a:extLst>
              <a:ext uri="{FF2B5EF4-FFF2-40B4-BE49-F238E27FC236}">
                <a16:creationId xmlns:a16="http://schemas.microsoft.com/office/drawing/2014/main" id="{F1DAD5A3-CE1E-D132-5441-8A4C72AA76D9}"/>
              </a:ext>
            </a:extLst>
          </p:cNvPr>
          <p:cNvPicPr>
            <a:picLocks noChangeAspect="1"/>
          </p:cNvPicPr>
          <p:nvPr/>
        </p:nvPicPr>
        <p:blipFill>
          <a:blip r:embed="rId3"/>
          <a:stretch>
            <a:fillRect/>
          </a:stretch>
        </p:blipFill>
        <p:spPr>
          <a:xfrm>
            <a:off x="6714262" y="2613492"/>
            <a:ext cx="4799646" cy="3437643"/>
          </a:xfrm>
          <a:prstGeom prst="rect">
            <a:avLst/>
          </a:prstGeom>
        </p:spPr>
      </p:pic>
      <p:sp>
        <p:nvSpPr>
          <p:cNvPr id="14" name="TextBox 13">
            <a:extLst>
              <a:ext uri="{FF2B5EF4-FFF2-40B4-BE49-F238E27FC236}">
                <a16:creationId xmlns:a16="http://schemas.microsoft.com/office/drawing/2014/main" id="{D3725E21-478B-5DFF-5DD2-A77C7156B4AE}"/>
              </a:ext>
            </a:extLst>
          </p:cNvPr>
          <p:cNvSpPr txBox="1"/>
          <p:nvPr/>
        </p:nvSpPr>
        <p:spPr>
          <a:xfrm>
            <a:off x="1097279" y="6020578"/>
            <a:ext cx="5927329" cy="307777"/>
          </a:xfrm>
          <a:prstGeom prst="rect">
            <a:avLst/>
          </a:prstGeom>
          <a:noFill/>
        </p:spPr>
        <p:txBody>
          <a:bodyPr wrap="square">
            <a:spAutoFit/>
          </a:bodyPr>
          <a:lstStyle/>
          <a:p>
            <a:r>
              <a:rPr lang="en-US" sz="1400" b="1" dirty="0"/>
              <a:t>Truth to Reco confusion matrix from lane’s paper</a:t>
            </a:r>
            <a:endParaRPr lang="en-SG" sz="1400" b="1" dirty="0"/>
          </a:p>
        </p:txBody>
      </p:sp>
      <p:sp>
        <p:nvSpPr>
          <p:cNvPr id="15" name="TextBox 14">
            <a:extLst>
              <a:ext uri="{FF2B5EF4-FFF2-40B4-BE49-F238E27FC236}">
                <a16:creationId xmlns:a16="http://schemas.microsoft.com/office/drawing/2014/main" id="{C308B177-BE44-DC23-79B6-67E6D68C8D55}"/>
              </a:ext>
            </a:extLst>
          </p:cNvPr>
          <p:cNvSpPr txBox="1"/>
          <p:nvPr/>
        </p:nvSpPr>
        <p:spPr>
          <a:xfrm>
            <a:off x="7024608" y="6020577"/>
            <a:ext cx="4574841" cy="307777"/>
          </a:xfrm>
          <a:prstGeom prst="rect">
            <a:avLst/>
          </a:prstGeom>
          <a:noFill/>
        </p:spPr>
        <p:txBody>
          <a:bodyPr wrap="square">
            <a:spAutoFit/>
          </a:bodyPr>
          <a:lstStyle/>
          <a:p>
            <a:r>
              <a:rPr lang="en-US" sz="1400" b="1" dirty="0"/>
              <a:t>Truth to Reco confusion matrix from my BNB sample</a:t>
            </a:r>
            <a:endParaRPr lang="en-SG" sz="1400" b="1" dirty="0"/>
          </a:p>
        </p:txBody>
      </p:sp>
    </p:spTree>
    <p:extLst>
      <p:ext uri="{BB962C8B-B14F-4D97-AF65-F5344CB8AC3E}">
        <p14:creationId xmlns:p14="http://schemas.microsoft.com/office/powerpoint/2010/main" val="1251475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47F81-FD92-BDE9-2A40-1F2BB6AE1E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02A35-60E0-DC0E-629F-E627A240211A}"/>
              </a:ext>
            </a:extLst>
          </p:cNvPr>
          <p:cNvSpPr>
            <a:spLocks noGrp="1"/>
          </p:cNvSpPr>
          <p:nvPr>
            <p:ph type="title"/>
          </p:nvPr>
        </p:nvSpPr>
        <p:spPr/>
        <p:txBody>
          <a:bodyPr/>
          <a:lstStyle/>
          <a:p>
            <a:r>
              <a:rPr lang="en-US" b="1" dirty="0"/>
              <a:t>PID Reco to Truth confusion matrix</a:t>
            </a:r>
            <a:endParaRPr lang="en-SG" dirty="0"/>
          </a:p>
        </p:txBody>
      </p:sp>
      <p:sp>
        <p:nvSpPr>
          <p:cNvPr id="4" name="TextBox 3">
            <a:extLst>
              <a:ext uri="{FF2B5EF4-FFF2-40B4-BE49-F238E27FC236}">
                <a16:creationId xmlns:a16="http://schemas.microsoft.com/office/drawing/2014/main" id="{9E2AD1D2-7FBF-BDFE-7A9A-8576786B3882}"/>
              </a:ext>
            </a:extLst>
          </p:cNvPr>
          <p:cNvSpPr txBox="1"/>
          <p:nvPr/>
        </p:nvSpPr>
        <p:spPr>
          <a:xfrm>
            <a:off x="1097279" y="1815053"/>
            <a:ext cx="10399395" cy="646331"/>
          </a:xfrm>
          <a:prstGeom prst="rect">
            <a:avLst/>
          </a:prstGeom>
          <a:noFill/>
        </p:spPr>
        <p:txBody>
          <a:bodyPr wrap="square">
            <a:spAutoFit/>
          </a:bodyPr>
          <a:lstStyle/>
          <a:p>
            <a:pPr marL="285750" indent="-285750">
              <a:buFont typeface="Arial" panose="020B0604020202020204" pitchFamily="34" charset="0"/>
              <a:buChar char="•"/>
            </a:pPr>
            <a:r>
              <a:rPr lang="en-US" dirty="0"/>
              <a:t>Plotting confusion matrix for PID particle type for true signal interactions</a:t>
            </a:r>
          </a:p>
          <a:p>
            <a:pPr marL="285750" indent="-285750">
              <a:buFont typeface="Arial" panose="020B0604020202020204" pitchFamily="34" charset="0"/>
              <a:buChar char="•"/>
            </a:pPr>
            <a:r>
              <a:rPr lang="en-US" dirty="0"/>
              <a:t>primary reason for impurity is due to misidentification of true </a:t>
            </a:r>
            <a:r>
              <a:rPr lang="en-US" dirty="0" err="1"/>
              <a:t>pions</a:t>
            </a:r>
            <a:r>
              <a:rPr lang="en-US" dirty="0"/>
              <a:t> as protons</a:t>
            </a:r>
            <a:endParaRPr lang="en-SG" dirty="0"/>
          </a:p>
        </p:txBody>
      </p:sp>
      <p:sp>
        <p:nvSpPr>
          <p:cNvPr id="14" name="TextBox 13">
            <a:extLst>
              <a:ext uri="{FF2B5EF4-FFF2-40B4-BE49-F238E27FC236}">
                <a16:creationId xmlns:a16="http://schemas.microsoft.com/office/drawing/2014/main" id="{CE40C7CF-39BA-CD16-707F-8969B8E02F3F}"/>
              </a:ext>
            </a:extLst>
          </p:cNvPr>
          <p:cNvSpPr txBox="1"/>
          <p:nvPr/>
        </p:nvSpPr>
        <p:spPr>
          <a:xfrm>
            <a:off x="1097279" y="6020578"/>
            <a:ext cx="5927329" cy="307777"/>
          </a:xfrm>
          <a:prstGeom prst="rect">
            <a:avLst/>
          </a:prstGeom>
          <a:noFill/>
        </p:spPr>
        <p:txBody>
          <a:bodyPr wrap="square">
            <a:spAutoFit/>
          </a:bodyPr>
          <a:lstStyle/>
          <a:p>
            <a:r>
              <a:rPr lang="en-US" sz="1400" b="1" dirty="0"/>
              <a:t>Reco to Truth confusion matrix from lane’s paper</a:t>
            </a:r>
            <a:endParaRPr lang="en-SG" sz="1400" b="1" dirty="0"/>
          </a:p>
        </p:txBody>
      </p:sp>
      <p:sp>
        <p:nvSpPr>
          <p:cNvPr id="15" name="TextBox 14">
            <a:extLst>
              <a:ext uri="{FF2B5EF4-FFF2-40B4-BE49-F238E27FC236}">
                <a16:creationId xmlns:a16="http://schemas.microsoft.com/office/drawing/2014/main" id="{CCD1E6F2-EE49-4410-B7A2-4C944965C230}"/>
              </a:ext>
            </a:extLst>
          </p:cNvPr>
          <p:cNvSpPr txBox="1"/>
          <p:nvPr/>
        </p:nvSpPr>
        <p:spPr>
          <a:xfrm>
            <a:off x="7024608" y="6020577"/>
            <a:ext cx="4574841" cy="307777"/>
          </a:xfrm>
          <a:prstGeom prst="rect">
            <a:avLst/>
          </a:prstGeom>
          <a:noFill/>
        </p:spPr>
        <p:txBody>
          <a:bodyPr wrap="square">
            <a:spAutoFit/>
          </a:bodyPr>
          <a:lstStyle/>
          <a:p>
            <a:r>
              <a:rPr lang="en-US" sz="1400" b="1" dirty="0"/>
              <a:t>Truth to Reco confusion matrix from my BNB sample</a:t>
            </a:r>
            <a:endParaRPr lang="en-SG" sz="1400" b="1" dirty="0"/>
          </a:p>
        </p:txBody>
      </p:sp>
      <p:pic>
        <p:nvPicPr>
          <p:cNvPr id="5" name="Picture 4">
            <a:extLst>
              <a:ext uri="{FF2B5EF4-FFF2-40B4-BE49-F238E27FC236}">
                <a16:creationId xmlns:a16="http://schemas.microsoft.com/office/drawing/2014/main" id="{3A44EC9B-754E-4128-EB7F-DF9618B14593}"/>
              </a:ext>
            </a:extLst>
          </p:cNvPr>
          <p:cNvPicPr>
            <a:picLocks noChangeAspect="1"/>
          </p:cNvPicPr>
          <p:nvPr/>
        </p:nvPicPr>
        <p:blipFill>
          <a:blip r:embed="rId2"/>
          <a:srcRect b="12211"/>
          <a:stretch>
            <a:fillRect/>
          </a:stretch>
        </p:blipFill>
        <p:spPr>
          <a:xfrm>
            <a:off x="1389998" y="2596336"/>
            <a:ext cx="3248677" cy="3424242"/>
          </a:xfrm>
          <a:prstGeom prst="rect">
            <a:avLst/>
          </a:prstGeom>
        </p:spPr>
      </p:pic>
      <p:pic>
        <p:nvPicPr>
          <p:cNvPr id="7" name="Picture 6">
            <a:extLst>
              <a:ext uri="{FF2B5EF4-FFF2-40B4-BE49-F238E27FC236}">
                <a16:creationId xmlns:a16="http://schemas.microsoft.com/office/drawing/2014/main" id="{6C37E546-1A73-9A61-EF98-A9CAD6CBF90A}"/>
              </a:ext>
            </a:extLst>
          </p:cNvPr>
          <p:cNvPicPr>
            <a:picLocks noChangeAspect="1"/>
          </p:cNvPicPr>
          <p:nvPr/>
        </p:nvPicPr>
        <p:blipFill>
          <a:blip r:embed="rId3"/>
          <a:stretch>
            <a:fillRect/>
          </a:stretch>
        </p:blipFill>
        <p:spPr>
          <a:xfrm>
            <a:off x="6648450" y="2628887"/>
            <a:ext cx="4735486" cy="3391690"/>
          </a:xfrm>
          <a:prstGeom prst="rect">
            <a:avLst/>
          </a:prstGeom>
        </p:spPr>
      </p:pic>
    </p:spTree>
    <p:extLst>
      <p:ext uri="{BB962C8B-B14F-4D97-AF65-F5344CB8AC3E}">
        <p14:creationId xmlns:p14="http://schemas.microsoft.com/office/powerpoint/2010/main" val="369361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A389D-3D0E-62FA-82A7-0BE95A4682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624EE8-598F-D98F-163A-1A169890D0BB}"/>
              </a:ext>
            </a:extLst>
          </p:cNvPr>
          <p:cNvSpPr>
            <a:spLocks noGrp="1"/>
          </p:cNvSpPr>
          <p:nvPr>
            <p:ph type="title"/>
          </p:nvPr>
        </p:nvSpPr>
        <p:spPr>
          <a:xfrm>
            <a:off x="1066800" y="3066311"/>
            <a:ext cx="10058400" cy="725378"/>
          </a:xfrm>
        </p:spPr>
        <p:txBody>
          <a:bodyPr/>
          <a:lstStyle/>
          <a:p>
            <a:pPr algn="ctr"/>
            <a:r>
              <a:rPr lang="en-US" b="1" dirty="0"/>
              <a:t>Reconstructed observables in simulation</a:t>
            </a:r>
            <a:endParaRPr lang="en-SG" b="1" dirty="0"/>
          </a:p>
        </p:txBody>
      </p:sp>
    </p:spTree>
    <p:extLst>
      <p:ext uri="{BB962C8B-B14F-4D97-AF65-F5344CB8AC3E}">
        <p14:creationId xmlns:p14="http://schemas.microsoft.com/office/powerpoint/2010/main" val="1954178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9A9C6-7DC1-9143-EB75-3F68E1350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4B67D8-0EFE-876B-EC5B-42C455B75ED2}"/>
              </a:ext>
            </a:extLst>
          </p:cNvPr>
          <p:cNvSpPr>
            <a:spLocks noGrp="1"/>
          </p:cNvSpPr>
          <p:nvPr>
            <p:ph type="title"/>
          </p:nvPr>
        </p:nvSpPr>
        <p:spPr/>
        <p:txBody>
          <a:bodyPr/>
          <a:lstStyle/>
          <a:p>
            <a:r>
              <a:rPr lang="en-US" b="1" dirty="0"/>
              <a:t>Reconstructed observables in simulation</a:t>
            </a:r>
            <a:endParaRPr lang="en-SG" b="1" dirty="0"/>
          </a:p>
        </p:txBody>
      </p:sp>
      <p:sp>
        <p:nvSpPr>
          <p:cNvPr id="5" name="TextBox 4">
            <a:extLst>
              <a:ext uri="{FF2B5EF4-FFF2-40B4-BE49-F238E27FC236}">
                <a16:creationId xmlns:a16="http://schemas.microsoft.com/office/drawing/2014/main" id="{3DF78CD3-C611-5B0F-B390-ECDB3B55DCC7}"/>
              </a:ext>
            </a:extLst>
          </p:cNvPr>
          <p:cNvSpPr txBox="1"/>
          <p:nvPr/>
        </p:nvSpPr>
        <p:spPr>
          <a:xfrm>
            <a:off x="1097280" y="1815053"/>
            <a:ext cx="8914938" cy="3139321"/>
          </a:xfrm>
          <a:prstGeom prst="rect">
            <a:avLst/>
          </a:prstGeom>
          <a:noFill/>
        </p:spPr>
        <p:txBody>
          <a:bodyPr wrap="square">
            <a:spAutoFit/>
          </a:bodyPr>
          <a:lstStyle/>
          <a:p>
            <a:r>
              <a:rPr lang="en-US" b="1" dirty="0"/>
              <a:t>The following observables relevant to the analysis are </a:t>
            </a:r>
            <a:r>
              <a:rPr lang="en-US" b="1" dirty="0" err="1"/>
              <a:t>seperated</a:t>
            </a:r>
            <a:r>
              <a:rPr lang="en-US" b="1" dirty="0"/>
              <a:t> into the following </a:t>
            </a:r>
            <a:br>
              <a:rPr lang="en-US" b="1" dirty="0"/>
            </a:br>
            <a:endParaRPr lang="en-US" b="1" dirty="0"/>
          </a:p>
          <a:p>
            <a:pPr marL="285750" indent="-285750">
              <a:buFont typeface="Arial" panose="020B0604020202020204" pitchFamily="34" charset="0"/>
              <a:buChar char="•"/>
            </a:pPr>
            <a:r>
              <a:rPr lang="en-US" dirty="0"/>
              <a:t>Low-level observables to assess basic reconstruction performance and eventually data/simulation agreement</a:t>
            </a:r>
          </a:p>
          <a:p>
            <a:pPr marL="285750" indent="-285750">
              <a:buFont typeface="Arial" panose="020B0604020202020204" pitchFamily="34" charset="0"/>
              <a:buChar char="•"/>
            </a:pPr>
            <a:r>
              <a:rPr lang="en-US" dirty="0"/>
              <a:t>Transverse kinematic imbalance (TKI) observables that are sensitive to nuclear effects like FSI</a:t>
            </a:r>
          </a:p>
          <a:p>
            <a:pPr marL="285750" indent="-285750">
              <a:buFont typeface="Arial" panose="020B0604020202020204" pitchFamily="34" charset="0"/>
              <a:buChar char="•"/>
            </a:pPr>
            <a:r>
              <a:rPr lang="en-US" dirty="0"/>
              <a:t>Observables related to four-momentum transfer and hadronic invariant mass</a:t>
            </a:r>
          </a:p>
          <a:p>
            <a:pPr marL="285750" indent="-285750">
              <a:buFont typeface="Arial" panose="020B0604020202020204" pitchFamily="34" charset="0"/>
              <a:buChar char="•"/>
            </a:pPr>
            <a:r>
              <a:rPr lang="en-US" dirty="0"/>
              <a:t>Neutral pion mass observables relevant to calibration of electromagnetic showers</a:t>
            </a:r>
          </a:p>
          <a:p>
            <a:pPr marL="285750" indent="-285750">
              <a:buFont typeface="Arial" panose="020B0604020202020204" pitchFamily="34" charset="0"/>
              <a:buChar char="•"/>
            </a:pPr>
            <a:r>
              <a:rPr lang="en-US" dirty="0"/>
              <a:t>Cross section analysis observables for which single differential cross section will be extracted as a function of</a:t>
            </a:r>
          </a:p>
          <a:p>
            <a:endParaRPr lang="en-SG" b="1" dirty="0"/>
          </a:p>
        </p:txBody>
      </p:sp>
    </p:spTree>
    <p:extLst>
      <p:ext uri="{BB962C8B-B14F-4D97-AF65-F5344CB8AC3E}">
        <p14:creationId xmlns:p14="http://schemas.microsoft.com/office/powerpoint/2010/main" val="3646142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6E5DC-28D5-887E-9A95-DF114353C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4D4689-3714-8A5D-988A-DEE53D30B90C}"/>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F8E43BBF-3E05-E858-42D1-C21D9FFE08A0}"/>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Interaction vertex in x-axis</a:t>
            </a:r>
            <a:endParaRPr lang="en-SG" sz="2400" b="1" dirty="0"/>
          </a:p>
        </p:txBody>
      </p:sp>
      <p:sp>
        <p:nvSpPr>
          <p:cNvPr id="14" name="TextBox 13">
            <a:extLst>
              <a:ext uri="{FF2B5EF4-FFF2-40B4-BE49-F238E27FC236}">
                <a16:creationId xmlns:a16="http://schemas.microsoft.com/office/drawing/2014/main" id="{D7215E12-2502-2938-8C61-CD7CFFBC0DEE}"/>
              </a:ext>
            </a:extLst>
          </p:cNvPr>
          <p:cNvSpPr txBox="1"/>
          <p:nvPr/>
        </p:nvSpPr>
        <p:spPr>
          <a:xfrm>
            <a:off x="1395550" y="5866688"/>
            <a:ext cx="3465485" cy="307777"/>
          </a:xfrm>
          <a:prstGeom prst="rect">
            <a:avLst/>
          </a:prstGeom>
          <a:noFill/>
        </p:spPr>
        <p:txBody>
          <a:bodyPr wrap="square">
            <a:spAutoFit/>
          </a:bodyPr>
          <a:lstStyle/>
          <a:p>
            <a:r>
              <a:rPr lang="en-US" sz="1400" b="1" dirty="0"/>
              <a:t>Interaction vertex in x-axis from lane’s paper</a:t>
            </a:r>
            <a:endParaRPr lang="en-SG" sz="1400" b="1" dirty="0"/>
          </a:p>
        </p:txBody>
      </p:sp>
      <p:sp>
        <p:nvSpPr>
          <p:cNvPr id="15" name="TextBox 14">
            <a:extLst>
              <a:ext uri="{FF2B5EF4-FFF2-40B4-BE49-F238E27FC236}">
                <a16:creationId xmlns:a16="http://schemas.microsoft.com/office/drawing/2014/main" id="{06F1D43A-44A6-EA88-46E8-F09498A5DF4D}"/>
              </a:ext>
            </a:extLst>
          </p:cNvPr>
          <p:cNvSpPr txBox="1"/>
          <p:nvPr/>
        </p:nvSpPr>
        <p:spPr>
          <a:xfrm>
            <a:off x="7330967" y="5907550"/>
            <a:ext cx="3771842" cy="307777"/>
          </a:xfrm>
          <a:prstGeom prst="rect">
            <a:avLst/>
          </a:prstGeom>
          <a:noFill/>
        </p:spPr>
        <p:txBody>
          <a:bodyPr wrap="square">
            <a:spAutoFit/>
          </a:bodyPr>
          <a:lstStyle/>
          <a:p>
            <a:r>
              <a:rPr lang="en-US" sz="1400" b="1" dirty="0"/>
              <a:t>Interaction vertex in x-axis from my BNB sample</a:t>
            </a:r>
            <a:endParaRPr lang="en-SG" sz="1400" b="1" dirty="0"/>
          </a:p>
        </p:txBody>
      </p:sp>
      <p:pic>
        <p:nvPicPr>
          <p:cNvPr id="6" name="Picture 5">
            <a:extLst>
              <a:ext uri="{FF2B5EF4-FFF2-40B4-BE49-F238E27FC236}">
                <a16:creationId xmlns:a16="http://schemas.microsoft.com/office/drawing/2014/main" id="{13AA2A3D-282B-5648-1C73-F45FFFDA34A5}"/>
              </a:ext>
            </a:extLst>
          </p:cNvPr>
          <p:cNvPicPr>
            <a:picLocks noChangeAspect="1"/>
          </p:cNvPicPr>
          <p:nvPr/>
        </p:nvPicPr>
        <p:blipFill>
          <a:blip r:embed="rId2"/>
          <a:stretch>
            <a:fillRect/>
          </a:stretch>
        </p:blipFill>
        <p:spPr>
          <a:xfrm>
            <a:off x="6330610" y="2548181"/>
            <a:ext cx="5220225" cy="3359369"/>
          </a:xfrm>
          <a:prstGeom prst="rect">
            <a:avLst/>
          </a:prstGeom>
        </p:spPr>
      </p:pic>
      <p:pic>
        <p:nvPicPr>
          <p:cNvPr id="9" name="Picture 8">
            <a:extLst>
              <a:ext uri="{FF2B5EF4-FFF2-40B4-BE49-F238E27FC236}">
                <a16:creationId xmlns:a16="http://schemas.microsoft.com/office/drawing/2014/main" id="{6577BD5A-9BDA-A1E0-449C-D98B8B992847}"/>
              </a:ext>
            </a:extLst>
          </p:cNvPr>
          <p:cNvPicPr>
            <a:picLocks noChangeAspect="1"/>
          </p:cNvPicPr>
          <p:nvPr/>
        </p:nvPicPr>
        <p:blipFill>
          <a:blip r:embed="rId3"/>
          <a:stretch>
            <a:fillRect/>
          </a:stretch>
        </p:blipFill>
        <p:spPr>
          <a:xfrm>
            <a:off x="570831" y="2597613"/>
            <a:ext cx="5114924" cy="3309937"/>
          </a:xfrm>
          <a:prstGeom prst="rect">
            <a:avLst/>
          </a:prstGeom>
        </p:spPr>
      </p:pic>
    </p:spTree>
    <p:extLst>
      <p:ext uri="{BB962C8B-B14F-4D97-AF65-F5344CB8AC3E}">
        <p14:creationId xmlns:p14="http://schemas.microsoft.com/office/powerpoint/2010/main" val="35907046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876F5-4D87-9D15-F35D-58704F6B3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C0805-BB38-961C-B7D7-7E3BD776788B}"/>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AD13CD90-D7E3-497D-B1C2-48E97748C324}"/>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Interaction vertex in Y-axis</a:t>
            </a:r>
            <a:endParaRPr lang="en-SG" sz="2400" b="1" dirty="0"/>
          </a:p>
        </p:txBody>
      </p:sp>
      <p:sp>
        <p:nvSpPr>
          <p:cNvPr id="14" name="TextBox 13">
            <a:extLst>
              <a:ext uri="{FF2B5EF4-FFF2-40B4-BE49-F238E27FC236}">
                <a16:creationId xmlns:a16="http://schemas.microsoft.com/office/drawing/2014/main" id="{70068F92-5FC1-2421-1B13-570CACDAA7A6}"/>
              </a:ext>
            </a:extLst>
          </p:cNvPr>
          <p:cNvSpPr txBox="1"/>
          <p:nvPr/>
        </p:nvSpPr>
        <p:spPr>
          <a:xfrm>
            <a:off x="1395550" y="5866688"/>
            <a:ext cx="3555141" cy="307777"/>
          </a:xfrm>
          <a:prstGeom prst="rect">
            <a:avLst/>
          </a:prstGeom>
          <a:noFill/>
        </p:spPr>
        <p:txBody>
          <a:bodyPr wrap="square">
            <a:spAutoFit/>
          </a:bodyPr>
          <a:lstStyle/>
          <a:p>
            <a:r>
              <a:rPr lang="en-US" sz="1400" b="1" dirty="0"/>
              <a:t>Interaction vertex in Y-axis from lane’s paper</a:t>
            </a:r>
            <a:endParaRPr lang="en-SG" sz="1400" b="1" dirty="0"/>
          </a:p>
        </p:txBody>
      </p:sp>
      <p:sp>
        <p:nvSpPr>
          <p:cNvPr id="15" name="TextBox 14">
            <a:extLst>
              <a:ext uri="{FF2B5EF4-FFF2-40B4-BE49-F238E27FC236}">
                <a16:creationId xmlns:a16="http://schemas.microsoft.com/office/drawing/2014/main" id="{922E8263-23B4-4977-CB48-8DD9DC933A89}"/>
              </a:ext>
            </a:extLst>
          </p:cNvPr>
          <p:cNvSpPr txBox="1"/>
          <p:nvPr/>
        </p:nvSpPr>
        <p:spPr>
          <a:xfrm>
            <a:off x="7330967" y="5907550"/>
            <a:ext cx="3771842" cy="307777"/>
          </a:xfrm>
          <a:prstGeom prst="rect">
            <a:avLst/>
          </a:prstGeom>
          <a:noFill/>
        </p:spPr>
        <p:txBody>
          <a:bodyPr wrap="square">
            <a:spAutoFit/>
          </a:bodyPr>
          <a:lstStyle/>
          <a:p>
            <a:r>
              <a:rPr lang="en-US" sz="1400" b="1" dirty="0"/>
              <a:t>Interaction vertex in Y-axis from my BNB sample</a:t>
            </a:r>
            <a:endParaRPr lang="en-SG" sz="1400" b="1" dirty="0"/>
          </a:p>
        </p:txBody>
      </p:sp>
      <p:pic>
        <p:nvPicPr>
          <p:cNvPr id="5" name="Picture 4">
            <a:extLst>
              <a:ext uri="{FF2B5EF4-FFF2-40B4-BE49-F238E27FC236}">
                <a16:creationId xmlns:a16="http://schemas.microsoft.com/office/drawing/2014/main" id="{A32E8E56-E350-91F7-2108-04ECAA498A39}"/>
              </a:ext>
            </a:extLst>
          </p:cNvPr>
          <p:cNvPicPr>
            <a:picLocks noChangeAspect="1"/>
          </p:cNvPicPr>
          <p:nvPr/>
        </p:nvPicPr>
        <p:blipFill>
          <a:blip r:embed="rId2"/>
          <a:stretch>
            <a:fillRect/>
          </a:stretch>
        </p:blipFill>
        <p:spPr>
          <a:xfrm>
            <a:off x="706897" y="2609565"/>
            <a:ext cx="5019648" cy="3231573"/>
          </a:xfrm>
          <a:prstGeom prst="rect">
            <a:avLst/>
          </a:prstGeom>
        </p:spPr>
      </p:pic>
      <p:pic>
        <p:nvPicPr>
          <p:cNvPr id="13" name="Picture 12">
            <a:extLst>
              <a:ext uri="{FF2B5EF4-FFF2-40B4-BE49-F238E27FC236}">
                <a16:creationId xmlns:a16="http://schemas.microsoft.com/office/drawing/2014/main" id="{2E1A537E-6C57-AA90-4EED-C1532731497A}"/>
              </a:ext>
            </a:extLst>
          </p:cNvPr>
          <p:cNvPicPr>
            <a:picLocks noChangeAspect="1"/>
          </p:cNvPicPr>
          <p:nvPr/>
        </p:nvPicPr>
        <p:blipFill>
          <a:blip r:embed="rId3"/>
          <a:stretch>
            <a:fillRect/>
          </a:stretch>
        </p:blipFill>
        <p:spPr>
          <a:xfrm>
            <a:off x="6463462" y="2609565"/>
            <a:ext cx="5021641" cy="3231573"/>
          </a:xfrm>
          <a:prstGeom prst="rect">
            <a:avLst/>
          </a:prstGeom>
        </p:spPr>
      </p:pic>
    </p:spTree>
    <p:extLst>
      <p:ext uri="{BB962C8B-B14F-4D97-AF65-F5344CB8AC3E}">
        <p14:creationId xmlns:p14="http://schemas.microsoft.com/office/powerpoint/2010/main" val="3470140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0F2E6-9608-6F41-406D-16EDC1BFB1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AD0E6-44E7-91D8-B181-0442FA380834}"/>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0B632678-7D24-0D8F-9C64-55E20AE5F180}"/>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Interaction vertex in Z-axis</a:t>
            </a:r>
            <a:endParaRPr lang="en-SG" sz="2400" b="1" dirty="0"/>
          </a:p>
        </p:txBody>
      </p:sp>
      <p:sp>
        <p:nvSpPr>
          <p:cNvPr id="14" name="TextBox 13">
            <a:extLst>
              <a:ext uri="{FF2B5EF4-FFF2-40B4-BE49-F238E27FC236}">
                <a16:creationId xmlns:a16="http://schemas.microsoft.com/office/drawing/2014/main" id="{7A3255E6-7253-42A3-F126-5D1F5FF6AEC8}"/>
              </a:ext>
            </a:extLst>
          </p:cNvPr>
          <p:cNvSpPr txBox="1"/>
          <p:nvPr/>
        </p:nvSpPr>
        <p:spPr>
          <a:xfrm>
            <a:off x="1395550" y="5866688"/>
            <a:ext cx="3555141" cy="307777"/>
          </a:xfrm>
          <a:prstGeom prst="rect">
            <a:avLst/>
          </a:prstGeom>
          <a:noFill/>
        </p:spPr>
        <p:txBody>
          <a:bodyPr wrap="square">
            <a:spAutoFit/>
          </a:bodyPr>
          <a:lstStyle/>
          <a:p>
            <a:r>
              <a:rPr lang="en-US" sz="1400" b="1" dirty="0"/>
              <a:t>Interaction vertex in Z-axis from lane’s paper</a:t>
            </a:r>
            <a:endParaRPr lang="en-SG" sz="1400" b="1" dirty="0"/>
          </a:p>
        </p:txBody>
      </p:sp>
      <p:sp>
        <p:nvSpPr>
          <p:cNvPr id="15" name="TextBox 14">
            <a:extLst>
              <a:ext uri="{FF2B5EF4-FFF2-40B4-BE49-F238E27FC236}">
                <a16:creationId xmlns:a16="http://schemas.microsoft.com/office/drawing/2014/main" id="{8CFEE368-A1B5-C9FC-11A0-D4C1E3625D4A}"/>
              </a:ext>
            </a:extLst>
          </p:cNvPr>
          <p:cNvSpPr txBox="1"/>
          <p:nvPr/>
        </p:nvSpPr>
        <p:spPr>
          <a:xfrm>
            <a:off x="7330967" y="5907550"/>
            <a:ext cx="3771842" cy="307777"/>
          </a:xfrm>
          <a:prstGeom prst="rect">
            <a:avLst/>
          </a:prstGeom>
          <a:noFill/>
        </p:spPr>
        <p:txBody>
          <a:bodyPr wrap="square">
            <a:spAutoFit/>
          </a:bodyPr>
          <a:lstStyle/>
          <a:p>
            <a:r>
              <a:rPr lang="en-US" sz="1400" b="1" dirty="0"/>
              <a:t>Interaction vertex in Z-axis from my BNB sample</a:t>
            </a:r>
            <a:endParaRPr lang="en-SG" sz="1400" b="1" dirty="0"/>
          </a:p>
        </p:txBody>
      </p:sp>
      <p:pic>
        <p:nvPicPr>
          <p:cNvPr id="6" name="Picture 5">
            <a:extLst>
              <a:ext uri="{FF2B5EF4-FFF2-40B4-BE49-F238E27FC236}">
                <a16:creationId xmlns:a16="http://schemas.microsoft.com/office/drawing/2014/main" id="{C9EF778C-26CD-6627-08BC-EB1E9CB97E86}"/>
              </a:ext>
            </a:extLst>
          </p:cNvPr>
          <p:cNvPicPr>
            <a:picLocks noChangeAspect="1"/>
          </p:cNvPicPr>
          <p:nvPr/>
        </p:nvPicPr>
        <p:blipFill>
          <a:blip r:embed="rId2"/>
          <a:stretch>
            <a:fillRect/>
          </a:stretch>
        </p:blipFill>
        <p:spPr>
          <a:xfrm>
            <a:off x="6465457" y="2512673"/>
            <a:ext cx="5211906" cy="3354015"/>
          </a:xfrm>
          <a:prstGeom prst="rect">
            <a:avLst/>
          </a:prstGeom>
        </p:spPr>
      </p:pic>
      <p:pic>
        <p:nvPicPr>
          <p:cNvPr id="9" name="Picture 8">
            <a:extLst>
              <a:ext uri="{FF2B5EF4-FFF2-40B4-BE49-F238E27FC236}">
                <a16:creationId xmlns:a16="http://schemas.microsoft.com/office/drawing/2014/main" id="{2C282A76-3797-B0B1-23C7-6B66A2F79476}"/>
              </a:ext>
            </a:extLst>
          </p:cNvPr>
          <p:cNvPicPr>
            <a:picLocks noChangeAspect="1"/>
          </p:cNvPicPr>
          <p:nvPr/>
        </p:nvPicPr>
        <p:blipFill>
          <a:blip r:embed="rId3"/>
          <a:stretch>
            <a:fillRect/>
          </a:stretch>
        </p:blipFill>
        <p:spPr>
          <a:xfrm>
            <a:off x="514638" y="2449568"/>
            <a:ext cx="5211906" cy="3417120"/>
          </a:xfrm>
          <a:prstGeom prst="rect">
            <a:avLst/>
          </a:prstGeom>
        </p:spPr>
      </p:pic>
    </p:spTree>
    <p:extLst>
      <p:ext uri="{BB962C8B-B14F-4D97-AF65-F5344CB8AC3E}">
        <p14:creationId xmlns:p14="http://schemas.microsoft.com/office/powerpoint/2010/main" val="560706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76A3F-C6C8-1D7F-D9D2-3601994EB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7AA12-0C38-E248-D1E1-0F4D7E32D940}"/>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FD610AC7-EB65-2F21-5DEB-B3716049AF01}"/>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primary Muon length</a:t>
            </a:r>
            <a:endParaRPr lang="en-SG" sz="2400" b="1" dirty="0"/>
          </a:p>
        </p:txBody>
      </p:sp>
      <p:sp>
        <p:nvSpPr>
          <p:cNvPr id="14" name="TextBox 13">
            <a:extLst>
              <a:ext uri="{FF2B5EF4-FFF2-40B4-BE49-F238E27FC236}">
                <a16:creationId xmlns:a16="http://schemas.microsoft.com/office/drawing/2014/main" id="{6E49B300-F803-0121-D70C-A7F6C0D04560}"/>
              </a:ext>
            </a:extLst>
          </p:cNvPr>
          <p:cNvSpPr txBox="1"/>
          <p:nvPr/>
        </p:nvSpPr>
        <p:spPr>
          <a:xfrm>
            <a:off x="1395550" y="5866688"/>
            <a:ext cx="3555141" cy="307777"/>
          </a:xfrm>
          <a:prstGeom prst="rect">
            <a:avLst/>
          </a:prstGeom>
          <a:noFill/>
        </p:spPr>
        <p:txBody>
          <a:bodyPr wrap="square">
            <a:spAutoFit/>
          </a:bodyPr>
          <a:lstStyle/>
          <a:p>
            <a:r>
              <a:rPr lang="en-US" sz="1400" b="1" dirty="0"/>
              <a:t>Muon length from lane’s paper</a:t>
            </a:r>
            <a:endParaRPr lang="en-SG" sz="1400" b="1" dirty="0"/>
          </a:p>
        </p:txBody>
      </p:sp>
      <p:sp>
        <p:nvSpPr>
          <p:cNvPr id="15" name="TextBox 14">
            <a:extLst>
              <a:ext uri="{FF2B5EF4-FFF2-40B4-BE49-F238E27FC236}">
                <a16:creationId xmlns:a16="http://schemas.microsoft.com/office/drawing/2014/main" id="{DA644CE0-1277-8675-D3F5-B7CE90175BBC}"/>
              </a:ext>
            </a:extLst>
          </p:cNvPr>
          <p:cNvSpPr txBox="1"/>
          <p:nvPr/>
        </p:nvSpPr>
        <p:spPr>
          <a:xfrm>
            <a:off x="7330967" y="5907550"/>
            <a:ext cx="3771842" cy="307777"/>
          </a:xfrm>
          <a:prstGeom prst="rect">
            <a:avLst/>
          </a:prstGeom>
          <a:noFill/>
        </p:spPr>
        <p:txBody>
          <a:bodyPr wrap="square">
            <a:spAutoFit/>
          </a:bodyPr>
          <a:lstStyle/>
          <a:p>
            <a:r>
              <a:rPr lang="en-US" sz="1400" b="1" dirty="0"/>
              <a:t>Muon length from my BNB sample</a:t>
            </a:r>
            <a:endParaRPr lang="en-SG" sz="1400" b="1" dirty="0"/>
          </a:p>
        </p:txBody>
      </p:sp>
      <p:pic>
        <p:nvPicPr>
          <p:cNvPr id="5" name="Picture 4">
            <a:extLst>
              <a:ext uri="{FF2B5EF4-FFF2-40B4-BE49-F238E27FC236}">
                <a16:creationId xmlns:a16="http://schemas.microsoft.com/office/drawing/2014/main" id="{C9B0FF95-E8FE-1322-8F9A-D30D1BFD03A3}"/>
              </a:ext>
            </a:extLst>
          </p:cNvPr>
          <p:cNvPicPr>
            <a:picLocks noChangeAspect="1"/>
          </p:cNvPicPr>
          <p:nvPr/>
        </p:nvPicPr>
        <p:blipFill>
          <a:blip r:embed="rId2"/>
          <a:stretch>
            <a:fillRect/>
          </a:stretch>
        </p:blipFill>
        <p:spPr>
          <a:xfrm>
            <a:off x="1255467" y="2475180"/>
            <a:ext cx="3593624" cy="3429000"/>
          </a:xfrm>
          <a:prstGeom prst="rect">
            <a:avLst/>
          </a:prstGeom>
        </p:spPr>
      </p:pic>
      <p:pic>
        <p:nvPicPr>
          <p:cNvPr id="8" name="Picture 7">
            <a:extLst>
              <a:ext uri="{FF2B5EF4-FFF2-40B4-BE49-F238E27FC236}">
                <a16:creationId xmlns:a16="http://schemas.microsoft.com/office/drawing/2014/main" id="{A53A016E-0351-067D-ABEE-19B9AC3FAFC7}"/>
              </a:ext>
            </a:extLst>
          </p:cNvPr>
          <p:cNvPicPr>
            <a:picLocks noChangeAspect="1"/>
          </p:cNvPicPr>
          <p:nvPr/>
        </p:nvPicPr>
        <p:blipFill>
          <a:blip r:embed="rId3"/>
          <a:stretch>
            <a:fillRect/>
          </a:stretch>
        </p:blipFill>
        <p:spPr>
          <a:xfrm>
            <a:off x="6126480" y="2437231"/>
            <a:ext cx="5387398" cy="3466949"/>
          </a:xfrm>
          <a:prstGeom prst="rect">
            <a:avLst/>
          </a:prstGeom>
        </p:spPr>
      </p:pic>
    </p:spTree>
    <p:extLst>
      <p:ext uri="{BB962C8B-B14F-4D97-AF65-F5344CB8AC3E}">
        <p14:creationId xmlns:p14="http://schemas.microsoft.com/office/powerpoint/2010/main" val="26755968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150F7-F043-8697-177C-452ADAD436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2337F-5243-4404-4107-5A2DCD0B2B09}"/>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4DCBAEB6-8C41-914D-E405-530406411486}"/>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a:t>
            </a:r>
            <a:r>
              <a:rPr lang="en-SG" sz="2400" b="1" dirty="0"/>
              <a:t>leading photon conversion distance</a:t>
            </a:r>
          </a:p>
        </p:txBody>
      </p:sp>
      <p:sp>
        <p:nvSpPr>
          <p:cNvPr id="14" name="TextBox 13">
            <a:extLst>
              <a:ext uri="{FF2B5EF4-FFF2-40B4-BE49-F238E27FC236}">
                <a16:creationId xmlns:a16="http://schemas.microsoft.com/office/drawing/2014/main" id="{F041DED7-A850-3EFF-FB53-FC547C0225D4}"/>
              </a:ext>
            </a:extLst>
          </p:cNvPr>
          <p:cNvSpPr txBox="1"/>
          <p:nvPr/>
        </p:nvSpPr>
        <p:spPr>
          <a:xfrm>
            <a:off x="1097279" y="5891439"/>
            <a:ext cx="4137032" cy="307777"/>
          </a:xfrm>
          <a:prstGeom prst="rect">
            <a:avLst/>
          </a:prstGeom>
          <a:noFill/>
        </p:spPr>
        <p:txBody>
          <a:bodyPr wrap="square">
            <a:spAutoFit/>
          </a:bodyPr>
          <a:lstStyle/>
          <a:p>
            <a:r>
              <a:rPr lang="en-SG" sz="1400" b="1" dirty="0"/>
              <a:t>leading photon conversion distance </a:t>
            </a:r>
            <a:r>
              <a:rPr lang="en-US" sz="1400" b="1" dirty="0"/>
              <a:t>from lane’s paper</a:t>
            </a:r>
            <a:endParaRPr lang="en-SG" sz="1400" b="1" dirty="0"/>
          </a:p>
        </p:txBody>
      </p:sp>
      <p:sp>
        <p:nvSpPr>
          <p:cNvPr id="15" name="TextBox 14">
            <a:extLst>
              <a:ext uri="{FF2B5EF4-FFF2-40B4-BE49-F238E27FC236}">
                <a16:creationId xmlns:a16="http://schemas.microsoft.com/office/drawing/2014/main" id="{09630DAA-89BD-6EE0-D630-96C8A448F224}"/>
              </a:ext>
            </a:extLst>
          </p:cNvPr>
          <p:cNvSpPr txBox="1"/>
          <p:nvPr/>
        </p:nvSpPr>
        <p:spPr>
          <a:xfrm>
            <a:off x="6582631" y="5891438"/>
            <a:ext cx="4436160" cy="307777"/>
          </a:xfrm>
          <a:prstGeom prst="rect">
            <a:avLst/>
          </a:prstGeom>
          <a:noFill/>
        </p:spPr>
        <p:txBody>
          <a:bodyPr wrap="square">
            <a:spAutoFit/>
          </a:bodyPr>
          <a:lstStyle/>
          <a:p>
            <a:r>
              <a:rPr lang="en-SG" sz="1400" b="1" dirty="0"/>
              <a:t>leading photon conversion distance </a:t>
            </a:r>
            <a:r>
              <a:rPr lang="en-US" sz="1400" b="1" dirty="0"/>
              <a:t>from my BNB sample</a:t>
            </a:r>
            <a:endParaRPr lang="en-SG" sz="1400" b="1" dirty="0"/>
          </a:p>
        </p:txBody>
      </p:sp>
      <p:pic>
        <p:nvPicPr>
          <p:cNvPr id="6" name="Picture 5">
            <a:extLst>
              <a:ext uri="{FF2B5EF4-FFF2-40B4-BE49-F238E27FC236}">
                <a16:creationId xmlns:a16="http://schemas.microsoft.com/office/drawing/2014/main" id="{C365C46F-6FAF-A167-C81F-796B722F18F1}"/>
              </a:ext>
            </a:extLst>
          </p:cNvPr>
          <p:cNvPicPr>
            <a:picLocks noChangeAspect="1"/>
          </p:cNvPicPr>
          <p:nvPr/>
        </p:nvPicPr>
        <p:blipFill>
          <a:blip r:embed="rId2"/>
          <a:stretch>
            <a:fillRect/>
          </a:stretch>
        </p:blipFill>
        <p:spPr>
          <a:xfrm>
            <a:off x="1170610" y="2292828"/>
            <a:ext cx="3890917" cy="3598611"/>
          </a:xfrm>
          <a:prstGeom prst="rect">
            <a:avLst/>
          </a:prstGeom>
        </p:spPr>
      </p:pic>
      <p:pic>
        <p:nvPicPr>
          <p:cNvPr id="9" name="Picture 8">
            <a:extLst>
              <a:ext uri="{FF2B5EF4-FFF2-40B4-BE49-F238E27FC236}">
                <a16:creationId xmlns:a16="http://schemas.microsoft.com/office/drawing/2014/main" id="{EAEF0C49-FF93-5F64-0E88-D4C661644504}"/>
              </a:ext>
            </a:extLst>
          </p:cNvPr>
          <p:cNvPicPr>
            <a:picLocks noChangeAspect="1"/>
          </p:cNvPicPr>
          <p:nvPr/>
        </p:nvPicPr>
        <p:blipFill>
          <a:blip r:embed="rId3"/>
          <a:stretch>
            <a:fillRect/>
          </a:stretch>
        </p:blipFill>
        <p:spPr>
          <a:xfrm>
            <a:off x="5753151" y="2312919"/>
            <a:ext cx="5743523" cy="3594631"/>
          </a:xfrm>
          <a:prstGeom prst="rect">
            <a:avLst/>
          </a:prstGeom>
        </p:spPr>
      </p:pic>
    </p:spTree>
    <p:extLst>
      <p:ext uri="{BB962C8B-B14F-4D97-AF65-F5344CB8AC3E}">
        <p14:creationId xmlns:p14="http://schemas.microsoft.com/office/powerpoint/2010/main" val="2911433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C307C-CEF7-9EE2-FBBA-B8152F255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B68124-E43F-7CA4-DB93-C19A4E9BD126}"/>
              </a:ext>
            </a:extLst>
          </p:cNvPr>
          <p:cNvSpPr>
            <a:spLocks noGrp="1"/>
          </p:cNvSpPr>
          <p:nvPr>
            <p:ph type="title"/>
          </p:nvPr>
        </p:nvSpPr>
        <p:spPr/>
        <p:txBody>
          <a:bodyPr/>
          <a:lstStyle/>
          <a:p>
            <a:r>
              <a:rPr lang="en-US" b="1" dirty="0"/>
              <a:t>Low-level observables</a:t>
            </a:r>
            <a:endParaRPr lang="en-SG" dirty="0"/>
          </a:p>
        </p:txBody>
      </p:sp>
      <p:sp>
        <p:nvSpPr>
          <p:cNvPr id="4" name="TextBox 3">
            <a:extLst>
              <a:ext uri="{FF2B5EF4-FFF2-40B4-BE49-F238E27FC236}">
                <a16:creationId xmlns:a16="http://schemas.microsoft.com/office/drawing/2014/main" id="{027DF1B1-6D3F-D7E9-C9DB-C59A7C06EF90}"/>
              </a:ext>
            </a:extLst>
          </p:cNvPr>
          <p:cNvSpPr txBox="1"/>
          <p:nvPr/>
        </p:nvSpPr>
        <p:spPr>
          <a:xfrm>
            <a:off x="1097279" y="1815053"/>
            <a:ext cx="10399395" cy="461665"/>
          </a:xfrm>
          <a:prstGeom prst="rect">
            <a:avLst/>
          </a:prstGeom>
          <a:noFill/>
        </p:spPr>
        <p:txBody>
          <a:bodyPr wrap="square">
            <a:spAutoFit/>
          </a:bodyPr>
          <a:lstStyle/>
          <a:p>
            <a:r>
              <a:rPr lang="en-US" sz="2400" b="1" dirty="0"/>
              <a:t>Plotting Reconstructed sub</a:t>
            </a:r>
            <a:r>
              <a:rPr lang="en-SG" sz="2400" b="1" dirty="0"/>
              <a:t>leading photon conversion distance</a:t>
            </a:r>
          </a:p>
        </p:txBody>
      </p:sp>
      <p:sp>
        <p:nvSpPr>
          <p:cNvPr id="14" name="TextBox 13">
            <a:extLst>
              <a:ext uri="{FF2B5EF4-FFF2-40B4-BE49-F238E27FC236}">
                <a16:creationId xmlns:a16="http://schemas.microsoft.com/office/drawing/2014/main" id="{C798D66D-E0BA-22C9-B35C-E61B063A52F1}"/>
              </a:ext>
            </a:extLst>
          </p:cNvPr>
          <p:cNvSpPr txBox="1"/>
          <p:nvPr/>
        </p:nvSpPr>
        <p:spPr>
          <a:xfrm>
            <a:off x="1097279" y="5891439"/>
            <a:ext cx="4535458" cy="307777"/>
          </a:xfrm>
          <a:prstGeom prst="rect">
            <a:avLst/>
          </a:prstGeom>
          <a:noFill/>
        </p:spPr>
        <p:txBody>
          <a:bodyPr wrap="square">
            <a:spAutoFit/>
          </a:bodyPr>
          <a:lstStyle/>
          <a:p>
            <a:r>
              <a:rPr lang="en-SG" sz="1400" b="1" dirty="0" err="1"/>
              <a:t>subleading</a:t>
            </a:r>
            <a:r>
              <a:rPr lang="en-SG" sz="1400" b="1" dirty="0"/>
              <a:t> photon conversion distance </a:t>
            </a:r>
            <a:r>
              <a:rPr lang="en-US" sz="1400" b="1" dirty="0"/>
              <a:t>from lane’s paper</a:t>
            </a:r>
            <a:endParaRPr lang="en-SG" sz="1400" b="1" dirty="0"/>
          </a:p>
        </p:txBody>
      </p:sp>
      <p:sp>
        <p:nvSpPr>
          <p:cNvPr id="15" name="TextBox 14">
            <a:extLst>
              <a:ext uri="{FF2B5EF4-FFF2-40B4-BE49-F238E27FC236}">
                <a16:creationId xmlns:a16="http://schemas.microsoft.com/office/drawing/2014/main" id="{8F668CF6-165B-85B8-0F80-D96ADBE2D305}"/>
              </a:ext>
            </a:extLst>
          </p:cNvPr>
          <p:cNvSpPr txBox="1"/>
          <p:nvPr/>
        </p:nvSpPr>
        <p:spPr>
          <a:xfrm>
            <a:off x="6322166" y="5815233"/>
            <a:ext cx="4833514" cy="307777"/>
          </a:xfrm>
          <a:prstGeom prst="rect">
            <a:avLst/>
          </a:prstGeom>
          <a:noFill/>
        </p:spPr>
        <p:txBody>
          <a:bodyPr wrap="square">
            <a:spAutoFit/>
          </a:bodyPr>
          <a:lstStyle/>
          <a:p>
            <a:r>
              <a:rPr lang="en-SG" sz="1400" b="1" dirty="0" err="1"/>
              <a:t>subleading</a:t>
            </a:r>
            <a:r>
              <a:rPr lang="en-SG" sz="1400" b="1" dirty="0"/>
              <a:t> photon conversion distance </a:t>
            </a:r>
            <a:r>
              <a:rPr lang="en-US" sz="1400" b="1" dirty="0"/>
              <a:t>from my BNB sample</a:t>
            </a:r>
            <a:endParaRPr lang="en-SG" sz="1400" b="1" dirty="0"/>
          </a:p>
        </p:txBody>
      </p:sp>
      <p:pic>
        <p:nvPicPr>
          <p:cNvPr id="5" name="Picture 4">
            <a:extLst>
              <a:ext uri="{FF2B5EF4-FFF2-40B4-BE49-F238E27FC236}">
                <a16:creationId xmlns:a16="http://schemas.microsoft.com/office/drawing/2014/main" id="{53F3515F-8E38-529C-FAEE-6A24CE3A2566}"/>
              </a:ext>
            </a:extLst>
          </p:cNvPr>
          <p:cNvPicPr>
            <a:picLocks noChangeAspect="1"/>
          </p:cNvPicPr>
          <p:nvPr/>
        </p:nvPicPr>
        <p:blipFill>
          <a:blip r:embed="rId2"/>
          <a:stretch>
            <a:fillRect/>
          </a:stretch>
        </p:blipFill>
        <p:spPr>
          <a:xfrm>
            <a:off x="1258905" y="2251346"/>
            <a:ext cx="4079506" cy="3717776"/>
          </a:xfrm>
          <a:prstGeom prst="rect">
            <a:avLst/>
          </a:prstGeom>
        </p:spPr>
      </p:pic>
      <p:pic>
        <p:nvPicPr>
          <p:cNvPr id="11" name="Picture 10">
            <a:extLst>
              <a:ext uri="{FF2B5EF4-FFF2-40B4-BE49-F238E27FC236}">
                <a16:creationId xmlns:a16="http://schemas.microsoft.com/office/drawing/2014/main" id="{C807AAA6-304F-AF8B-9AF5-8D26B0D0785A}"/>
              </a:ext>
            </a:extLst>
          </p:cNvPr>
          <p:cNvPicPr>
            <a:picLocks noChangeAspect="1"/>
          </p:cNvPicPr>
          <p:nvPr/>
        </p:nvPicPr>
        <p:blipFill>
          <a:blip r:embed="rId3"/>
          <a:stretch>
            <a:fillRect/>
          </a:stretch>
        </p:blipFill>
        <p:spPr>
          <a:xfrm>
            <a:off x="5632737" y="2279306"/>
            <a:ext cx="5863937" cy="3612132"/>
          </a:xfrm>
          <a:prstGeom prst="rect">
            <a:avLst/>
          </a:prstGeom>
        </p:spPr>
      </p:pic>
    </p:spTree>
    <p:extLst>
      <p:ext uri="{BB962C8B-B14F-4D97-AF65-F5344CB8AC3E}">
        <p14:creationId xmlns:p14="http://schemas.microsoft.com/office/powerpoint/2010/main" val="13313385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8860A-BE5C-2C84-A9DF-BBEB12E74F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2D063B-3872-4F3C-505E-A5485A0B2CBF}"/>
              </a:ext>
            </a:extLst>
          </p:cNvPr>
          <p:cNvSpPr>
            <a:spLocks noGrp="1"/>
          </p:cNvSpPr>
          <p:nvPr>
            <p:ph type="title"/>
          </p:nvPr>
        </p:nvSpPr>
        <p:spPr/>
        <p:txBody>
          <a:bodyPr/>
          <a:lstStyle/>
          <a:p>
            <a:r>
              <a:rPr lang="en-US" b="1" dirty="0"/>
              <a:t>Transverse kinematic imbalance observables</a:t>
            </a:r>
            <a:endParaRPr lang="en-SG" dirty="0"/>
          </a:p>
        </p:txBody>
      </p:sp>
      <p:sp>
        <p:nvSpPr>
          <p:cNvPr id="14" name="TextBox 13">
            <a:extLst>
              <a:ext uri="{FF2B5EF4-FFF2-40B4-BE49-F238E27FC236}">
                <a16:creationId xmlns:a16="http://schemas.microsoft.com/office/drawing/2014/main" id="{C456E33F-F8F8-66E5-5E24-CCF2DFFC1D75}"/>
              </a:ext>
            </a:extLst>
          </p:cNvPr>
          <p:cNvSpPr txBox="1"/>
          <p:nvPr/>
        </p:nvSpPr>
        <p:spPr>
          <a:xfrm>
            <a:off x="1097279" y="5891439"/>
            <a:ext cx="4535458" cy="307777"/>
          </a:xfrm>
          <a:prstGeom prst="rect">
            <a:avLst/>
          </a:prstGeom>
          <a:noFill/>
        </p:spPr>
        <p:txBody>
          <a:bodyPr wrap="square">
            <a:spAutoFit/>
          </a:bodyPr>
          <a:lstStyle/>
          <a:p>
            <a:r>
              <a:rPr lang="en-SG" sz="1400" b="1" dirty="0" err="1"/>
              <a:t>subleading</a:t>
            </a:r>
            <a:r>
              <a:rPr lang="en-SG" sz="1400" b="1" dirty="0"/>
              <a:t> photon conversion distance </a:t>
            </a:r>
            <a:r>
              <a:rPr lang="en-US" sz="1400" b="1" dirty="0"/>
              <a:t>from lane’s paper</a:t>
            </a:r>
            <a:endParaRPr lang="en-SG" sz="1400" b="1" dirty="0"/>
          </a:p>
        </p:txBody>
      </p:sp>
      <p:sp>
        <p:nvSpPr>
          <p:cNvPr id="15" name="TextBox 14">
            <a:extLst>
              <a:ext uri="{FF2B5EF4-FFF2-40B4-BE49-F238E27FC236}">
                <a16:creationId xmlns:a16="http://schemas.microsoft.com/office/drawing/2014/main" id="{193EA246-FF48-B759-6A0F-05D54FEC5097}"/>
              </a:ext>
            </a:extLst>
          </p:cNvPr>
          <p:cNvSpPr txBox="1"/>
          <p:nvPr/>
        </p:nvSpPr>
        <p:spPr>
          <a:xfrm>
            <a:off x="6322166" y="5815233"/>
            <a:ext cx="5174508" cy="307777"/>
          </a:xfrm>
          <a:prstGeom prst="rect">
            <a:avLst/>
          </a:prstGeom>
          <a:noFill/>
        </p:spPr>
        <p:txBody>
          <a:bodyPr wrap="square">
            <a:spAutoFit/>
          </a:bodyPr>
          <a:lstStyle/>
          <a:p>
            <a:r>
              <a:rPr lang="en-SG" sz="1400" b="1" dirty="0" err="1"/>
              <a:t>subleading</a:t>
            </a:r>
            <a:r>
              <a:rPr lang="en-SG" sz="1400" b="1" dirty="0"/>
              <a:t> </a:t>
            </a:r>
            <a:r>
              <a:rPr lang="en-US" sz="1400" b="1" dirty="0"/>
              <a:t>Transverse momentum imbalance</a:t>
            </a:r>
            <a:r>
              <a:rPr lang="en-SG" sz="1400" b="1" dirty="0"/>
              <a:t> </a:t>
            </a:r>
            <a:r>
              <a:rPr lang="en-US" sz="1400" b="1" dirty="0"/>
              <a:t>from my BNB sample</a:t>
            </a:r>
            <a:endParaRPr lang="en-SG" sz="1400" b="1" dirty="0"/>
          </a:p>
        </p:txBody>
      </p:sp>
      <p:pic>
        <p:nvPicPr>
          <p:cNvPr id="6" name="Picture 5">
            <a:extLst>
              <a:ext uri="{FF2B5EF4-FFF2-40B4-BE49-F238E27FC236}">
                <a16:creationId xmlns:a16="http://schemas.microsoft.com/office/drawing/2014/main" id="{B910A3DA-35A3-0643-177A-101E6E6D0734}"/>
              </a:ext>
            </a:extLst>
          </p:cNvPr>
          <p:cNvPicPr>
            <a:picLocks noChangeAspect="1"/>
          </p:cNvPicPr>
          <p:nvPr/>
        </p:nvPicPr>
        <p:blipFill>
          <a:blip r:embed="rId2"/>
          <a:stretch>
            <a:fillRect/>
          </a:stretch>
        </p:blipFill>
        <p:spPr>
          <a:xfrm>
            <a:off x="6708958" y="3147548"/>
            <a:ext cx="4400923" cy="2760670"/>
          </a:xfrm>
          <a:prstGeom prst="rect">
            <a:avLst/>
          </a:prstGeom>
        </p:spPr>
      </p:pic>
      <p:pic>
        <p:nvPicPr>
          <p:cNvPr id="8" name="Picture 7">
            <a:extLst>
              <a:ext uri="{FF2B5EF4-FFF2-40B4-BE49-F238E27FC236}">
                <a16:creationId xmlns:a16="http://schemas.microsoft.com/office/drawing/2014/main" id="{C8A067B9-E285-39B3-6939-B1213B9F9E47}"/>
              </a:ext>
            </a:extLst>
          </p:cNvPr>
          <p:cNvPicPr>
            <a:picLocks noChangeAspect="1"/>
          </p:cNvPicPr>
          <p:nvPr/>
        </p:nvPicPr>
        <p:blipFill>
          <a:blip r:embed="rId3"/>
          <a:stretch>
            <a:fillRect/>
          </a:stretch>
        </p:blipFill>
        <p:spPr>
          <a:xfrm>
            <a:off x="1687140" y="3147548"/>
            <a:ext cx="2860208" cy="2769726"/>
          </a:xfrm>
          <a:prstGeom prst="rect">
            <a:avLst/>
          </a:prstGeom>
        </p:spPr>
      </p:pic>
      <p:sp>
        <p:nvSpPr>
          <p:cNvPr id="9" name="TextBox 8">
            <a:extLst>
              <a:ext uri="{FF2B5EF4-FFF2-40B4-BE49-F238E27FC236}">
                <a16:creationId xmlns:a16="http://schemas.microsoft.com/office/drawing/2014/main" id="{9789EE1C-A6DB-5E04-2418-F4563CE3DE96}"/>
              </a:ext>
            </a:extLst>
          </p:cNvPr>
          <p:cNvSpPr txBox="1"/>
          <p:nvPr/>
        </p:nvSpPr>
        <p:spPr>
          <a:xfrm>
            <a:off x="1097279" y="1815053"/>
            <a:ext cx="10399395" cy="1323439"/>
          </a:xfrm>
          <a:prstGeom prst="rect">
            <a:avLst/>
          </a:prstGeom>
          <a:noFill/>
        </p:spPr>
        <p:txBody>
          <a:bodyPr wrap="square">
            <a:spAutoFit/>
          </a:bodyPr>
          <a:lstStyle/>
          <a:p>
            <a:r>
              <a:rPr lang="en-US" sz="1600" b="1" dirty="0"/>
              <a:t>Plotting Reconstructed Transverse momentum imbalance</a:t>
            </a:r>
          </a:p>
          <a:p>
            <a:pPr marL="285750" indent="-285750">
              <a:buFont typeface="Arial" panose="020B0604020202020204" pitchFamily="34" charset="0"/>
              <a:buChar char="•"/>
            </a:pPr>
            <a:r>
              <a:rPr lang="en-US" sz="1600" dirty="0"/>
              <a:t>Transverse momentum imbalance, or the magnitude of the vector diﬀerence between the transverse momentum of the muon and the hadronic system</a:t>
            </a:r>
          </a:p>
          <a:p>
            <a:pPr marL="285750" indent="-285750">
              <a:buFont typeface="Arial" panose="020B0604020202020204" pitchFamily="34" charset="0"/>
              <a:buChar char="•"/>
            </a:pPr>
            <a:r>
              <a:rPr lang="en-US" sz="1600" dirty="0"/>
              <a:t>NOTE: seems like his plot in the paper is actually the reconstructed transverse momentum, and not the transverse momentum imbalance </a:t>
            </a:r>
            <a:endParaRPr lang="en-SG" sz="1600" dirty="0"/>
          </a:p>
        </p:txBody>
      </p:sp>
    </p:spTree>
    <p:extLst>
      <p:ext uri="{BB962C8B-B14F-4D97-AF65-F5344CB8AC3E}">
        <p14:creationId xmlns:p14="http://schemas.microsoft.com/office/powerpoint/2010/main" val="6504376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317CD-2B79-C0E2-ED05-B20E0A9852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E1D7F9-78D6-7214-6671-B5E66C279CDF}"/>
              </a:ext>
            </a:extLst>
          </p:cNvPr>
          <p:cNvSpPr>
            <a:spLocks noGrp="1"/>
          </p:cNvSpPr>
          <p:nvPr>
            <p:ph type="title"/>
          </p:nvPr>
        </p:nvSpPr>
        <p:spPr/>
        <p:txBody>
          <a:bodyPr/>
          <a:lstStyle/>
          <a:p>
            <a:r>
              <a:rPr lang="en-US" b="1" dirty="0"/>
              <a:t>Transverse kinematic imbalance observables</a:t>
            </a:r>
            <a:endParaRPr lang="en-SG" dirty="0"/>
          </a:p>
        </p:txBody>
      </p:sp>
      <p:sp>
        <p:nvSpPr>
          <p:cNvPr id="4" name="TextBox 3">
            <a:extLst>
              <a:ext uri="{FF2B5EF4-FFF2-40B4-BE49-F238E27FC236}">
                <a16:creationId xmlns:a16="http://schemas.microsoft.com/office/drawing/2014/main" id="{6429FEED-4E20-4D28-6D19-5E8E9A818EB5}"/>
              </a:ext>
            </a:extLst>
          </p:cNvPr>
          <p:cNvSpPr txBox="1"/>
          <p:nvPr/>
        </p:nvSpPr>
        <p:spPr>
          <a:xfrm>
            <a:off x="1097279" y="1815053"/>
            <a:ext cx="10399395" cy="1569660"/>
          </a:xfrm>
          <a:prstGeom prst="rect">
            <a:avLst/>
          </a:prstGeom>
          <a:noFill/>
        </p:spPr>
        <p:txBody>
          <a:bodyPr wrap="square">
            <a:spAutoFit/>
          </a:bodyPr>
          <a:lstStyle/>
          <a:p>
            <a:r>
              <a:rPr lang="en-US" sz="1600" b="1" dirty="0"/>
              <a:t>Plotting Reconstructed Transverse momentum imbalance</a:t>
            </a:r>
          </a:p>
          <a:p>
            <a:pPr marL="285750" indent="-285750">
              <a:buFont typeface="Arial" panose="020B0604020202020204" pitchFamily="34" charset="0"/>
              <a:buChar char="•"/>
            </a:pPr>
            <a:r>
              <a:rPr lang="en-US" sz="1600" dirty="0"/>
              <a:t>Transverse momentum imbalance, or the magnitude of the vector diﬀerence between the transverse momentum of the muon and the hadronic system</a:t>
            </a:r>
          </a:p>
          <a:p>
            <a:pPr marL="285750" indent="-285750">
              <a:buFont typeface="Arial" panose="020B0604020202020204" pitchFamily="34" charset="0"/>
              <a:buChar char="•"/>
            </a:pPr>
            <a:r>
              <a:rPr lang="en-US" sz="1600" dirty="0"/>
              <a:t>NOTE: seems like his plot in the paper is actually the reconstructed transverse momentum, and not the transverse momentum imbalance </a:t>
            </a:r>
            <a:endParaRPr lang="en-SG" sz="1600" dirty="0"/>
          </a:p>
          <a:p>
            <a:endParaRPr lang="en-SG" sz="1600" dirty="0"/>
          </a:p>
        </p:txBody>
      </p:sp>
      <p:sp>
        <p:nvSpPr>
          <p:cNvPr id="14" name="TextBox 13">
            <a:extLst>
              <a:ext uri="{FF2B5EF4-FFF2-40B4-BE49-F238E27FC236}">
                <a16:creationId xmlns:a16="http://schemas.microsoft.com/office/drawing/2014/main" id="{6415F234-CA16-6B70-C19A-9D7C872A2C21}"/>
              </a:ext>
            </a:extLst>
          </p:cNvPr>
          <p:cNvSpPr txBox="1"/>
          <p:nvPr/>
        </p:nvSpPr>
        <p:spPr>
          <a:xfrm>
            <a:off x="1097279" y="5891439"/>
            <a:ext cx="4535458" cy="307777"/>
          </a:xfrm>
          <a:prstGeom prst="rect">
            <a:avLst/>
          </a:prstGeom>
          <a:noFill/>
        </p:spPr>
        <p:txBody>
          <a:bodyPr wrap="square">
            <a:spAutoFit/>
          </a:bodyPr>
          <a:lstStyle/>
          <a:p>
            <a:r>
              <a:rPr lang="en-US" sz="1400" b="1" dirty="0"/>
              <a:t>Transverse momentum imbalance from lane’s paper</a:t>
            </a:r>
            <a:endParaRPr lang="en-SG" sz="1400" b="1" dirty="0"/>
          </a:p>
        </p:txBody>
      </p:sp>
      <p:sp>
        <p:nvSpPr>
          <p:cNvPr id="15" name="TextBox 14">
            <a:extLst>
              <a:ext uri="{FF2B5EF4-FFF2-40B4-BE49-F238E27FC236}">
                <a16:creationId xmlns:a16="http://schemas.microsoft.com/office/drawing/2014/main" id="{1CCDF4AF-A61E-E18E-955E-D70B597EC620}"/>
              </a:ext>
            </a:extLst>
          </p:cNvPr>
          <p:cNvSpPr txBox="1"/>
          <p:nvPr/>
        </p:nvSpPr>
        <p:spPr>
          <a:xfrm>
            <a:off x="6322166" y="5815233"/>
            <a:ext cx="5174508" cy="307777"/>
          </a:xfrm>
          <a:prstGeom prst="rect">
            <a:avLst/>
          </a:prstGeom>
          <a:noFill/>
        </p:spPr>
        <p:txBody>
          <a:bodyPr wrap="square">
            <a:spAutoFit/>
          </a:bodyPr>
          <a:lstStyle/>
          <a:p>
            <a:r>
              <a:rPr lang="en-US" sz="1400" b="1" dirty="0"/>
              <a:t>Transverse momentum imbalance</a:t>
            </a:r>
            <a:r>
              <a:rPr lang="en-SG" sz="1400" b="1" dirty="0"/>
              <a:t> </a:t>
            </a:r>
            <a:r>
              <a:rPr lang="en-US" sz="1400" b="1" dirty="0"/>
              <a:t>from my BNB sample</a:t>
            </a:r>
            <a:endParaRPr lang="en-SG" sz="1400" b="1" dirty="0"/>
          </a:p>
        </p:txBody>
      </p:sp>
      <p:pic>
        <p:nvPicPr>
          <p:cNvPr id="8" name="Picture 7">
            <a:extLst>
              <a:ext uri="{FF2B5EF4-FFF2-40B4-BE49-F238E27FC236}">
                <a16:creationId xmlns:a16="http://schemas.microsoft.com/office/drawing/2014/main" id="{BF053F36-7DFF-B77C-607F-75FC2925E8B1}"/>
              </a:ext>
            </a:extLst>
          </p:cNvPr>
          <p:cNvPicPr>
            <a:picLocks noChangeAspect="1"/>
          </p:cNvPicPr>
          <p:nvPr/>
        </p:nvPicPr>
        <p:blipFill>
          <a:blip r:embed="rId2"/>
          <a:stretch>
            <a:fillRect/>
          </a:stretch>
        </p:blipFill>
        <p:spPr>
          <a:xfrm>
            <a:off x="1664851" y="3123585"/>
            <a:ext cx="2858274" cy="2767854"/>
          </a:xfrm>
          <a:prstGeom prst="rect">
            <a:avLst/>
          </a:prstGeom>
        </p:spPr>
      </p:pic>
      <p:pic>
        <p:nvPicPr>
          <p:cNvPr id="9" name="Picture 8">
            <a:extLst>
              <a:ext uri="{FF2B5EF4-FFF2-40B4-BE49-F238E27FC236}">
                <a16:creationId xmlns:a16="http://schemas.microsoft.com/office/drawing/2014/main" id="{30504486-42CB-5989-717E-5EDB0D54A803}"/>
              </a:ext>
            </a:extLst>
          </p:cNvPr>
          <p:cNvPicPr>
            <a:picLocks noChangeAspect="1"/>
          </p:cNvPicPr>
          <p:nvPr/>
        </p:nvPicPr>
        <p:blipFill>
          <a:blip r:embed="rId3"/>
          <a:stretch>
            <a:fillRect/>
          </a:stretch>
        </p:blipFill>
        <p:spPr>
          <a:xfrm>
            <a:off x="6128504" y="2984576"/>
            <a:ext cx="4398645" cy="2830657"/>
          </a:xfrm>
          <a:prstGeom prst="rect">
            <a:avLst/>
          </a:prstGeom>
        </p:spPr>
      </p:pic>
    </p:spTree>
    <p:extLst>
      <p:ext uri="{BB962C8B-B14F-4D97-AF65-F5344CB8AC3E}">
        <p14:creationId xmlns:p14="http://schemas.microsoft.com/office/powerpoint/2010/main" val="28263086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60372-D754-89D6-C90E-38795223B1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D923C-225C-1FA5-D9CD-BD4E8A31ADB5}"/>
              </a:ext>
            </a:extLst>
          </p:cNvPr>
          <p:cNvSpPr>
            <a:spLocks noGrp="1"/>
          </p:cNvSpPr>
          <p:nvPr>
            <p:ph type="title"/>
          </p:nvPr>
        </p:nvSpPr>
        <p:spPr/>
        <p:txBody>
          <a:bodyPr/>
          <a:lstStyle/>
          <a:p>
            <a:r>
              <a:rPr lang="en-US" b="1" dirty="0"/>
              <a:t>Transverse kinematic imbalance observables</a:t>
            </a:r>
            <a:endParaRPr lang="en-SG" dirty="0"/>
          </a:p>
        </p:txBody>
      </p:sp>
      <p:sp>
        <p:nvSpPr>
          <p:cNvPr id="4" name="TextBox 3">
            <a:extLst>
              <a:ext uri="{FF2B5EF4-FFF2-40B4-BE49-F238E27FC236}">
                <a16:creationId xmlns:a16="http://schemas.microsoft.com/office/drawing/2014/main" id="{02F761D6-7B22-C26D-DC67-97EBCD1BF593}"/>
              </a:ext>
            </a:extLst>
          </p:cNvPr>
          <p:cNvSpPr txBox="1"/>
          <p:nvPr/>
        </p:nvSpPr>
        <p:spPr>
          <a:xfrm>
            <a:off x="1097279" y="1815053"/>
            <a:ext cx="10399395" cy="830997"/>
          </a:xfrm>
          <a:prstGeom prst="rect">
            <a:avLst/>
          </a:prstGeom>
          <a:noFill/>
        </p:spPr>
        <p:txBody>
          <a:bodyPr wrap="square">
            <a:spAutoFit/>
          </a:bodyPr>
          <a:lstStyle/>
          <a:p>
            <a:r>
              <a:rPr lang="en-US" sz="1600" b="1" dirty="0"/>
              <a:t>Plotting Reconstructed  transverse boosting angle</a:t>
            </a:r>
          </a:p>
          <a:p>
            <a:pPr marL="285750" indent="-285750">
              <a:buFont typeface="Arial" panose="020B0604020202020204" pitchFamily="34" charset="0"/>
              <a:buChar char="•"/>
            </a:pPr>
            <a:r>
              <a:rPr lang="en-US" sz="1600" dirty="0"/>
              <a:t>Transverse boosting angle, or the angle between the transverse momentum imbalance  vector  and  the  negative  transverse  momentum  of  the  muon</a:t>
            </a:r>
            <a:endParaRPr lang="en-SG" sz="1600" dirty="0"/>
          </a:p>
        </p:txBody>
      </p:sp>
      <p:sp>
        <p:nvSpPr>
          <p:cNvPr id="14" name="TextBox 13">
            <a:extLst>
              <a:ext uri="{FF2B5EF4-FFF2-40B4-BE49-F238E27FC236}">
                <a16:creationId xmlns:a16="http://schemas.microsoft.com/office/drawing/2014/main" id="{35035EA4-F102-3DC7-B182-BDDF5C4F97F3}"/>
              </a:ext>
            </a:extLst>
          </p:cNvPr>
          <p:cNvSpPr txBox="1"/>
          <p:nvPr/>
        </p:nvSpPr>
        <p:spPr>
          <a:xfrm>
            <a:off x="1097279" y="5891439"/>
            <a:ext cx="4535458" cy="307777"/>
          </a:xfrm>
          <a:prstGeom prst="rect">
            <a:avLst/>
          </a:prstGeom>
          <a:noFill/>
        </p:spPr>
        <p:txBody>
          <a:bodyPr wrap="square">
            <a:spAutoFit/>
          </a:bodyPr>
          <a:lstStyle/>
          <a:p>
            <a:r>
              <a:rPr lang="en-SG" sz="1400" b="1" dirty="0"/>
              <a:t>Boosting angle </a:t>
            </a:r>
            <a:r>
              <a:rPr lang="en-US" sz="1400" b="1" dirty="0"/>
              <a:t>from lane’s paper</a:t>
            </a:r>
            <a:endParaRPr lang="en-SG" sz="1400" b="1" dirty="0"/>
          </a:p>
        </p:txBody>
      </p:sp>
      <p:sp>
        <p:nvSpPr>
          <p:cNvPr id="15" name="TextBox 14">
            <a:extLst>
              <a:ext uri="{FF2B5EF4-FFF2-40B4-BE49-F238E27FC236}">
                <a16:creationId xmlns:a16="http://schemas.microsoft.com/office/drawing/2014/main" id="{6404D43C-4318-575C-E0F8-D28A72C93CB8}"/>
              </a:ext>
            </a:extLst>
          </p:cNvPr>
          <p:cNvSpPr txBox="1"/>
          <p:nvPr/>
        </p:nvSpPr>
        <p:spPr>
          <a:xfrm>
            <a:off x="6559265" y="5919306"/>
            <a:ext cx="5174508" cy="307777"/>
          </a:xfrm>
          <a:prstGeom prst="rect">
            <a:avLst/>
          </a:prstGeom>
          <a:noFill/>
        </p:spPr>
        <p:txBody>
          <a:bodyPr wrap="square">
            <a:spAutoFit/>
          </a:bodyPr>
          <a:lstStyle/>
          <a:p>
            <a:r>
              <a:rPr lang="en-SG" sz="1400" b="1" dirty="0"/>
              <a:t>Boosting angle </a:t>
            </a:r>
            <a:r>
              <a:rPr lang="en-US" sz="1400" b="1" dirty="0"/>
              <a:t>from my BNB sample</a:t>
            </a:r>
            <a:endParaRPr lang="en-SG" sz="1400" b="1" dirty="0"/>
          </a:p>
        </p:txBody>
      </p:sp>
      <p:pic>
        <p:nvPicPr>
          <p:cNvPr id="6" name="Picture 5">
            <a:extLst>
              <a:ext uri="{FF2B5EF4-FFF2-40B4-BE49-F238E27FC236}">
                <a16:creationId xmlns:a16="http://schemas.microsoft.com/office/drawing/2014/main" id="{A614619B-68B7-C1FE-2A3C-3273F0E14AD3}"/>
              </a:ext>
            </a:extLst>
          </p:cNvPr>
          <p:cNvPicPr>
            <a:picLocks noChangeAspect="1"/>
          </p:cNvPicPr>
          <p:nvPr/>
        </p:nvPicPr>
        <p:blipFill>
          <a:blip r:embed="rId2"/>
          <a:stretch>
            <a:fillRect/>
          </a:stretch>
        </p:blipFill>
        <p:spPr>
          <a:xfrm>
            <a:off x="6126480" y="2791233"/>
            <a:ext cx="4860809" cy="3128073"/>
          </a:xfrm>
          <a:prstGeom prst="rect">
            <a:avLst/>
          </a:prstGeom>
        </p:spPr>
      </p:pic>
      <p:pic>
        <p:nvPicPr>
          <p:cNvPr id="9" name="Picture 8">
            <a:extLst>
              <a:ext uri="{FF2B5EF4-FFF2-40B4-BE49-F238E27FC236}">
                <a16:creationId xmlns:a16="http://schemas.microsoft.com/office/drawing/2014/main" id="{6A41C518-62BB-5596-D569-3F2D953E12DB}"/>
              </a:ext>
            </a:extLst>
          </p:cNvPr>
          <p:cNvPicPr>
            <a:picLocks noChangeAspect="1"/>
          </p:cNvPicPr>
          <p:nvPr/>
        </p:nvPicPr>
        <p:blipFill>
          <a:blip r:embed="rId3"/>
          <a:stretch>
            <a:fillRect/>
          </a:stretch>
        </p:blipFill>
        <p:spPr>
          <a:xfrm>
            <a:off x="802254" y="2723743"/>
            <a:ext cx="3269613" cy="3195563"/>
          </a:xfrm>
          <a:prstGeom prst="rect">
            <a:avLst/>
          </a:prstGeom>
        </p:spPr>
      </p:pic>
    </p:spTree>
    <p:extLst>
      <p:ext uri="{BB962C8B-B14F-4D97-AF65-F5344CB8AC3E}">
        <p14:creationId xmlns:p14="http://schemas.microsoft.com/office/powerpoint/2010/main" val="15390169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441E9-D6D7-0498-A8A6-09113930D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047A1-8676-6E11-D4E8-26D6819A3B62}"/>
              </a:ext>
            </a:extLst>
          </p:cNvPr>
          <p:cNvSpPr>
            <a:spLocks noGrp="1"/>
          </p:cNvSpPr>
          <p:nvPr>
            <p:ph type="title"/>
          </p:nvPr>
        </p:nvSpPr>
        <p:spPr/>
        <p:txBody>
          <a:bodyPr/>
          <a:lstStyle/>
          <a:p>
            <a:r>
              <a:rPr lang="en-US" b="1" dirty="0"/>
              <a:t>Four-Momentum Transfer and Hadronic Invariant Mass observables </a:t>
            </a:r>
            <a:endParaRPr lang="en-SG" b="1" dirty="0"/>
          </a:p>
        </p:txBody>
      </p:sp>
      <p:sp>
        <p:nvSpPr>
          <p:cNvPr id="4" name="TextBox 3">
            <a:extLst>
              <a:ext uri="{FF2B5EF4-FFF2-40B4-BE49-F238E27FC236}">
                <a16:creationId xmlns:a16="http://schemas.microsoft.com/office/drawing/2014/main" id="{35C97DAB-5418-8A8E-A6AB-3E5A1B399A9B}"/>
              </a:ext>
            </a:extLst>
          </p:cNvPr>
          <p:cNvSpPr txBox="1"/>
          <p:nvPr/>
        </p:nvSpPr>
        <p:spPr>
          <a:xfrm>
            <a:off x="1097279" y="1815053"/>
            <a:ext cx="10399395" cy="584775"/>
          </a:xfrm>
          <a:prstGeom prst="rect">
            <a:avLst/>
          </a:prstGeom>
          <a:noFill/>
        </p:spPr>
        <p:txBody>
          <a:bodyPr wrap="square">
            <a:spAutoFit/>
          </a:bodyPr>
          <a:lstStyle/>
          <a:p>
            <a:r>
              <a:rPr lang="en-US" sz="1600" b="1" dirty="0"/>
              <a:t>Plotting Four-Momentum Transfer </a:t>
            </a:r>
          </a:p>
          <a:p>
            <a:pPr marL="285750" indent="-285750">
              <a:buFont typeface="Arial" panose="020B0604020202020204" pitchFamily="34" charset="0"/>
              <a:buChar char="•"/>
            </a:pPr>
            <a:r>
              <a:rPr lang="en-US" sz="1600" dirty="0"/>
              <a:t>Squared four-momentum transfer to target nucleon</a:t>
            </a:r>
            <a:endParaRPr lang="en-SG" sz="1600" dirty="0"/>
          </a:p>
        </p:txBody>
      </p:sp>
      <p:sp>
        <p:nvSpPr>
          <p:cNvPr id="14" name="TextBox 13">
            <a:extLst>
              <a:ext uri="{FF2B5EF4-FFF2-40B4-BE49-F238E27FC236}">
                <a16:creationId xmlns:a16="http://schemas.microsoft.com/office/drawing/2014/main" id="{14E4DAE9-6711-D902-C851-CA84A189BB51}"/>
              </a:ext>
            </a:extLst>
          </p:cNvPr>
          <p:cNvSpPr txBox="1"/>
          <p:nvPr/>
        </p:nvSpPr>
        <p:spPr>
          <a:xfrm>
            <a:off x="1097279" y="5891439"/>
            <a:ext cx="4535458" cy="307777"/>
          </a:xfrm>
          <a:prstGeom prst="rect">
            <a:avLst/>
          </a:prstGeom>
          <a:noFill/>
        </p:spPr>
        <p:txBody>
          <a:bodyPr wrap="square">
            <a:spAutoFit/>
          </a:bodyPr>
          <a:lstStyle/>
          <a:p>
            <a:r>
              <a:rPr lang="en-US" sz="1400" b="1" dirty="0"/>
              <a:t>Four-Momentum Transfer from lane’s paper</a:t>
            </a:r>
            <a:endParaRPr lang="en-SG" sz="1400" b="1" dirty="0"/>
          </a:p>
        </p:txBody>
      </p:sp>
      <p:sp>
        <p:nvSpPr>
          <p:cNvPr id="15" name="TextBox 14">
            <a:extLst>
              <a:ext uri="{FF2B5EF4-FFF2-40B4-BE49-F238E27FC236}">
                <a16:creationId xmlns:a16="http://schemas.microsoft.com/office/drawing/2014/main" id="{1277DE49-E970-13CA-B8E2-73B68DEB6FDD}"/>
              </a:ext>
            </a:extLst>
          </p:cNvPr>
          <p:cNvSpPr txBox="1"/>
          <p:nvPr/>
        </p:nvSpPr>
        <p:spPr>
          <a:xfrm>
            <a:off x="6559265" y="5919306"/>
            <a:ext cx="5174508" cy="307777"/>
          </a:xfrm>
          <a:prstGeom prst="rect">
            <a:avLst/>
          </a:prstGeom>
          <a:noFill/>
        </p:spPr>
        <p:txBody>
          <a:bodyPr wrap="square">
            <a:spAutoFit/>
          </a:bodyPr>
          <a:lstStyle/>
          <a:p>
            <a:r>
              <a:rPr lang="en-US" sz="1400" b="1" dirty="0"/>
              <a:t>Four-Momentum Transfer from my BNB sample</a:t>
            </a:r>
            <a:endParaRPr lang="en-SG" sz="1400" b="1" dirty="0"/>
          </a:p>
        </p:txBody>
      </p:sp>
      <p:pic>
        <p:nvPicPr>
          <p:cNvPr id="5" name="Picture 4">
            <a:extLst>
              <a:ext uri="{FF2B5EF4-FFF2-40B4-BE49-F238E27FC236}">
                <a16:creationId xmlns:a16="http://schemas.microsoft.com/office/drawing/2014/main" id="{823976C6-C9BC-9E96-7317-9AA833E267E8}"/>
              </a:ext>
            </a:extLst>
          </p:cNvPr>
          <p:cNvPicPr>
            <a:picLocks noChangeAspect="1"/>
          </p:cNvPicPr>
          <p:nvPr/>
        </p:nvPicPr>
        <p:blipFill>
          <a:blip r:embed="rId2"/>
          <a:stretch>
            <a:fillRect/>
          </a:stretch>
        </p:blipFill>
        <p:spPr>
          <a:xfrm>
            <a:off x="5632736" y="2622985"/>
            <a:ext cx="5122253" cy="3296321"/>
          </a:xfrm>
          <a:prstGeom prst="rect">
            <a:avLst/>
          </a:prstGeom>
        </p:spPr>
      </p:pic>
      <p:pic>
        <p:nvPicPr>
          <p:cNvPr id="8" name="Picture 7">
            <a:extLst>
              <a:ext uri="{FF2B5EF4-FFF2-40B4-BE49-F238E27FC236}">
                <a16:creationId xmlns:a16="http://schemas.microsoft.com/office/drawing/2014/main" id="{BAEA7560-CD1A-B767-57EE-A45B1F1197D5}"/>
              </a:ext>
            </a:extLst>
          </p:cNvPr>
          <p:cNvPicPr>
            <a:picLocks noChangeAspect="1"/>
          </p:cNvPicPr>
          <p:nvPr/>
        </p:nvPicPr>
        <p:blipFill>
          <a:blip r:embed="rId3"/>
          <a:stretch>
            <a:fillRect/>
          </a:stretch>
        </p:blipFill>
        <p:spPr>
          <a:xfrm>
            <a:off x="1045899" y="2595117"/>
            <a:ext cx="3363593" cy="3296321"/>
          </a:xfrm>
          <a:prstGeom prst="rect">
            <a:avLst/>
          </a:prstGeom>
        </p:spPr>
      </p:pic>
    </p:spTree>
    <p:extLst>
      <p:ext uri="{BB962C8B-B14F-4D97-AF65-F5344CB8AC3E}">
        <p14:creationId xmlns:p14="http://schemas.microsoft.com/office/powerpoint/2010/main" val="16452728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48746-BB39-6F9E-0ABA-DADE8D612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E5D79-BFFE-EA73-78DF-3321F6EE9293}"/>
              </a:ext>
            </a:extLst>
          </p:cNvPr>
          <p:cNvSpPr>
            <a:spLocks noGrp="1"/>
          </p:cNvSpPr>
          <p:nvPr>
            <p:ph type="title"/>
          </p:nvPr>
        </p:nvSpPr>
        <p:spPr/>
        <p:txBody>
          <a:bodyPr/>
          <a:lstStyle/>
          <a:p>
            <a:r>
              <a:rPr lang="en-US" b="1" dirty="0"/>
              <a:t>Four-Momentum Transfer and Hadronic Invariant Mass observables </a:t>
            </a:r>
            <a:endParaRPr lang="en-SG" b="1" dirty="0"/>
          </a:p>
        </p:txBody>
      </p:sp>
      <p:sp>
        <p:nvSpPr>
          <p:cNvPr id="4" name="TextBox 3">
            <a:extLst>
              <a:ext uri="{FF2B5EF4-FFF2-40B4-BE49-F238E27FC236}">
                <a16:creationId xmlns:a16="http://schemas.microsoft.com/office/drawing/2014/main" id="{0B02A1A5-952D-BAFC-2822-3C039ECDDA2D}"/>
              </a:ext>
            </a:extLst>
          </p:cNvPr>
          <p:cNvSpPr txBox="1"/>
          <p:nvPr/>
        </p:nvSpPr>
        <p:spPr>
          <a:xfrm>
            <a:off x="1097279" y="1815053"/>
            <a:ext cx="10399395" cy="584775"/>
          </a:xfrm>
          <a:prstGeom prst="rect">
            <a:avLst/>
          </a:prstGeom>
          <a:noFill/>
        </p:spPr>
        <p:txBody>
          <a:bodyPr wrap="square">
            <a:spAutoFit/>
          </a:bodyPr>
          <a:lstStyle/>
          <a:p>
            <a:r>
              <a:rPr lang="en-US" sz="1600" b="1" dirty="0"/>
              <a:t>Plotting Hadronic Invariant Mass</a:t>
            </a:r>
          </a:p>
          <a:p>
            <a:pPr marL="285750" indent="-285750">
              <a:buFont typeface="Arial" panose="020B0604020202020204" pitchFamily="34" charset="0"/>
              <a:buChar char="•"/>
            </a:pPr>
            <a:r>
              <a:rPr lang="en-US" sz="1600" dirty="0"/>
              <a:t>Hadronic invariant mass of the ﬁnal state</a:t>
            </a:r>
            <a:endParaRPr lang="en-SG" sz="1600" dirty="0"/>
          </a:p>
        </p:txBody>
      </p:sp>
      <p:sp>
        <p:nvSpPr>
          <p:cNvPr id="14" name="TextBox 13">
            <a:extLst>
              <a:ext uri="{FF2B5EF4-FFF2-40B4-BE49-F238E27FC236}">
                <a16:creationId xmlns:a16="http://schemas.microsoft.com/office/drawing/2014/main" id="{C0285F44-E328-A8FF-8A75-F4E7A7F6F7DD}"/>
              </a:ext>
            </a:extLst>
          </p:cNvPr>
          <p:cNvSpPr txBox="1"/>
          <p:nvPr/>
        </p:nvSpPr>
        <p:spPr>
          <a:xfrm>
            <a:off x="1097279" y="5891439"/>
            <a:ext cx="4535458" cy="307777"/>
          </a:xfrm>
          <a:prstGeom prst="rect">
            <a:avLst/>
          </a:prstGeom>
          <a:noFill/>
        </p:spPr>
        <p:txBody>
          <a:bodyPr wrap="square">
            <a:spAutoFit/>
          </a:bodyPr>
          <a:lstStyle/>
          <a:p>
            <a:r>
              <a:rPr lang="en-US" sz="1400" b="1" dirty="0"/>
              <a:t>Hadronic Invariant Mass from lane’s paper</a:t>
            </a:r>
            <a:endParaRPr lang="en-SG" sz="1400" b="1" dirty="0"/>
          </a:p>
        </p:txBody>
      </p:sp>
      <p:sp>
        <p:nvSpPr>
          <p:cNvPr id="15" name="TextBox 14">
            <a:extLst>
              <a:ext uri="{FF2B5EF4-FFF2-40B4-BE49-F238E27FC236}">
                <a16:creationId xmlns:a16="http://schemas.microsoft.com/office/drawing/2014/main" id="{AFE83911-DCF8-8C82-3045-4330FD139A07}"/>
              </a:ext>
            </a:extLst>
          </p:cNvPr>
          <p:cNvSpPr txBox="1"/>
          <p:nvPr/>
        </p:nvSpPr>
        <p:spPr>
          <a:xfrm>
            <a:off x="6559265" y="5919306"/>
            <a:ext cx="5174508" cy="307777"/>
          </a:xfrm>
          <a:prstGeom prst="rect">
            <a:avLst/>
          </a:prstGeom>
          <a:noFill/>
        </p:spPr>
        <p:txBody>
          <a:bodyPr wrap="square">
            <a:spAutoFit/>
          </a:bodyPr>
          <a:lstStyle/>
          <a:p>
            <a:r>
              <a:rPr lang="en-US" sz="1400" b="1" dirty="0"/>
              <a:t>Hadronic Invariant Mass from my BNB sample</a:t>
            </a:r>
            <a:endParaRPr lang="en-SG" sz="1400" b="1" dirty="0"/>
          </a:p>
        </p:txBody>
      </p:sp>
      <p:pic>
        <p:nvPicPr>
          <p:cNvPr id="6" name="Picture 5">
            <a:extLst>
              <a:ext uri="{FF2B5EF4-FFF2-40B4-BE49-F238E27FC236}">
                <a16:creationId xmlns:a16="http://schemas.microsoft.com/office/drawing/2014/main" id="{605BAAF9-FDBB-8310-C16A-9C547E768A21}"/>
              </a:ext>
            </a:extLst>
          </p:cNvPr>
          <p:cNvPicPr>
            <a:picLocks noChangeAspect="1"/>
          </p:cNvPicPr>
          <p:nvPr/>
        </p:nvPicPr>
        <p:blipFill>
          <a:blip r:embed="rId2"/>
          <a:stretch>
            <a:fillRect/>
          </a:stretch>
        </p:blipFill>
        <p:spPr>
          <a:xfrm>
            <a:off x="603365" y="2774904"/>
            <a:ext cx="4566107" cy="3144402"/>
          </a:xfrm>
          <a:prstGeom prst="rect">
            <a:avLst/>
          </a:prstGeom>
        </p:spPr>
      </p:pic>
      <p:pic>
        <p:nvPicPr>
          <p:cNvPr id="11" name="Picture 10">
            <a:extLst>
              <a:ext uri="{FF2B5EF4-FFF2-40B4-BE49-F238E27FC236}">
                <a16:creationId xmlns:a16="http://schemas.microsoft.com/office/drawing/2014/main" id="{EA2A85A6-0380-70B9-2FB7-9AF8158FD1EE}"/>
              </a:ext>
            </a:extLst>
          </p:cNvPr>
          <p:cNvPicPr>
            <a:picLocks noChangeAspect="1"/>
          </p:cNvPicPr>
          <p:nvPr/>
        </p:nvPicPr>
        <p:blipFill>
          <a:blip r:embed="rId3"/>
          <a:stretch>
            <a:fillRect/>
          </a:stretch>
        </p:blipFill>
        <p:spPr>
          <a:xfrm>
            <a:off x="5834351" y="2774904"/>
            <a:ext cx="5141343" cy="3177757"/>
          </a:xfrm>
          <a:prstGeom prst="rect">
            <a:avLst/>
          </a:prstGeom>
        </p:spPr>
      </p:pic>
    </p:spTree>
    <p:extLst>
      <p:ext uri="{BB962C8B-B14F-4D97-AF65-F5344CB8AC3E}">
        <p14:creationId xmlns:p14="http://schemas.microsoft.com/office/powerpoint/2010/main" val="42250450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A6347-9C27-81D9-AD60-A8DAEC959E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3D92CF-F033-7100-EC9D-1E9DB96DF5E6}"/>
              </a:ext>
            </a:extLst>
          </p:cNvPr>
          <p:cNvSpPr>
            <a:spLocks noGrp="1"/>
          </p:cNvSpPr>
          <p:nvPr>
            <p:ph type="title"/>
          </p:nvPr>
        </p:nvSpPr>
        <p:spPr/>
        <p:txBody>
          <a:bodyPr/>
          <a:lstStyle/>
          <a:p>
            <a:r>
              <a:rPr lang="en-SG" b="1" dirty="0"/>
              <a:t>Neutral Pion Mass observables</a:t>
            </a:r>
          </a:p>
        </p:txBody>
      </p:sp>
      <p:sp>
        <p:nvSpPr>
          <p:cNvPr id="4" name="TextBox 3">
            <a:extLst>
              <a:ext uri="{FF2B5EF4-FFF2-40B4-BE49-F238E27FC236}">
                <a16:creationId xmlns:a16="http://schemas.microsoft.com/office/drawing/2014/main" id="{C8AFF91B-F2F8-1945-A9DC-73E42C54B88B}"/>
              </a:ext>
            </a:extLst>
          </p:cNvPr>
          <p:cNvSpPr txBox="1"/>
          <p:nvPr/>
        </p:nvSpPr>
        <p:spPr>
          <a:xfrm>
            <a:off x="1097279" y="1815053"/>
            <a:ext cx="10399395" cy="338554"/>
          </a:xfrm>
          <a:prstGeom prst="rect">
            <a:avLst/>
          </a:prstGeom>
          <a:noFill/>
        </p:spPr>
        <p:txBody>
          <a:bodyPr wrap="square">
            <a:spAutoFit/>
          </a:bodyPr>
          <a:lstStyle/>
          <a:p>
            <a:r>
              <a:rPr lang="en-US" sz="1600" b="1" dirty="0"/>
              <a:t>Plotting leading photon KE</a:t>
            </a:r>
            <a:endParaRPr lang="en-SG" sz="1600" dirty="0"/>
          </a:p>
        </p:txBody>
      </p:sp>
      <p:sp>
        <p:nvSpPr>
          <p:cNvPr id="14" name="TextBox 13">
            <a:extLst>
              <a:ext uri="{FF2B5EF4-FFF2-40B4-BE49-F238E27FC236}">
                <a16:creationId xmlns:a16="http://schemas.microsoft.com/office/drawing/2014/main" id="{84F4EF03-2649-F9E9-EE01-4704B5ADF59B}"/>
              </a:ext>
            </a:extLst>
          </p:cNvPr>
          <p:cNvSpPr txBox="1"/>
          <p:nvPr/>
        </p:nvSpPr>
        <p:spPr>
          <a:xfrm>
            <a:off x="1097279" y="5891439"/>
            <a:ext cx="4535458" cy="307777"/>
          </a:xfrm>
          <a:prstGeom prst="rect">
            <a:avLst/>
          </a:prstGeom>
          <a:noFill/>
        </p:spPr>
        <p:txBody>
          <a:bodyPr wrap="square">
            <a:spAutoFit/>
          </a:bodyPr>
          <a:lstStyle/>
          <a:p>
            <a:r>
              <a:rPr lang="en-US" sz="1400" b="1" dirty="0"/>
              <a:t>leading photon KE from lane’s paper</a:t>
            </a:r>
            <a:endParaRPr lang="en-SG" sz="1400" b="1" dirty="0"/>
          </a:p>
        </p:txBody>
      </p:sp>
      <p:sp>
        <p:nvSpPr>
          <p:cNvPr id="15" name="TextBox 14">
            <a:extLst>
              <a:ext uri="{FF2B5EF4-FFF2-40B4-BE49-F238E27FC236}">
                <a16:creationId xmlns:a16="http://schemas.microsoft.com/office/drawing/2014/main" id="{5412C430-5726-6287-0BCB-84ECEBE2BC01}"/>
              </a:ext>
            </a:extLst>
          </p:cNvPr>
          <p:cNvSpPr txBox="1"/>
          <p:nvPr/>
        </p:nvSpPr>
        <p:spPr>
          <a:xfrm>
            <a:off x="6559265" y="5919306"/>
            <a:ext cx="5174508" cy="307777"/>
          </a:xfrm>
          <a:prstGeom prst="rect">
            <a:avLst/>
          </a:prstGeom>
          <a:noFill/>
        </p:spPr>
        <p:txBody>
          <a:bodyPr wrap="square">
            <a:spAutoFit/>
          </a:bodyPr>
          <a:lstStyle/>
          <a:p>
            <a:r>
              <a:rPr lang="en-US" sz="1400" b="1" dirty="0"/>
              <a:t>leading photon KE from my BNB sample</a:t>
            </a:r>
            <a:endParaRPr lang="en-SG" sz="1400" b="1" dirty="0"/>
          </a:p>
        </p:txBody>
      </p:sp>
      <p:pic>
        <p:nvPicPr>
          <p:cNvPr id="17" name="Picture 16">
            <a:extLst>
              <a:ext uri="{FF2B5EF4-FFF2-40B4-BE49-F238E27FC236}">
                <a16:creationId xmlns:a16="http://schemas.microsoft.com/office/drawing/2014/main" id="{29657B87-25BE-C822-B506-6E64D2F0D1E4}"/>
              </a:ext>
            </a:extLst>
          </p:cNvPr>
          <p:cNvPicPr>
            <a:picLocks noChangeAspect="1"/>
          </p:cNvPicPr>
          <p:nvPr/>
        </p:nvPicPr>
        <p:blipFill>
          <a:blip r:embed="rId2"/>
          <a:stretch>
            <a:fillRect/>
          </a:stretch>
        </p:blipFill>
        <p:spPr>
          <a:xfrm>
            <a:off x="667486" y="2391806"/>
            <a:ext cx="3619010" cy="3499633"/>
          </a:xfrm>
          <a:prstGeom prst="rect">
            <a:avLst/>
          </a:prstGeom>
        </p:spPr>
      </p:pic>
      <p:pic>
        <p:nvPicPr>
          <p:cNvPr id="23" name="Picture 22">
            <a:extLst>
              <a:ext uri="{FF2B5EF4-FFF2-40B4-BE49-F238E27FC236}">
                <a16:creationId xmlns:a16="http://schemas.microsoft.com/office/drawing/2014/main" id="{6036284D-8F17-DFFD-A450-E9BEC0450934}"/>
              </a:ext>
            </a:extLst>
          </p:cNvPr>
          <p:cNvPicPr>
            <a:picLocks noChangeAspect="1"/>
          </p:cNvPicPr>
          <p:nvPr/>
        </p:nvPicPr>
        <p:blipFill>
          <a:blip r:embed="rId3"/>
          <a:stretch>
            <a:fillRect/>
          </a:stretch>
        </p:blipFill>
        <p:spPr>
          <a:xfrm>
            <a:off x="5356511" y="2391805"/>
            <a:ext cx="5495767" cy="3499633"/>
          </a:xfrm>
          <a:prstGeom prst="rect">
            <a:avLst/>
          </a:prstGeom>
        </p:spPr>
      </p:pic>
    </p:spTree>
    <p:extLst>
      <p:ext uri="{BB962C8B-B14F-4D97-AF65-F5344CB8AC3E}">
        <p14:creationId xmlns:p14="http://schemas.microsoft.com/office/powerpoint/2010/main" val="37821327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80585-D932-E9CA-8CD2-EAFFF34A5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C0AC5D-273B-B953-D97E-603B3DC3ADA3}"/>
              </a:ext>
            </a:extLst>
          </p:cNvPr>
          <p:cNvSpPr>
            <a:spLocks noGrp="1"/>
          </p:cNvSpPr>
          <p:nvPr>
            <p:ph type="title"/>
          </p:nvPr>
        </p:nvSpPr>
        <p:spPr/>
        <p:txBody>
          <a:bodyPr/>
          <a:lstStyle/>
          <a:p>
            <a:r>
              <a:rPr lang="en-SG" b="1" dirty="0"/>
              <a:t>Neutral Pion Mass observables</a:t>
            </a:r>
          </a:p>
        </p:txBody>
      </p:sp>
      <p:sp>
        <p:nvSpPr>
          <p:cNvPr id="4" name="TextBox 3">
            <a:extLst>
              <a:ext uri="{FF2B5EF4-FFF2-40B4-BE49-F238E27FC236}">
                <a16:creationId xmlns:a16="http://schemas.microsoft.com/office/drawing/2014/main" id="{6B4B821F-9F17-EDA7-8AF2-8F83DF1DC045}"/>
              </a:ext>
            </a:extLst>
          </p:cNvPr>
          <p:cNvSpPr txBox="1"/>
          <p:nvPr/>
        </p:nvSpPr>
        <p:spPr>
          <a:xfrm>
            <a:off x="1097279" y="1815053"/>
            <a:ext cx="10399395" cy="338554"/>
          </a:xfrm>
          <a:prstGeom prst="rect">
            <a:avLst/>
          </a:prstGeom>
          <a:noFill/>
        </p:spPr>
        <p:txBody>
          <a:bodyPr wrap="square">
            <a:spAutoFit/>
          </a:bodyPr>
          <a:lstStyle/>
          <a:p>
            <a:r>
              <a:rPr lang="en-US" sz="1600" b="1" dirty="0"/>
              <a:t>Plotting </a:t>
            </a:r>
            <a:r>
              <a:rPr lang="en-US" sz="1600" b="1" dirty="0" err="1"/>
              <a:t>subleading</a:t>
            </a:r>
            <a:r>
              <a:rPr lang="en-US" sz="1600" b="1" dirty="0"/>
              <a:t> photon KE</a:t>
            </a:r>
            <a:endParaRPr lang="en-SG" sz="1600" dirty="0"/>
          </a:p>
        </p:txBody>
      </p:sp>
      <p:sp>
        <p:nvSpPr>
          <p:cNvPr id="14" name="TextBox 13">
            <a:extLst>
              <a:ext uri="{FF2B5EF4-FFF2-40B4-BE49-F238E27FC236}">
                <a16:creationId xmlns:a16="http://schemas.microsoft.com/office/drawing/2014/main" id="{F87D140E-32ED-2FC1-5DBE-B13691A9298E}"/>
              </a:ext>
            </a:extLst>
          </p:cNvPr>
          <p:cNvSpPr txBox="1"/>
          <p:nvPr/>
        </p:nvSpPr>
        <p:spPr>
          <a:xfrm>
            <a:off x="1097279" y="5891439"/>
            <a:ext cx="4535458" cy="307777"/>
          </a:xfrm>
          <a:prstGeom prst="rect">
            <a:avLst/>
          </a:prstGeom>
          <a:noFill/>
        </p:spPr>
        <p:txBody>
          <a:bodyPr wrap="square">
            <a:spAutoFit/>
          </a:bodyPr>
          <a:lstStyle/>
          <a:p>
            <a:r>
              <a:rPr lang="en-US" sz="1400" b="1" dirty="0" err="1"/>
              <a:t>subleading</a:t>
            </a:r>
            <a:r>
              <a:rPr lang="en-US" sz="1400" b="1" dirty="0"/>
              <a:t> photon KE from lane’s paper</a:t>
            </a:r>
            <a:endParaRPr lang="en-SG" sz="1400" b="1" dirty="0"/>
          </a:p>
        </p:txBody>
      </p:sp>
      <p:sp>
        <p:nvSpPr>
          <p:cNvPr id="15" name="TextBox 14">
            <a:extLst>
              <a:ext uri="{FF2B5EF4-FFF2-40B4-BE49-F238E27FC236}">
                <a16:creationId xmlns:a16="http://schemas.microsoft.com/office/drawing/2014/main" id="{8950EF55-615D-9E09-3F63-B326AAA62A3F}"/>
              </a:ext>
            </a:extLst>
          </p:cNvPr>
          <p:cNvSpPr txBox="1"/>
          <p:nvPr/>
        </p:nvSpPr>
        <p:spPr>
          <a:xfrm>
            <a:off x="6559265" y="5919306"/>
            <a:ext cx="5174508" cy="307777"/>
          </a:xfrm>
          <a:prstGeom prst="rect">
            <a:avLst/>
          </a:prstGeom>
          <a:noFill/>
        </p:spPr>
        <p:txBody>
          <a:bodyPr wrap="square">
            <a:spAutoFit/>
          </a:bodyPr>
          <a:lstStyle/>
          <a:p>
            <a:r>
              <a:rPr lang="en-US" sz="1400" b="1" dirty="0" err="1"/>
              <a:t>subleading</a:t>
            </a:r>
            <a:r>
              <a:rPr lang="en-US" sz="1400" b="1" dirty="0"/>
              <a:t> photon KE from my BNB sample</a:t>
            </a:r>
            <a:endParaRPr lang="en-SG" sz="1400" b="1" dirty="0"/>
          </a:p>
        </p:txBody>
      </p:sp>
      <p:pic>
        <p:nvPicPr>
          <p:cNvPr id="5" name="Picture 4">
            <a:extLst>
              <a:ext uri="{FF2B5EF4-FFF2-40B4-BE49-F238E27FC236}">
                <a16:creationId xmlns:a16="http://schemas.microsoft.com/office/drawing/2014/main" id="{079C18FE-B2A3-E32B-8E84-21E80F16B2E6}"/>
              </a:ext>
            </a:extLst>
          </p:cNvPr>
          <p:cNvPicPr>
            <a:picLocks noChangeAspect="1"/>
          </p:cNvPicPr>
          <p:nvPr/>
        </p:nvPicPr>
        <p:blipFill>
          <a:blip r:embed="rId2"/>
          <a:stretch>
            <a:fillRect/>
          </a:stretch>
        </p:blipFill>
        <p:spPr>
          <a:xfrm>
            <a:off x="963421" y="2535031"/>
            <a:ext cx="3421720" cy="3403455"/>
          </a:xfrm>
          <a:prstGeom prst="rect">
            <a:avLst/>
          </a:prstGeom>
        </p:spPr>
      </p:pic>
      <p:pic>
        <p:nvPicPr>
          <p:cNvPr id="9" name="Picture 8">
            <a:extLst>
              <a:ext uri="{FF2B5EF4-FFF2-40B4-BE49-F238E27FC236}">
                <a16:creationId xmlns:a16="http://schemas.microsoft.com/office/drawing/2014/main" id="{07D5CAB4-58AE-A513-8C65-9105D6AD4F88}"/>
              </a:ext>
            </a:extLst>
          </p:cNvPr>
          <p:cNvPicPr>
            <a:picLocks noChangeAspect="1"/>
          </p:cNvPicPr>
          <p:nvPr/>
        </p:nvPicPr>
        <p:blipFill>
          <a:blip r:embed="rId3"/>
          <a:stretch>
            <a:fillRect/>
          </a:stretch>
        </p:blipFill>
        <p:spPr>
          <a:xfrm>
            <a:off x="5462444" y="2490762"/>
            <a:ext cx="5408756" cy="3400677"/>
          </a:xfrm>
          <a:prstGeom prst="rect">
            <a:avLst/>
          </a:prstGeom>
        </p:spPr>
      </p:pic>
    </p:spTree>
    <p:extLst>
      <p:ext uri="{BB962C8B-B14F-4D97-AF65-F5344CB8AC3E}">
        <p14:creationId xmlns:p14="http://schemas.microsoft.com/office/powerpoint/2010/main" val="32073111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0097A-F892-7511-E064-7CF53821C0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147FE-AE52-C439-A0B7-E2386862240E}"/>
              </a:ext>
            </a:extLst>
          </p:cNvPr>
          <p:cNvSpPr>
            <a:spLocks noGrp="1"/>
          </p:cNvSpPr>
          <p:nvPr>
            <p:ph type="title"/>
          </p:nvPr>
        </p:nvSpPr>
        <p:spPr/>
        <p:txBody>
          <a:bodyPr/>
          <a:lstStyle/>
          <a:p>
            <a:r>
              <a:rPr lang="en-SG" b="1" dirty="0"/>
              <a:t>Neutral Pion Mass observables</a:t>
            </a:r>
          </a:p>
        </p:txBody>
      </p:sp>
      <p:sp>
        <p:nvSpPr>
          <p:cNvPr id="4" name="TextBox 3">
            <a:extLst>
              <a:ext uri="{FF2B5EF4-FFF2-40B4-BE49-F238E27FC236}">
                <a16:creationId xmlns:a16="http://schemas.microsoft.com/office/drawing/2014/main" id="{CD81793E-E307-035A-0A89-B98867A929CC}"/>
              </a:ext>
            </a:extLst>
          </p:cNvPr>
          <p:cNvSpPr txBox="1"/>
          <p:nvPr/>
        </p:nvSpPr>
        <p:spPr>
          <a:xfrm>
            <a:off x="1097279" y="1815053"/>
            <a:ext cx="10399395" cy="338554"/>
          </a:xfrm>
          <a:prstGeom prst="rect">
            <a:avLst/>
          </a:prstGeom>
          <a:noFill/>
        </p:spPr>
        <p:txBody>
          <a:bodyPr wrap="square">
            <a:spAutoFit/>
          </a:bodyPr>
          <a:lstStyle/>
          <a:p>
            <a:r>
              <a:rPr lang="en-US" sz="1600" b="1" dirty="0"/>
              <a:t>Plotting </a:t>
            </a:r>
            <a:r>
              <a:rPr lang="en-SG" sz="1600" b="1" dirty="0"/>
              <a:t>pi0 di-photon opening angle</a:t>
            </a:r>
          </a:p>
        </p:txBody>
      </p:sp>
      <p:sp>
        <p:nvSpPr>
          <p:cNvPr id="14" name="TextBox 13">
            <a:extLst>
              <a:ext uri="{FF2B5EF4-FFF2-40B4-BE49-F238E27FC236}">
                <a16:creationId xmlns:a16="http://schemas.microsoft.com/office/drawing/2014/main" id="{56C4D605-EB23-2142-58C8-A5F087CA549C}"/>
              </a:ext>
            </a:extLst>
          </p:cNvPr>
          <p:cNvSpPr txBox="1"/>
          <p:nvPr/>
        </p:nvSpPr>
        <p:spPr>
          <a:xfrm>
            <a:off x="1097279" y="5891439"/>
            <a:ext cx="4535458" cy="307777"/>
          </a:xfrm>
          <a:prstGeom prst="rect">
            <a:avLst/>
          </a:prstGeom>
          <a:noFill/>
        </p:spPr>
        <p:txBody>
          <a:bodyPr wrap="square">
            <a:spAutoFit/>
          </a:bodyPr>
          <a:lstStyle/>
          <a:p>
            <a:r>
              <a:rPr lang="en-SG" sz="1400" b="1" dirty="0"/>
              <a:t>pi0 di-photon opening angle</a:t>
            </a:r>
            <a:r>
              <a:rPr lang="en-US" sz="1400" b="1" dirty="0"/>
              <a:t> from lane’s paper</a:t>
            </a:r>
            <a:endParaRPr lang="en-SG" sz="1400" b="1" dirty="0"/>
          </a:p>
        </p:txBody>
      </p:sp>
      <p:sp>
        <p:nvSpPr>
          <p:cNvPr id="15" name="TextBox 14">
            <a:extLst>
              <a:ext uri="{FF2B5EF4-FFF2-40B4-BE49-F238E27FC236}">
                <a16:creationId xmlns:a16="http://schemas.microsoft.com/office/drawing/2014/main" id="{2B39D3A6-185E-9397-30EF-6F8787C33928}"/>
              </a:ext>
            </a:extLst>
          </p:cNvPr>
          <p:cNvSpPr txBox="1"/>
          <p:nvPr/>
        </p:nvSpPr>
        <p:spPr>
          <a:xfrm>
            <a:off x="6559265" y="5919306"/>
            <a:ext cx="5174508" cy="307777"/>
          </a:xfrm>
          <a:prstGeom prst="rect">
            <a:avLst/>
          </a:prstGeom>
          <a:noFill/>
        </p:spPr>
        <p:txBody>
          <a:bodyPr wrap="square">
            <a:spAutoFit/>
          </a:bodyPr>
          <a:lstStyle/>
          <a:p>
            <a:r>
              <a:rPr lang="en-SG" sz="1400" b="1" dirty="0"/>
              <a:t>pi0 di-photon opening angle </a:t>
            </a:r>
            <a:r>
              <a:rPr lang="en-US" sz="1400" b="1" dirty="0"/>
              <a:t>from my BNB sample</a:t>
            </a:r>
            <a:endParaRPr lang="en-SG" sz="1400" b="1" dirty="0"/>
          </a:p>
        </p:txBody>
      </p:sp>
      <p:pic>
        <p:nvPicPr>
          <p:cNvPr id="6" name="Picture 5">
            <a:extLst>
              <a:ext uri="{FF2B5EF4-FFF2-40B4-BE49-F238E27FC236}">
                <a16:creationId xmlns:a16="http://schemas.microsoft.com/office/drawing/2014/main" id="{A2263FC1-F432-C367-4E63-59804BCF378E}"/>
              </a:ext>
            </a:extLst>
          </p:cNvPr>
          <p:cNvPicPr>
            <a:picLocks noChangeAspect="1"/>
          </p:cNvPicPr>
          <p:nvPr/>
        </p:nvPicPr>
        <p:blipFill>
          <a:blip r:embed="rId2"/>
          <a:stretch>
            <a:fillRect/>
          </a:stretch>
        </p:blipFill>
        <p:spPr>
          <a:xfrm>
            <a:off x="5632737" y="2583382"/>
            <a:ext cx="5340063" cy="3308058"/>
          </a:xfrm>
          <a:prstGeom prst="rect">
            <a:avLst/>
          </a:prstGeom>
        </p:spPr>
      </p:pic>
      <p:pic>
        <p:nvPicPr>
          <p:cNvPr id="9" name="Picture 8">
            <a:extLst>
              <a:ext uri="{FF2B5EF4-FFF2-40B4-BE49-F238E27FC236}">
                <a16:creationId xmlns:a16="http://schemas.microsoft.com/office/drawing/2014/main" id="{7035186E-5351-82BE-D394-92572B82BDEF}"/>
              </a:ext>
            </a:extLst>
          </p:cNvPr>
          <p:cNvPicPr>
            <a:picLocks noChangeAspect="1"/>
          </p:cNvPicPr>
          <p:nvPr/>
        </p:nvPicPr>
        <p:blipFill>
          <a:blip r:embed="rId3"/>
          <a:stretch>
            <a:fillRect/>
          </a:stretch>
        </p:blipFill>
        <p:spPr>
          <a:xfrm>
            <a:off x="888855" y="2493818"/>
            <a:ext cx="3569973" cy="3425488"/>
          </a:xfrm>
          <a:prstGeom prst="rect">
            <a:avLst/>
          </a:prstGeom>
        </p:spPr>
      </p:pic>
    </p:spTree>
    <p:extLst>
      <p:ext uri="{BB962C8B-B14F-4D97-AF65-F5344CB8AC3E}">
        <p14:creationId xmlns:p14="http://schemas.microsoft.com/office/powerpoint/2010/main" val="36071027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4B71B-1B85-F48B-82A5-433DEBD2D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227254-89DA-6BF6-5AE2-FEDE594E28B3}"/>
              </a:ext>
            </a:extLst>
          </p:cNvPr>
          <p:cNvSpPr>
            <a:spLocks noGrp="1"/>
          </p:cNvSpPr>
          <p:nvPr>
            <p:ph type="title"/>
          </p:nvPr>
        </p:nvSpPr>
        <p:spPr/>
        <p:txBody>
          <a:bodyPr/>
          <a:lstStyle/>
          <a:p>
            <a:r>
              <a:rPr lang="en-SG" b="1" dirty="0"/>
              <a:t>Cross Section Analysis Observables</a:t>
            </a:r>
          </a:p>
        </p:txBody>
      </p:sp>
      <p:sp>
        <p:nvSpPr>
          <p:cNvPr id="4" name="TextBox 3">
            <a:extLst>
              <a:ext uri="{FF2B5EF4-FFF2-40B4-BE49-F238E27FC236}">
                <a16:creationId xmlns:a16="http://schemas.microsoft.com/office/drawing/2014/main" id="{3D56F726-3A71-8F03-221C-F1C9C46D1175}"/>
              </a:ext>
            </a:extLst>
          </p:cNvPr>
          <p:cNvSpPr txBox="1"/>
          <p:nvPr/>
        </p:nvSpPr>
        <p:spPr>
          <a:xfrm>
            <a:off x="1097279" y="1815053"/>
            <a:ext cx="10399395" cy="338554"/>
          </a:xfrm>
          <a:prstGeom prst="rect">
            <a:avLst/>
          </a:prstGeom>
          <a:noFill/>
        </p:spPr>
        <p:txBody>
          <a:bodyPr wrap="square">
            <a:spAutoFit/>
          </a:bodyPr>
          <a:lstStyle/>
          <a:p>
            <a:r>
              <a:rPr lang="en-US" sz="1600" b="1" dirty="0"/>
              <a:t>Plotting </a:t>
            </a:r>
            <a:r>
              <a:rPr lang="en-SG" sz="1600" b="1" dirty="0"/>
              <a:t>Muon momentum</a:t>
            </a:r>
          </a:p>
        </p:txBody>
      </p:sp>
      <p:sp>
        <p:nvSpPr>
          <p:cNvPr id="14" name="TextBox 13">
            <a:extLst>
              <a:ext uri="{FF2B5EF4-FFF2-40B4-BE49-F238E27FC236}">
                <a16:creationId xmlns:a16="http://schemas.microsoft.com/office/drawing/2014/main" id="{E853F3FC-8738-A417-A9D4-482F79F93DF6}"/>
              </a:ext>
            </a:extLst>
          </p:cNvPr>
          <p:cNvSpPr txBox="1"/>
          <p:nvPr/>
        </p:nvSpPr>
        <p:spPr>
          <a:xfrm>
            <a:off x="1097279" y="5891439"/>
            <a:ext cx="4535458" cy="307777"/>
          </a:xfrm>
          <a:prstGeom prst="rect">
            <a:avLst/>
          </a:prstGeom>
          <a:noFill/>
        </p:spPr>
        <p:txBody>
          <a:bodyPr wrap="square">
            <a:spAutoFit/>
          </a:bodyPr>
          <a:lstStyle/>
          <a:p>
            <a:r>
              <a:rPr lang="en-SG" sz="1400" b="1" dirty="0"/>
              <a:t>Muon momentum </a:t>
            </a:r>
            <a:r>
              <a:rPr lang="en-US" sz="1400" b="1" dirty="0"/>
              <a:t>from lane’s paper</a:t>
            </a:r>
            <a:endParaRPr lang="en-SG" sz="1400" b="1" dirty="0"/>
          </a:p>
        </p:txBody>
      </p:sp>
      <p:sp>
        <p:nvSpPr>
          <p:cNvPr id="15" name="TextBox 14">
            <a:extLst>
              <a:ext uri="{FF2B5EF4-FFF2-40B4-BE49-F238E27FC236}">
                <a16:creationId xmlns:a16="http://schemas.microsoft.com/office/drawing/2014/main" id="{CA2370CD-828D-D96C-AFB2-6AFE232A165E}"/>
              </a:ext>
            </a:extLst>
          </p:cNvPr>
          <p:cNvSpPr txBox="1"/>
          <p:nvPr/>
        </p:nvSpPr>
        <p:spPr>
          <a:xfrm>
            <a:off x="6559265" y="5919306"/>
            <a:ext cx="5174508" cy="307777"/>
          </a:xfrm>
          <a:prstGeom prst="rect">
            <a:avLst/>
          </a:prstGeom>
          <a:noFill/>
        </p:spPr>
        <p:txBody>
          <a:bodyPr wrap="square">
            <a:spAutoFit/>
          </a:bodyPr>
          <a:lstStyle/>
          <a:p>
            <a:r>
              <a:rPr lang="en-SG" sz="1400" b="1" dirty="0"/>
              <a:t>Muon momentum </a:t>
            </a:r>
            <a:r>
              <a:rPr lang="en-US" sz="1400" b="1" dirty="0"/>
              <a:t>from my BNB sample</a:t>
            </a:r>
            <a:endParaRPr lang="en-SG" sz="1400" b="1" dirty="0"/>
          </a:p>
        </p:txBody>
      </p:sp>
      <p:pic>
        <p:nvPicPr>
          <p:cNvPr id="5" name="Picture 4">
            <a:extLst>
              <a:ext uri="{FF2B5EF4-FFF2-40B4-BE49-F238E27FC236}">
                <a16:creationId xmlns:a16="http://schemas.microsoft.com/office/drawing/2014/main" id="{5D405FAA-E545-F808-1FD5-D0058F4E3A6C}"/>
              </a:ext>
            </a:extLst>
          </p:cNvPr>
          <p:cNvPicPr>
            <a:picLocks noChangeAspect="1"/>
          </p:cNvPicPr>
          <p:nvPr/>
        </p:nvPicPr>
        <p:blipFill>
          <a:blip r:embed="rId2"/>
          <a:stretch>
            <a:fillRect/>
          </a:stretch>
        </p:blipFill>
        <p:spPr>
          <a:xfrm>
            <a:off x="1097279" y="2500152"/>
            <a:ext cx="3556345" cy="3474518"/>
          </a:xfrm>
          <a:prstGeom prst="rect">
            <a:avLst/>
          </a:prstGeom>
        </p:spPr>
      </p:pic>
      <p:pic>
        <p:nvPicPr>
          <p:cNvPr id="19" name="Picture 18">
            <a:extLst>
              <a:ext uri="{FF2B5EF4-FFF2-40B4-BE49-F238E27FC236}">
                <a16:creationId xmlns:a16="http://schemas.microsoft.com/office/drawing/2014/main" id="{B0B7626F-B325-FE99-2ACC-D2CD39395A9A}"/>
              </a:ext>
            </a:extLst>
          </p:cNvPr>
          <p:cNvPicPr>
            <a:picLocks noChangeAspect="1"/>
          </p:cNvPicPr>
          <p:nvPr/>
        </p:nvPicPr>
        <p:blipFill>
          <a:blip r:embed="rId3"/>
          <a:stretch>
            <a:fillRect/>
          </a:stretch>
        </p:blipFill>
        <p:spPr>
          <a:xfrm>
            <a:off x="5207016" y="2328998"/>
            <a:ext cx="5665120" cy="3645672"/>
          </a:xfrm>
          <a:prstGeom prst="rect">
            <a:avLst/>
          </a:prstGeom>
        </p:spPr>
      </p:pic>
    </p:spTree>
    <p:extLst>
      <p:ext uri="{BB962C8B-B14F-4D97-AF65-F5344CB8AC3E}">
        <p14:creationId xmlns:p14="http://schemas.microsoft.com/office/powerpoint/2010/main" val="14818088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31508-02F2-CC11-5640-422992898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08738A-75AA-3C95-8691-93BE00032E1C}"/>
              </a:ext>
            </a:extLst>
          </p:cNvPr>
          <p:cNvSpPr>
            <a:spLocks noGrp="1"/>
          </p:cNvSpPr>
          <p:nvPr>
            <p:ph type="title"/>
          </p:nvPr>
        </p:nvSpPr>
        <p:spPr/>
        <p:txBody>
          <a:bodyPr/>
          <a:lstStyle/>
          <a:p>
            <a:r>
              <a:rPr lang="en-SG" b="1" dirty="0"/>
              <a:t>Cross Section Analysis Observables</a:t>
            </a:r>
          </a:p>
        </p:txBody>
      </p:sp>
      <p:sp>
        <p:nvSpPr>
          <p:cNvPr id="4" name="TextBox 3">
            <a:extLst>
              <a:ext uri="{FF2B5EF4-FFF2-40B4-BE49-F238E27FC236}">
                <a16:creationId xmlns:a16="http://schemas.microsoft.com/office/drawing/2014/main" id="{CDF0B84D-06BE-35A1-BC9D-AA5EDEA4FD2D}"/>
              </a:ext>
            </a:extLst>
          </p:cNvPr>
          <p:cNvSpPr txBox="1"/>
          <p:nvPr/>
        </p:nvSpPr>
        <p:spPr>
          <a:xfrm>
            <a:off x="1097279" y="1815053"/>
            <a:ext cx="10399395" cy="830997"/>
          </a:xfrm>
          <a:prstGeom prst="rect">
            <a:avLst/>
          </a:prstGeom>
          <a:noFill/>
        </p:spPr>
        <p:txBody>
          <a:bodyPr wrap="square">
            <a:spAutoFit/>
          </a:bodyPr>
          <a:lstStyle/>
          <a:p>
            <a:r>
              <a:rPr lang="en-US" sz="1600" b="1" dirty="0"/>
              <a:t>Plotting </a:t>
            </a:r>
            <a:r>
              <a:rPr lang="en-SG" sz="1600" b="1" dirty="0"/>
              <a:t>Muon beam </a:t>
            </a:r>
            <a:r>
              <a:rPr lang="en-SG" sz="1600" b="1" dirty="0" err="1"/>
              <a:t>costheta</a:t>
            </a:r>
            <a:endParaRPr lang="en-SG" sz="1600" b="1" dirty="0"/>
          </a:p>
          <a:p>
            <a:pPr marL="285750" indent="-285750">
              <a:buFont typeface="Arial" panose="020B0604020202020204" pitchFamily="34" charset="0"/>
              <a:buChar char="•"/>
            </a:pPr>
            <a:r>
              <a:rPr lang="en-US" sz="1600" dirty="0"/>
              <a:t>angle the true muon makes with the beam</a:t>
            </a:r>
            <a:endParaRPr lang="en-SG" sz="1600" dirty="0"/>
          </a:p>
          <a:p>
            <a:endParaRPr lang="en-SG" sz="1600" b="1" dirty="0"/>
          </a:p>
        </p:txBody>
      </p:sp>
      <p:sp>
        <p:nvSpPr>
          <p:cNvPr id="14" name="TextBox 13">
            <a:extLst>
              <a:ext uri="{FF2B5EF4-FFF2-40B4-BE49-F238E27FC236}">
                <a16:creationId xmlns:a16="http://schemas.microsoft.com/office/drawing/2014/main" id="{2EB6C6D6-1254-BFF7-3477-C714B760A9A4}"/>
              </a:ext>
            </a:extLst>
          </p:cNvPr>
          <p:cNvSpPr txBox="1"/>
          <p:nvPr/>
        </p:nvSpPr>
        <p:spPr>
          <a:xfrm>
            <a:off x="1097279" y="5891439"/>
            <a:ext cx="4535458" cy="307777"/>
          </a:xfrm>
          <a:prstGeom prst="rect">
            <a:avLst/>
          </a:prstGeom>
          <a:noFill/>
        </p:spPr>
        <p:txBody>
          <a:bodyPr wrap="square">
            <a:spAutoFit/>
          </a:bodyPr>
          <a:lstStyle/>
          <a:p>
            <a:r>
              <a:rPr lang="en-SG" sz="1400" b="1" dirty="0"/>
              <a:t>Muon beam </a:t>
            </a:r>
            <a:r>
              <a:rPr lang="en-SG" sz="1400" b="1" dirty="0" err="1"/>
              <a:t>costheta</a:t>
            </a:r>
            <a:r>
              <a:rPr lang="en-SG" sz="1400" b="1" dirty="0"/>
              <a:t> </a:t>
            </a:r>
            <a:r>
              <a:rPr lang="en-US" sz="1400" b="1" dirty="0"/>
              <a:t>from lane’s paper</a:t>
            </a:r>
            <a:endParaRPr lang="en-SG" sz="1400" b="1" dirty="0"/>
          </a:p>
        </p:txBody>
      </p:sp>
      <p:sp>
        <p:nvSpPr>
          <p:cNvPr id="15" name="TextBox 14">
            <a:extLst>
              <a:ext uri="{FF2B5EF4-FFF2-40B4-BE49-F238E27FC236}">
                <a16:creationId xmlns:a16="http://schemas.microsoft.com/office/drawing/2014/main" id="{4EE1EDFC-454C-629A-F12D-72C4A3B29379}"/>
              </a:ext>
            </a:extLst>
          </p:cNvPr>
          <p:cNvSpPr txBox="1"/>
          <p:nvPr/>
        </p:nvSpPr>
        <p:spPr>
          <a:xfrm>
            <a:off x="6559265" y="5919306"/>
            <a:ext cx="5174508" cy="307777"/>
          </a:xfrm>
          <a:prstGeom prst="rect">
            <a:avLst/>
          </a:prstGeom>
          <a:noFill/>
        </p:spPr>
        <p:txBody>
          <a:bodyPr wrap="square">
            <a:spAutoFit/>
          </a:bodyPr>
          <a:lstStyle/>
          <a:p>
            <a:r>
              <a:rPr lang="en-SG" sz="1400" b="1" dirty="0"/>
              <a:t>Muon beam </a:t>
            </a:r>
            <a:r>
              <a:rPr lang="en-SG" sz="1400" b="1" dirty="0" err="1"/>
              <a:t>costheta</a:t>
            </a:r>
            <a:r>
              <a:rPr lang="en-SG" sz="1400" b="1" dirty="0"/>
              <a:t> </a:t>
            </a:r>
            <a:r>
              <a:rPr lang="en-US" sz="1400" b="1" dirty="0"/>
              <a:t>from my BNB sample</a:t>
            </a:r>
            <a:endParaRPr lang="en-SG" sz="1400" b="1" dirty="0"/>
          </a:p>
        </p:txBody>
      </p:sp>
      <p:pic>
        <p:nvPicPr>
          <p:cNvPr id="8" name="Picture 7">
            <a:extLst>
              <a:ext uri="{FF2B5EF4-FFF2-40B4-BE49-F238E27FC236}">
                <a16:creationId xmlns:a16="http://schemas.microsoft.com/office/drawing/2014/main" id="{1EA54FED-C336-B542-E357-4139CFB9B5C9}"/>
              </a:ext>
            </a:extLst>
          </p:cNvPr>
          <p:cNvPicPr>
            <a:picLocks noChangeAspect="1"/>
          </p:cNvPicPr>
          <p:nvPr/>
        </p:nvPicPr>
        <p:blipFill>
          <a:blip r:embed="rId2"/>
          <a:stretch>
            <a:fillRect/>
          </a:stretch>
        </p:blipFill>
        <p:spPr>
          <a:xfrm>
            <a:off x="723756" y="2327766"/>
            <a:ext cx="3669195" cy="3591540"/>
          </a:xfrm>
          <a:prstGeom prst="rect">
            <a:avLst/>
          </a:prstGeom>
        </p:spPr>
      </p:pic>
      <p:pic>
        <p:nvPicPr>
          <p:cNvPr id="19" name="Picture 18">
            <a:extLst>
              <a:ext uri="{FF2B5EF4-FFF2-40B4-BE49-F238E27FC236}">
                <a16:creationId xmlns:a16="http://schemas.microsoft.com/office/drawing/2014/main" id="{B665F59D-51B9-D67E-B380-E4EA71ADCFDB}"/>
              </a:ext>
            </a:extLst>
          </p:cNvPr>
          <p:cNvPicPr>
            <a:picLocks noChangeAspect="1"/>
          </p:cNvPicPr>
          <p:nvPr/>
        </p:nvPicPr>
        <p:blipFill>
          <a:blip r:embed="rId3"/>
          <a:stretch>
            <a:fillRect/>
          </a:stretch>
        </p:blipFill>
        <p:spPr>
          <a:xfrm>
            <a:off x="5182553" y="2230551"/>
            <a:ext cx="5912168" cy="3764791"/>
          </a:xfrm>
          <a:prstGeom prst="rect">
            <a:avLst/>
          </a:prstGeom>
        </p:spPr>
      </p:pic>
    </p:spTree>
    <p:extLst>
      <p:ext uri="{BB962C8B-B14F-4D97-AF65-F5344CB8AC3E}">
        <p14:creationId xmlns:p14="http://schemas.microsoft.com/office/powerpoint/2010/main" val="8525568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38C87-20A0-D3C8-784A-ACA872D6C2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D0EE3-1BE3-58BB-17C8-A11E8AEA1C1B}"/>
              </a:ext>
            </a:extLst>
          </p:cNvPr>
          <p:cNvSpPr>
            <a:spLocks noGrp="1"/>
          </p:cNvSpPr>
          <p:nvPr>
            <p:ph type="title"/>
          </p:nvPr>
        </p:nvSpPr>
        <p:spPr/>
        <p:txBody>
          <a:bodyPr/>
          <a:lstStyle/>
          <a:p>
            <a:r>
              <a:rPr lang="en-SG" b="1" dirty="0"/>
              <a:t>Cross Section Analysis Observables</a:t>
            </a:r>
          </a:p>
        </p:txBody>
      </p:sp>
      <p:sp>
        <p:nvSpPr>
          <p:cNvPr id="4" name="TextBox 3">
            <a:extLst>
              <a:ext uri="{FF2B5EF4-FFF2-40B4-BE49-F238E27FC236}">
                <a16:creationId xmlns:a16="http://schemas.microsoft.com/office/drawing/2014/main" id="{1DA0BA43-8605-E9DE-A6A5-53744CDABAA3}"/>
              </a:ext>
            </a:extLst>
          </p:cNvPr>
          <p:cNvSpPr txBox="1"/>
          <p:nvPr/>
        </p:nvSpPr>
        <p:spPr>
          <a:xfrm>
            <a:off x="1097279" y="1815053"/>
            <a:ext cx="10399395" cy="338554"/>
          </a:xfrm>
          <a:prstGeom prst="rect">
            <a:avLst/>
          </a:prstGeom>
          <a:noFill/>
        </p:spPr>
        <p:txBody>
          <a:bodyPr wrap="square">
            <a:spAutoFit/>
          </a:bodyPr>
          <a:lstStyle/>
          <a:p>
            <a:r>
              <a:rPr lang="en-US" sz="1600" b="1" dirty="0"/>
              <a:t>Plotting </a:t>
            </a:r>
            <a:r>
              <a:rPr lang="en-SG" sz="1600" b="1" dirty="0"/>
              <a:t>pi0 momentum</a:t>
            </a:r>
          </a:p>
        </p:txBody>
      </p:sp>
      <p:sp>
        <p:nvSpPr>
          <p:cNvPr id="14" name="TextBox 13">
            <a:extLst>
              <a:ext uri="{FF2B5EF4-FFF2-40B4-BE49-F238E27FC236}">
                <a16:creationId xmlns:a16="http://schemas.microsoft.com/office/drawing/2014/main" id="{5A45997C-BCD1-D99A-DDF4-CAF6B3E8A356}"/>
              </a:ext>
            </a:extLst>
          </p:cNvPr>
          <p:cNvSpPr txBox="1"/>
          <p:nvPr/>
        </p:nvSpPr>
        <p:spPr>
          <a:xfrm>
            <a:off x="1097279" y="5891439"/>
            <a:ext cx="4535458" cy="307777"/>
          </a:xfrm>
          <a:prstGeom prst="rect">
            <a:avLst/>
          </a:prstGeom>
          <a:noFill/>
        </p:spPr>
        <p:txBody>
          <a:bodyPr wrap="square">
            <a:spAutoFit/>
          </a:bodyPr>
          <a:lstStyle/>
          <a:p>
            <a:r>
              <a:rPr lang="en-SG" sz="1400" b="1" dirty="0"/>
              <a:t>pi0 momentum </a:t>
            </a:r>
            <a:r>
              <a:rPr lang="en-US" sz="1400" b="1" dirty="0"/>
              <a:t>from lane’s paper</a:t>
            </a:r>
            <a:endParaRPr lang="en-SG" sz="1400" b="1" dirty="0"/>
          </a:p>
        </p:txBody>
      </p:sp>
      <p:sp>
        <p:nvSpPr>
          <p:cNvPr id="15" name="TextBox 14">
            <a:extLst>
              <a:ext uri="{FF2B5EF4-FFF2-40B4-BE49-F238E27FC236}">
                <a16:creationId xmlns:a16="http://schemas.microsoft.com/office/drawing/2014/main" id="{1BA93353-6E10-ECF1-4F4F-E09598E8E353}"/>
              </a:ext>
            </a:extLst>
          </p:cNvPr>
          <p:cNvSpPr txBox="1"/>
          <p:nvPr/>
        </p:nvSpPr>
        <p:spPr>
          <a:xfrm>
            <a:off x="6559265" y="5919306"/>
            <a:ext cx="5174508" cy="307777"/>
          </a:xfrm>
          <a:prstGeom prst="rect">
            <a:avLst/>
          </a:prstGeom>
          <a:noFill/>
        </p:spPr>
        <p:txBody>
          <a:bodyPr wrap="square">
            <a:spAutoFit/>
          </a:bodyPr>
          <a:lstStyle/>
          <a:p>
            <a:r>
              <a:rPr lang="en-SG" sz="1400" b="1" dirty="0"/>
              <a:t>pi0 momentum </a:t>
            </a:r>
            <a:r>
              <a:rPr lang="en-US" sz="1400" b="1" dirty="0"/>
              <a:t>from my BNB sample</a:t>
            </a:r>
            <a:endParaRPr lang="en-SG" sz="1400" b="1" dirty="0"/>
          </a:p>
        </p:txBody>
      </p:sp>
      <p:pic>
        <p:nvPicPr>
          <p:cNvPr id="5" name="Picture 4">
            <a:extLst>
              <a:ext uri="{FF2B5EF4-FFF2-40B4-BE49-F238E27FC236}">
                <a16:creationId xmlns:a16="http://schemas.microsoft.com/office/drawing/2014/main" id="{3D091AC2-1EC3-D1B0-0773-9F778FF85BC4}"/>
              </a:ext>
            </a:extLst>
          </p:cNvPr>
          <p:cNvPicPr>
            <a:picLocks noChangeAspect="1"/>
          </p:cNvPicPr>
          <p:nvPr/>
        </p:nvPicPr>
        <p:blipFill>
          <a:blip r:embed="rId2"/>
          <a:stretch>
            <a:fillRect/>
          </a:stretch>
        </p:blipFill>
        <p:spPr>
          <a:xfrm>
            <a:off x="655782" y="2184410"/>
            <a:ext cx="3890235" cy="3734896"/>
          </a:xfrm>
          <a:prstGeom prst="rect">
            <a:avLst/>
          </a:prstGeom>
        </p:spPr>
      </p:pic>
      <p:pic>
        <p:nvPicPr>
          <p:cNvPr id="13" name="Picture 12">
            <a:extLst>
              <a:ext uri="{FF2B5EF4-FFF2-40B4-BE49-F238E27FC236}">
                <a16:creationId xmlns:a16="http://schemas.microsoft.com/office/drawing/2014/main" id="{E893B3D5-074D-8C1F-0C52-A536699B31BB}"/>
              </a:ext>
            </a:extLst>
          </p:cNvPr>
          <p:cNvPicPr>
            <a:picLocks noChangeAspect="1"/>
          </p:cNvPicPr>
          <p:nvPr/>
        </p:nvPicPr>
        <p:blipFill>
          <a:blip r:embed="rId3"/>
          <a:stretch>
            <a:fillRect/>
          </a:stretch>
        </p:blipFill>
        <p:spPr>
          <a:xfrm>
            <a:off x="4987514" y="2231300"/>
            <a:ext cx="5795819" cy="3729780"/>
          </a:xfrm>
          <a:prstGeom prst="rect">
            <a:avLst/>
          </a:prstGeom>
        </p:spPr>
      </p:pic>
    </p:spTree>
    <p:extLst>
      <p:ext uri="{BB962C8B-B14F-4D97-AF65-F5344CB8AC3E}">
        <p14:creationId xmlns:p14="http://schemas.microsoft.com/office/powerpoint/2010/main" val="22221026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72595-0E1D-815B-6B8B-180F564D5B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CED3F-8072-2AEE-2D03-422F212F38EC}"/>
              </a:ext>
            </a:extLst>
          </p:cNvPr>
          <p:cNvSpPr>
            <a:spLocks noGrp="1"/>
          </p:cNvSpPr>
          <p:nvPr>
            <p:ph type="title"/>
          </p:nvPr>
        </p:nvSpPr>
        <p:spPr/>
        <p:txBody>
          <a:bodyPr/>
          <a:lstStyle/>
          <a:p>
            <a:r>
              <a:rPr lang="en-SG" b="1" dirty="0"/>
              <a:t>Cross Section Analysis Observables</a:t>
            </a:r>
          </a:p>
        </p:txBody>
      </p:sp>
      <p:sp>
        <p:nvSpPr>
          <p:cNvPr id="4" name="TextBox 3">
            <a:extLst>
              <a:ext uri="{FF2B5EF4-FFF2-40B4-BE49-F238E27FC236}">
                <a16:creationId xmlns:a16="http://schemas.microsoft.com/office/drawing/2014/main" id="{10C2AC3C-21B7-CC1C-B7CD-65A6B025B2EC}"/>
              </a:ext>
            </a:extLst>
          </p:cNvPr>
          <p:cNvSpPr txBox="1"/>
          <p:nvPr/>
        </p:nvSpPr>
        <p:spPr>
          <a:xfrm>
            <a:off x="1097279" y="1815053"/>
            <a:ext cx="10399395" cy="1077218"/>
          </a:xfrm>
          <a:prstGeom prst="rect">
            <a:avLst/>
          </a:prstGeom>
          <a:noFill/>
        </p:spPr>
        <p:txBody>
          <a:bodyPr wrap="square">
            <a:spAutoFit/>
          </a:bodyPr>
          <a:lstStyle/>
          <a:p>
            <a:r>
              <a:rPr lang="en-US" sz="1600" b="1" dirty="0"/>
              <a:t>Plotting </a:t>
            </a:r>
            <a:r>
              <a:rPr lang="en-SG" sz="1600" b="1" dirty="0"/>
              <a:t>pi0 beam </a:t>
            </a:r>
            <a:r>
              <a:rPr lang="en-SG" sz="1600" b="1" dirty="0" err="1"/>
              <a:t>costheta</a:t>
            </a:r>
            <a:endParaRPr lang="en-SG" sz="1600" b="1" dirty="0"/>
          </a:p>
          <a:p>
            <a:r>
              <a:rPr lang="en-US" sz="1600" dirty="0"/>
              <a:t>angle the true neutral pion makes with the beam</a:t>
            </a:r>
            <a:endParaRPr lang="en-SG" sz="1600" dirty="0"/>
          </a:p>
          <a:p>
            <a:endParaRPr lang="en-SG" sz="1600" b="1" dirty="0"/>
          </a:p>
          <a:p>
            <a:endParaRPr lang="en-SG" sz="1600" b="1" dirty="0"/>
          </a:p>
        </p:txBody>
      </p:sp>
      <p:sp>
        <p:nvSpPr>
          <p:cNvPr id="14" name="TextBox 13">
            <a:extLst>
              <a:ext uri="{FF2B5EF4-FFF2-40B4-BE49-F238E27FC236}">
                <a16:creationId xmlns:a16="http://schemas.microsoft.com/office/drawing/2014/main" id="{B8DA1B97-6D0B-2192-B584-069B6CC87FE7}"/>
              </a:ext>
            </a:extLst>
          </p:cNvPr>
          <p:cNvSpPr txBox="1"/>
          <p:nvPr/>
        </p:nvSpPr>
        <p:spPr>
          <a:xfrm>
            <a:off x="1097279" y="5891439"/>
            <a:ext cx="4535458" cy="307777"/>
          </a:xfrm>
          <a:prstGeom prst="rect">
            <a:avLst/>
          </a:prstGeom>
          <a:noFill/>
        </p:spPr>
        <p:txBody>
          <a:bodyPr wrap="square">
            <a:spAutoFit/>
          </a:bodyPr>
          <a:lstStyle/>
          <a:p>
            <a:r>
              <a:rPr lang="en-SG" sz="1400" b="1" dirty="0"/>
              <a:t>pi0 beam </a:t>
            </a:r>
            <a:r>
              <a:rPr lang="en-SG" sz="1400" b="1" dirty="0" err="1"/>
              <a:t>costheta</a:t>
            </a:r>
            <a:r>
              <a:rPr lang="en-SG" sz="1400" b="1" dirty="0"/>
              <a:t> </a:t>
            </a:r>
            <a:r>
              <a:rPr lang="en-US" sz="1400" b="1" dirty="0"/>
              <a:t>from lane’s paper</a:t>
            </a:r>
            <a:endParaRPr lang="en-SG" sz="1400" b="1" dirty="0"/>
          </a:p>
        </p:txBody>
      </p:sp>
      <p:sp>
        <p:nvSpPr>
          <p:cNvPr id="15" name="TextBox 14">
            <a:extLst>
              <a:ext uri="{FF2B5EF4-FFF2-40B4-BE49-F238E27FC236}">
                <a16:creationId xmlns:a16="http://schemas.microsoft.com/office/drawing/2014/main" id="{C4F6E676-CA6A-5AF6-6FDA-7BCE9C59B09A}"/>
              </a:ext>
            </a:extLst>
          </p:cNvPr>
          <p:cNvSpPr txBox="1"/>
          <p:nvPr/>
        </p:nvSpPr>
        <p:spPr>
          <a:xfrm>
            <a:off x="6552049" y="5891438"/>
            <a:ext cx="5174508" cy="307777"/>
          </a:xfrm>
          <a:prstGeom prst="rect">
            <a:avLst/>
          </a:prstGeom>
          <a:noFill/>
        </p:spPr>
        <p:txBody>
          <a:bodyPr wrap="square">
            <a:spAutoFit/>
          </a:bodyPr>
          <a:lstStyle/>
          <a:p>
            <a:r>
              <a:rPr lang="en-SG" sz="1400" b="1" dirty="0"/>
              <a:t>pi0 beam </a:t>
            </a:r>
            <a:r>
              <a:rPr lang="en-SG" sz="1400" b="1" dirty="0" err="1"/>
              <a:t>costheta</a:t>
            </a:r>
            <a:r>
              <a:rPr lang="en-SG" sz="1400" b="1" dirty="0"/>
              <a:t> </a:t>
            </a:r>
            <a:r>
              <a:rPr lang="en-US" sz="1400" b="1" dirty="0"/>
              <a:t>from my BNB sample</a:t>
            </a:r>
            <a:endParaRPr lang="en-SG" sz="1400" b="1" dirty="0"/>
          </a:p>
        </p:txBody>
      </p:sp>
      <p:pic>
        <p:nvPicPr>
          <p:cNvPr id="6" name="Picture 5">
            <a:extLst>
              <a:ext uri="{FF2B5EF4-FFF2-40B4-BE49-F238E27FC236}">
                <a16:creationId xmlns:a16="http://schemas.microsoft.com/office/drawing/2014/main" id="{3576670C-2E4B-8829-8707-16511E67192B}"/>
              </a:ext>
            </a:extLst>
          </p:cNvPr>
          <p:cNvPicPr>
            <a:picLocks noChangeAspect="1"/>
          </p:cNvPicPr>
          <p:nvPr/>
        </p:nvPicPr>
        <p:blipFill>
          <a:blip r:embed="rId2"/>
          <a:stretch>
            <a:fillRect/>
          </a:stretch>
        </p:blipFill>
        <p:spPr>
          <a:xfrm>
            <a:off x="695326" y="2408397"/>
            <a:ext cx="3645044" cy="3483042"/>
          </a:xfrm>
          <a:prstGeom prst="rect">
            <a:avLst/>
          </a:prstGeom>
        </p:spPr>
      </p:pic>
      <p:pic>
        <p:nvPicPr>
          <p:cNvPr id="12" name="Picture 11">
            <a:extLst>
              <a:ext uri="{FF2B5EF4-FFF2-40B4-BE49-F238E27FC236}">
                <a16:creationId xmlns:a16="http://schemas.microsoft.com/office/drawing/2014/main" id="{E9D4212B-D1B2-C1DB-A9BE-DB2C73E4E805}"/>
              </a:ext>
            </a:extLst>
          </p:cNvPr>
          <p:cNvPicPr>
            <a:picLocks noChangeAspect="1"/>
          </p:cNvPicPr>
          <p:nvPr/>
        </p:nvPicPr>
        <p:blipFill>
          <a:blip r:embed="rId3"/>
          <a:stretch>
            <a:fillRect/>
          </a:stretch>
        </p:blipFill>
        <p:spPr>
          <a:xfrm>
            <a:off x="5259682" y="2391762"/>
            <a:ext cx="5576888" cy="3551290"/>
          </a:xfrm>
          <a:prstGeom prst="rect">
            <a:avLst/>
          </a:prstGeom>
        </p:spPr>
      </p:pic>
    </p:spTree>
    <p:extLst>
      <p:ext uri="{BB962C8B-B14F-4D97-AF65-F5344CB8AC3E}">
        <p14:creationId xmlns:p14="http://schemas.microsoft.com/office/powerpoint/2010/main" val="21415018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6114</TotalTime>
  <Words>2075</Words>
  <Application>Microsoft Office PowerPoint</Application>
  <PresentationFormat>Widescreen</PresentationFormat>
  <Paragraphs>253</Paragraphs>
  <Slides>39</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Arial</vt:lpstr>
      <vt:lpstr>Calibri</vt:lpstr>
      <vt:lpstr>Calibri Light</vt:lpstr>
      <vt:lpstr>Cambria Math</vt:lpstr>
      <vt:lpstr>Retrospect</vt:lpstr>
      <vt:lpstr>Tasks completed (5 Mar) </vt:lpstr>
      <vt:lpstr>Reference paper</vt:lpstr>
      <vt:lpstr>Key differences</vt:lpstr>
      <vt:lpstr>Signal definition selection</vt:lpstr>
      <vt:lpstr>Signal definition </vt:lpstr>
      <vt:lpstr>Signal selection </vt:lpstr>
      <vt:lpstr>Selected definition selection</vt:lpstr>
      <vt:lpstr>Selected selection process</vt:lpstr>
      <vt:lpstr>Initial selection: cuts</vt:lpstr>
      <vt:lpstr>Initial selection: neutral pion mass calculation</vt:lpstr>
      <vt:lpstr>Initial selection: Categorizing interactions</vt:lpstr>
      <vt:lpstr>Initial selection: neutral pion mass distribution</vt:lpstr>
      <vt:lpstr>Shower energy correction: Crystal ball fitting</vt:lpstr>
      <vt:lpstr>Shower energy correction: Crystal ball fitting</vt:lpstr>
      <vt:lpstr>Cuts on reconstructed neutral pion mass</vt:lpstr>
      <vt:lpstr>Selection performance analysis</vt:lpstr>
      <vt:lpstr>Efficiency and Purity analysis</vt:lpstr>
      <vt:lpstr>PID Truth to Reco confusion matrix</vt:lpstr>
      <vt:lpstr>PID Reco to Truth confusion matrix</vt:lpstr>
      <vt:lpstr>Reconstructed observables in simulation</vt:lpstr>
      <vt:lpstr>Reconstructed observables in simulation</vt:lpstr>
      <vt:lpstr>Low-level observables</vt:lpstr>
      <vt:lpstr>Low-level observables</vt:lpstr>
      <vt:lpstr>Low-level observables</vt:lpstr>
      <vt:lpstr>Low-level observables</vt:lpstr>
      <vt:lpstr>Low-level observables</vt:lpstr>
      <vt:lpstr>Low-level observables</vt:lpstr>
      <vt:lpstr>Transverse kinematic imbalance observables</vt:lpstr>
      <vt:lpstr>Transverse kinematic imbalance observables</vt:lpstr>
      <vt:lpstr>Transverse kinematic imbalance observables</vt:lpstr>
      <vt:lpstr>Four-Momentum Transfer and Hadronic Invariant Mass observables </vt:lpstr>
      <vt:lpstr>Four-Momentum Transfer and Hadronic Invariant Mass observables </vt:lpstr>
      <vt:lpstr>Neutral Pion Mass observables</vt:lpstr>
      <vt:lpstr>Neutral Pion Mass observables</vt:lpstr>
      <vt:lpstr>Neutral Pion Mass observables</vt:lpstr>
      <vt:lpstr>Cross Section Analysis Observables</vt:lpstr>
      <vt:lpstr>Cross Section Analysis Observables</vt:lpstr>
      <vt:lpstr>Cross Section Analysis Observables</vt:lpstr>
      <vt:lpstr>Cross Section Analysis Observables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#JORDON KOH JIN CHEN#</dc:creator>
  <cp:lastModifiedBy>#JORDON KOH JIN CHEN#</cp:lastModifiedBy>
  <cp:revision>29</cp:revision>
  <dcterms:created xsi:type="dcterms:W3CDTF">2025-11-12T13:24:12Z</dcterms:created>
  <dcterms:modified xsi:type="dcterms:W3CDTF">2026-03-05T15:50:33Z</dcterms:modified>
</cp:coreProperties>
</file>