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34"/>
  </p:notesMasterIdLst>
  <p:sldIdLst>
    <p:sldId id="351" r:id="rId2"/>
    <p:sldId id="373" r:id="rId3"/>
    <p:sldId id="374" r:id="rId4"/>
    <p:sldId id="347" r:id="rId5"/>
    <p:sldId id="348" r:id="rId6"/>
    <p:sldId id="371" r:id="rId7"/>
    <p:sldId id="372" r:id="rId8"/>
    <p:sldId id="369" r:id="rId9"/>
    <p:sldId id="359" r:id="rId10"/>
    <p:sldId id="360" r:id="rId11"/>
    <p:sldId id="361" r:id="rId12"/>
    <p:sldId id="362" r:id="rId13"/>
    <p:sldId id="363" r:id="rId14"/>
    <p:sldId id="365" r:id="rId15"/>
    <p:sldId id="379" r:id="rId16"/>
    <p:sldId id="375" r:id="rId17"/>
    <p:sldId id="376" r:id="rId18"/>
    <p:sldId id="377" r:id="rId19"/>
    <p:sldId id="378" r:id="rId20"/>
    <p:sldId id="380" r:id="rId21"/>
    <p:sldId id="367" r:id="rId22"/>
    <p:sldId id="366" r:id="rId23"/>
    <p:sldId id="368" r:id="rId24"/>
    <p:sldId id="364" r:id="rId25"/>
    <p:sldId id="370" r:id="rId26"/>
    <p:sldId id="352" r:id="rId27"/>
    <p:sldId id="353" r:id="rId28"/>
    <p:sldId id="354" r:id="rId29"/>
    <p:sldId id="356" r:id="rId30"/>
    <p:sldId id="355" r:id="rId31"/>
    <p:sldId id="357" r:id="rId32"/>
    <p:sldId id="35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3630" autoAdjust="0"/>
  </p:normalViewPr>
  <p:slideViewPr>
    <p:cSldViewPr snapToGrid="0">
      <p:cViewPr varScale="1">
        <p:scale>
          <a:sx n="104" d="100"/>
          <a:sy n="104" d="100"/>
        </p:scale>
        <p:origin x="88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BD9BC-DEF3-4382-83D6-5C0A0444C18A}" type="datetimeFigureOut">
              <a:rPr lang="en-SG" smtClean="0"/>
              <a:t>26/2/2026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B5FDCB-33CC-4AD4-B363-617329C34B90}" type="slidenum">
              <a:rPr lang="en-SG" smtClean="0"/>
              <a:t>‹#›</a:t>
            </a:fld>
            <a:endParaRPr lang="en-SG"/>
          </a:p>
        </p:txBody>
      </p:sp>
    </p:spTree>
    <p:extLst>
      <p:ext uri="{BB962C8B-B14F-4D97-AF65-F5344CB8AC3E}">
        <p14:creationId xmlns:p14="http://schemas.microsoft.com/office/powerpoint/2010/main" val="3661102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FA4BA-4D29-A8DF-B57D-85882B6D3C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C80DA-365B-C047-1DEC-58D6D5B2F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8B8D1C-17EA-F430-CF55-D15A23D189E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6B8C0B01-45D4-6BF3-1074-6D74E0E73FA3}"/>
              </a:ext>
            </a:extLst>
          </p:cNvPr>
          <p:cNvSpPr>
            <a:spLocks noGrp="1"/>
          </p:cNvSpPr>
          <p:nvPr>
            <p:ph type="sldNum" sz="quarter" idx="5"/>
          </p:nvPr>
        </p:nvSpPr>
        <p:spPr/>
        <p:txBody>
          <a:bodyPr/>
          <a:lstStyle/>
          <a:p>
            <a:fld id="{02B5FDCB-33CC-4AD4-B363-617329C34B90}" type="slidenum">
              <a:rPr lang="en-SG" smtClean="0"/>
              <a:t>1</a:t>
            </a:fld>
            <a:endParaRPr lang="en-SG"/>
          </a:p>
        </p:txBody>
      </p:sp>
    </p:spTree>
    <p:extLst>
      <p:ext uri="{BB962C8B-B14F-4D97-AF65-F5344CB8AC3E}">
        <p14:creationId xmlns:p14="http://schemas.microsoft.com/office/powerpoint/2010/main" val="639299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DD0AB-DD37-6C07-9F6B-60A934AD03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C5A63F-3551-6D22-47B8-105D50ED53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5EE8CE-5238-BB8E-1638-45CD6BED346F}"/>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21F2F183-CE0B-4736-F629-0777CB3CBAF0}"/>
              </a:ext>
            </a:extLst>
          </p:cNvPr>
          <p:cNvSpPr>
            <a:spLocks noGrp="1"/>
          </p:cNvSpPr>
          <p:nvPr>
            <p:ph type="sldNum" sz="quarter" idx="5"/>
          </p:nvPr>
        </p:nvSpPr>
        <p:spPr/>
        <p:txBody>
          <a:bodyPr/>
          <a:lstStyle/>
          <a:p>
            <a:fld id="{02B5FDCB-33CC-4AD4-B363-617329C34B90}" type="slidenum">
              <a:rPr lang="en-SG" smtClean="0"/>
              <a:t>2</a:t>
            </a:fld>
            <a:endParaRPr lang="en-SG"/>
          </a:p>
        </p:txBody>
      </p:sp>
    </p:spTree>
    <p:extLst>
      <p:ext uri="{BB962C8B-B14F-4D97-AF65-F5344CB8AC3E}">
        <p14:creationId xmlns:p14="http://schemas.microsoft.com/office/powerpoint/2010/main" val="2605061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D865F-2013-0D2C-8CFC-96EF61463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46697-B0D7-33B5-437D-124448040F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976C5A-FB02-62ED-4043-68530EA00C25}"/>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6A38CA15-1F08-99A3-A5AA-878FD149C631}"/>
              </a:ext>
            </a:extLst>
          </p:cNvPr>
          <p:cNvSpPr>
            <a:spLocks noGrp="1"/>
          </p:cNvSpPr>
          <p:nvPr>
            <p:ph type="sldNum" sz="quarter" idx="5"/>
          </p:nvPr>
        </p:nvSpPr>
        <p:spPr/>
        <p:txBody>
          <a:bodyPr/>
          <a:lstStyle/>
          <a:p>
            <a:fld id="{02B5FDCB-33CC-4AD4-B363-617329C34B90}" type="slidenum">
              <a:rPr lang="en-SG" smtClean="0"/>
              <a:t>4</a:t>
            </a:fld>
            <a:endParaRPr lang="en-SG"/>
          </a:p>
        </p:txBody>
      </p:sp>
    </p:spTree>
    <p:extLst>
      <p:ext uri="{BB962C8B-B14F-4D97-AF65-F5344CB8AC3E}">
        <p14:creationId xmlns:p14="http://schemas.microsoft.com/office/powerpoint/2010/main" val="8426716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82C04-963E-E0D8-BB40-2097BEA88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66B96-8CA2-0C9F-F56B-296F423699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BB189D-993B-DC64-6350-35BC09F3E6CE}"/>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182AF85F-40F1-558C-6B29-80A882095592}"/>
              </a:ext>
            </a:extLst>
          </p:cNvPr>
          <p:cNvSpPr>
            <a:spLocks noGrp="1"/>
          </p:cNvSpPr>
          <p:nvPr>
            <p:ph type="sldNum" sz="quarter" idx="5"/>
          </p:nvPr>
        </p:nvSpPr>
        <p:spPr/>
        <p:txBody>
          <a:bodyPr/>
          <a:lstStyle/>
          <a:p>
            <a:fld id="{02B5FDCB-33CC-4AD4-B363-617329C34B90}" type="slidenum">
              <a:rPr lang="en-SG" smtClean="0"/>
              <a:t>5</a:t>
            </a:fld>
            <a:endParaRPr lang="en-SG"/>
          </a:p>
        </p:txBody>
      </p:sp>
    </p:spTree>
    <p:extLst>
      <p:ext uri="{BB962C8B-B14F-4D97-AF65-F5344CB8AC3E}">
        <p14:creationId xmlns:p14="http://schemas.microsoft.com/office/powerpoint/2010/main" val="32451997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1E70A-AF1A-4B32-0724-C22995D55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92574-EBE9-1633-3D31-EB4DE95637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045399-18E4-E3CE-8D98-3BAD77E31D65}"/>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2BAFA6FC-011F-8482-3210-2D8EBB3D44A7}"/>
              </a:ext>
            </a:extLst>
          </p:cNvPr>
          <p:cNvSpPr>
            <a:spLocks noGrp="1"/>
          </p:cNvSpPr>
          <p:nvPr>
            <p:ph type="sldNum" sz="quarter" idx="5"/>
          </p:nvPr>
        </p:nvSpPr>
        <p:spPr/>
        <p:txBody>
          <a:bodyPr/>
          <a:lstStyle/>
          <a:p>
            <a:fld id="{02B5FDCB-33CC-4AD4-B363-617329C34B90}" type="slidenum">
              <a:rPr lang="en-SG" smtClean="0"/>
              <a:t>6</a:t>
            </a:fld>
            <a:endParaRPr lang="en-SG"/>
          </a:p>
        </p:txBody>
      </p:sp>
    </p:spTree>
    <p:extLst>
      <p:ext uri="{BB962C8B-B14F-4D97-AF65-F5344CB8AC3E}">
        <p14:creationId xmlns:p14="http://schemas.microsoft.com/office/powerpoint/2010/main" val="2223710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37DED-9939-F280-9BE7-DC7704A370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59B91-2EA3-4655-D87D-77BFE7B7B3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8F270-EB8D-B903-BB75-5F97692F6084}"/>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6265EA8A-01AD-5BAD-4EBD-43E75B19A5B1}"/>
              </a:ext>
            </a:extLst>
          </p:cNvPr>
          <p:cNvSpPr>
            <a:spLocks noGrp="1"/>
          </p:cNvSpPr>
          <p:nvPr>
            <p:ph type="sldNum" sz="quarter" idx="5"/>
          </p:nvPr>
        </p:nvSpPr>
        <p:spPr/>
        <p:txBody>
          <a:bodyPr/>
          <a:lstStyle/>
          <a:p>
            <a:fld id="{02B5FDCB-33CC-4AD4-B363-617329C34B90}" type="slidenum">
              <a:rPr lang="en-SG" smtClean="0"/>
              <a:t>7</a:t>
            </a:fld>
            <a:endParaRPr lang="en-SG"/>
          </a:p>
        </p:txBody>
      </p:sp>
    </p:spTree>
    <p:extLst>
      <p:ext uri="{BB962C8B-B14F-4D97-AF65-F5344CB8AC3E}">
        <p14:creationId xmlns:p14="http://schemas.microsoft.com/office/powerpoint/2010/main" val="31101352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4EDF8-9181-CBB1-80F9-5F07DD9E9D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7B62B8-2A02-37C6-875B-EE261516A1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B37A44-2182-8D11-1C02-1D83356785F0}"/>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04F9469A-AF61-D408-D42F-22A4CBE9E3C7}"/>
              </a:ext>
            </a:extLst>
          </p:cNvPr>
          <p:cNvSpPr>
            <a:spLocks noGrp="1"/>
          </p:cNvSpPr>
          <p:nvPr>
            <p:ph type="sldNum" sz="quarter" idx="5"/>
          </p:nvPr>
        </p:nvSpPr>
        <p:spPr/>
        <p:txBody>
          <a:bodyPr/>
          <a:lstStyle/>
          <a:p>
            <a:fld id="{02B5FDCB-33CC-4AD4-B363-617329C34B90}" type="slidenum">
              <a:rPr lang="en-SG" smtClean="0"/>
              <a:t>8</a:t>
            </a:fld>
            <a:endParaRPr lang="en-SG"/>
          </a:p>
        </p:txBody>
      </p:sp>
    </p:spTree>
    <p:extLst>
      <p:ext uri="{BB962C8B-B14F-4D97-AF65-F5344CB8AC3E}">
        <p14:creationId xmlns:p14="http://schemas.microsoft.com/office/powerpoint/2010/main" val="8373510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D865F-2013-0D2C-8CFC-96EF61463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46697-B0D7-33B5-437D-124448040F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976C5A-FB02-62ED-4043-68530EA00C25}"/>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6A38CA15-1F08-99A3-A5AA-878FD149C631}"/>
              </a:ext>
            </a:extLst>
          </p:cNvPr>
          <p:cNvSpPr>
            <a:spLocks noGrp="1"/>
          </p:cNvSpPr>
          <p:nvPr>
            <p:ph type="sldNum" sz="quarter" idx="5"/>
          </p:nvPr>
        </p:nvSpPr>
        <p:spPr/>
        <p:txBody>
          <a:bodyPr/>
          <a:lstStyle/>
          <a:p>
            <a:fld id="{02B5FDCB-33CC-4AD4-B363-617329C34B90}" type="slidenum">
              <a:rPr lang="en-SG" smtClean="0"/>
              <a:t>10</a:t>
            </a:fld>
            <a:endParaRPr lang="en-SG"/>
          </a:p>
        </p:txBody>
      </p:sp>
    </p:spTree>
    <p:extLst>
      <p:ext uri="{BB962C8B-B14F-4D97-AF65-F5344CB8AC3E}">
        <p14:creationId xmlns:p14="http://schemas.microsoft.com/office/powerpoint/2010/main" val="842671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82C04-963E-E0D8-BB40-2097BEA88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66B96-8CA2-0C9F-F56B-296F423699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BB189D-993B-DC64-6350-35BC09F3E6CE}"/>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182AF85F-40F1-558C-6B29-80A882095592}"/>
              </a:ext>
            </a:extLst>
          </p:cNvPr>
          <p:cNvSpPr>
            <a:spLocks noGrp="1"/>
          </p:cNvSpPr>
          <p:nvPr>
            <p:ph type="sldNum" sz="quarter" idx="5"/>
          </p:nvPr>
        </p:nvSpPr>
        <p:spPr/>
        <p:txBody>
          <a:bodyPr/>
          <a:lstStyle/>
          <a:p>
            <a:fld id="{02B5FDCB-33CC-4AD4-B363-617329C34B90}" type="slidenum">
              <a:rPr lang="en-SG" smtClean="0"/>
              <a:t>11</a:t>
            </a:fld>
            <a:endParaRPr lang="en-SG"/>
          </a:p>
        </p:txBody>
      </p:sp>
    </p:spTree>
    <p:extLst>
      <p:ext uri="{BB962C8B-B14F-4D97-AF65-F5344CB8AC3E}">
        <p14:creationId xmlns:p14="http://schemas.microsoft.com/office/powerpoint/2010/main" val="3245199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1E70A-AF1A-4B32-0724-C22995D55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92574-EBE9-1633-3D31-EB4DE95637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045399-18E4-E3CE-8D98-3BAD77E31D65}"/>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2BAFA6FC-011F-8482-3210-2D8EBB3D44A7}"/>
              </a:ext>
            </a:extLst>
          </p:cNvPr>
          <p:cNvSpPr>
            <a:spLocks noGrp="1"/>
          </p:cNvSpPr>
          <p:nvPr>
            <p:ph type="sldNum" sz="quarter" idx="5"/>
          </p:nvPr>
        </p:nvSpPr>
        <p:spPr/>
        <p:txBody>
          <a:bodyPr/>
          <a:lstStyle/>
          <a:p>
            <a:fld id="{02B5FDCB-33CC-4AD4-B363-617329C34B90}" type="slidenum">
              <a:rPr lang="en-SG" smtClean="0"/>
              <a:t>12</a:t>
            </a:fld>
            <a:endParaRPr lang="en-SG"/>
          </a:p>
        </p:txBody>
      </p:sp>
    </p:spTree>
    <p:extLst>
      <p:ext uri="{BB962C8B-B14F-4D97-AF65-F5344CB8AC3E}">
        <p14:creationId xmlns:p14="http://schemas.microsoft.com/office/powerpoint/2010/main" val="22237106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37DED-9939-F280-9BE7-DC7704A370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59B91-2EA3-4655-D87D-77BFE7B7B3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8F270-EB8D-B903-BB75-5F97692F6084}"/>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6265EA8A-01AD-5BAD-4EBD-43E75B19A5B1}"/>
              </a:ext>
            </a:extLst>
          </p:cNvPr>
          <p:cNvSpPr>
            <a:spLocks noGrp="1"/>
          </p:cNvSpPr>
          <p:nvPr>
            <p:ph type="sldNum" sz="quarter" idx="5"/>
          </p:nvPr>
        </p:nvSpPr>
        <p:spPr/>
        <p:txBody>
          <a:bodyPr/>
          <a:lstStyle/>
          <a:p>
            <a:fld id="{02B5FDCB-33CC-4AD4-B363-617329C34B90}" type="slidenum">
              <a:rPr lang="en-SG" smtClean="0"/>
              <a:t>13</a:t>
            </a:fld>
            <a:endParaRPr lang="en-SG"/>
          </a:p>
        </p:txBody>
      </p:sp>
    </p:spTree>
    <p:extLst>
      <p:ext uri="{BB962C8B-B14F-4D97-AF65-F5344CB8AC3E}">
        <p14:creationId xmlns:p14="http://schemas.microsoft.com/office/powerpoint/2010/main" val="3110135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93477-802D-5A16-E905-E82EB249E2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AE2C2-19CF-0219-8551-BB99C444C5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A716E-1DE7-F5AD-C95F-124B96D0DBF7}"/>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DFE3C1BF-D950-EB0D-CF0B-E466C88F92AB}"/>
              </a:ext>
            </a:extLst>
          </p:cNvPr>
          <p:cNvSpPr>
            <a:spLocks noGrp="1"/>
          </p:cNvSpPr>
          <p:nvPr>
            <p:ph type="sldNum" sz="quarter" idx="5"/>
          </p:nvPr>
        </p:nvSpPr>
        <p:spPr/>
        <p:txBody>
          <a:bodyPr/>
          <a:lstStyle/>
          <a:p>
            <a:fld id="{02B5FDCB-33CC-4AD4-B363-617329C34B90}" type="slidenum">
              <a:rPr lang="en-SG" smtClean="0"/>
              <a:t>15</a:t>
            </a:fld>
            <a:endParaRPr lang="en-SG"/>
          </a:p>
        </p:txBody>
      </p:sp>
    </p:spTree>
    <p:extLst>
      <p:ext uri="{BB962C8B-B14F-4D97-AF65-F5344CB8AC3E}">
        <p14:creationId xmlns:p14="http://schemas.microsoft.com/office/powerpoint/2010/main" val="1124807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947BE-981B-B8FD-E417-51EF836B0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5DB949-8ABF-F757-252B-C3C728D636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DF7CED-32FA-9833-F6FC-680F1F569931}"/>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66024D90-DA59-0AB1-AA2E-26FA9AEA71BC}"/>
              </a:ext>
            </a:extLst>
          </p:cNvPr>
          <p:cNvSpPr>
            <a:spLocks noGrp="1"/>
          </p:cNvSpPr>
          <p:nvPr>
            <p:ph type="sldNum" sz="quarter" idx="5"/>
          </p:nvPr>
        </p:nvSpPr>
        <p:spPr/>
        <p:txBody>
          <a:bodyPr/>
          <a:lstStyle/>
          <a:p>
            <a:fld id="{02B5FDCB-33CC-4AD4-B363-617329C34B90}" type="slidenum">
              <a:rPr lang="en-SG" smtClean="0"/>
              <a:t>16</a:t>
            </a:fld>
            <a:endParaRPr lang="en-SG"/>
          </a:p>
        </p:txBody>
      </p:sp>
    </p:spTree>
    <p:extLst>
      <p:ext uri="{BB962C8B-B14F-4D97-AF65-F5344CB8AC3E}">
        <p14:creationId xmlns:p14="http://schemas.microsoft.com/office/powerpoint/2010/main" val="3082325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787B7-341A-4A67-2C5A-B2774D3127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C7274B-AA2D-049E-AC4C-9DB8B75CA9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019627-9E85-F323-A046-62E582148A60}"/>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810D7884-482C-79D8-CC6B-D6D93C8E5C01}"/>
              </a:ext>
            </a:extLst>
          </p:cNvPr>
          <p:cNvSpPr>
            <a:spLocks noGrp="1"/>
          </p:cNvSpPr>
          <p:nvPr>
            <p:ph type="sldNum" sz="quarter" idx="5"/>
          </p:nvPr>
        </p:nvSpPr>
        <p:spPr/>
        <p:txBody>
          <a:bodyPr/>
          <a:lstStyle/>
          <a:p>
            <a:fld id="{02B5FDCB-33CC-4AD4-B363-617329C34B90}" type="slidenum">
              <a:rPr lang="en-SG" smtClean="0"/>
              <a:t>17</a:t>
            </a:fld>
            <a:endParaRPr lang="en-SG"/>
          </a:p>
        </p:txBody>
      </p:sp>
    </p:spTree>
    <p:extLst>
      <p:ext uri="{BB962C8B-B14F-4D97-AF65-F5344CB8AC3E}">
        <p14:creationId xmlns:p14="http://schemas.microsoft.com/office/powerpoint/2010/main" val="15956957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C16B0-E97A-9E66-2C4D-171863A058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F459EA-634E-2FF4-78D5-89FC192C3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C84E25-89DB-0238-30CD-F3C5FA5DF2AA}"/>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F5236063-37B8-6740-7756-3A01C29D3A6F}"/>
              </a:ext>
            </a:extLst>
          </p:cNvPr>
          <p:cNvSpPr>
            <a:spLocks noGrp="1"/>
          </p:cNvSpPr>
          <p:nvPr>
            <p:ph type="sldNum" sz="quarter" idx="5"/>
          </p:nvPr>
        </p:nvSpPr>
        <p:spPr/>
        <p:txBody>
          <a:bodyPr/>
          <a:lstStyle/>
          <a:p>
            <a:fld id="{02B5FDCB-33CC-4AD4-B363-617329C34B90}" type="slidenum">
              <a:rPr lang="en-SG" smtClean="0"/>
              <a:t>18</a:t>
            </a:fld>
            <a:endParaRPr lang="en-SG"/>
          </a:p>
        </p:txBody>
      </p:sp>
    </p:spTree>
    <p:extLst>
      <p:ext uri="{BB962C8B-B14F-4D97-AF65-F5344CB8AC3E}">
        <p14:creationId xmlns:p14="http://schemas.microsoft.com/office/powerpoint/2010/main" val="13194679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090B1-B187-75DA-D37B-7093EBAB77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D7A9D0-8F9A-327E-C1F3-DAA26A092E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7EBC15-933C-BBB1-3F9C-C866AE60DFA2}"/>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B21CB442-4477-1BFC-33A2-8DCBF37B9CBB}"/>
              </a:ext>
            </a:extLst>
          </p:cNvPr>
          <p:cNvSpPr>
            <a:spLocks noGrp="1"/>
          </p:cNvSpPr>
          <p:nvPr>
            <p:ph type="sldNum" sz="quarter" idx="5"/>
          </p:nvPr>
        </p:nvSpPr>
        <p:spPr/>
        <p:txBody>
          <a:bodyPr/>
          <a:lstStyle/>
          <a:p>
            <a:fld id="{02B5FDCB-33CC-4AD4-B363-617329C34B90}" type="slidenum">
              <a:rPr lang="en-SG" smtClean="0"/>
              <a:t>19</a:t>
            </a:fld>
            <a:endParaRPr lang="en-SG"/>
          </a:p>
        </p:txBody>
      </p:sp>
    </p:spTree>
    <p:extLst>
      <p:ext uri="{BB962C8B-B14F-4D97-AF65-F5344CB8AC3E}">
        <p14:creationId xmlns:p14="http://schemas.microsoft.com/office/powerpoint/2010/main" val="30594006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24D2B-D055-A163-0640-DE42688587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C86F6-F329-0A10-5854-E8D042BD8C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54555A-084B-EC28-5FB3-F8DD88399F15}"/>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508837F0-9DF9-F562-16B7-C08F5C827B7C}"/>
              </a:ext>
            </a:extLst>
          </p:cNvPr>
          <p:cNvSpPr>
            <a:spLocks noGrp="1"/>
          </p:cNvSpPr>
          <p:nvPr>
            <p:ph type="sldNum" sz="quarter" idx="5"/>
          </p:nvPr>
        </p:nvSpPr>
        <p:spPr/>
        <p:txBody>
          <a:bodyPr/>
          <a:lstStyle/>
          <a:p>
            <a:fld id="{02B5FDCB-33CC-4AD4-B363-617329C34B90}" type="slidenum">
              <a:rPr lang="en-SG" smtClean="0"/>
              <a:t>20</a:t>
            </a:fld>
            <a:endParaRPr lang="en-SG"/>
          </a:p>
        </p:txBody>
      </p:sp>
    </p:spTree>
    <p:extLst>
      <p:ext uri="{BB962C8B-B14F-4D97-AF65-F5344CB8AC3E}">
        <p14:creationId xmlns:p14="http://schemas.microsoft.com/office/powerpoint/2010/main" val="2677597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F199B-8A6C-E4AC-F59A-4C18EDD85B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BDDA4-CE25-5DA2-88C8-F76EBE3D65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599CC1-14DF-0FC2-6DDC-EEAC1C41A590}"/>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348DBE70-FACE-9A0E-B792-4281EF9B1EA9}"/>
              </a:ext>
            </a:extLst>
          </p:cNvPr>
          <p:cNvSpPr>
            <a:spLocks noGrp="1"/>
          </p:cNvSpPr>
          <p:nvPr>
            <p:ph type="sldNum" sz="quarter" idx="5"/>
          </p:nvPr>
        </p:nvSpPr>
        <p:spPr/>
        <p:txBody>
          <a:bodyPr/>
          <a:lstStyle/>
          <a:p>
            <a:fld id="{02B5FDCB-33CC-4AD4-B363-617329C34B90}" type="slidenum">
              <a:rPr lang="en-SG" smtClean="0"/>
              <a:t>21</a:t>
            </a:fld>
            <a:endParaRPr lang="en-SG"/>
          </a:p>
        </p:txBody>
      </p:sp>
    </p:spTree>
    <p:extLst>
      <p:ext uri="{BB962C8B-B14F-4D97-AF65-F5344CB8AC3E}">
        <p14:creationId xmlns:p14="http://schemas.microsoft.com/office/powerpoint/2010/main" val="4657976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BE513-99A7-6EE2-D31A-004CC0DC3F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ADEF6-ED84-D91E-72F4-68591B8390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D45A5C-9A6C-8233-B3F9-5A62BBAE2FE4}"/>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F1729B93-7932-FA84-E72F-AD2572B71A2C}"/>
              </a:ext>
            </a:extLst>
          </p:cNvPr>
          <p:cNvSpPr>
            <a:spLocks noGrp="1"/>
          </p:cNvSpPr>
          <p:nvPr>
            <p:ph type="sldNum" sz="quarter" idx="5"/>
          </p:nvPr>
        </p:nvSpPr>
        <p:spPr/>
        <p:txBody>
          <a:bodyPr/>
          <a:lstStyle/>
          <a:p>
            <a:fld id="{02B5FDCB-33CC-4AD4-B363-617329C34B90}" type="slidenum">
              <a:rPr lang="en-SG" smtClean="0"/>
              <a:t>22</a:t>
            </a:fld>
            <a:endParaRPr lang="en-SG"/>
          </a:p>
        </p:txBody>
      </p:sp>
    </p:spTree>
    <p:extLst>
      <p:ext uri="{BB962C8B-B14F-4D97-AF65-F5344CB8AC3E}">
        <p14:creationId xmlns:p14="http://schemas.microsoft.com/office/powerpoint/2010/main" val="30499001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4ED31-9E47-51C6-655F-19BAD4708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24043E-7C84-9AED-6635-820AC7CD2E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9604ED-0C10-AD0E-EAE1-B60C54366418}"/>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76F28D94-684B-7262-0C9E-481741F20190}"/>
              </a:ext>
            </a:extLst>
          </p:cNvPr>
          <p:cNvSpPr>
            <a:spLocks noGrp="1"/>
          </p:cNvSpPr>
          <p:nvPr>
            <p:ph type="sldNum" sz="quarter" idx="5"/>
          </p:nvPr>
        </p:nvSpPr>
        <p:spPr/>
        <p:txBody>
          <a:bodyPr/>
          <a:lstStyle/>
          <a:p>
            <a:fld id="{02B5FDCB-33CC-4AD4-B363-617329C34B90}" type="slidenum">
              <a:rPr lang="en-SG" smtClean="0"/>
              <a:t>23</a:t>
            </a:fld>
            <a:endParaRPr lang="en-SG"/>
          </a:p>
        </p:txBody>
      </p:sp>
    </p:spTree>
    <p:extLst>
      <p:ext uri="{BB962C8B-B14F-4D97-AF65-F5344CB8AC3E}">
        <p14:creationId xmlns:p14="http://schemas.microsoft.com/office/powerpoint/2010/main" val="15672508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BF1B8-D4DA-166D-E788-41791AA28D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42390-649A-4FA7-B562-C088CF911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3E9484-74F6-FAA8-4D40-0C576E945365}"/>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FD73E380-03A5-C01F-737A-3C7B36EAEFD6}"/>
              </a:ext>
            </a:extLst>
          </p:cNvPr>
          <p:cNvSpPr>
            <a:spLocks noGrp="1"/>
          </p:cNvSpPr>
          <p:nvPr>
            <p:ph type="sldNum" sz="quarter" idx="5"/>
          </p:nvPr>
        </p:nvSpPr>
        <p:spPr/>
        <p:txBody>
          <a:bodyPr/>
          <a:lstStyle/>
          <a:p>
            <a:fld id="{02B5FDCB-33CC-4AD4-B363-617329C34B90}" type="slidenum">
              <a:rPr lang="en-SG" smtClean="0"/>
              <a:t>24</a:t>
            </a:fld>
            <a:endParaRPr lang="en-SG"/>
          </a:p>
        </p:txBody>
      </p:sp>
    </p:spTree>
    <p:extLst>
      <p:ext uri="{BB962C8B-B14F-4D97-AF65-F5344CB8AC3E}">
        <p14:creationId xmlns:p14="http://schemas.microsoft.com/office/powerpoint/2010/main" val="33165220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06C14-CB48-BD5A-4C06-FFD809FAB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C162F-AEE1-2ED3-A7DA-F6D07295A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A73A3-1437-583F-6137-AEAAAA224E56}"/>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EB1BF180-3E24-1F08-48EB-D8DF5DC524BD}"/>
              </a:ext>
            </a:extLst>
          </p:cNvPr>
          <p:cNvSpPr>
            <a:spLocks noGrp="1"/>
          </p:cNvSpPr>
          <p:nvPr>
            <p:ph type="sldNum" sz="quarter" idx="5"/>
          </p:nvPr>
        </p:nvSpPr>
        <p:spPr/>
        <p:txBody>
          <a:bodyPr/>
          <a:lstStyle/>
          <a:p>
            <a:fld id="{02B5FDCB-33CC-4AD4-B363-617329C34B90}" type="slidenum">
              <a:rPr lang="en-SG" smtClean="0"/>
              <a:t>25</a:t>
            </a:fld>
            <a:endParaRPr lang="en-SG"/>
          </a:p>
        </p:txBody>
      </p:sp>
    </p:spTree>
    <p:extLst>
      <p:ext uri="{BB962C8B-B14F-4D97-AF65-F5344CB8AC3E}">
        <p14:creationId xmlns:p14="http://schemas.microsoft.com/office/powerpoint/2010/main" val="25948161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AB80F-D591-2545-08B0-2E4CF3D5B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4F0D5C-4F01-F81A-9E16-8288866677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A3CA5F-39B8-8C7E-1055-5E56492B6579}"/>
              </a:ext>
            </a:extLst>
          </p:cNvPr>
          <p:cNvSpPr>
            <a:spLocks noGrp="1"/>
          </p:cNvSpPr>
          <p:nvPr>
            <p:ph type="body" idx="1"/>
          </p:nvPr>
        </p:nvSpPr>
        <p:spPr/>
        <p:txBody>
          <a:bodyPr/>
          <a:lstStyle/>
          <a:p>
            <a:r>
              <a:rPr lang="en-US" dirty="0"/>
              <a:t>This is for the selection in reconstructed mode with no cuts applied, and the preselection cuts placed as variables, allowing us to see the number of particles that would pass each cut w.r.t the total number of all particles within the root file. </a:t>
            </a:r>
          </a:p>
          <a:p>
            <a:endParaRPr lang="en-US" dirty="0"/>
          </a:p>
          <a:p>
            <a:r>
              <a:rPr lang="en-US" dirty="0"/>
              <a:t>The final row shoes the number of particles that pass all 3 cuts, obtained from the other selection with all 3 cuts applied</a:t>
            </a:r>
            <a:endParaRPr lang="en-SG" dirty="0"/>
          </a:p>
        </p:txBody>
      </p:sp>
      <p:sp>
        <p:nvSpPr>
          <p:cNvPr id="4" name="Slide Number Placeholder 3">
            <a:extLst>
              <a:ext uri="{FF2B5EF4-FFF2-40B4-BE49-F238E27FC236}">
                <a16:creationId xmlns:a16="http://schemas.microsoft.com/office/drawing/2014/main" id="{D9164FEA-341D-FA47-3575-4380AA596316}"/>
              </a:ext>
            </a:extLst>
          </p:cNvPr>
          <p:cNvSpPr>
            <a:spLocks noGrp="1"/>
          </p:cNvSpPr>
          <p:nvPr>
            <p:ph type="sldNum" sz="quarter" idx="5"/>
          </p:nvPr>
        </p:nvSpPr>
        <p:spPr/>
        <p:txBody>
          <a:bodyPr/>
          <a:lstStyle/>
          <a:p>
            <a:fld id="{02B5FDCB-33CC-4AD4-B363-617329C34B90}" type="slidenum">
              <a:rPr lang="en-SG" smtClean="0"/>
              <a:t>31</a:t>
            </a:fld>
            <a:endParaRPr lang="en-SG"/>
          </a:p>
        </p:txBody>
      </p:sp>
    </p:spTree>
    <p:extLst>
      <p:ext uri="{BB962C8B-B14F-4D97-AF65-F5344CB8AC3E}">
        <p14:creationId xmlns:p14="http://schemas.microsoft.com/office/powerpoint/2010/main" val="38230755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26/2/2026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95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26/2/2026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2467805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AFE32E-95B7-4367-9495-9CBC389572F3}" type="datetimeFigureOut">
              <a:rPr lang="en-SG" smtClean="0"/>
              <a:t>26/2/2026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9563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AFE32E-95B7-4367-9495-9CBC389572F3}" type="datetimeFigureOut">
              <a:rPr lang="en-SG" smtClean="0"/>
              <a:t>26/2/2026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770304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AFE32E-95B7-4367-9495-9CBC389572F3}" type="datetimeFigureOut">
              <a:rPr lang="en-SG" smtClean="0"/>
              <a:t>26/2/2026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2522599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AFE32E-95B7-4367-9495-9CBC389572F3}" type="datetimeFigureOut">
              <a:rPr lang="en-SG" smtClean="0"/>
              <a:t>26/2/2026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772012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EAFE32E-95B7-4367-9495-9CBC389572F3}" type="datetimeFigureOut">
              <a:rPr lang="en-SG" smtClean="0"/>
              <a:t>26/2/2026</a:t>
            </a:fld>
            <a:endParaRPr lang="en-SG"/>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SG"/>
          </a:p>
        </p:txBody>
      </p:sp>
      <p:sp>
        <p:nvSpPr>
          <p:cNvPr id="9" name="Slide Number Placeholder 8"/>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081388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EAFE32E-95B7-4367-9495-9CBC389572F3}" type="datetimeFigureOut">
              <a:rPr lang="en-SG" smtClean="0"/>
              <a:t>26/2/2026</a:t>
            </a:fld>
            <a:endParaRPr lang="en-SG"/>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SG"/>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BCD8743-5A53-4A98-BC6F-5DFD6CC2F469}" type="slidenum">
              <a:rPr lang="en-SG" smtClean="0"/>
              <a:t>‹#›</a:t>
            </a:fld>
            <a:endParaRPr lang="en-SG"/>
          </a:p>
        </p:txBody>
      </p:sp>
    </p:spTree>
    <p:extLst>
      <p:ext uri="{BB962C8B-B14F-4D97-AF65-F5344CB8AC3E}">
        <p14:creationId xmlns:p14="http://schemas.microsoft.com/office/powerpoint/2010/main" val="4105455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AFE32E-95B7-4367-9495-9CBC389572F3}" type="datetimeFigureOut">
              <a:rPr lang="en-SG" smtClean="0"/>
              <a:t>26/2/2026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352348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26/2/2026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219288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26/2/2026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3693067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EAFE32E-95B7-4367-9495-9CBC389572F3}" type="datetimeFigureOut">
              <a:rPr lang="en-SG" smtClean="0"/>
              <a:t>26/2/2026</a:t>
            </a:fld>
            <a:endParaRPr lang="en-SG"/>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SG"/>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BCD8743-5A53-4A98-BC6F-5DFD6CC2F469}" type="slidenum">
              <a:rPr lang="en-SG" smtClean="0"/>
              <a:t>‹#›</a:t>
            </a:fld>
            <a:endParaRPr lang="en-SG"/>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597738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D7BDB-9701-984E-3B5C-CAFEA31C7093}"/>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93C0CED3-31B0-6492-25DA-D26708DE769D}"/>
              </a:ext>
            </a:extLst>
          </p:cNvPr>
          <p:cNvGraphicFramePr>
            <a:graphicFrameLocks noGrp="1"/>
          </p:cNvGraphicFramePr>
          <p:nvPr/>
        </p:nvGraphicFramePr>
        <p:xfrm>
          <a:off x="7972425" y="2038156"/>
          <a:ext cx="3870036" cy="1859589"/>
        </p:xfrm>
        <a:graphic>
          <a:graphicData uri="http://schemas.openxmlformats.org/drawingml/2006/table">
            <a:tbl>
              <a:tblPr firstRow="1" bandRow="1">
                <a:tableStyleId>{69012ECD-51FC-41F1-AA8D-1B2483CD663E}</a:tableStyleId>
              </a:tblPr>
              <a:tblGrid>
                <a:gridCol w="3870036">
                  <a:extLst>
                    <a:ext uri="{9D8B030D-6E8A-4147-A177-3AD203B41FA5}">
                      <a16:colId xmlns:a16="http://schemas.microsoft.com/office/drawing/2014/main" val="1476473035"/>
                    </a:ext>
                  </a:extLst>
                </a:gridCol>
              </a:tblGrid>
              <a:tr h="619863">
                <a:tc>
                  <a:txBody>
                    <a:bodyPr/>
                    <a:lstStyle/>
                    <a:p>
                      <a:r>
                        <a:rPr lang="en-US" dirty="0"/>
                        <a:t>Created TOML files</a:t>
                      </a:r>
                      <a:endParaRPr lang="en-SG" dirty="0"/>
                    </a:p>
                  </a:txBody>
                  <a:tcPr/>
                </a:tc>
                <a:extLst>
                  <a:ext uri="{0D108BD9-81ED-4DB2-BD59-A6C34878D82A}">
                    <a16:rowId xmlns:a16="http://schemas.microsoft.com/office/drawing/2014/main" val="1553903345"/>
                  </a:ext>
                </a:extLst>
              </a:tr>
              <a:tr h="619863">
                <a:tc>
                  <a:txBody>
                    <a:bodyPr/>
                    <a:lstStyle/>
                    <a:p>
                      <a:endParaRPr lang="en-SG" dirty="0"/>
                    </a:p>
                  </a:txBody>
                  <a:tcPr/>
                </a:tc>
                <a:extLst>
                  <a:ext uri="{0D108BD9-81ED-4DB2-BD59-A6C34878D82A}">
                    <a16:rowId xmlns:a16="http://schemas.microsoft.com/office/drawing/2014/main" val="3745061632"/>
                  </a:ext>
                </a:extLst>
              </a:tr>
              <a:tr h="619863">
                <a:tc>
                  <a:txBody>
                    <a:bodyPr/>
                    <a:lstStyle/>
                    <a:p>
                      <a:endParaRPr lang="en-SG" dirty="0"/>
                    </a:p>
                  </a:txBody>
                  <a:tcPr/>
                </a:tc>
                <a:extLst>
                  <a:ext uri="{0D108BD9-81ED-4DB2-BD59-A6C34878D82A}">
                    <a16:rowId xmlns:a16="http://schemas.microsoft.com/office/drawing/2014/main" val="4282705285"/>
                  </a:ext>
                </a:extLst>
              </a:tr>
            </a:tbl>
          </a:graphicData>
        </a:graphic>
      </p:graphicFrame>
      <p:sp>
        <p:nvSpPr>
          <p:cNvPr id="2" name="Title 1">
            <a:extLst>
              <a:ext uri="{FF2B5EF4-FFF2-40B4-BE49-F238E27FC236}">
                <a16:creationId xmlns:a16="http://schemas.microsoft.com/office/drawing/2014/main" id="{03678366-A442-6703-8E8A-09627C3215C5}"/>
              </a:ext>
            </a:extLst>
          </p:cNvPr>
          <p:cNvSpPr>
            <a:spLocks noGrp="1"/>
          </p:cNvSpPr>
          <p:nvPr>
            <p:ph type="title"/>
          </p:nvPr>
        </p:nvSpPr>
        <p:spPr/>
        <p:txBody>
          <a:bodyPr/>
          <a:lstStyle/>
          <a:p>
            <a:r>
              <a:rPr lang="en-US" dirty="0"/>
              <a:t>Tasks completed (26 Feb) </a:t>
            </a:r>
            <a:endParaRPr lang="en-SG" dirty="0"/>
          </a:p>
        </p:txBody>
      </p:sp>
      <p:sp>
        <p:nvSpPr>
          <p:cNvPr id="3" name="Content Placeholder 2">
            <a:extLst>
              <a:ext uri="{FF2B5EF4-FFF2-40B4-BE49-F238E27FC236}">
                <a16:creationId xmlns:a16="http://schemas.microsoft.com/office/drawing/2014/main" id="{9A3A9378-1C91-D033-6E65-8E0A3680C8BB}"/>
              </a:ext>
            </a:extLst>
          </p:cNvPr>
          <p:cNvSpPr>
            <a:spLocks noGrp="1"/>
          </p:cNvSpPr>
          <p:nvPr>
            <p:ph idx="1"/>
          </p:nvPr>
        </p:nvSpPr>
        <p:spPr>
          <a:xfrm>
            <a:off x="1097280" y="1845734"/>
            <a:ext cx="6494145" cy="4351866"/>
          </a:xfrm>
        </p:spPr>
        <p:txBody>
          <a:bodyPr>
            <a:normAutofit/>
          </a:bodyPr>
          <a:lstStyle/>
          <a:p>
            <a:pPr>
              <a:buFont typeface="Arial" panose="020B0604020202020204" pitchFamily="34" charset="0"/>
              <a:buChar char="•"/>
            </a:pPr>
            <a:r>
              <a:rPr lang="en-US" dirty="0"/>
              <a:t>Extra: particle semantic type reconstruction efficiency confusion matrix</a:t>
            </a:r>
          </a:p>
          <a:p>
            <a:pPr>
              <a:buFont typeface="Arial" panose="020B0604020202020204" pitchFamily="34" charset="0"/>
              <a:buChar char="•"/>
            </a:pPr>
            <a:r>
              <a:rPr lang="en-US" dirty="0"/>
              <a:t>Out-of-time </a:t>
            </a:r>
            <a:r>
              <a:rPr lang="en-US" dirty="0" err="1"/>
              <a:t>cosmics</a:t>
            </a:r>
            <a:r>
              <a:rPr lang="en-US" dirty="0"/>
              <a:t> investigation </a:t>
            </a:r>
            <a:endParaRPr lang="en-SG" dirty="0"/>
          </a:p>
        </p:txBody>
      </p:sp>
      <p:graphicFrame>
        <p:nvGraphicFramePr>
          <p:cNvPr id="6" name="Object 5">
            <a:extLst>
              <a:ext uri="{FF2B5EF4-FFF2-40B4-BE49-F238E27FC236}">
                <a16:creationId xmlns:a16="http://schemas.microsoft.com/office/drawing/2014/main" id="{A94D7B03-D194-3A28-08CA-9FA672F80636}"/>
              </a:ext>
            </a:extLst>
          </p:cNvPr>
          <p:cNvGraphicFramePr>
            <a:graphicFrameLocks noChangeAspect="1"/>
          </p:cNvGraphicFramePr>
          <p:nvPr/>
        </p:nvGraphicFramePr>
        <p:xfrm>
          <a:off x="8324632" y="2710775"/>
          <a:ext cx="3400425" cy="514350"/>
        </p:xfrm>
        <a:graphic>
          <a:graphicData uri="http://schemas.openxmlformats.org/presentationml/2006/ole">
            <mc:AlternateContent xmlns:mc="http://schemas.openxmlformats.org/markup-compatibility/2006">
              <mc:Choice xmlns:v="urn:schemas-microsoft-com:vml" Requires="v">
                <p:oleObj name="Packager Shell Object" showAsIcon="1" r:id="rId3" imgW="3400406" imgH="514350" progId="Package">
                  <p:embed/>
                </p:oleObj>
              </mc:Choice>
              <mc:Fallback>
                <p:oleObj name="Packager Shell Object" showAsIcon="1" r:id="rId3" imgW="3400406" imgH="514350" progId="Package">
                  <p:embed/>
                  <p:pic>
                    <p:nvPicPr>
                      <p:cNvPr id="6" name="Object 5">
                        <a:extLst>
                          <a:ext uri="{FF2B5EF4-FFF2-40B4-BE49-F238E27FC236}">
                            <a16:creationId xmlns:a16="http://schemas.microsoft.com/office/drawing/2014/main" id="{690D7911-666F-6B2D-4494-5F2EFCF321BC}"/>
                          </a:ext>
                        </a:extLst>
                      </p:cNvPr>
                      <p:cNvPicPr/>
                      <p:nvPr/>
                    </p:nvPicPr>
                    <p:blipFill>
                      <a:blip r:embed="rId4"/>
                      <a:stretch>
                        <a:fillRect/>
                      </a:stretch>
                    </p:blipFill>
                    <p:spPr>
                      <a:xfrm>
                        <a:off x="8324632" y="2710775"/>
                        <a:ext cx="3400425" cy="51435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591F0BAD-21D0-F0B7-0A9E-D1CD4429803B}"/>
              </a:ext>
            </a:extLst>
          </p:cNvPr>
          <p:cNvGraphicFramePr>
            <a:graphicFrameLocks noChangeAspect="1"/>
          </p:cNvGraphicFramePr>
          <p:nvPr/>
        </p:nvGraphicFramePr>
        <p:xfrm>
          <a:off x="8305583" y="3354002"/>
          <a:ext cx="3438525" cy="514350"/>
        </p:xfrm>
        <a:graphic>
          <a:graphicData uri="http://schemas.openxmlformats.org/presentationml/2006/ole">
            <mc:AlternateContent xmlns:mc="http://schemas.openxmlformats.org/markup-compatibility/2006">
              <mc:Choice xmlns:v="urn:schemas-microsoft-com:vml" Requires="v">
                <p:oleObj name="Packager Shell Object" showAsIcon="1" r:id="rId5" imgW="3438633" imgH="514350" progId="Package">
                  <p:embed/>
                </p:oleObj>
              </mc:Choice>
              <mc:Fallback>
                <p:oleObj name="Packager Shell Object" showAsIcon="1" r:id="rId5" imgW="3438633" imgH="514350" progId="Package">
                  <p:embed/>
                  <p:pic>
                    <p:nvPicPr>
                      <p:cNvPr id="8" name="Object 7">
                        <a:extLst>
                          <a:ext uri="{FF2B5EF4-FFF2-40B4-BE49-F238E27FC236}">
                            <a16:creationId xmlns:a16="http://schemas.microsoft.com/office/drawing/2014/main" id="{10F1754C-30B9-87F6-82B0-A1837E2AA788}"/>
                          </a:ext>
                        </a:extLst>
                      </p:cNvPr>
                      <p:cNvPicPr/>
                      <p:nvPr/>
                    </p:nvPicPr>
                    <p:blipFill>
                      <a:blip r:embed="rId6"/>
                      <a:stretch>
                        <a:fillRect/>
                      </a:stretch>
                    </p:blipFill>
                    <p:spPr>
                      <a:xfrm>
                        <a:off x="8305583" y="3354002"/>
                        <a:ext cx="3438525" cy="514350"/>
                      </a:xfrm>
                      <a:prstGeom prst="rect">
                        <a:avLst/>
                      </a:prstGeom>
                    </p:spPr>
                  </p:pic>
                </p:oleObj>
              </mc:Fallback>
            </mc:AlternateContent>
          </a:graphicData>
        </a:graphic>
      </p:graphicFrame>
    </p:spTree>
    <p:extLst>
      <p:ext uri="{BB962C8B-B14F-4D97-AF65-F5344CB8AC3E}">
        <p14:creationId xmlns:p14="http://schemas.microsoft.com/office/powerpoint/2010/main" val="245474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8C9CC-31F0-D398-B5A9-9910AE0F98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3BB85E-37FA-76F8-4E74-83603244C6A3}"/>
              </a:ext>
            </a:extLst>
          </p:cNvPr>
          <p:cNvSpPr>
            <a:spLocks noGrp="1"/>
          </p:cNvSpPr>
          <p:nvPr>
            <p:ph type="title"/>
          </p:nvPr>
        </p:nvSpPr>
        <p:spPr>
          <a:xfrm>
            <a:off x="1066800" y="3066311"/>
            <a:ext cx="10058400" cy="725378"/>
          </a:xfrm>
        </p:spPr>
        <p:txBody>
          <a:bodyPr/>
          <a:lstStyle/>
          <a:p>
            <a:pPr algn="ctr"/>
            <a:r>
              <a:rPr lang="en-US" b="1" dirty="0"/>
              <a:t>PID Type confusion matrix</a:t>
            </a:r>
            <a:endParaRPr lang="en-SG" b="1" dirty="0"/>
          </a:p>
        </p:txBody>
      </p:sp>
    </p:spTree>
    <p:extLst>
      <p:ext uri="{BB962C8B-B14F-4D97-AF65-F5344CB8AC3E}">
        <p14:creationId xmlns:p14="http://schemas.microsoft.com/office/powerpoint/2010/main" val="1311709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300AE-FE17-9842-E38C-E8B0951264C4}"/>
              </a:ext>
            </a:extLst>
          </p:cNvPr>
          <p:cNvSpPr>
            <a:spLocks noGrp="1"/>
          </p:cNvSpPr>
          <p:nvPr>
            <p:ph type="title"/>
          </p:nvPr>
        </p:nvSpPr>
        <p:spPr/>
        <p:txBody>
          <a:bodyPr/>
          <a:lstStyle/>
          <a:p>
            <a:r>
              <a:rPr lang="en-US" dirty="0"/>
              <a:t>Particle PID type Confusion matrix</a:t>
            </a:r>
            <a:endParaRPr lang="en-SG" dirty="0"/>
          </a:p>
        </p:txBody>
      </p:sp>
      <p:sp>
        <p:nvSpPr>
          <p:cNvPr id="3" name="Content Placeholder 2">
            <a:extLst>
              <a:ext uri="{FF2B5EF4-FFF2-40B4-BE49-F238E27FC236}">
                <a16:creationId xmlns:a16="http://schemas.microsoft.com/office/drawing/2014/main" id="{E4A6030E-BD88-F670-7663-6845BFC2121E}"/>
              </a:ext>
            </a:extLst>
          </p:cNvPr>
          <p:cNvSpPr>
            <a:spLocks noGrp="1"/>
          </p:cNvSpPr>
          <p:nvPr>
            <p:ph idx="1"/>
          </p:nvPr>
        </p:nvSpPr>
        <p:spPr>
          <a:xfrm>
            <a:off x="1097280" y="1845734"/>
            <a:ext cx="10058400" cy="4307416"/>
          </a:xfrm>
        </p:spPr>
        <p:txBody>
          <a:bodyPr>
            <a:normAutofit lnSpcReduction="10000"/>
          </a:bodyPr>
          <a:lstStyle/>
          <a:p>
            <a:pPr>
              <a:buFont typeface="Arial" panose="020B0604020202020204" pitchFamily="34" charset="0"/>
              <a:buChar char="•"/>
            </a:pPr>
            <a:r>
              <a:rPr lang="en-US" dirty="0"/>
              <a:t>The diagonal elements represent the percentage of particles classified correctly, while the off-diagonal elements represent the percentage of particles misclassified as another species.</a:t>
            </a:r>
          </a:p>
          <a:p>
            <a:pPr>
              <a:buFont typeface="Arial" panose="020B0604020202020204" pitchFamily="34" charset="0"/>
              <a:buChar char="•"/>
            </a:pPr>
            <a:r>
              <a:rPr lang="en-US" dirty="0"/>
              <a:t>For Reco to Truth tables, they are based on selection in reconstructed mode, with percentages defined as the fraction of a reconstructed particle type matched to the corresponding true PID counterpart</a:t>
            </a:r>
          </a:p>
          <a:p>
            <a:pPr>
              <a:buFont typeface="Arial" panose="020B0604020202020204" pitchFamily="34" charset="0"/>
              <a:buChar char="•"/>
            </a:pPr>
            <a:r>
              <a:rPr lang="en-US" dirty="0"/>
              <a:t>For Truth to Reco tables, they are based on selection in true mode, with percentages defined as the fraction of a true particle type matched to the corresponding reconstructed PID counterpart</a:t>
            </a:r>
          </a:p>
          <a:p>
            <a:pPr>
              <a:buFont typeface="Arial" panose="020B0604020202020204" pitchFamily="34" charset="0"/>
              <a:buChar char="•"/>
            </a:pPr>
            <a:r>
              <a:rPr lang="en-US" dirty="0"/>
              <a:t>There are two types </a:t>
            </a:r>
            <a:r>
              <a:rPr lang="en-US" dirty="0" err="1"/>
              <a:t>preselections</a:t>
            </a:r>
            <a:r>
              <a:rPr lang="en-US" dirty="0"/>
              <a:t>, ones using a </a:t>
            </a:r>
            <a:r>
              <a:rPr lang="en-US" dirty="0" err="1"/>
              <a:t>reco</a:t>
            </a:r>
            <a:r>
              <a:rPr lang="en-US" dirty="0"/>
              <a:t> </a:t>
            </a:r>
            <a:r>
              <a:rPr lang="en-US" dirty="0" err="1"/>
              <a:t>flashmatch</a:t>
            </a:r>
            <a:r>
              <a:rPr lang="en-US" dirty="0"/>
              <a:t> cut, and one using a true neutrino cut. Confusion matrices for both types of selections have been plotted and labelled with the corresponding cut used</a:t>
            </a:r>
          </a:p>
          <a:p>
            <a:pPr>
              <a:buFont typeface="Arial" panose="020B0604020202020204" pitchFamily="34" charset="0"/>
              <a:buChar char="•"/>
            </a:pPr>
            <a:r>
              <a:rPr lang="en-US" dirty="0"/>
              <a:t>The snapshot on the left of the confusion matrix shows the written selection tree used to create the corresponding matrix, with the corresponding cuts shown. Only the ‘</a:t>
            </a:r>
            <a:r>
              <a:rPr lang="en-US" dirty="0" err="1"/>
              <a:t>pid</a:t>
            </a:r>
            <a:r>
              <a:rPr lang="en-US" dirty="0"/>
              <a:t>’ variable from the </a:t>
            </a:r>
            <a:r>
              <a:rPr lang="en-US" dirty="0" err="1"/>
              <a:t>Tbranch</a:t>
            </a:r>
            <a:r>
              <a:rPr lang="en-US" dirty="0"/>
              <a:t> was used for the confusion matrix</a:t>
            </a:r>
          </a:p>
        </p:txBody>
      </p:sp>
    </p:spTree>
    <p:extLst>
      <p:ext uri="{BB962C8B-B14F-4D97-AF65-F5344CB8AC3E}">
        <p14:creationId xmlns:p14="http://schemas.microsoft.com/office/powerpoint/2010/main" val="3805660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4291B-BF1F-7EDD-4374-EBE7A6EC3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99621-9ACD-03B8-D0FF-737B10463B6E}"/>
              </a:ext>
            </a:extLst>
          </p:cNvPr>
          <p:cNvSpPr>
            <a:spLocks noGrp="1"/>
          </p:cNvSpPr>
          <p:nvPr>
            <p:ph type="title"/>
          </p:nvPr>
        </p:nvSpPr>
        <p:spPr>
          <a:xfrm>
            <a:off x="748145" y="286603"/>
            <a:ext cx="10407535" cy="1450757"/>
          </a:xfrm>
        </p:spPr>
        <p:txBody>
          <a:bodyPr>
            <a:normAutofit fontScale="90000"/>
          </a:bodyPr>
          <a:lstStyle/>
          <a:p>
            <a:r>
              <a:rPr lang="en-US" b="1" dirty="0" err="1"/>
              <a:t>NuMI</a:t>
            </a:r>
            <a:r>
              <a:rPr lang="en-US" dirty="0"/>
              <a:t> </a:t>
            </a:r>
            <a:r>
              <a:rPr lang="en-US" b="1" dirty="0"/>
              <a:t>PID</a:t>
            </a:r>
            <a:r>
              <a:rPr lang="en-US" dirty="0"/>
              <a:t> Reco to truth matching </a:t>
            </a:r>
            <a:r>
              <a:rPr lang="en-US" b="1" dirty="0"/>
              <a:t>(Reco mode)</a:t>
            </a:r>
            <a:br>
              <a:rPr lang="en-US" b="1" dirty="0"/>
            </a:br>
            <a:r>
              <a:rPr lang="en-US" sz="3200" b="1" dirty="0"/>
              <a:t>- </a:t>
            </a:r>
            <a:r>
              <a:rPr lang="en-US" sz="3200" dirty="0"/>
              <a:t>using </a:t>
            </a:r>
            <a:r>
              <a:rPr lang="en-US" sz="3200" dirty="0" err="1"/>
              <a:t>reco</a:t>
            </a:r>
            <a:r>
              <a:rPr lang="en-US" sz="3200" dirty="0"/>
              <a:t> </a:t>
            </a:r>
            <a:r>
              <a:rPr lang="en-US" sz="3200" dirty="0" err="1"/>
              <a:t>valid_flashmatch</a:t>
            </a:r>
            <a:r>
              <a:rPr lang="en-US" sz="3200" dirty="0"/>
              <a:t> cut</a:t>
            </a:r>
            <a:endParaRPr lang="en-SG" dirty="0"/>
          </a:p>
        </p:txBody>
      </p:sp>
      <p:pic>
        <p:nvPicPr>
          <p:cNvPr id="6" name="Picture 5">
            <a:extLst>
              <a:ext uri="{FF2B5EF4-FFF2-40B4-BE49-F238E27FC236}">
                <a16:creationId xmlns:a16="http://schemas.microsoft.com/office/drawing/2014/main" id="{A7A9A426-B3B7-FD4D-8E42-6BF3F27991ED}"/>
              </a:ext>
            </a:extLst>
          </p:cNvPr>
          <p:cNvPicPr>
            <a:picLocks noChangeAspect="1"/>
          </p:cNvPicPr>
          <p:nvPr/>
        </p:nvPicPr>
        <p:blipFill>
          <a:blip r:embed="rId3"/>
          <a:stretch>
            <a:fillRect/>
          </a:stretch>
        </p:blipFill>
        <p:spPr>
          <a:xfrm>
            <a:off x="1090612" y="2270933"/>
            <a:ext cx="4014135" cy="3495675"/>
          </a:xfrm>
          <a:prstGeom prst="rect">
            <a:avLst/>
          </a:prstGeom>
        </p:spPr>
      </p:pic>
      <p:sp>
        <p:nvSpPr>
          <p:cNvPr id="10" name="TextBox 9">
            <a:extLst>
              <a:ext uri="{FF2B5EF4-FFF2-40B4-BE49-F238E27FC236}">
                <a16:creationId xmlns:a16="http://schemas.microsoft.com/office/drawing/2014/main" id="{5BE35527-3CC2-563A-3357-360982E609BD}"/>
              </a:ext>
            </a:extLst>
          </p:cNvPr>
          <p:cNvSpPr txBox="1"/>
          <p:nvPr/>
        </p:nvSpPr>
        <p:spPr>
          <a:xfrm>
            <a:off x="1090612" y="1932379"/>
            <a:ext cx="4014135" cy="338554"/>
          </a:xfrm>
          <a:prstGeom prst="rect">
            <a:avLst/>
          </a:prstGeom>
          <a:noFill/>
        </p:spPr>
        <p:txBody>
          <a:bodyPr wrap="square" rtlCol="0">
            <a:spAutoFit/>
          </a:bodyPr>
          <a:lstStyle/>
          <a:p>
            <a:pPr algn="ctr"/>
            <a:r>
              <a:rPr lang="en-US" sz="1600" dirty="0"/>
              <a:t>Corresponding selection tree in TOML file</a:t>
            </a:r>
            <a:endParaRPr lang="en-SG" sz="1600" dirty="0"/>
          </a:p>
        </p:txBody>
      </p:sp>
      <p:pic>
        <p:nvPicPr>
          <p:cNvPr id="12" name="Picture 11">
            <a:extLst>
              <a:ext uri="{FF2B5EF4-FFF2-40B4-BE49-F238E27FC236}">
                <a16:creationId xmlns:a16="http://schemas.microsoft.com/office/drawing/2014/main" id="{CB5CC4A1-93EE-2A36-9758-6655910B2FCF}"/>
              </a:ext>
            </a:extLst>
          </p:cNvPr>
          <p:cNvPicPr>
            <a:picLocks noChangeAspect="1"/>
          </p:cNvPicPr>
          <p:nvPr/>
        </p:nvPicPr>
        <p:blipFill>
          <a:blip r:embed="rId4"/>
          <a:stretch>
            <a:fillRect/>
          </a:stretch>
        </p:blipFill>
        <p:spPr>
          <a:xfrm>
            <a:off x="5972175" y="1846654"/>
            <a:ext cx="5915026" cy="4236510"/>
          </a:xfrm>
          <a:prstGeom prst="rect">
            <a:avLst/>
          </a:prstGeom>
        </p:spPr>
      </p:pic>
    </p:spTree>
    <p:extLst>
      <p:ext uri="{BB962C8B-B14F-4D97-AF65-F5344CB8AC3E}">
        <p14:creationId xmlns:p14="http://schemas.microsoft.com/office/powerpoint/2010/main" val="983035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19FBB-15CE-435E-E0E7-4C8CA9A585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A72D8D-0F5D-A7F5-C534-FC3E7EC53AB0}"/>
              </a:ext>
            </a:extLst>
          </p:cNvPr>
          <p:cNvSpPr>
            <a:spLocks noGrp="1"/>
          </p:cNvSpPr>
          <p:nvPr>
            <p:ph type="title"/>
          </p:nvPr>
        </p:nvSpPr>
        <p:spPr>
          <a:xfrm>
            <a:off x="914401" y="286603"/>
            <a:ext cx="10241280" cy="1450757"/>
          </a:xfrm>
        </p:spPr>
        <p:txBody>
          <a:bodyPr>
            <a:normAutofit fontScale="90000"/>
          </a:bodyPr>
          <a:lstStyle/>
          <a:p>
            <a:r>
              <a:rPr lang="en-US" b="1" dirty="0" err="1"/>
              <a:t>NuMI</a:t>
            </a:r>
            <a:r>
              <a:rPr lang="en-US" dirty="0"/>
              <a:t> </a:t>
            </a:r>
            <a:r>
              <a:rPr lang="en-US" b="1" dirty="0"/>
              <a:t>PID </a:t>
            </a:r>
            <a:r>
              <a:rPr lang="en-US" dirty="0"/>
              <a:t>Truth to </a:t>
            </a:r>
            <a:r>
              <a:rPr lang="en-US" dirty="0" err="1"/>
              <a:t>reco</a:t>
            </a:r>
            <a:r>
              <a:rPr lang="en-US" dirty="0"/>
              <a:t> matching </a:t>
            </a:r>
            <a:r>
              <a:rPr lang="en-US" b="1" dirty="0"/>
              <a:t>(True mode)</a:t>
            </a:r>
            <a:br>
              <a:rPr lang="en-US" b="1" dirty="0"/>
            </a:br>
            <a:r>
              <a:rPr kumimoji="0" lang="en-US" sz="3200" b="1"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 </a:t>
            </a:r>
            <a:r>
              <a:rPr kumimoji="0" lang="en-US" sz="32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using </a:t>
            </a:r>
            <a:r>
              <a:rPr kumimoji="0" lang="en-US" sz="3200" b="0" i="0" u="none" strike="noStrike" kern="1200" cap="none" spc="-50" normalizeH="0" baseline="0" noProof="0" dirty="0" err="1">
                <a:ln>
                  <a:noFill/>
                </a:ln>
                <a:solidFill>
                  <a:srgbClr val="000000">
                    <a:lumMod val="75000"/>
                    <a:lumOff val="25000"/>
                  </a:srgbClr>
                </a:solidFill>
                <a:effectLst/>
                <a:uLnTx/>
                <a:uFillTx/>
                <a:latin typeface="Calibri Light" panose="020F0302020204030204"/>
                <a:ea typeface="+mj-ea"/>
                <a:cs typeface="+mj-cs"/>
              </a:rPr>
              <a:t>reco</a:t>
            </a:r>
            <a:r>
              <a:rPr kumimoji="0" lang="en-US" sz="32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 </a:t>
            </a:r>
            <a:r>
              <a:rPr kumimoji="0" lang="en-US" sz="3200" b="0" i="0" u="none" strike="noStrike" kern="1200" cap="none" spc="-50" normalizeH="0" baseline="0" noProof="0" dirty="0" err="1">
                <a:ln>
                  <a:noFill/>
                </a:ln>
                <a:solidFill>
                  <a:srgbClr val="000000">
                    <a:lumMod val="75000"/>
                    <a:lumOff val="25000"/>
                  </a:srgbClr>
                </a:solidFill>
                <a:effectLst/>
                <a:uLnTx/>
                <a:uFillTx/>
                <a:latin typeface="Calibri Light" panose="020F0302020204030204"/>
                <a:ea typeface="+mj-ea"/>
                <a:cs typeface="+mj-cs"/>
              </a:rPr>
              <a:t>valid_flashmatch</a:t>
            </a:r>
            <a:r>
              <a:rPr kumimoji="0" lang="en-US" sz="32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 cut</a:t>
            </a:r>
            <a:endParaRPr lang="en-SG" b="1" dirty="0"/>
          </a:p>
        </p:txBody>
      </p:sp>
      <p:pic>
        <p:nvPicPr>
          <p:cNvPr id="12" name="Picture 11">
            <a:extLst>
              <a:ext uri="{FF2B5EF4-FFF2-40B4-BE49-F238E27FC236}">
                <a16:creationId xmlns:a16="http://schemas.microsoft.com/office/drawing/2014/main" id="{075DE698-2B84-371F-5668-16F1181D427C}"/>
              </a:ext>
            </a:extLst>
          </p:cNvPr>
          <p:cNvPicPr>
            <a:picLocks noChangeAspect="1"/>
          </p:cNvPicPr>
          <p:nvPr/>
        </p:nvPicPr>
        <p:blipFill>
          <a:blip r:embed="rId3"/>
          <a:stretch>
            <a:fillRect/>
          </a:stretch>
        </p:blipFill>
        <p:spPr>
          <a:xfrm>
            <a:off x="1065306" y="2270933"/>
            <a:ext cx="4064745" cy="3561643"/>
          </a:xfrm>
          <a:prstGeom prst="rect">
            <a:avLst/>
          </a:prstGeom>
        </p:spPr>
      </p:pic>
      <p:sp>
        <p:nvSpPr>
          <p:cNvPr id="13" name="TextBox 12">
            <a:extLst>
              <a:ext uri="{FF2B5EF4-FFF2-40B4-BE49-F238E27FC236}">
                <a16:creationId xmlns:a16="http://schemas.microsoft.com/office/drawing/2014/main" id="{CCB5B32E-6273-AFA5-07AD-0266DA7E5737}"/>
              </a:ext>
            </a:extLst>
          </p:cNvPr>
          <p:cNvSpPr txBox="1"/>
          <p:nvPr/>
        </p:nvSpPr>
        <p:spPr>
          <a:xfrm>
            <a:off x="1090612" y="1932379"/>
            <a:ext cx="4014135" cy="338554"/>
          </a:xfrm>
          <a:prstGeom prst="rect">
            <a:avLst/>
          </a:prstGeom>
          <a:noFill/>
        </p:spPr>
        <p:txBody>
          <a:bodyPr wrap="square" rtlCol="0">
            <a:spAutoFit/>
          </a:bodyPr>
          <a:lstStyle/>
          <a:p>
            <a:pPr algn="ctr"/>
            <a:r>
              <a:rPr lang="en-US" sz="1600" dirty="0"/>
              <a:t>Corresponding selection tree in TOML file</a:t>
            </a:r>
            <a:endParaRPr lang="en-SG" sz="1600" dirty="0"/>
          </a:p>
        </p:txBody>
      </p:sp>
      <p:pic>
        <p:nvPicPr>
          <p:cNvPr id="33" name="Picture 32">
            <a:extLst>
              <a:ext uri="{FF2B5EF4-FFF2-40B4-BE49-F238E27FC236}">
                <a16:creationId xmlns:a16="http://schemas.microsoft.com/office/drawing/2014/main" id="{49FF1F48-3DD1-9BE8-8BF6-324BB9961173}"/>
              </a:ext>
            </a:extLst>
          </p:cNvPr>
          <p:cNvPicPr>
            <a:picLocks noChangeAspect="1"/>
          </p:cNvPicPr>
          <p:nvPr/>
        </p:nvPicPr>
        <p:blipFill>
          <a:blip r:embed="rId4"/>
          <a:stretch>
            <a:fillRect/>
          </a:stretch>
        </p:blipFill>
        <p:spPr>
          <a:xfrm>
            <a:off x="5509608" y="1827777"/>
            <a:ext cx="6105590" cy="4372998"/>
          </a:xfrm>
          <a:prstGeom prst="rect">
            <a:avLst/>
          </a:prstGeom>
        </p:spPr>
      </p:pic>
    </p:spTree>
    <p:extLst>
      <p:ext uri="{BB962C8B-B14F-4D97-AF65-F5344CB8AC3E}">
        <p14:creationId xmlns:p14="http://schemas.microsoft.com/office/powerpoint/2010/main" val="4092176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BE8EB-996A-3DCC-D3C7-EA84F158C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D4A18-0A45-262B-ECEC-0A3E1AE77A86}"/>
              </a:ext>
            </a:extLst>
          </p:cNvPr>
          <p:cNvSpPr>
            <a:spLocks noGrp="1"/>
          </p:cNvSpPr>
          <p:nvPr>
            <p:ph type="title"/>
          </p:nvPr>
        </p:nvSpPr>
        <p:spPr>
          <a:xfrm>
            <a:off x="748145" y="286603"/>
            <a:ext cx="10407535" cy="1450757"/>
          </a:xfrm>
        </p:spPr>
        <p:txBody>
          <a:bodyPr>
            <a:normAutofit fontScale="90000"/>
          </a:bodyPr>
          <a:lstStyle/>
          <a:p>
            <a:r>
              <a:rPr lang="en-US" b="1" dirty="0"/>
              <a:t>BNB</a:t>
            </a:r>
            <a:r>
              <a:rPr lang="en-US" dirty="0"/>
              <a:t> </a:t>
            </a:r>
            <a:r>
              <a:rPr lang="en-US" b="1" dirty="0"/>
              <a:t>PID </a:t>
            </a:r>
            <a:r>
              <a:rPr lang="en-US" dirty="0"/>
              <a:t>Reco to truth matching </a:t>
            </a:r>
            <a:r>
              <a:rPr lang="en-US" b="1" dirty="0"/>
              <a:t>(Reco mode)</a:t>
            </a:r>
            <a:br>
              <a:rPr lang="en-US" b="1" dirty="0"/>
            </a:br>
            <a:r>
              <a:rPr lang="en-US" sz="3200" b="1" dirty="0"/>
              <a:t>- </a:t>
            </a:r>
            <a:r>
              <a:rPr lang="en-US" sz="3200" dirty="0"/>
              <a:t>using </a:t>
            </a:r>
            <a:r>
              <a:rPr lang="en-US" sz="3200" dirty="0" err="1"/>
              <a:t>reco</a:t>
            </a:r>
            <a:r>
              <a:rPr lang="en-US" sz="3200" dirty="0"/>
              <a:t> </a:t>
            </a:r>
            <a:r>
              <a:rPr lang="en-US" sz="3200" dirty="0" err="1"/>
              <a:t>valid_flashmatch</a:t>
            </a:r>
            <a:r>
              <a:rPr lang="en-US" sz="3200" dirty="0"/>
              <a:t> cut</a:t>
            </a:r>
            <a:endParaRPr lang="en-SG" dirty="0"/>
          </a:p>
        </p:txBody>
      </p:sp>
      <p:sp>
        <p:nvSpPr>
          <p:cNvPr id="10" name="TextBox 9">
            <a:extLst>
              <a:ext uri="{FF2B5EF4-FFF2-40B4-BE49-F238E27FC236}">
                <a16:creationId xmlns:a16="http://schemas.microsoft.com/office/drawing/2014/main" id="{1D54E9EE-8BDE-CAB5-8DF3-2CF376CB9AE8}"/>
              </a:ext>
            </a:extLst>
          </p:cNvPr>
          <p:cNvSpPr txBox="1"/>
          <p:nvPr/>
        </p:nvSpPr>
        <p:spPr>
          <a:xfrm>
            <a:off x="1090612" y="1932379"/>
            <a:ext cx="4014135" cy="338554"/>
          </a:xfrm>
          <a:prstGeom prst="rect">
            <a:avLst/>
          </a:prstGeom>
          <a:noFill/>
        </p:spPr>
        <p:txBody>
          <a:bodyPr wrap="square" rtlCol="0">
            <a:spAutoFit/>
          </a:bodyPr>
          <a:lstStyle/>
          <a:p>
            <a:pPr algn="ctr"/>
            <a:r>
              <a:rPr lang="en-US" sz="1600" dirty="0"/>
              <a:t>Corresponding selection tree in TOML file</a:t>
            </a:r>
            <a:endParaRPr lang="en-SG" sz="1600" dirty="0"/>
          </a:p>
        </p:txBody>
      </p:sp>
      <p:pic>
        <p:nvPicPr>
          <p:cNvPr id="4" name="Picture 3">
            <a:extLst>
              <a:ext uri="{FF2B5EF4-FFF2-40B4-BE49-F238E27FC236}">
                <a16:creationId xmlns:a16="http://schemas.microsoft.com/office/drawing/2014/main" id="{1110868A-298A-8020-9CFB-915962D298C8}"/>
              </a:ext>
            </a:extLst>
          </p:cNvPr>
          <p:cNvPicPr>
            <a:picLocks noChangeAspect="1"/>
          </p:cNvPicPr>
          <p:nvPr/>
        </p:nvPicPr>
        <p:blipFill>
          <a:blip r:embed="rId3"/>
          <a:stretch>
            <a:fillRect/>
          </a:stretch>
        </p:blipFill>
        <p:spPr>
          <a:xfrm>
            <a:off x="5500449" y="1816404"/>
            <a:ext cx="6167676" cy="4417465"/>
          </a:xfrm>
          <a:prstGeom prst="rect">
            <a:avLst/>
          </a:prstGeom>
        </p:spPr>
      </p:pic>
      <p:pic>
        <p:nvPicPr>
          <p:cNvPr id="5" name="Picture 4">
            <a:extLst>
              <a:ext uri="{FF2B5EF4-FFF2-40B4-BE49-F238E27FC236}">
                <a16:creationId xmlns:a16="http://schemas.microsoft.com/office/drawing/2014/main" id="{05FA7838-CDE1-B209-9B21-3BC9818F3B6C}"/>
              </a:ext>
            </a:extLst>
          </p:cNvPr>
          <p:cNvPicPr>
            <a:picLocks noChangeAspect="1"/>
          </p:cNvPicPr>
          <p:nvPr/>
        </p:nvPicPr>
        <p:blipFill>
          <a:blip r:embed="rId4"/>
          <a:stretch>
            <a:fillRect/>
          </a:stretch>
        </p:blipFill>
        <p:spPr>
          <a:xfrm>
            <a:off x="1090612" y="2270933"/>
            <a:ext cx="4014135" cy="3495675"/>
          </a:xfrm>
          <a:prstGeom prst="rect">
            <a:avLst/>
          </a:prstGeom>
        </p:spPr>
      </p:pic>
    </p:spTree>
    <p:extLst>
      <p:ext uri="{BB962C8B-B14F-4D97-AF65-F5344CB8AC3E}">
        <p14:creationId xmlns:p14="http://schemas.microsoft.com/office/powerpoint/2010/main" val="1591818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1BF6D-165A-C323-80B0-D73D4A6C0F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C2AEA-A12C-5673-3181-B6FF205D8E8F}"/>
              </a:ext>
            </a:extLst>
          </p:cNvPr>
          <p:cNvSpPr>
            <a:spLocks noGrp="1"/>
          </p:cNvSpPr>
          <p:nvPr>
            <p:ph type="title"/>
          </p:nvPr>
        </p:nvSpPr>
        <p:spPr>
          <a:xfrm>
            <a:off x="914401" y="286603"/>
            <a:ext cx="10241280" cy="1450757"/>
          </a:xfrm>
        </p:spPr>
        <p:txBody>
          <a:bodyPr>
            <a:normAutofit fontScale="90000"/>
          </a:bodyPr>
          <a:lstStyle/>
          <a:p>
            <a:r>
              <a:rPr lang="en-US" b="1" dirty="0"/>
              <a:t>BNB</a:t>
            </a:r>
            <a:r>
              <a:rPr lang="en-US" dirty="0"/>
              <a:t> </a:t>
            </a:r>
            <a:r>
              <a:rPr lang="en-US" b="1" dirty="0"/>
              <a:t>PID </a:t>
            </a:r>
            <a:r>
              <a:rPr lang="en-US" dirty="0"/>
              <a:t>Truth to </a:t>
            </a:r>
            <a:r>
              <a:rPr lang="en-US" dirty="0" err="1"/>
              <a:t>reco</a:t>
            </a:r>
            <a:r>
              <a:rPr lang="en-US" dirty="0"/>
              <a:t> matching </a:t>
            </a:r>
            <a:r>
              <a:rPr lang="en-US" b="1" dirty="0"/>
              <a:t>(True mode)</a:t>
            </a:r>
            <a:br>
              <a:rPr lang="en-US" b="1" dirty="0"/>
            </a:br>
            <a:r>
              <a:rPr kumimoji="0" lang="en-US" sz="3200" b="1"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 </a:t>
            </a:r>
            <a:r>
              <a:rPr kumimoji="0" lang="en-US" sz="32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using </a:t>
            </a:r>
            <a:r>
              <a:rPr kumimoji="0" lang="en-US" sz="3200" b="0" i="0" u="none" strike="noStrike" kern="1200" cap="none" spc="-50" normalizeH="0" baseline="0" noProof="0" dirty="0" err="1">
                <a:ln>
                  <a:noFill/>
                </a:ln>
                <a:solidFill>
                  <a:srgbClr val="000000">
                    <a:lumMod val="75000"/>
                    <a:lumOff val="25000"/>
                  </a:srgbClr>
                </a:solidFill>
                <a:effectLst/>
                <a:uLnTx/>
                <a:uFillTx/>
                <a:latin typeface="Calibri Light" panose="020F0302020204030204"/>
                <a:ea typeface="+mj-ea"/>
                <a:cs typeface="+mj-cs"/>
              </a:rPr>
              <a:t>reco</a:t>
            </a:r>
            <a:r>
              <a:rPr kumimoji="0" lang="en-US" sz="32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 </a:t>
            </a:r>
            <a:r>
              <a:rPr kumimoji="0" lang="en-US" sz="3200" b="0" i="0" u="none" strike="noStrike" kern="1200" cap="none" spc="-50" normalizeH="0" baseline="0" noProof="0" dirty="0" err="1">
                <a:ln>
                  <a:noFill/>
                </a:ln>
                <a:solidFill>
                  <a:srgbClr val="000000">
                    <a:lumMod val="75000"/>
                    <a:lumOff val="25000"/>
                  </a:srgbClr>
                </a:solidFill>
                <a:effectLst/>
                <a:uLnTx/>
                <a:uFillTx/>
                <a:latin typeface="Calibri Light" panose="020F0302020204030204"/>
                <a:ea typeface="+mj-ea"/>
                <a:cs typeface="+mj-cs"/>
              </a:rPr>
              <a:t>valid_flashmatch</a:t>
            </a:r>
            <a:r>
              <a:rPr kumimoji="0" lang="en-US" sz="32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 cut</a:t>
            </a:r>
            <a:endParaRPr lang="en-SG" b="1" dirty="0"/>
          </a:p>
        </p:txBody>
      </p:sp>
      <p:pic>
        <p:nvPicPr>
          <p:cNvPr id="12" name="Picture 11">
            <a:extLst>
              <a:ext uri="{FF2B5EF4-FFF2-40B4-BE49-F238E27FC236}">
                <a16:creationId xmlns:a16="http://schemas.microsoft.com/office/drawing/2014/main" id="{3E1095F2-6CF3-D41D-95F4-A6A310C18AFB}"/>
              </a:ext>
            </a:extLst>
          </p:cNvPr>
          <p:cNvPicPr>
            <a:picLocks noChangeAspect="1"/>
          </p:cNvPicPr>
          <p:nvPr/>
        </p:nvPicPr>
        <p:blipFill>
          <a:blip r:embed="rId3"/>
          <a:stretch>
            <a:fillRect/>
          </a:stretch>
        </p:blipFill>
        <p:spPr>
          <a:xfrm>
            <a:off x="1065306" y="2270933"/>
            <a:ext cx="4064745" cy="3561643"/>
          </a:xfrm>
          <a:prstGeom prst="rect">
            <a:avLst/>
          </a:prstGeom>
        </p:spPr>
      </p:pic>
      <p:sp>
        <p:nvSpPr>
          <p:cNvPr id="13" name="TextBox 12">
            <a:extLst>
              <a:ext uri="{FF2B5EF4-FFF2-40B4-BE49-F238E27FC236}">
                <a16:creationId xmlns:a16="http://schemas.microsoft.com/office/drawing/2014/main" id="{EA7851E1-94D7-BE10-A94B-6046F0411A6E}"/>
              </a:ext>
            </a:extLst>
          </p:cNvPr>
          <p:cNvSpPr txBox="1"/>
          <p:nvPr/>
        </p:nvSpPr>
        <p:spPr>
          <a:xfrm>
            <a:off x="1090612" y="1932379"/>
            <a:ext cx="4014135" cy="338554"/>
          </a:xfrm>
          <a:prstGeom prst="rect">
            <a:avLst/>
          </a:prstGeom>
          <a:noFill/>
        </p:spPr>
        <p:txBody>
          <a:bodyPr wrap="square" rtlCol="0">
            <a:spAutoFit/>
          </a:bodyPr>
          <a:lstStyle/>
          <a:p>
            <a:pPr algn="ctr"/>
            <a:r>
              <a:rPr lang="en-US" sz="1600" dirty="0"/>
              <a:t>Corresponding selection tree in TOML file</a:t>
            </a:r>
            <a:endParaRPr lang="en-SG" sz="1600" dirty="0"/>
          </a:p>
        </p:txBody>
      </p:sp>
      <p:pic>
        <p:nvPicPr>
          <p:cNvPr id="15" name="Picture 14">
            <a:extLst>
              <a:ext uri="{FF2B5EF4-FFF2-40B4-BE49-F238E27FC236}">
                <a16:creationId xmlns:a16="http://schemas.microsoft.com/office/drawing/2014/main" id="{88D1D48C-2E3D-B426-5444-E09E162DBD8C}"/>
              </a:ext>
            </a:extLst>
          </p:cNvPr>
          <p:cNvPicPr>
            <a:picLocks noChangeAspect="1"/>
          </p:cNvPicPr>
          <p:nvPr/>
        </p:nvPicPr>
        <p:blipFill>
          <a:blip r:embed="rId4"/>
          <a:stretch>
            <a:fillRect/>
          </a:stretch>
        </p:blipFill>
        <p:spPr>
          <a:xfrm>
            <a:off x="5534025" y="1788261"/>
            <a:ext cx="6211794" cy="4449064"/>
          </a:xfrm>
          <a:prstGeom prst="rect">
            <a:avLst/>
          </a:prstGeom>
        </p:spPr>
      </p:pic>
    </p:spTree>
    <p:extLst>
      <p:ext uri="{BB962C8B-B14F-4D97-AF65-F5344CB8AC3E}">
        <p14:creationId xmlns:p14="http://schemas.microsoft.com/office/powerpoint/2010/main" val="3515562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4D26A-A964-3B31-927B-6720A9CF42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3E3CE8-13D4-CD9D-9152-170D6CFE7A8C}"/>
              </a:ext>
            </a:extLst>
          </p:cNvPr>
          <p:cNvSpPr>
            <a:spLocks noGrp="1"/>
          </p:cNvSpPr>
          <p:nvPr>
            <p:ph type="title"/>
          </p:nvPr>
        </p:nvSpPr>
        <p:spPr>
          <a:xfrm>
            <a:off x="1066800" y="3066311"/>
            <a:ext cx="10058400" cy="725378"/>
          </a:xfrm>
        </p:spPr>
        <p:txBody>
          <a:bodyPr/>
          <a:lstStyle/>
          <a:p>
            <a:pPr algn="ctr"/>
            <a:r>
              <a:rPr lang="en-US" b="1" dirty="0"/>
              <a:t>Semantic Type confusion matrix</a:t>
            </a:r>
            <a:endParaRPr lang="en-SG" b="1" dirty="0"/>
          </a:p>
        </p:txBody>
      </p:sp>
    </p:spTree>
    <p:extLst>
      <p:ext uri="{BB962C8B-B14F-4D97-AF65-F5344CB8AC3E}">
        <p14:creationId xmlns:p14="http://schemas.microsoft.com/office/powerpoint/2010/main" val="2999308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300AE-FE17-9842-E38C-E8B0951264C4}"/>
              </a:ext>
            </a:extLst>
          </p:cNvPr>
          <p:cNvSpPr>
            <a:spLocks noGrp="1"/>
          </p:cNvSpPr>
          <p:nvPr>
            <p:ph type="title"/>
          </p:nvPr>
        </p:nvSpPr>
        <p:spPr/>
        <p:txBody>
          <a:bodyPr/>
          <a:lstStyle/>
          <a:p>
            <a:r>
              <a:rPr lang="en-US" dirty="0"/>
              <a:t>Particle Semantic type Confusion matrix</a:t>
            </a:r>
            <a:endParaRPr lang="en-SG" dirty="0"/>
          </a:p>
        </p:txBody>
      </p:sp>
      <p:sp>
        <p:nvSpPr>
          <p:cNvPr id="3" name="Content Placeholder 2">
            <a:extLst>
              <a:ext uri="{FF2B5EF4-FFF2-40B4-BE49-F238E27FC236}">
                <a16:creationId xmlns:a16="http://schemas.microsoft.com/office/drawing/2014/main" id="{E4A6030E-BD88-F670-7663-6845BFC2121E}"/>
              </a:ext>
            </a:extLst>
          </p:cNvPr>
          <p:cNvSpPr>
            <a:spLocks noGrp="1"/>
          </p:cNvSpPr>
          <p:nvPr>
            <p:ph idx="1"/>
          </p:nvPr>
        </p:nvSpPr>
        <p:spPr>
          <a:xfrm>
            <a:off x="1097280" y="1845734"/>
            <a:ext cx="10058400" cy="4307416"/>
          </a:xfrm>
        </p:spPr>
        <p:txBody>
          <a:bodyPr>
            <a:normAutofit fontScale="92500" lnSpcReduction="10000"/>
          </a:bodyPr>
          <a:lstStyle/>
          <a:p>
            <a:pPr>
              <a:buFont typeface="Arial" panose="020B0604020202020204" pitchFamily="34" charset="0"/>
              <a:buChar char="•"/>
            </a:pPr>
            <a:r>
              <a:rPr lang="en-US" dirty="0"/>
              <a:t>The diagonal elements represent the percentage of particle semantic types classified correctly, while the off-diagonal elements represent the percentage of particles misclassified as another species.</a:t>
            </a:r>
          </a:p>
          <a:p>
            <a:pPr>
              <a:buFont typeface="Arial" panose="020B0604020202020204" pitchFamily="34" charset="0"/>
              <a:buChar char="•"/>
            </a:pPr>
            <a:r>
              <a:rPr lang="en-US" dirty="0"/>
              <a:t>For Reco to Truth tables, they are based on selection in reconstructed mode, with percentages defined as the fraction of a reconstructed particle type matched to the corresponding true PID counterpart</a:t>
            </a:r>
          </a:p>
          <a:p>
            <a:pPr>
              <a:buFont typeface="Arial" panose="020B0604020202020204" pitchFamily="34" charset="0"/>
              <a:buChar char="•"/>
            </a:pPr>
            <a:r>
              <a:rPr lang="en-US" dirty="0"/>
              <a:t>For Truth to Reco tables, they are based on selection in true mode, with percentages defined as the fraction of a true particle type matched to the corresponding reconstructed PID counterpart</a:t>
            </a:r>
          </a:p>
          <a:p>
            <a:pPr>
              <a:buFont typeface="Arial" panose="020B0604020202020204" pitchFamily="34" charset="0"/>
              <a:buChar char="•"/>
            </a:pPr>
            <a:r>
              <a:rPr lang="en-US" dirty="0"/>
              <a:t>The snapshot on the left of the confusion matrix shows the written selection tree used to create the corresponding matrix, with the corresponding cuts shown. Only the ‘</a:t>
            </a:r>
            <a:r>
              <a:rPr lang="en-US" dirty="0" err="1"/>
              <a:t>semantic_type</a:t>
            </a:r>
            <a:r>
              <a:rPr lang="en-US" dirty="0"/>
              <a:t>’ variable from the </a:t>
            </a:r>
            <a:r>
              <a:rPr lang="en-US" dirty="0" err="1"/>
              <a:t>Tbranch</a:t>
            </a:r>
            <a:r>
              <a:rPr lang="en-US" dirty="0"/>
              <a:t> was used for the confusion matrix</a:t>
            </a:r>
          </a:p>
          <a:p>
            <a:pPr>
              <a:buFont typeface="Arial" panose="020B0604020202020204" pitchFamily="34" charset="0"/>
              <a:buChar char="•"/>
            </a:pPr>
            <a:r>
              <a:rPr lang="en-US" dirty="0"/>
              <a:t>A reconstructed semantic type of “null” is intended to represent cases where no activity attributable to the true particle was reconstructed</a:t>
            </a:r>
          </a:p>
          <a:p>
            <a:pPr>
              <a:buFont typeface="Arial" panose="020B0604020202020204" pitchFamily="34" charset="0"/>
              <a:buChar char="•"/>
            </a:pPr>
            <a:r>
              <a:rPr lang="en-US" dirty="0"/>
              <a:t>A true semantic type of “null” is intended to represent cases where no activity attributable to the reconstructed particle was matched</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3421381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4291B-BF1F-7EDD-4374-EBE7A6EC3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99621-9ACD-03B8-D0FF-737B10463B6E}"/>
              </a:ext>
            </a:extLst>
          </p:cNvPr>
          <p:cNvSpPr>
            <a:spLocks noGrp="1"/>
          </p:cNvSpPr>
          <p:nvPr>
            <p:ph type="title"/>
          </p:nvPr>
        </p:nvSpPr>
        <p:spPr>
          <a:xfrm>
            <a:off x="748145" y="286603"/>
            <a:ext cx="10407535" cy="1450757"/>
          </a:xfrm>
        </p:spPr>
        <p:txBody>
          <a:bodyPr/>
          <a:lstStyle/>
          <a:p>
            <a:r>
              <a:rPr lang="en-US" b="1" dirty="0" err="1"/>
              <a:t>NuMI</a:t>
            </a:r>
            <a:r>
              <a:rPr lang="en-US" dirty="0"/>
              <a:t> </a:t>
            </a:r>
            <a:r>
              <a:rPr lang="en-US" b="1" dirty="0"/>
              <a:t>Semantic type </a:t>
            </a:r>
            <a:r>
              <a:rPr lang="en-US" dirty="0"/>
              <a:t>Reco to truth matching </a:t>
            </a:r>
            <a:r>
              <a:rPr lang="en-US" b="1" dirty="0"/>
              <a:t>(Reco mode)</a:t>
            </a:r>
            <a:endParaRPr lang="en-SG" dirty="0"/>
          </a:p>
        </p:txBody>
      </p:sp>
      <p:sp>
        <p:nvSpPr>
          <p:cNvPr id="10" name="TextBox 9">
            <a:extLst>
              <a:ext uri="{FF2B5EF4-FFF2-40B4-BE49-F238E27FC236}">
                <a16:creationId xmlns:a16="http://schemas.microsoft.com/office/drawing/2014/main" id="{5BE35527-3CC2-563A-3357-360982E609BD}"/>
              </a:ext>
            </a:extLst>
          </p:cNvPr>
          <p:cNvSpPr txBox="1"/>
          <p:nvPr/>
        </p:nvSpPr>
        <p:spPr>
          <a:xfrm>
            <a:off x="1090612" y="1932379"/>
            <a:ext cx="4014135" cy="338554"/>
          </a:xfrm>
          <a:prstGeom prst="rect">
            <a:avLst/>
          </a:prstGeom>
          <a:noFill/>
        </p:spPr>
        <p:txBody>
          <a:bodyPr wrap="square" rtlCol="0">
            <a:spAutoFit/>
          </a:bodyPr>
          <a:lstStyle/>
          <a:p>
            <a:pPr algn="ctr"/>
            <a:r>
              <a:rPr lang="en-US" sz="1600" dirty="0"/>
              <a:t>Corresponding selection tree in TOML file</a:t>
            </a:r>
            <a:endParaRPr lang="en-SG" sz="1600" dirty="0"/>
          </a:p>
        </p:txBody>
      </p:sp>
      <p:pic>
        <p:nvPicPr>
          <p:cNvPr id="4" name="Picture 3">
            <a:extLst>
              <a:ext uri="{FF2B5EF4-FFF2-40B4-BE49-F238E27FC236}">
                <a16:creationId xmlns:a16="http://schemas.microsoft.com/office/drawing/2014/main" id="{6B3B576D-63A2-5B53-FF0A-04E30AC1430D}"/>
              </a:ext>
            </a:extLst>
          </p:cNvPr>
          <p:cNvPicPr>
            <a:picLocks noChangeAspect="1"/>
          </p:cNvPicPr>
          <p:nvPr/>
        </p:nvPicPr>
        <p:blipFill>
          <a:blip r:embed="rId3"/>
          <a:stretch>
            <a:fillRect/>
          </a:stretch>
        </p:blipFill>
        <p:spPr>
          <a:xfrm>
            <a:off x="1362075" y="2270933"/>
            <a:ext cx="3514725" cy="3910852"/>
          </a:xfrm>
          <a:prstGeom prst="rect">
            <a:avLst/>
          </a:prstGeom>
        </p:spPr>
      </p:pic>
      <p:pic>
        <p:nvPicPr>
          <p:cNvPr id="7" name="Picture 6">
            <a:extLst>
              <a:ext uri="{FF2B5EF4-FFF2-40B4-BE49-F238E27FC236}">
                <a16:creationId xmlns:a16="http://schemas.microsoft.com/office/drawing/2014/main" id="{200CED93-AA47-5819-9276-3D30D55E9800}"/>
              </a:ext>
            </a:extLst>
          </p:cNvPr>
          <p:cNvPicPr>
            <a:picLocks noChangeAspect="1"/>
          </p:cNvPicPr>
          <p:nvPr/>
        </p:nvPicPr>
        <p:blipFill>
          <a:blip r:embed="rId4"/>
          <a:stretch>
            <a:fillRect/>
          </a:stretch>
        </p:blipFill>
        <p:spPr>
          <a:xfrm>
            <a:off x="5695950" y="1836899"/>
            <a:ext cx="6067426" cy="4345663"/>
          </a:xfrm>
          <a:prstGeom prst="rect">
            <a:avLst/>
          </a:prstGeom>
        </p:spPr>
      </p:pic>
    </p:spTree>
    <p:extLst>
      <p:ext uri="{BB962C8B-B14F-4D97-AF65-F5344CB8AC3E}">
        <p14:creationId xmlns:p14="http://schemas.microsoft.com/office/powerpoint/2010/main" val="374094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19FBB-15CE-435E-E0E7-4C8CA9A585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A72D8D-0F5D-A7F5-C534-FC3E7EC53AB0}"/>
              </a:ext>
            </a:extLst>
          </p:cNvPr>
          <p:cNvSpPr>
            <a:spLocks noGrp="1"/>
          </p:cNvSpPr>
          <p:nvPr>
            <p:ph type="title"/>
          </p:nvPr>
        </p:nvSpPr>
        <p:spPr>
          <a:xfrm>
            <a:off x="914401" y="286603"/>
            <a:ext cx="10241280" cy="1450757"/>
          </a:xfrm>
        </p:spPr>
        <p:txBody>
          <a:bodyPr/>
          <a:lstStyle/>
          <a:p>
            <a:r>
              <a:rPr lang="en-US" b="1" dirty="0" err="1"/>
              <a:t>NuMI</a:t>
            </a:r>
            <a:r>
              <a:rPr lang="en-US" dirty="0"/>
              <a:t> </a:t>
            </a:r>
            <a:r>
              <a:rPr lang="en-US" b="1" dirty="0"/>
              <a:t>Semantic type </a:t>
            </a:r>
            <a:r>
              <a:rPr lang="en-US" dirty="0"/>
              <a:t>Truth to </a:t>
            </a:r>
            <a:r>
              <a:rPr lang="en-US" dirty="0" err="1"/>
              <a:t>reco</a:t>
            </a:r>
            <a:r>
              <a:rPr lang="en-US" dirty="0"/>
              <a:t> matching </a:t>
            </a:r>
            <a:r>
              <a:rPr lang="en-US" b="1" dirty="0"/>
              <a:t>(True mode)</a:t>
            </a:r>
            <a:endParaRPr lang="en-SG" b="1" dirty="0"/>
          </a:p>
        </p:txBody>
      </p:sp>
      <p:sp>
        <p:nvSpPr>
          <p:cNvPr id="13" name="TextBox 12">
            <a:extLst>
              <a:ext uri="{FF2B5EF4-FFF2-40B4-BE49-F238E27FC236}">
                <a16:creationId xmlns:a16="http://schemas.microsoft.com/office/drawing/2014/main" id="{CCB5B32E-6273-AFA5-07AD-0266DA7E5737}"/>
              </a:ext>
            </a:extLst>
          </p:cNvPr>
          <p:cNvSpPr txBox="1"/>
          <p:nvPr/>
        </p:nvSpPr>
        <p:spPr>
          <a:xfrm>
            <a:off x="1090612" y="1932379"/>
            <a:ext cx="4014135" cy="338554"/>
          </a:xfrm>
          <a:prstGeom prst="rect">
            <a:avLst/>
          </a:prstGeom>
          <a:noFill/>
        </p:spPr>
        <p:txBody>
          <a:bodyPr wrap="square" rtlCol="0">
            <a:spAutoFit/>
          </a:bodyPr>
          <a:lstStyle/>
          <a:p>
            <a:pPr algn="ctr"/>
            <a:r>
              <a:rPr lang="en-US" sz="1600" dirty="0"/>
              <a:t>Corresponding selection tree in TOML file</a:t>
            </a:r>
            <a:endParaRPr lang="en-SG" sz="1600" dirty="0"/>
          </a:p>
        </p:txBody>
      </p:sp>
      <p:pic>
        <p:nvPicPr>
          <p:cNvPr id="4" name="Picture 3">
            <a:extLst>
              <a:ext uri="{FF2B5EF4-FFF2-40B4-BE49-F238E27FC236}">
                <a16:creationId xmlns:a16="http://schemas.microsoft.com/office/drawing/2014/main" id="{9DF10923-275F-A46F-53EE-6452A72F2D37}"/>
              </a:ext>
            </a:extLst>
          </p:cNvPr>
          <p:cNvPicPr>
            <a:picLocks noChangeAspect="1"/>
          </p:cNvPicPr>
          <p:nvPr/>
        </p:nvPicPr>
        <p:blipFill>
          <a:blip r:embed="rId3"/>
          <a:stretch>
            <a:fillRect/>
          </a:stretch>
        </p:blipFill>
        <p:spPr>
          <a:xfrm>
            <a:off x="1385888" y="2270933"/>
            <a:ext cx="3373135" cy="3920317"/>
          </a:xfrm>
          <a:prstGeom prst="rect">
            <a:avLst/>
          </a:prstGeom>
        </p:spPr>
      </p:pic>
      <p:pic>
        <p:nvPicPr>
          <p:cNvPr id="6" name="Picture 5">
            <a:extLst>
              <a:ext uri="{FF2B5EF4-FFF2-40B4-BE49-F238E27FC236}">
                <a16:creationId xmlns:a16="http://schemas.microsoft.com/office/drawing/2014/main" id="{7BC31A69-9784-3702-6A9F-EDE1D2F8E397}"/>
              </a:ext>
            </a:extLst>
          </p:cNvPr>
          <p:cNvPicPr>
            <a:picLocks noChangeAspect="1"/>
          </p:cNvPicPr>
          <p:nvPr/>
        </p:nvPicPr>
        <p:blipFill>
          <a:blip r:embed="rId4"/>
          <a:stretch>
            <a:fillRect/>
          </a:stretch>
        </p:blipFill>
        <p:spPr>
          <a:xfrm>
            <a:off x="5486400" y="1842685"/>
            <a:ext cx="6181725" cy="4427527"/>
          </a:xfrm>
          <a:prstGeom prst="rect">
            <a:avLst/>
          </a:prstGeom>
        </p:spPr>
      </p:pic>
    </p:spTree>
    <p:extLst>
      <p:ext uri="{BB962C8B-B14F-4D97-AF65-F5344CB8AC3E}">
        <p14:creationId xmlns:p14="http://schemas.microsoft.com/office/powerpoint/2010/main" val="1604646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BE8EB-996A-3DCC-D3C7-EA84F158C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D4A18-0A45-262B-ECEC-0A3E1AE77A86}"/>
              </a:ext>
            </a:extLst>
          </p:cNvPr>
          <p:cNvSpPr>
            <a:spLocks noGrp="1"/>
          </p:cNvSpPr>
          <p:nvPr>
            <p:ph type="title"/>
          </p:nvPr>
        </p:nvSpPr>
        <p:spPr>
          <a:xfrm>
            <a:off x="748145" y="286603"/>
            <a:ext cx="10407535" cy="1450757"/>
          </a:xfrm>
        </p:spPr>
        <p:txBody>
          <a:bodyPr/>
          <a:lstStyle/>
          <a:p>
            <a:r>
              <a:rPr lang="en-US" b="1" dirty="0"/>
              <a:t>BNB</a:t>
            </a:r>
            <a:r>
              <a:rPr lang="en-US" dirty="0"/>
              <a:t> </a:t>
            </a:r>
            <a:r>
              <a:rPr lang="en-US" b="1" dirty="0"/>
              <a:t>Semantic type </a:t>
            </a:r>
            <a:r>
              <a:rPr lang="en-US" dirty="0"/>
              <a:t>Reco to truth matching </a:t>
            </a:r>
            <a:r>
              <a:rPr lang="en-US" b="1" dirty="0"/>
              <a:t>(Reco mode)</a:t>
            </a:r>
            <a:endParaRPr lang="en-SG" dirty="0"/>
          </a:p>
        </p:txBody>
      </p:sp>
      <p:sp>
        <p:nvSpPr>
          <p:cNvPr id="10" name="TextBox 9">
            <a:extLst>
              <a:ext uri="{FF2B5EF4-FFF2-40B4-BE49-F238E27FC236}">
                <a16:creationId xmlns:a16="http://schemas.microsoft.com/office/drawing/2014/main" id="{1D54E9EE-8BDE-CAB5-8DF3-2CF376CB9AE8}"/>
              </a:ext>
            </a:extLst>
          </p:cNvPr>
          <p:cNvSpPr txBox="1"/>
          <p:nvPr/>
        </p:nvSpPr>
        <p:spPr>
          <a:xfrm>
            <a:off x="1090612" y="1932379"/>
            <a:ext cx="4014135" cy="338554"/>
          </a:xfrm>
          <a:prstGeom prst="rect">
            <a:avLst/>
          </a:prstGeom>
          <a:noFill/>
        </p:spPr>
        <p:txBody>
          <a:bodyPr wrap="square" rtlCol="0">
            <a:spAutoFit/>
          </a:bodyPr>
          <a:lstStyle/>
          <a:p>
            <a:pPr algn="ctr"/>
            <a:r>
              <a:rPr lang="en-US" sz="1600" dirty="0"/>
              <a:t>Corresponding selection tree in TOML file</a:t>
            </a:r>
            <a:endParaRPr lang="en-SG" sz="1600" dirty="0"/>
          </a:p>
        </p:txBody>
      </p:sp>
      <p:pic>
        <p:nvPicPr>
          <p:cNvPr id="3" name="Picture 2">
            <a:extLst>
              <a:ext uri="{FF2B5EF4-FFF2-40B4-BE49-F238E27FC236}">
                <a16:creationId xmlns:a16="http://schemas.microsoft.com/office/drawing/2014/main" id="{6B9882EE-7809-9BF6-D5EB-0430EF364A00}"/>
              </a:ext>
            </a:extLst>
          </p:cNvPr>
          <p:cNvPicPr>
            <a:picLocks noChangeAspect="1"/>
          </p:cNvPicPr>
          <p:nvPr/>
        </p:nvPicPr>
        <p:blipFill>
          <a:blip r:embed="rId3"/>
          <a:stretch>
            <a:fillRect/>
          </a:stretch>
        </p:blipFill>
        <p:spPr>
          <a:xfrm>
            <a:off x="1362075" y="2270933"/>
            <a:ext cx="3514725" cy="3910852"/>
          </a:xfrm>
          <a:prstGeom prst="rect">
            <a:avLst/>
          </a:prstGeom>
        </p:spPr>
      </p:pic>
      <p:pic>
        <p:nvPicPr>
          <p:cNvPr id="7" name="Picture 6">
            <a:extLst>
              <a:ext uri="{FF2B5EF4-FFF2-40B4-BE49-F238E27FC236}">
                <a16:creationId xmlns:a16="http://schemas.microsoft.com/office/drawing/2014/main" id="{221DA2CB-B624-735D-D7DD-7059312D4F0D}"/>
              </a:ext>
            </a:extLst>
          </p:cNvPr>
          <p:cNvPicPr>
            <a:picLocks noChangeAspect="1"/>
          </p:cNvPicPr>
          <p:nvPr/>
        </p:nvPicPr>
        <p:blipFill>
          <a:blip r:embed="rId4"/>
          <a:stretch>
            <a:fillRect/>
          </a:stretch>
        </p:blipFill>
        <p:spPr>
          <a:xfrm>
            <a:off x="5461935" y="1813559"/>
            <a:ext cx="6330017" cy="4533739"/>
          </a:xfrm>
          <a:prstGeom prst="rect">
            <a:avLst/>
          </a:prstGeom>
        </p:spPr>
      </p:pic>
    </p:spTree>
    <p:extLst>
      <p:ext uri="{BB962C8B-B14F-4D97-AF65-F5344CB8AC3E}">
        <p14:creationId xmlns:p14="http://schemas.microsoft.com/office/powerpoint/2010/main" val="3676437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1BF6D-165A-C323-80B0-D73D4A6C0F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C2AEA-A12C-5673-3181-B6FF205D8E8F}"/>
              </a:ext>
            </a:extLst>
          </p:cNvPr>
          <p:cNvSpPr>
            <a:spLocks noGrp="1"/>
          </p:cNvSpPr>
          <p:nvPr>
            <p:ph type="title"/>
          </p:nvPr>
        </p:nvSpPr>
        <p:spPr>
          <a:xfrm>
            <a:off x="914401" y="286603"/>
            <a:ext cx="10241280" cy="1450757"/>
          </a:xfrm>
        </p:spPr>
        <p:txBody>
          <a:bodyPr/>
          <a:lstStyle/>
          <a:p>
            <a:r>
              <a:rPr lang="en-US" b="1" dirty="0"/>
              <a:t>BNB</a:t>
            </a:r>
            <a:r>
              <a:rPr lang="en-US" dirty="0"/>
              <a:t> </a:t>
            </a:r>
            <a:r>
              <a:rPr lang="en-US" b="1" dirty="0"/>
              <a:t>Semantic type </a:t>
            </a:r>
            <a:r>
              <a:rPr lang="en-US" dirty="0"/>
              <a:t>Truth to </a:t>
            </a:r>
            <a:r>
              <a:rPr lang="en-US" dirty="0" err="1"/>
              <a:t>reco</a:t>
            </a:r>
            <a:r>
              <a:rPr lang="en-US" dirty="0"/>
              <a:t> matching </a:t>
            </a:r>
            <a:r>
              <a:rPr lang="en-US" b="1" dirty="0"/>
              <a:t>(True mode)</a:t>
            </a:r>
            <a:endParaRPr lang="en-SG" b="1" dirty="0"/>
          </a:p>
        </p:txBody>
      </p:sp>
      <p:sp>
        <p:nvSpPr>
          <p:cNvPr id="13" name="TextBox 12">
            <a:extLst>
              <a:ext uri="{FF2B5EF4-FFF2-40B4-BE49-F238E27FC236}">
                <a16:creationId xmlns:a16="http://schemas.microsoft.com/office/drawing/2014/main" id="{EA7851E1-94D7-BE10-A94B-6046F0411A6E}"/>
              </a:ext>
            </a:extLst>
          </p:cNvPr>
          <p:cNvSpPr txBox="1"/>
          <p:nvPr/>
        </p:nvSpPr>
        <p:spPr>
          <a:xfrm>
            <a:off x="1090612" y="1932379"/>
            <a:ext cx="4014135" cy="338554"/>
          </a:xfrm>
          <a:prstGeom prst="rect">
            <a:avLst/>
          </a:prstGeom>
          <a:noFill/>
        </p:spPr>
        <p:txBody>
          <a:bodyPr wrap="square" rtlCol="0">
            <a:spAutoFit/>
          </a:bodyPr>
          <a:lstStyle/>
          <a:p>
            <a:pPr algn="ctr"/>
            <a:r>
              <a:rPr lang="en-US" sz="1600" dirty="0"/>
              <a:t>Corresponding selection tree in TOML file</a:t>
            </a:r>
            <a:endParaRPr lang="en-SG" sz="1600" dirty="0"/>
          </a:p>
        </p:txBody>
      </p:sp>
      <p:pic>
        <p:nvPicPr>
          <p:cNvPr id="3" name="Picture 2">
            <a:extLst>
              <a:ext uri="{FF2B5EF4-FFF2-40B4-BE49-F238E27FC236}">
                <a16:creationId xmlns:a16="http://schemas.microsoft.com/office/drawing/2014/main" id="{F32276ED-B323-561B-0AA1-ECDC50BF395C}"/>
              </a:ext>
            </a:extLst>
          </p:cNvPr>
          <p:cNvPicPr>
            <a:picLocks noChangeAspect="1"/>
          </p:cNvPicPr>
          <p:nvPr/>
        </p:nvPicPr>
        <p:blipFill>
          <a:blip r:embed="rId3"/>
          <a:stretch>
            <a:fillRect/>
          </a:stretch>
        </p:blipFill>
        <p:spPr>
          <a:xfrm>
            <a:off x="1385888" y="2270933"/>
            <a:ext cx="3373135" cy="3920317"/>
          </a:xfrm>
          <a:prstGeom prst="rect">
            <a:avLst/>
          </a:prstGeom>
        </p:spPr>
      </p:pic>
      <p:pic>
        <p:nvPicPr>
          <p:cNvPr id="5" name="Picture 4">
            <a:extLst>
              <a:ext uri="{FF2B5EF4-FFF2-40B4-BE49-F238E27FC236}">
                <a16:creationId xmlns:a16="http://schemas.microsoft.com/office/drawing/2014/main" id="{34AC42FF-A504-F8D6-E0A7-D38F5AD8AE75}"/>
              </a:ext>
            </a:extLst>
          </p:cNvPr>
          <p:cNvPicPr>
            <a:picLocks noChangeAspect="1"/>
          </p:cNvPicPr>
          <p:nvPr/>
        </p:nvPicPr>
        <p:blipFill>
          <a:blip r:embed="rId4"/>
          <a:stretch>
            <a:fillRect/>
          </a:stretch>
        </p:blipFill>
        <p:spPr>
          <a:xfrm>
            <a:off x="5590523" y="1804187"/>
            <a:ext cx="6125228" cy="4387063"/>
          </a:xfrm>
          <a:prstGeom prst="rect">
            <a:avLst/>
          </a:prstGeom>
        </p:spPr>
      </p:pic>
    </p:spTree>
    <p:extLst>
      <p:ext uri="{BB962C8B-B14F-4D97-AF65-F5344CB8AC3E}">
        <p14:creationId xmlns:p14="http://schemas.microsoft.com/office/powerpoint/2010/main" val="2112458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4DAB4-B4CC-30FF-5B6A-A30C701CA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8D7A3-7869-E53B-0738-4BF796584D51}"/>
              </a:ext>
            </a:extLst>
          </p:cNvPr>
          <p:cNvSpPr>
            <a:spLocks noGrp="1"/>
          </p:cNvSpPr>
          <p:nvPr>
            <p:ph type="title"/>
          </p:nvPr>
        </p:nvSpPr>
        <p:spPr/>
        <p:txBody>
          <a:bodyPr/>
          <a:lstStyle/>
          <a:p>
            <a:r>
              <a:rPr lang="en-US" dirty="0"/>
              <a:t>Removing low energy particles</a:t>
            </a:r>
            <a:endParaRPr lang="en-SG" dirty="0"/>
          </a:p>
        </p:txBody>
      </p:sp>
      <p:sp>
        <p:nvSpPr>
          <p:cNvPr id="15" name="TextBox 14">
            <a:extLst>
              <a:ext uri="{FF2B5EF4-FFF2-40B4-BE49-F238E27FC236}">
                <a16:creationId xmlns:a16="http://schemas.microsoft.com/office/drawing/2014/main" id="{98EB1099-3A81-EFB9-2A10-88666781F975}"/>
              </a:ext>
            </a:extLst>
          </p:cNvPr>
          <p:cNvSpPr txBox="1"/>
          <p:nvPr/>
        </p:nvSpPr>
        <p:spPr>
          <a:xfrm>
            <a:off x="1097280" y="1870839"/>
            <a:ext cx="5802284" cy="2585323"/>
          </a:xfrm>
          <a:prstGeom prst="rect">
            <a:avLst/>
          </a:prstGeom>
          <a:noFill/>
        </p:spPr>
        <p:txBody>
          <a:bodyPr wrap="square">
            <a:spAutoFit/>
          </a:bodyPr>
          <a:lstStyle/>
          <a:p>
            <a:pPr marL="285750" indent="-285750">
              <a:buFont typeface="Arial" panose="020B0604020202020204" pitchFamily="34" charset="0"/>
              <a:buChar char="•"/>
            </a:pPr>
            <a:r>
              <a:rPr lang="en-US" dirty="0"/>
              <a:t>To increase efficiency of semantic and PID type reconstruction, we remove particles with energy lower than 10 MeV </a:t>
            </a:r>
          </a:p>
          <a:p>
            <a:pPr marL="285750" indent="-285750">
              <a:buFont typeface="Arial" panose="020B0604020202020204" pitchFamily="34" charset="0"/>
              <a:buChar char="•"/>
            </a:pPr>
            <a:r>
              <a:rPr lang="en-US" dirty="0"/>
              <a:t>Reason is that low energy particles are more likely to be poorly reconstructed </a:t>
            </a:r>
          </a:p>
          <a:p>
            <a:pPr marL="285750" indent="-285750">
              <a:buFont typeface="Arial" panose="020B0604020202020204" pitchFamily="34" charset="0"/>
              <a:buChar char="•"/>
            </a:pPr>
            <a:r>
              <a:rPr lang="en-US" dirty="0"/>
              <a:t>For Reco to Truth, we apply the energy cut on </a:t>
            </a:r>
            <a:r>
              <a:rPr lang="en-US" dirty="0" err="1"/>
              <a:t>reco</a:t>
            </a:r>
            <a:r>
              <a:rPr lang="en-US" dirty="0"/>
              <a:t> particles</a:t>
            </a:r>
          </a:p>
          <a:p>
            <a:pPr marL="285750" indent="-285750">
              <a:buFont typeface="Arial" panose="020B0604020202020204" pitchFamily="34" charset="0"/>
              <a:buChar char="•"/>
            </a:pPr>
            <a:r>
              <a:rPr lang="en-US" dirty="0"/>
              <a:t>For Truth to Reco, we apply the energy cut on true particles</a:t>
            </a:r>
          </a:p>
        </p:txBody>
      </p:sp>
    </p:spTree>
    <p:extLst>
      <p:ext uri="{BB962C8B-B14F-4D97-AF65-F5344CB8AC3E}">
        <p14:creationId xmlns:p14="http://schemas.microsoft.com/office/powerpoint/2010/main" val="1028350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4E11C-6C29-DE91-7842-AAD0CA8EF4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5476BF-1A15-D673-1062-0B8AEA605A4F}"/>
              </a:ext>
            </a:extLst>
          </p:cNvPr>
          <p:cNvSpPr>
            <a:spLocks noGrp="1"/>
          </p:cNvSpPr>
          <p:nvPr>
            <p:ph type="title"/>
          </p:nvPr>
        </p:nvSpPr>
        <p:spPr>
          <a:xfrm>
            <a:off x="1066800" y="3066311"/>
            <a:ext cx="10058400" cy="725378"/>
          </a:xfrm>
        </p:spPr>
        <p:txBody>
          <a:bodyPr/>
          <a:lstStyle/>
          <a:p>
            <a:pPr algn="ctr"/>
            <a:r>
              <a:rPr lang="en-US" b="1" dirty="0"/>
              <a:t>PID Type confusion matrix</a:t>
            </a:r>
            <a:endParaRPr lang="en-SG" b="1" dirty="0"/>
          </a:p>
        </p:txBody>
      </p:sp>
    </p:spTree>
    <p:extLst>
      <p:ext uri="{BB962C8B-B14F-4D97-AF65-F5344CB8AC3E}">
        <p14:creationId xmlns:p14="http://schemas.microsoft.com/office/powerpoint/2010/main" val="812984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E2FB6-BBB5-72BA-FFF1-43765D58B9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9EA87-F17C-C8FE-4560-B3D1DCB94D67}"/>
              </a:ext>
            </a:extLst>
          </p:cNvPr>
          <p:cNvSpPr>
            <a:spLocks noGrp="1"/>
          </p:cNvSpPr>
          <p:nvPr>
            <p:ph type="title"/>
          </p:nvPr>
        </p:nvSpPr>
        <p:spPr>
          <a:xfrm>
            <a:off x="748145" y="286603"/>
            <a:ext cx="9097819" cy="1450757"/>
          </a:xfrm>
        </p:spPr>
        <p:txBody>
          <a:bodyPr>
            <a:normAutofit fontScale="90000"/>
          </a:bodyPr>
          <a:lstStyle/>
          <a:p>
            <a:r>
              <a:rPr lang="en-US" b="1" dirty="0" err="1"/>
              <a:t>NuMI</a:t>
            </a:r>
            <a:r>
              <a:rPr lang="en-US" dirty="0"/>
              <a:t> </a:t>
            </a:r>
            <a:r>
              <a:rPr lang="en-US" b="1" dirty="0"/>
              <a:t>PID type </a:t>
            </a:r>
            <a:r>
              <a:rPr lang="en-US" dirty="0"/>
              <a:t>Reco to truth matching </a:t>
            </a:r>
            <a:r>
              <a:rPr lang="en-US" b="1" dirty="0"/>
              <a:t>(Reco mode)</a:t>
            </a:r>
            <a:br>
              <a:rPr lang="en-US" b="1" dirty="0"/>
            </a:br>
            <a:r>
              <a:rPr lang="en-US" sz="3600" b="1" dirty="0"/>
              <a:t>- Removing </a:t>
            </a:r>
            <a:r>
              <a:rPr lang="en-US" sz="3600" b="1" dirty="0" err="1"/>
              <a:t>reco</a:t>
            </a:r>
            <a:r>
              <a:rPr lang="en-US" sz="3600" b="1" dirty="0"/>
              <a:t> particles with </a:t>
            </a:r>
            <a:r>
              <a:rPr lang="en-US" sz="3600" b="1" dirty="0" err="1"/>
              <a:t>ke</a:t>
            </a:r>
            <a:r>
              <a:rPr lang="en-US" sz="3600" b="1" dirty="0"/>
              <a:t> &lt; 10 MeV</a:t>
            </a:r>
            <a:endParaRPr lang="en-SG" dirty="0"/>
          </a:p>
        </p:txBody>
      </p:sp>
      <p:sp>
        <p:nvSpPr>
          <p:cNvPr id="9" name="TextBox 8">
            <a:extLst>
              <a:ext uri="{FF2B5EF4-FFF2-40B4-BE49-F238E27FC236}">
                <a16:creationId xmlns:a16="http://schemas.microsoft.com/office/drawing/2014/main" id="{367B7BB8-5F74-C507-17A0-2B796C601BFA}"/>
              </a:ext>
            </a:extLst>
          </p:cNvPr>
          <p:cNvSpPr txBox="1"/>
          <p:nvPr/>
        </p:nvSpPr>
        <p:spPr>
          <a:xfrm>
            <a:off x="1310334" y="5371773"/>
            <a:ext cx="2854036" cy="461665"/>
          </a:xfrm>
          <a:prstGeom prst="rect">
            <a:avLst/>
          </a:prstGeom>
          <a:noFill/>
        </p:spPr>
        <p:txBody>
          <a:bodyPr wrap="square">
            <a:spAutoFit/>
          </a:bodyPr>
          <a:lstStyle/>
          <a:p>
            <a:pPr algn="ctr"/>
            <a:r>
              <a:rPr lang="en-US" sz="2400" b="1" dirty="0"/>
              <a:t>Before energy cut</a:t>
            </a:r>
          </a:p>
        </p:txBody>
      </p:sp>
      <p:sp>
        <p:nvSpPr>
          <p:cNvPr id="11" name="TextBox 10">
            <a:extLst>
              <a:ext uri="{FF2B5EF4-FFF2-40B4-BE49-F238E27FC236}">
                <a16:creationId xmlns:a16="http://schemas.microsoft.com/office/drawing/2014/main" id="{3C74F541-9D55-A41E-7C76-B2662D02E775}"/>
              </a:ext>
            </a:extLst>
          </p:cNvPr>
          <p:cNvSpPr txBox="1"/>
          <p:nvPr/>
        </p:nvSpPr>
        <p:spPr>
          <a:xfrm>
            <a:off x="8027630" y="5371773"/>
            <a:ext cx="2854036" cy="461665"/>
          </a:xfrm>
          <a:prstGeom prst="rect">
            <a:avLst/>
          </a:prstGeom>
          <a:noFill/>
        </p:spPr>
        <p:txBody>
          <a:bodyPr wrap="square">
            <a:spAutoFit/>
          </a:bodyPr>
          <a:lstStyle/>
          <a:p>
            <a:pPr algn="ctr"/>
            <a:r>
              <a:rPr lang="en-US" sz="2400" b="1" dirty="0"/>
              <a:t>After energy cut</a:t>
            </a:r>
          </a:p>
        </p:txBody>
      </p:sp>
      <p:pic>
        <p:nvPicPr>
          <p:cNvPr id="3" name="Picture 2">
            <a:extLst>
              <a:ext uri="{FF2B5EF4-FFF2-40B4-BE49-F238E27FC236}">
                <a16:creationId xmlns:a16="http://schemas.microsoft.com/office/drawing/2014/main" id="{76B0640C-21B1-E135-1D9D-59117C5EC5B8}"/>
              </a:ext>
            </a:extLst>
          </p:cNvPr>
          <p:cNvPicPr>
            <a:picLocks noChangeAspect="1"/>
          </p:cNvPicPr>
          <p:nvPr/>
        </p:nvPicPr>
        <p:blipFill>
          <a:blip r:embed="rId3"/>
          <a:stretch>
            <a:fillRect/>
          </a:stretch>
        </p:blipFill>
        <p:spPr>
          <a:xfrm>
            <a:off x="158530" y="1737360"/>
            <a:ext cx="5157644" cy="3694051"/>
          </a:xfrm>
          <a:prstGeom prst="rect">
            <a:avLst/>
          </a:prstGeom>
        </p:spPr>
      </p:pic>
      <p:pic>
        <p:nvPicPr>
          <p:cNvPr id="7" name="Picture 6">
            <a:extLst>
              <a:ext uri="{FF2B5EF4-FFF2-40B4-BE49-F238E27FC236}">
                <a16:creationId xmlns:a16="http://schemas.microsoft.com/office/drawing/2014/main" id="{E415C3A7-7A72-D6FD-B6D8-05F0D67AAD58}"/>
              </a:ext>
            </a:extLst>
          </p:cNvPr>
          <p:cNvPicPr>
            <a:picLocks noChangeAspect="1"/>
          </p:cNvPicPr>
          <p:nvPr/>
        </p:nvPicPr>
        <p:blipFill>
          <a:blip r:embed="rId4"/>
          <a:stretch>
            <a:fillRect/>
          </a:stretch>
        </p:blipFill>
        <p:spPr>
          <a:xfrm>
            <a:off x="6875828" y="1737360"/>
            <a:ext cx="5157644" cy="3694052"/>
          </a:xfrm>
          <a:prstGeom prst="rect">
            <a:avLst/>
          </a:prstGeom>
        </p:spPr>
      </p:pic>
    </p:spTree>
    <p:extLst>
      <p:ext uri="{BB962C8B-B14F-4D97-AF65-F5344CB8AC3E}">
        <p14:creationId xmlns:p14="http://schemas.microsoft.com/office/powerpoint/2010/main" val="75746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100DF-5BE1-D433-5CC9-5138162BB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8246B9-E127-8DCF-0973-7531B151F2A3}"/>
              </a:ext>
            </a:extLst>
          </p:cNvPr>
          <p:cNvSpPr>
            <a:spLocks noGrp="1"/>
          </p:cNvSpPr>
          <p:nvPr>
            <p:ph type="title"/>
          </p:nvPr>
        </p:nvSpPr>
        <p:spPr>
          <a:xfrm>
            <a:off x="748146" y="286603"/>
            <a:ext cx="8515928" cy="1450757"/>
          </a:xfrm>
        </p:spPr>
        <p:txBody>
          <a:bodyPr>
            <a:normAutofit fontScale="90000"/>
          </a:bodyPr>
          <a:lstStyle/>
          <a:p>
            <a:r>
              <a:rPr lang="en-US" b="1" dirty="0" err="1"/>
              <a:t>NuMI</a:t>
            </a:r>
            <a:r>
              <a:rPr lang="en-US" dirty="0"/>
              <a:t> </a:t>
            </a:r>
            <a:r>
              <a:rPr lang="en-US" b="1" dirty="0"/>
              <a:t>PID type </a:t>
            </a:r>
            <a:r>
              <a:rPr lang="en-US" dirty="0"/>
              <a:t>Truth to Reco matching </a:t>
            </a:r>
            <a:r>
              <a:rPr lang="en-US" b="1" dirty="0"/>
              <a:t>(True mode)</a:t>
            </a:r>
            <a:br>
              <a:rPr lang="en-US" b="1" dirty="0"/>
            </a:br>
            <a:r>
              <a:rPr lang="en-US" sz="3600" b="1" dirty="0"/>
              <a:t>- Removing truth particles with </a:t>
            </a:r>
            <a:r>
              <a:rPr lang="en-US" sz="3600" b="1" dirty="0" err="1"/>
              <a:t>ke</a:t>
            </a:r>
            <a:r>
              <a:rPr lang="en-US" sz="3600" b="1" dirty="0"/>
              <a:t> &lt; 10 MeV</a:t>
            </a:r>
            <a:endParaRPr lang="en-SG" dirty="0"/>
          </a:p>
        </p:txBody>
      </p:sp>
      <p:sp>
        <p:nvSpPr>
          <p:cNvPr id="9" name="TextBox 8">
            <a:extLst>
              <a:ext uri="{FF2B5EF4-FFF2-40B4-BE49-F238E27FC236}">
                <a16:creationId xmlns:a16="http://schemas.microsoft.com/office/drawing/2014/main" id="{8DFAAAD8-9D56-769C-9957-032ED12CE39B}"/>
              </a:ext>
            </a:extLst>
          </p:cNvPr>
          <p:cNvSpPr txBox="1"/>
          <p:nvPr/>
        </p:nvSpPr>
        <p:spPr>
          <a:xfrm>
            <a:off x="1310334" y="5371773"/>
            <a:ext cx="2854036" cy="461665"/>
          </a:xfrm>
          <a:prstGeom prst="rect">
            <a:avLst/>
          </a:prstGeom>
          <a:noFill/>
        </p:spPr>
        <p:txBody>
          <a:bodyPr wrap="square">
            <a:spAutoFit/>
          </a:bodyPr>
          <a:lstStyle/>
          <a:p>
            <a:pPr algn="ctr"/>
            <a:r>
              <a:rPr lang="en-US" sz="2400" b="1" dirty="0"/>
              <a:t>Before energy cut</a:t>
            </a:r>
          </a:p>
        </p:txBody>
      </p:sp>
      <p:sp>
        <p:nvSpPr>
          <p:cNvPr id="11" name="TextBox 10">
            <a:extLst>
              <a:ext uri="{FF2B5EF4-FFF2-40B4-BE49-F238E27FC236}">
                <a16:creationId xmlns:a16="http://schemas.microsoft.com/office/drawing/2014/main" id="{4BD617B4-13B4-739C-0FC0-DA85E920B4CB}"/>
              </a:ext>
            </a:extLst>
          </p:cNvPr>
          <p:cNvSpPr txBox="1"/>
          <p:nvPr/>
        </p:nvSpPr>
        <p:spPr>
          <a:xfrm>
            <a:off x="8027630" y="5371773"/>
            <a:ext cx="2854036" cy="461665"/>
          </a:xfrm>
          <a:prstGeom prst="rect">
            <a:avLst/>
          </a:prstGeom>
          <a:noFill/>
        </p:spPr>
        <p:txBody>
          <a:bodyPr wrap="square">
            <a:spAutoFit/>
          </a:bodyPr>
          <a:lstStyle/>
          <a:p>
            <a:pPr algn="ctr"/>
            <a:r>
              <a:rPr lang="en-US" sz="2400" b="1" dirty="0"/>
              <a:t>After energy cut</a:t>
            </a:r>
          </a:p>
        </p:txBody>
      </p:sp>
      <p:pic>
        <p:nvPicPr>
          <p:cNvPr id="5" name="Picture 4">
            <a:extLst>
              <a:ext uri="{FF2B5EF4-FFF2-40B4-BE49-F238E27FC236}">
                <a16:creationId xmlns:a16="http://schemas.microsoft.com/office/drawing/2014/main" id="{6BFAF0FA-1A59-7C09-2B83-5DA62051EA5D}"/>
              </a:ext>
            </a:extLst>
          </p:cNvPr>
          <p:cNvPicPr>
            <a:picLocks noChangeAspect="1"/>
          </p:cNvPicPr>
          <p:nvPr/>
        </p:nvPicPr>
        <p:blipFill>
          <a:blip r:embed="rId3"/>
          <a:stretch>
            <a:fillRect/>
          </a:stretch>
        </p:blipFill>
        <p:spPr>
          <a:xfrm>
            <a:off x="6985135" y="1902748"/>
            <a:ext cx="4939026" cy="3537471"/>
          </a:xfrm>
          <a:prstGeom prst="rect">
            <a:avLst/>
          </a:prstGeom>
        </p:spPr>
      </p:pic>
      <p:pic>
        <p:nvPicPr>
          <p:cNvPr id="6" name="Picture 5">
            <a:extLst>
              <a:ext uri="{FF2B5EF4-FFF2-40B4-BE49-F238E27FC236}">
                <a16:creationId xmlns:a16="http://schemas.microsoft.com/office/drawing/2014/main" id="{8614A7EC-9092-024A-7701-A3C0FE7CD436}"/>
              </a:ext>
            </a:extLst>
          </p:cNvPr>
          <p:cNvPicPr>
            <a:picLocks noChangeAspect="1"/>
          </p:cNvPicPr>
          <p:nvPr/>
        </p:nvPicPr>
        <p:blipFill>
          <a:blip r:embed="rId4"/>
          <a:stretch>
            <a:fillRect/>
          </a:stretch>
        </p:blipFill>
        <p:spPr>
          <a:xfrm>
            <a:off x="267840" y="1902748"/>
            <a:ext cx="4939026" cy="3537472"/>
          </a:xfrm>
          <a:prstGeom prst="rect">
            <a:avLst/>
          </a:prstGeom>
        </p:spPr>
      </p:pic>
    </p:spTree>
    <p:extLst>
      <p:ext uri="{BB962C8B-B14F-4D97-AF65-F5344CB8AC3E}">
        <p14:creationId xmlns:p14="http://schemas.microsoft.com/office/powerpoint/2010/main" val="2224222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13154-43EA-FA3D-FA16-7E9AC0B030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EFBE53-3F54-1192-F4E1-2F38E8301569}"/>
              </a:ext>
            </a:extLst>
          </p:cNvPr>
          <p:cNvSpPr>
            <a:spLocks noGrp="1"/>
          </p:cNvSpPr>
          <p:nvPr>
            <p:ph type="title"/>
          </p:nvPr>
        </p:nvSpPr>
        <p:spPr>
          <a:xfrm>
            <a:off x="748146" y="286603"/>
            <a:ext cx="8515928" cy="1450757"/>
          </a:xfrm>
        </p:spPr>
        <p:txBody>
          <a:bodyPr>
            <a:normAutofit fontScale="90000"/>
          </a:bodyPr>
          <a:lstStyle/>
          <a:p>
            <a:r>
              <a:rPr lang="en-US" b="1" dirty="0"/>
              <a:t>BNB</a:t>
            </a:r>
            <a:r>
              <a:rPr lang="en-US" dirty="0"/>
              <a:t> </a:t>
            </a:r>
            <a:r>
              <a:rPr lang="en-US" b="1" dirty="0"/>
              <a:t>PID type </a:t>
            </a:r>
            <a:r>
              <a:rPr lang="en-US" dirty="0"/>
              <a:t>Reco to Truth matching </a:t>
            </a:r>
            <a:r>
              <a:rPr lang="en-US" b="1" dirty="0"/>
              <a:t>(Reco mode)</a:t>
            </a:r>
            <a:br>
              <a:rPr lang="en-US" b="1" dirty="0"/>
            </a:br>
            <a:r>
              <a:rPr lang="en-US" sz="3600" b="1" dirty="0"/>
              <a:t>- Removing </a:t>
            </a:r>
            <a:r>
              <a:rPr lang="en-US" sz="3600" b="1" dirty="0" err="1"/>
              <a:t>reco</a:t>
            </a:r>
            <a:r>
              <a:rPr lang="en-US" sz="3600" b="1" dirty="0"/>
              <a:t> particles with </a:t>
            </a:r>
            <a:r>
              <a:rPr lang="en-US" sz="3600" b="1" dirty="0" err="1"/>
              <a:t>ke</a:t>
            </a:r>
            <a:r>
              <a:rPr lang="en-US" sz="3600" b="1" dirty="0"/>
              <a:t> &lt; 10 MeV</a:t>
            </a:r>
            <a:endParaRPr lang="en-SG" dirty="0"/>
          </a:p>
        </p:txBody>
      </p:sp>
      <p:sp>
        <p:nvSpPr>
          <p:cNvPr id="9" name="TextBox 8">
            <a:extLst>
              <a:ext uri="{FF2B5EF4-FFF2-40B4-BE49-F238E27FC236}">
                <a16:creationId xmlns:a16="http://schemas.microsoft.com/office/drawing/2014/main" id="{2C936896-B41C-01AD-0921-E1AAD9B82CDC}"/>
              </a:ext>
            </a:extLst>
          </p:cNvPr>
          <p:cNvSpPr txBox="1"/>
          <p:nvPr/>
        </p:nvSpPr>
        <p:spPr>
          <a:xfrm>
            <a:off x="1310334" y="5371773"/>
            <a:ext cx="2854036" cy="461665"/>
          </a:xfrm>
          <a:prstGeom prst="rect">
            <a:avLst/>
          </a:prstGeom>
          <a:noFill/>
        </p:spPr>
        <p:txBody>
          <a:bodyPr wrap="square">
            <a:spAutoFit/>
          </a:bodyPr>
          <a:lstStyle/>
          <a:p>
            <a:pPr algn="ctr"/>
            <a:r>
              <a:rPr lang="en-US" sz="2400" b="1" dirty="0"/>
              <a:t>Before energy cut</a:t>
            </a:r>
          </a:p>
        </p:txBody>
      </p:sp>
      <p:sp>
        <p:nvSpPr>
          <p:cNvPr id="11" name="TextBox 10">
            <a:extLst>
              <a:ext uri="{FF2B5EF4-FFF2-40B4-BE49-F238E27FC236}">
                <a16:creationId xmlns:a16="http://schemas.microsoft.com/office/drawing/2014/main" id="{548D9CA4-EA88-47C8-E9FC-F1BB552EB277}"/>
              </a:ext>
            </a:extLst>
          </p:cNvPr>
          <p:cNvSpPr txBox="1"/>
          <p:nvPr/>
        </p:nvSpPr>
        <p:spPr>
          <a:xfrm>
            <a:off x="8027630" y="5371773"/>
            <a:ext cx="2854036" cy="461665"/>
          </a:xfrm>
          <a:prstGeom prst="rect">
            <a:avLst/>
          </a:prstGeom>
          <a:noFill/>
        </p:spPr>
        <p:txBody>
          <a:bodyPr wrap="square">
            <a:spAutoFit/>
          </a:bodyPr>
          <a:lstStyle/>
          <a:p>
            <a:pPr algn="ctr"/>
            <a:r>
              <a:rPr lang="en-US" sz="2400" b="1" dirty="0"/>
              <a:t>After energy cut</a:t>
            </a:r>
          </a:p>
        </p:txBody>
      </p:sp>
      <p:pic>
        <p:nvPicPr>
          <p:cNvPr id="4" name="Picture 3">
            <a:extLst>
              <a:ext uri="{FF2B5EF4-FFF2-40B4-BE49-F238E27FC236}">
                <a16:creationId xmlns:a16="http://schemas.microsoft.com/office/drawing/2014/main" id="{61C36313-A5D5-43A2-3E32-D93A206B1BF3}"/>
              </a:ext>
            </a:extLst>
          </p:cNvPr>
          <p:cNvPicPr>
            <a:picLocks noChangeAspect="1"/>
          </p:cNvPicPr>
          <p:nvPr/>
        </p:nvPicPr>
        <p:blipFill>
          <a:blip r:embed="rId3"/>
          <a:stretch>
            <a:fillRect/>
          </a:stretch>
        </p:blipFill>
        <p:spPr>
          <a:xfrm>
            <a:off x="6989305" y="1840276"/>
            <a:ext cx="4930685" cy="3531497"/>
          </a:xfrm>
          <a:prstGeom prst="rect">
            <a:avLst/>
          </a:prstGeom>
        </p:spPr>
      </p:pic>
      <p:pic>
        <p:nvPicPr>
          <p:cNvPr id="7" name="Picture 6">
            <a:extLst>
              <a:ext uri="{FF2B5EF4-FFF2-40B4-BE49-F238E27FC236}">
                <a16:creationId xmlns:a16="http://schemas.microsoft.com/office/drawing/2014/main" id="{698AE734-2A37-2A44-928D-BC0A81F36FEB}"/>
              </a:ext>
            </a:extLst>
          </p:cNvPr>
          <p:cNvPicPr>
            <a:picLocks noChangeAspect="1"/>
          </p:cNvPicPr>
          <p:nvPr/>
        </p:nvPicPr>
        <p:blipFill>
          <a:blip r:embed="rId4"/>
          <a:stretch>
            <a:fillRect/>
          </a:stretch>
        </p:blipFill>
        <p:spPr>
          <a:xfrm>
            <a:off x="272009" y="1840276"/>
            <a:ext cx="4930685" cy="3531497"/>
          </a:xfrm>
          <a:prstGeom prst="rect">
            <a:avLst/>
          </a:prstGeom>
        </p:spPr>
      </p:pic>
    </p:spTree>
    <p:extLst>
      <p:ext uri="{BB962C8B-B14F-4D97-AF65-F5344CB8AC3E}">
        <p14:creationId xmlns:p14="http://schemas.microsoft.com/office/powerpoint/2010/main" val="1588127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A24B7-640D-C6E3-7759-0AFB9E4766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AFBD1-3235-9C70-8DDF-F9A1B7D9E033}"/>
              </a:ext>
            </a:extLst>
          </p:cNvPr>
          <p:cNvSpPr>
            <a:spLocks noGrp="1"/>
          </p:cNvSpPr>
          <p:nvPr>
            <p:ph type="title"/>
          </p:nvPr>
        </p:nvSpPr>
        <p:spPr>
          <a:xfrm>
            <a:off x="748146" y="286603"/>
            <a:ext cx="8515928" cy="1450757"/>
          </a:xfrm>
        </p:spPr>
        <p:txBody>
          <a:bodyPr>
            <a:normAutofit fontScale="90000"/>
          </a:bodyPr>
          <a:lstStyle/>
          <a:p>
            <a:r>
              <a:rPr lang="en-US" b="1" dirty="0"/>
              <a:t>BNB</a:t>
            </a:r>
            <a:r>
              <a:rPr lang="en-US" dirty="0"/>
              <a:t> </a:t>
            </a:r>
            <a:r>
              <a:rPr lang="en-US" b="1" dirty="0"/>
              <a:t>PID type </a:t>
            </a:r>
            <a:r>
              <a:rPr lang="en-US" dirty="0"/>
              <a:t>Truth to Reco matching </a:t>
            </a:r>
            <a:r>
              <a:rPr lang="en-US" b="1" dirty="0"/>
              <a:t>(True mode)</a:t>
            </a:r>
            <a:br>
              <a:rPr lang="en-US" b="1" dirty="0"/>
            </a:br>
            <a:r>
              <a:rPr lang="en-US" sz="3600" b="1" dirty="0"/>
              <a:t>- Removing truth particles with </a:t>
            </a:r>
            <a:r>
              <a:rPr lang="en-US" sz="3600" b="1" dirty="0" err="1"/>
              <a:t>ke</a:t>
            </a:r>
            <a:r>
              <a:rPr lang="en-US" sz="3600" b="1" dirty="0"/>
              <a:t> &lt; 10 MeV</a:t>
            </a:r>
            <a:endParaRPr lang="en-SG" dirty="0"/>
          </a:p>
        </p:txBody>
      </p:sp>
      <p:sp>
        <p:nvSpPr>
          <p:cNvPr id="9" name="TextBox 8">
            <a:extLst>
              <a:ext uri="{FF2B5EF4-FFF2-40B4-BE49-F238E27FC236}">
                <a16:creationId xmlns:a16="http://schemas.microsoft.com/office/drawing/2014/main" id="{44D7687D-E3E2-3E6D-E930-2414B7EE24D9}"/>
              </a:ext>
            </a:extLst>
          </p:cNvPr>
          <p:cNvSpPr txBox="1"/>
          <p:nvPr/>
        </p:nvSpPr>
        <p:spPr>
          <a:xfrm>
            <a:off x="1310334" y="5371773"/>
            <a:ext cx="2854036" cy="461665"/>
          </a:xfrm>
          <a:prstGeom prst="rect">
            <a:avLst/>
          </a:prstGeom>
          <a:noFill/>
        </p:spPr>
        <p:txBody>
          <a:bodyPr wrap="square">
            <a:spAutoFit/>
          </a:bodyPr>
          <a:lstStyle/>
          <a:p>
            <a:pPr algn="ctr"/>
            <a:r>
              <a:rPr lang="en-US" sz="2400" b="1" dirty="0"/>
              <a:t>Before energy cut</a:t>
            </a:r>
          </a:p>
        </p:txBody>
      </p:sp>
      <p:sp>
        <p:nvSpPr>
          <p:cNvPr id="11" name="TextBox 10">
            <a:extLst>
              <a:ext uri="{FF2B5EF4-FFF2-40B4-BE49-F238E27FC236}">
                <a16:creationId xmlns:a16="http://schemas.microsoft.com/office/drawing/2014/main" id="{63D408A7-9307-A419-BC2B-E70B42911D53}"/>
              </a:ext>
            </a:extLst>
          </p:cNvPr>
          <p:cNvSpPr txBox="1"/>
          <p:nvPr/>
        </p:nvSpPr>
        <p:spPr>
          <a:xfrm>
            <a:off x="8027630" y="5371773"/>
            <a:ext cx="2854036" cy="461665"/>
          </a:xfrm>
          <a:prstGeom prst="rect">
            <a:avLst/>
          </a:prstGeom>
          <a:noFill/>
        </p:spPr>
        <p:txBody>
          <a:bodyPr wrap="square">
            <a:spAutoFit/>
          </a:bodyPr>
          <a:lstStyle/>
          <a:p>
            <a:pPr algn="ctr"/>
            <a:r>
              <a:rPr lang="en-US" sz="2400" b="1" dirty="0"/>
              <a:t>After energy cut</a:t>
            </a:r>
          </a:p>
        </p:txBody>
      </p:sp>
      <p:pic>
        <p:nvPicPr>
          <p:cNvPr id="5" name="Picture 4">
            <a:extLst>
              <a:ext uri="{FF2B5EF4-FFF2-40B4-BE49-F238E27FC236}">
                <a16:creationId xmlns:a16="http://schemas.microsoft.com/office/drawing/2014/main" id="{CF43F79D-0098-B71A-38DA-53DE7F2A8F3C}"/>
              </a:ext>
            </a:extLst>
          </p:cNvPr>
          <p:cNvPicPr>
            <a:picLocks noChangeAspect="1"/>
          </p:cNvPicPr>
          <p:nvPr/>
        </p:nvPicPr>
        <p:blipFill>
          <a:blip r:embed="rId3"/>
          <a:stretch>
            <a:fillRect/>
          </a:stretch>
        </p:blipFill>
        <p:spPr>
          <a:xfrm>
            <a:off x="6952889" y="1788112"/>
            <a:ext cx="5003517" cy="3583661"/>
          </a:xfrm>
          <a:prstGeom prst="rect">
            <a:avLst/>
          </a:prstGeom>
        </p:spPr>
      </p:pic>
      <p:pic>
        <p:nvPicPr>
          <p:cNvPr id="6" name="Picture 5">
            <a:extLst>
              <a:ext uri="{FF2B5EF4-FFF2-40B4-BE49-F238E27FC236}">
                <a16:creationId xmlns:a16="http://schemas.microsoft.com/office/drawing/2014/main" id="{4562B7D9-0F9F-C1A2-1730-1E85A4D5CCB8}"/>
              </a:ext>
            </a:extLst>
          </p:cNvPr>
          <p:cNvPicPr>
            <a:picLocks noChangeAspect="1"/>
          </p:cNvPicPr>
          <p:nvPr/>
        </p:nvPicPr>
        <p:blipFill>
          <a:blip r:embed="rId4"/>
          <a:stretch>
            <a:fillRect/>
          </a:stretch>
        </p:blipFill>
        <p:spPr>
          <a:xfrm>
            <a:off x="235596" y="1788111"/>
            <a:ext cx="5003516" cy="3583661"/>
          </a:xfrm>
          <a:prstGeom prst="rect">
            <a:avLst/>
          </a:prstGeom>
        </p:spPr>
      </p:pic>
    </p:spTree>
    <p:extLst>
      <p:ext uri="{BB962C8B-B14F-4D97-AF65-F5344CB8AC3E}">
        <p14:creationId xmlns:p14="http://schemas.microsoft.com/office/powerpoint/2010/main" val="908515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942C9-1142-A205-9D4B-9E2108C1FD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C36C6A-027D-D61D-CA8D-C767614111CA}"/>
              </a:ext>
            </a:extLst>
          </p:cNvPr>
          <p:cNvSpPr>
            <a:spLocks noGrp="1"/>
          </p:cNvSpPr>
          <p:nvPr>
            <p:ph type="title"/>
          </p:nvPr>
        </p:nvSpPr>
        <p:spPr>
          <a:xfrm>
            <a:off x="1066800" y="3066311"/>
            <a:ext cx="10058400" cy="725378"/>
          </a:xfrm>
        </p:spPr>
        <p:txBody>
          <a:bodyPr/>
          <a:lstStyle/>
          <a:p>
            <a:pPr algn="ctr"/>
            <a:r>
              <a:rPr lang="en-US" b="1" dirty="0"/>
              <a:t>Semantic Type confusion matrix</a:t>
            </a:r>
            <a:endParaRPr lang="en-SG" b="1" dirty="0"/>
          </a:p>
        </p:txBody>
      </p:sp>
    </p:spTree>
    <p:extLst>
      <p:ext uri="{BB962C8B-B14F-4D97-AF65-F5344CB8AC3E}">
        <p14:creationId xmlns:p14="http://schemas.microsoft.com/office/powerpoint/2010/main" val="12428000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7AFAD-C769-DE43-E59A-01BB0ABB0C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BECCF6-27B4-B06C-5F4E-C24AD6C91763}"/>
              </a:ext>
            </a:extLst>
          </p:cNvPr>
          <p:cNvSpPr>
            <a:spLocks noGrp="1"/>
          </p:cNvSpPr>
          <p:nvPr>
            <p:ph type="title"/>
          </p:nvPr>
        </p:nvSpPr>
        <p:spPr>
          <a:xfrm>
            <a:off x="748145" y="286603"/>
            <a:ext cx="10407535" cy="1450757"/>
          </a:xfrm>
        </p:spPr>
        <p:txBody>
          <a:bodyPr>
            <a:normAutofit fontScale="90000"/>
          </a:bodyPr>
          <a:lstStyle/>
          <a:p>
            <a:r>
              <a:rPr lang="en-US" b="1" dirty="0" err="1"/>
              <a:t>NuMI</a:t>
            </a:r>
            <a:r>
              <a:rPr lang="en-US" dirty="0"/>
              <a:t> </a:t>
            </a:r>
            <a:r>
              <a:rPr lang="en-US" b="1" dirty="0"/>
              <a:t>Semantic type </a:t>
            </a:r>
            <a:r>
              <a:rPr lang="en-US" dirty="0"/>
              <a:t>Reco to truth matching </a:t>
            </a:r>
            <a:r>
              <a:rPr lang="en-US" b="1" dirty="0"/>
              <a:t>(Reco mode)</a:t>
            </a:r>
            <a:br>
              <a:rPr lang="en-US" b="1" dirty="0"/>
            </a:br>
            <a:r>
              <a:rPr lang="en-US" sz="3600" b="1" dirty="0"/>
              <a:t>- Removing </a:t>
            </a:r>
            <a:r>
              <a:rPr lang="en-US" sz="3600" b="1" dirty="0" err="1"/>
              <a:t>reco</a:t>
            </a:r>
            <a:r>
              <a:rPr lang="en-US" sz="3600" b="1" dirty="0"/>
              <a:t> particles with </a:t>
            </a:r>
            <a:r>
              <a:rPr lang="en-US" sz="3600" b="1" dirty="0" err="1"/>
              <a:t>ke</a:t>
            </a:r>
            <a:r>
              <a:rPr lang="en-US" sz="3600" b="1" dirty="0"/>
              <a:t> &lt; 10 MeV</a:t>
            </a:r>
            <a:endParaRPr lang="en-SG" dirty="0"/>
          </a:p>
        </p:txBody>
      </p:sp>
      <p:pic>
        <p:nvPicPr>
          <p:cNvPr id="5" name="Picture 4">
            <a:extLst>
              <a:ext uri="{FF2B5EF4-FFF2-40B4-BE49-F238E27FC236}">
                <a16:creationId xmlns:a16="http://schemas.microsoft.com/office/drawing/2014/main" id="{C1DED28C-F876-E334-C004-4DCF8EF641F7}"/>
              </a:ext>
            </a:extLst>
          </p:cNvPr>
          <p:cNvPicPr>
            <a:picLocks noChangeAspect="1"/>
          </p:cNvPicPr>
          <p:nvPr/>
        </p:nvPicPr>
        <p:blipFill>
          <a:blip r:embed="rId3"/>
          <a:stretch>
            <a:fillRect/>
          </a:stretch>
        </p:blipFill>
        <p:spPr>
          <a:xfrm>
            <a:off x="6891965" y="1834516"/>
            <a:ext cx="5125367" cy="3670934"/>
          </a:xfrm>
          <a:prstGeom prst="rect">
            <a:avLst/>
          </a:prstGeom>
        </p:spPr>
      </p:pic>
      <p:pic>
        <p:nvPicPr>
          <p:cNvPr id="6" name="Picture 5">
            <a:extLst>
              <a:ext uri="{FF2B5EF4-FFF2-40B4-BE49-F238E27FC236}">
                <a16:creationId xmlns:a16="http://schemas.microsoft.com/office/drawing/2014/main" id="{EBC9DCEB-2F28-2753-B176-1522A1CD4AD6}"/>
              </a:ext>
            </a:extLst>
          </p:cNvPr>
          <p:cNvPicPr>
            <a:picLocks noChangeAspect="1"/>
          </p:cNvPicPr>
          <p:nvPr/>
        </p:nvPicPr>
        <p:blipFill>
          <a:blip r:embed="rId4"/>
          <a:stretch>
            <a:fillRect/>
          </a:stretch>
        </p:blipFill>
        <p:spPr>
          <a:xfrm>
            <a:off x="174668" y="1834516"/>
            <a:ext cx="5125368" cy="3670934"/>
          </a:xfrm>
          <a:prstGeom prst="rect">
            <a:avLst/>
          </a:prstGeom>
        </p:spPr>
      </p:pic>
      <p:sp>
        <p:nvSpPr>
          <p:cNvPr id="9" name="TextBox 8">
            <a:extLst>
              <a:ext uri="{FF2B5EF4-FFF2-40B4-BE49-F238E27FC236}">
                <a16:creationId xmlns:a16="http://schemas.microsoft.com/office/drawing/2014/main" id="{782FE78F-261E-0EAA-ECDE-077C5ABFB2B2}"/>
              </a:ext>
            </a:extLst>
          </p:cNvPr>
          <p:cNvSpPr txBox="1"/>
          <p:nvPr/>
        </p:nvSpPr>
        <p:spPr>
          <a:xfrm>
            <a:off x="1310334" y="5371773"/>
            <a:ext cx="2854036" cy="461665"/>
          </a:xfrm>
          <a:prstGeom prst="rect">
            <a:avLst/>
          </a:prstGeom>
          <a:noFill/>
        </p:spPr>
        <p:txBody>
          <a:bodyPr wrap="square">
            <a:spAutoFit/>
          </a:bodyPr>
          <a:lstStyle/>
          <a:p>
            <a:pPr algn="ctr"/>
            <a:r>
              <a:rPr lang="en-US" sz="2400" b="1" dirty="0"/>
              <a:t>Before energy cut</a:t>
            </a:r>
          </a:p>
        </p:txBody>
      </p:sp>
      <p:sp>
        <p:nvSpPr>
          <p:cNvPr id="11" name="TextBox 10">
            <a:extLst>
              <a:ext uri="{FF2B5EF4-FFF2-40B4-BE49-F238E27FC236}">
                <a16:creationId xmlns:a16="http://schemas.microsoft.com/office/drawing/2014/main" id="{2E475592-424A-B9EC-96C4-62475EB561AE}"/>
              </a:ext>
            </a:extLst>
          </p:cNvPr>
          <p:cNvSpPr txBox="1"/>
          <p:nvPr/>
        </p:nvSpPr>
        <p:spPr>
          <a:xfrm>
            <a:off x="8027630" y="5371773"/>
            <a:ext cx="2854036" cy="461665"/>
          </a:xfrm>
          <a:prstGeom prst="rect">
            <a:avLst/>
          </a:prstGeom>
          <a:noFill/>
        </p:spPr>
        <p:txBody>
          <a:bodyPr wrap="square">
            <a:spAutoFit/>
          </a:bodyPr>
          <a:lstStyle/>
          <a:p>
            <a:pPr algn="ctr"/>
            <a:r>
              <a:rPr lang="en-US" sz="2400" b="1" dirty="0"/>
              <a:t>After energy cut</a:t>
            </a:r>
          </a:p>
        </p:txBody>
      </p:sp>
    </p:spTree>
    <p:extLst>
      <p:ext uri="{BB962C8B-B14F-4D97-AF65-F5344CB8AC3E}">
        <p14:creationId xmlns:p14="http://schemas.microsoft.com/office/powerpoint/2010/main" val="269441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39297-06D5-E9C6-03FB-8B69A205BB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A1039-A764-887D-5E87-69F7F08FD703}"/>
              </a:ext>
            </a:extLst>
          </p:cNvPr>
          <p:cNvSpPr>
            <a:spLocks noGrp="1"/>
          </p:cNvSpPr>
          <p:nvPr>
            <p:ph type="title"/>
          </p:nvPr>
        </p:nvSpPr>
        <p:spPr>
          <a:xfrm>
            <a:off x="914401" y="286603"/>
            <a:ext cx="10241280" cy="1450757"/>
          </a:xfrm>
        </p:spPr>
        <p:txBody>
          <a:bodyPr>
            <a:normAutofit fontScale="90000"/>
          </a:bodyPr>
          <a:lstStyle/>
          <a:p>
            <a:r>
              <a:rPr lang="en-US" b="1" dirty="0" err="1"/>
              <a:t>NuMI</a:t>
            </a:r>
            <a:r>
              <a:rPr lang="en-US" dirty="0"/>
              <a:t> </a:t>
            </a:r>
            <a:r>
              <a:rPr lang="en-US" b="1" dirty="0"/>
              <a:t>Semantic type </a:t>
            </a:r>
            <a:r>
              <a:rPr lang="en-US" dirty="0"/>
              <a:t>Truth to </a:t>
            </a:r>
            <a:r>
              <a:rPr lang="en-US" dirty="0" err="1"/>
              <a:t>reco</a:t>
            </a:r>
            <a:r>
              <a:rPr lang="en-US" dirty="0"/>
              <a:t> matching </a:t>
            </a:r>
            <a:r>
              <a:rPr lang="en-US" b="1" dirty="0"/>
              <a:t>(True mode)</a:t>
            </a:r>
            <a:br>
              <a:rPr lang="en-US" b="1" dirty="0"/>
            </a:br>
            <a:r>
              <a:rPr lang="en-US" sz="3600" b="1" dirty="0"/>
              <a:t>- Removing true particles with </a:t>
            </a:r>
            <a:r>
              <a:rPr lang="en-US" sz="3600" b="1" dirty="0" err="1"/>
              <a:t>ke</a:t>
            </a:r>
            <a:r>
              <a:rPr lang="en-US" sz="3600" b="1" dirty="0"/>
              <a:t> &lt; 10 MeV</a:t>
            </a:r>
            <a:endParaRPr lang="en-SG" b="1" dirty="0"/>
          </a:p>
        </p:txBody>
      </p:sp>
      <p:pic>
        <p:nvPicPr>
          <p:cNvPr id="5" name="Picture 4">
            <a:extLst>
              <a:ext uri="{FF2B5EF4-FFF2-40B4-BE49-F238E27FC236}">
                <a16:creationId xmlns:a16="http://schemas.microsoft.com/office/drawing/2014/main" id="{D050F805-E0E1-3607-88D9-99F63F4C86FA}"/>
              </a:ext>
            </a:extLst>
          </p:cNvPr>
          <p:cNvPicPr>
            <a:picLocks noChangeAspect="1"/>
          </p:cNvPicPr>
          <p:nvPr/>
        </p:nvPicPr>
        <p:blipFill>
          <a:blip r:embed="rId3"/>
          <a:stretch>
            <a:fillRect/>
          </a:stretch>
        </p:blipFill>
        <p:spPr>
          <a:xfrm>
            <a:off x="6960215" y="1881225"/>
            <a:ext cx="4993661" cy="3576601"/>
          </a:xfrm>
          <a:prstGeom prst="rect">
            <a:avLst/>
          </a:prstGeom>
        </p:spPr>
      </p:pic>
      <p:pic>
        <p:nvPicPr>
          <p:cNvPr id="7" name="Picture 6">
            <a:extLst>
              <a:ext uri="{FF2B5EF4-FFF2-40B4-BE49-F238E27FC236}">
                <a16:creationId xmlns:a16="http://schemas.microsoft.com/office/drawing/2014/main" id="{693B6167-79A8-C139-9349-6AF71457EB7B}"/>
              </a:ext>
            </a:extLst>
          </p:cNvPr>
          <p:cNvPicPr>
            <a:picLocks noChangeAspect="1"/>
          </p:cNvPicPr>
          <p:nvPr/>
        </p:nvPicPr>
        <p:blipFill>
          <a:blip r:embed="rId4"/>
          <a:stretch>
            <a:fillRect/>
          </a:stretch>
        </p:blipFill>
        <p:spPr>
          <a:xfrm>
            <a:off x="238124" y="1881225"/>
            <a:ext cx="4993659" cy="3576601"/>
          </a:xfrm>
          <a:prstGeom prst="rect">
            <a:avLst/>
          </a:prstGeom>
        </p:spPr>
      </p:pic>
      <p:sp>
        <p:nvSpPr>
          <p:cNvPr id="8" name="TextBox 7">
            <a:extLst>
              <a:ext uri="{FF2B5EF4-FFF2-40B4-BE49-F238E27FC236}">
                <a16:creationId xmlns:a16="http://schemas.microsoft.com/office/drawing/2014/main" id="{20D2CF66-2E99-8D80-A44D-762A70C2766F}"/>
              </a:ext>
            </a:extLst>
          </p:cNvPr>
          <p:cNvSpPr txBox="1"/>
          <p:nvPr/>
        </p:nvSpPr>
        <p:spPr>
          <a:xfrm>
            <a:off x="1310334" y="5371773"/>
            <a:ext cx="2854036" cy="461665"/>
          </a:xfrm>
          <a:prstGeom prst="rect">
            <a:avLst/>
          </a:prstGeom>
          <a:noFill/>
        </p:spPr>
        <p:txBody>
          <a:bodyPr wrap="square">
            <a:spAutoFit/>
          </a:bodyPr>
          <a:lstStyle/>
          <a:p>
            <a:pPr algn="ctr"/>
            <a:r>
              <a:rPr lang="en-US" sz="2400" b="1" dirty="0"/>
              <a:t>Before energy cut</a:t>
            </a:r>
          </a:p>
        </p:txBody>
      </p:sp>
      <p:sp>
        <p:nvSpPr>
          <p:cNvPr id="9" name="TextBox 8">
            <a:extLst>
              <a:ext uri="{FF2B5EF4-FFF2-40B4-BE49-F238E27FC236}">
                <a16:creationId xmlns:a16="http://schemas.microsoft.com/office/drawing/2014/main" id="{B6DFBF1F-EDBE-E982-6284-14BF66972162}"/>
              </a:ext>
            </a:extLst>
          </p:cNvPr>
          <p:cNvSpPr txBox="1"/>
          <p:nvPr/>
        </p:nvSpPr>
        <p:spPr>
          <a:xfrm>
            <a:off x="8027630" y="5371773"/>
            <a:ext cx="2854036" cy="461665"/>
          </a:xfrm>
          <a:prstGeom prst="rect">
            <a:avLst/>
          </a:prstGeom>
          <a:noFill/>
        </p:spPr>
        <p:txBody>
          <a:bodyPr wrap="square">
            <a:spAutoFit/>
          </a:bodyPr>
          <a:lstStyle/>
          <a:p>
            <a:pPr algn="ctr"/>
            <a:r>
              <a:rPr lang="en-US" sz="2400" b="1" dirty="0"/>
              <a:t>After energy cut</a:t>
            </a:r>
          </a:p>
        </p:txBody>
      </p:sp>
    </p:spTree>
    <p:extLst>
      <p:ext uri="{BB962C8B-B14F-4D97-AF65-F5344CB8AC3E}">
        <p14:creationId xmlns:p14="http://schemas.microsoft.com/office/powerpoint/2010/main" val="2669290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62CDB-9F99-A6E7-8835-E9DDE273F9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83238F-EDE9-3719-5B4F-8FCD40C02C71}"/>
              </a:ext>
            </a:extLst>
          </p:cNvPr>
          <p:cNvSpPr>
            <a:spLocks noGrp="1"/>
          </p:cNvSpPr>
          <p:nvPr>
            <p:ph type="title"/>
          </p:nvPr>
        </p:nvSpPr>
        <p:spPr>
          <a:xfrm>
            <a:off x="748145" y="286603"/>
            <a:ext cx="10407535" cy="1450757"/>
          </a:xfrm>
        </p:spPr>
        <p:txBody>
          <a:bodyPr>
            <a:normAutofit fontScale="90000"/>
          </a:bodyPr>
          <a:lstStyle/>
          <a:p>
            <a:r>
              <a:rPr lang="en-US" b="1" dirty="0"/>
              <a:t>BNB</a:t>
            </a:r>
            <a:r>
              <a:rPr lang="en-US" dirty="0"/>
              <a:t> </a:t>
            </a:r>
            <a:r>
              <a:rPr lang="en-US" b="1" dirty="0"/>
              <a:t>Semantic type </a:t>
            </a:r>
            <a:r>
              <a:rPr lang="en-US" dirty="0"/>
              <a:t>Reco to truth matching </a:t>
            </a:r>
            <a:r>
              <a:rPr lang="en-US" b="1" dirty="0"/>
              <a:t>(Reco mode)</a:t>
            </a:r>
            <a:br>
              <a:rPr lang="en-US" b="1" dirty="0"/>
            </a:br>
            <a:r>
              <a:rPr lang="en-US" sz="3600" b="1" dirty="0"/>
              <a:t>- Removing </a:t>
            </a:r>
            <a:r>
              <a:rPr lang="en-US" sz="3600" b="1" dirty="0" err="1"/>
              <a:t>reco</a:t>
            </a:r>
            <a:r>
              <a:rPr lang="en-US" sz="3600" b="1" dirty="0"/>
              <a:t> particles with </a:t>
            </a:r>
            <a:r>
              <a:rPr lang="en-US" sz="3600" b="1" dirty="0" err="1"/>
              <a:t>ke</a:t>
            </a:r>
            <a:r>
              <a:rPr lang="en-US" sz="3600" b="1" dirty="0"/>
              <a:t> &lt; 10 MeV</a:t>
            </a:r>
            <a:endParaRPr lang="en-SG" dirty="0"/>
          </a:p>
        </p:txBody>
      </p:sp>
      <p:sp>
        <p:nvSpPr>
          <p:cNvPr id="9" name="TextBox 8">
            <a:extLst>
              <a:ext uri="{FF2B5EF4-FFF2-40B4-BE49-F238E27FC236}">
                <a16:creationId xmlns:a16="http://schemas.microsoft.com/office/drawing/2014/main" id="{505A5CA8-DF0E-0DE9-2E3D-87E54F5735DE}"/>
              </a:ext>
            </a:extLst>
          </p:cNvPr>
          <p:cNvSpPr txBox="1"/>
          <p:nvPr/>
        </p:nvSpPr>
        <p:spPr>
          <a:xfrm>
            <a:off x="1310334" y="5371773"/>
            <a:ext cx="2854036" cy="461665"/>
          </a:xfrm>
          <a:prstGeom prst="rect">
            <a:avLst/>
          </a:prstGeom>
          <a:noFill/>
        </p:spPr>
        <p:txBody>
          <a:bodyPr wrap="square">
            <a:spAutoFit/>
          </a:bodyPr>
          <a:lstStyle/>
          <a:p>
            <a:pPr algn="ctr"/>
            <a:r>
              <a:rPr lang="en-US" sz="2400" b="1" dirty="0"/>
              <a:t>Before energy cut</a:t>
            </a:r>
          </a:p>
        </p:txBody>
      </p:sp>
      <p:sp>
        <p:nvSpPr>
          <p:cNvPr id="11" name="TextBox 10">
            <a:extLst>
              <a:ext uri="{FF2B5EF4-FFF2-40B4-BE49-F238E27FC236}">
                <a16:creationId xmlns:a16="http://schemas.microsoft.com/office/drawing/2014/main" id="{334E0981-F7EB-047B-6E06-76799B01C1BC}"/>
              </a:ext>
            </a:extLst>
          </p:cNvPr>
          <p:cNvSpPr txBox="1"/>
          <p:nvPr/>
        </p:nvSpPr>
        <p:spPr>
          <a:xfrm>
            <a:off x="8027630" y="5371773"/>
            <a:ext cx="2854036" cy="461665"/>
          </a:xfrm>
          <a:prstGeom prst="rect">
            <a:avLst/>
          </a:prstGeom>
          <a:noFill/>
        </p:spPr>
        <p:txBody>
          <a:bodyPr wrap="square">
            <a:spAutoFit/>
          </a:bodyPr>
          <a:lstStyle/>
          <a:p>
            <a:pPr algn="ctr"/>
            <a:r>
              <a:rPr lang="en-US" sz="2400" b="1" dirty="0"/>
              <a:t>After energy cut</a:t>
            </a:r>
          </a:p>
        </p:txBody>
      </p:sp>
      <p:pic>
        <p:nvPicPr>
          <p:cNvPr id="4" name="Picture 3">
            <a:extLst>
              <a:ext uri="{FF2B5EF4-FFF2-40B4-BE49-F238E27FC236}">
                <a16:creationId xmlns:a16="http://schemas.microsoft.com/office/drawing/2014/main" id="{D45173C5-D096-7BEB-C465-EFED8FE9656A}"/>
              </a:ext>
            </a:extLst>
          </p:cNvPr>
          <p:cNvPicPr>
            <a:picLocks noChangeAspect="1"/>
          </p:cNvPicPr>
          <p:nvPr/>
        </p:nvPicPr>
        <p:blipFill>
          <a:blip r:embed="rId3"/>
          <a:stretch>
            <a:fillRect/>
          </a:stretch>
        </p:blipFill>
        <p:spPr>
          <a:xfrm>
            <a:off x="6984659" y="1833620"/>
            <a:ext cx="4939978" cy="3538153"/>
          </a:xfrm>
          <a:prstGeom prst="rect">
            <a:avLst/>
          </a:prstGeom>
        </p:spPr>
      </p:pic>
      <p:pic>
        <p:nvPicPr>
          <p:cNvPr id="7" name="Picture 6">
            <a:extLst>
              <a:ext uri="{FF2B5EF4-FFF2-40B4-BE49-F238E27FC236}">
                <a16:creationId xmlns:a16="http://schemas.microsoft.com/office/drawing/2014/main" id="{017E73A2-45EA-B9FE-DC6E-B16B39AF81F8}"/>
              </a:ext>
            </a:extLst>
          </p:cNvPr>
          <p:cNvPicPr>
            <a:picLocks noChangeAspect="1"/>
          </p:cNvPicPr>
          <p:nvPr/>
        </p:nvPicPr>
        <p:blipFill>
          <a:blip r:embed="rId4"/>
          <a:stretch>
            <a:fillRect/>
          </a:stretch>
        </p:blipFill>
        <p:spPr>
          <a:xfrm>
            <a:off x="267363" y="1833620"/>
            <a:ext cx="4939977" cy="3538153"/>
          </a:xfrm>
          <a:prstGeom prst="rect">
            <a:avLst/>
          </a:prstGeom>
        </p:spPr>
      </p:pic>
    </p:spTree>
    <p:extLst>
      <p:ext uri="{BB962C8B-B14F-4D97-AF65-F5344CB8AC3E}">
        <p14:creationId xmlns:p14="http://schemas.microsoft.com/office/powerpoint/2010/main" val="1806595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0F9B6-7858-0991-245A-D0EF9601C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F3B211-640C-9BEC-D13D-5475D22F05DC}"/>
              </a:ext>
            </a:extLst>
          </p:cNvPr>
          <p:cNvSpPr>
            <a:spLocks noGrp="1"/>
          </p:cNvSpPr>
          <p:nvPr>
            <p:ph type="title"/>
          </p:nvPr>
        </p:nvSpPr>
        <p:spPr>
          <a:xfrm>
            <a:off x="914401" y="286603"/>
            <a:ext cx="10241280" cy="1450757"/>
          </a:xfrm>
        </p:spPr>
        <p:txBody>
          <a:bodyPr>
            <a:normAutofit fontScale="90000"/>
          </a:bodyPr>
          <a:lstStyle/>
          <a:p>
            <a:r>
              <a:rPr lang="en-US" b="1" dirty="0"/>
              <a:t>BNB</a:t>
            </a:r>
            <a:r>
              <a:rPr lang="en-US" dirty="0"/>
              <a:t> </a:t>
            </a:r>
            <a:r>
              <a:rPr lang="en-US" b="1" dirty="0"/>
              <a:t>Semantic type </a:t>
            </a:r>
            <a:r>
              <a:rPr lang="en-US" dirty="0"/>
              <a:t>Truth to </a:t>
            </a:r>
            <a:r>
              <a:rPr lang="en-US" dirty="0" err="1"/>
              <a:t>reco</a:t>
            </a:r>
            <a:r>
              <a:rPr lang="en-US" dirty="0"/>
              <a:t> matching </a:t>
            </a:r>
            <a:r>
              <a:rPr lang="en-US" b="1" dirty="0"/>
              <a:t>(True mode)</a:t>
            </a:r>
            <a:br>
              <a:rPr lang="en-US" b="1" dirty="0"/>
            </a:br>
            <a:r>
              <a:rPr lang="en-US" sz="3600" b="1" dirty="0"/>
              <a:t>- Removing true particles with </a:t>
            </a:r>
            <a:r>
              <a:rPr lang="en-US" sz="3600" b="1" dirty="0" err="1"/>
              <a:t>ke</a:t>
            </a:r>
            <a:r>
              <a:rPr lang="en-US" sz="3600" b="1" dirty="0"/>
              <a:t> &lt; 10 MeV</a:t>
            </a:r>
            <a:endParaRPr lang="en-SG" b="1" dirty="0"/>
          </a:p>
        </p:txBody>
      </p:sp>
      <p:pic>
        <p:nvPicPr>
          <p:cNvPr id="6" name="Picture 5">
            <a:extLst>
              <a:ext uri="{FF2B5EF4-FFF2-40B4-BE49-F238E27FC236}">
                <a16:creationId xmlns:a16="http://schemas.microsoft.com/office/drawing/2014/main" id="{574B5C22-EF10-ED24-114F-A43BB3E24302}"/>
              </a:ext>
            </a:extLst>
          </p:cNvPr>
          <p:cNvPicPr>
            <a:picLocks noChangeAspect="1"/>
          </p:cNvPicPr>
          <p:nvPr/>
        </p:nvPicPr>
        <p:blipFill>
          <a:blip r:embed="rId3"/>
          <a:stretch>
            <a:fillRect/>
          </a:stretch>
        </p:blipFill>
        <p:spPr>
          <a:xfrm>
            <a:off x="6981934" y="1932380"/>
            <a:ext cx="4945428" cy="3542056"/>
          </a:xfrm>
          <a:prstGeom prst="rect">
            <a:avLst/>
          </a:prstGeom>
        </p:spPr>
      </p:pic>
      <p:sp>
        <p:nvSpPr>
          <p:cNvPr id="7" name="TextBox 6">
            <a:extLst>
              <a:ext uri="{FF2B5EF4-FFF2-40B4-BE49-F238E27FC236}">
                <a16:creationId xmlns:a16="http://schemas.microsoft.com/office/drawing/2014/main" id="{A7F56814-DC3C-83EC-0BDF-195238A30E56}"/>
              </a:ext>
            </a:extLst>
          </p:cNvPr>
          <p:cNvSpPr txBox="1"/>
          <p:nvPr/>
        </p:nvSpPr>
        <p:spPr>
          <a:xfrm>
            <a:off x="1310334" y="5371773"/>
            <a:ext cx="2854036" cy="461665"/>
          </a:xfrm>
          <a:prstGeom prst="rect">
            <a:avLst/>
          </a:prstGeom>
          <a:noFill/>
        </p:spPr>
        <p:txBody>
          <a:bodyPr wrap="square">
            <a:spAutoFit/>
          </a:bodyPr>
          <a:lstStyle/>
          <a:p>
            <a:pPr algn="ctr"/>
            <a:r>
              <a:rPr lang="en-US" sz="2400" b="1" dirty="0"/>
              <a:t>Before energy cut</a:t>
            </a:r>
          </a:p>
        </p:txBody>
      </p:sp>
      <p:sp>
        <p:nvSpPr>
          <p:cNvPr id="8" name="TextBox 7">
            <a:extLst>
              <a:ext uri="{FF2B5EF4-FFF2-40B4-BE49-F238E27FC236}">
                <a16:creationId xmlns:a16="http://schemas.microsoft.com/office/drawing/2014/main" id="{0AB66780-438C-A22E-8DBA-DDC41FE88107}"/>
              </a:ext>
            </a:extLst>
          </p:cNvPr>
          <p:cNvSpPr txBox="1"/>
          <p:nvPr/>
        </p:nvSpPr>
        <p:spPr>
          <a:xfrm>
            <a:off x="8027630" y="5371773"/>
            <a:ext cx="2854036" cy="461665"/>
          </a:xfrm>
          <a:prstGeom prst="rect">
            <a:avLst/>
          </a:prstGeom>
          <a:noFill/>
        </p:spPr>
        <p:txBody>
          <a:bodyPr wrap="square">
            <a:spAutoFit/>
          </a:bodyPr>
          <a:lstStyle/>
          <a:p>
            <a:pPr algn="ctr"/>
            <a:r>
              <a:rPr lang="en-US" sz="2400" b="1" dirty="0"/>
              <a:t>After energy cut</a:t>
            </a:r>
          </a:p>
        </p:txBody>
      </p:sp>
      <p:pic>
        <p:nvPicPr>
          <p:cNvPr id="9" name="Picture 8">
            <a:extLst>
              <a:ext uri="{FF2B5EF4-FFF2-40B4-BE49-F238E27FC236}">
                <a16:creationId xmlns:a16="http://schemas.microsoft.com/office/drawing/2014/main" id="{ABD40689-D395-80C1-06CF-D25497C7709D}"/>
              </a:ext>
            </a:extLst>
          </p:cNvPr>
          <p:cNvPicPr>
            <a:picLocks noChangeAspect="1"/>
          </p:cNvPicPr>
          <p:nvPr/>
        </p:nvPicPr>
        <p:blipFill>
          <a:blip r:embed="rId4"/>
          <a:stretch>
            <a:fillRect/>
          </a:stretch>
        </p:blipFill>
        <p:spPr>
          <a:xfrm>
            <a:off x="264640" y="1932380"/>
            <a:ext cx="4945427" cy="3542056"/>
          </a:xfrm>
          <a:prstGeom prst="rect">
            <a:avLst/>
          </a:prstGeom>
        </p:spPr>
      </p:pic>
    </p:spTree>
    <p:extLst>
      <p:ext uri="{BB962C8B-B14F-4D97-AF65-F5344CB8AC3E}">
        <p14:creationId xmlns:p14="http://schemas.microsoft.com/office/powerpoint/2010/main" val="32411631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FEF90-4FAC-ACF0-9D4A-566547B4EF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B1DC4-0B47-E2F7-4B23-5B5C5D0DC360}"/>
              </a:ext>
            </a:extLst>
          </p:cNvPr>
          <p:cNvSpPr>
            <a:spLocks noGrp="1"/>
          </p:cNvSpPr>
          <p:nvPr>
            <p:ph type="title"/>
          </p:nvPr>
        </p:nvSpPr>
        <p:spPr>
          <a:xfrm>
            <a:off x="1066800" y="3066311"/>
            <a:ext cx="10058400" cy="725378"/>
          </a:xfrm>
        </p:spPr>
        <p:txBody>
          <a:bodyPr/>
          <a:lstStyle/>
          <a:p>
            <a:pPr algn="ctr"/>
            <a:r>
              <a:rPr lang="en-US" b="1" dirty="0"/>
              <a:t>Out-of-time cosmic interaction selection</a:t>
            </a:r>
            <a:endParaRPr lang="en-SG" b="1" dirty="0"/>
          </a:p>
        </p:txBody>
      </p:sp>
    </p:spTree>
    <p:extLst>
      <p:ext uri="{BB962C8B-B14F-4D97-AF65-F5344CB8AC3E}">
        <p14:creationId xmlns:p14="http://schemas.microsoft.com/office/powerpoint/2010/main" val="29216277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C1751-B148-C9D0-04F1-0BFB7FDF60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EF855A-BD6A-6D1B-FE59-4902E345154D}"/>
              </a:ext>
            </a:extLst>
          </p:cNvPr>
          <p:cNvSpPr>
            <a:spLocks noGrp="1"/>
          </p:cNvSpPr>
          <p:nvPr>
            <p:ph type="title"/>
          </p:nvPr>
        </p:nvSpPr>
        <p:spPr/>
        <p:txBody>
          <a:bodyPr/>
          <a:lstStyle/>
          <a:p>
            <a:r>
              <a:rPr lang="en-US" dirty="0"/>
              <a:t>Reducing effect of </a:t>
            </a:r>
            <a:r>
              <a:rPr lang="en-US" dirty="0" err="1"/>
              <a:t>cosmics</a:t>
            </a:r>
            <a:endParaRPr lang="en-SG" dirty="0"/>
          </a:p>
        </p:txBody>
      </p:sp>
      <p:sp>
        <p:nvSpPr>
          <p:cNvPr id="15" name="TextBox 14">
            <a:extLst>
              <a:ext uri="{FF2B5EF4-FFF2-40B4-BE49-F238E27FC236}">
                <a16:creationId xmlns:a16="http://schemas.microsoft.com/office/drawing/2014/main" id="{45F7BBA5-645B-2A3A-A501-2C8361519B1A}"/>
              </a:ext>
            </a:extLst>
          </p:cNvPr>
          <p:cNvSpPr txBox="1"/>
          <p:nvPr/>
        </p:nvSpPr>
        <p:spPr>
          <a:xfrm>
            <a:off x="1097280" y="1870839"/>
            <a:ext cx="5802284" cy="2585323"/>
          </a:xfrm>
          <a:prstGeom prst="rect">
            <a:avLst/>
          </a:prstGeom>
          <a:noFill/>
        </p:spPr>
        <p:txBody>
          <a:bodyPr wrap="square">
            <a:spAutoFit/>
          </a:bodyPr>
          <a:lstStyle/>
          <a:p>
            <a:pPr marL="285750" indent="-285750">
              <a:buFont typeface="Arial" panose="020B0604020202020204" pitchFamily="34" charset="0"/>
              <a:buChar char="•"/>
            </a:pPr>
            <a:r>
              <a:rPr lang="en-US" dirty="0"/>
              <a:t>We are interested in the reconstructed out-of-time </a:t>
            </a:r>
            <a:r>
              <a:rPr lang="en-US" dirty="0" err="1"/>
              <a:t>cosmics</a:t>
            </a:r>
            <a:r>
              <a:rPr lang="en-US" dirty="0"/>
              <a:t> that pass the fiducial cut</a:t>
            </a:r>
          </a:p>
          <a:p>
            <a:pPr marL="742950" lvl="1" indent="-285750">
              <a:buFont typeface="Arial" panose="020B0604020202020204" pitchFamily="34" charset="0"/>
              <a:buChar char="•"/>
            </a:pPr>
            <a:r>
              <a:rPr lang="en-US" dirty="0"/>
              <a:t>However, when looking at their truth information, they should not pass the cut</a:t>
            </a:r>
          </a:p>
          <a:p>
            <a:pPr marL="285750" indent="-285750">
              <a:buFont typeface="Arial" panose="020B0604020202020204" pitchFamily="34" charset="0"/>
              <a:buChar char="•"/>
            </a:pPr>
            <a:r>
              <a:rPr lang="en-US" dirty="0"/>
              <a:t>We need to select these reconstructed and </a:t>
            </a:r>
            <a:r>
              <a:rPr lang="en-US" dirty="0" err="1"/>
              <a:t>fiducialized</a:t>
            </a:r>
            <a:r>
              <a:rPr lang="en-US" dirty="0"/>
              <a:t> out-of-time interactions</a:t>
            </a:r>
          </a:p>
          <a:p>
            <a:pPr marL="285750" indent="-285750">
              <a:buFont typeface="Arial" panose="020B0604020202020204" pitchFamily="34" charset="0"/>
              <a:buChar char="•"/>
            </a:pPr>
            <a:r>
              <a:rPr lang="en-US" dirty="0"/>
              <a:t>We then select in-time </a:t>
            </a:r>
            <a:r>
              <a:rPr lang="en-US" dirty="0" err="1"/>
              <a:t>fiducialized</a:t>
            </a:r>
            <a:r>
              <a:rPr lang="en-US" dirty="0"/>
              <a:t> neutrino interactions, </a:t>
            </a:r>
          </a:p>
          <a:p>
            <a:pPr marL="285750" indent="-285750">
              <a:buFont typeface="Arial" panose="020B0604020202020204" pitchFamily="34" charset="0"/>
              <a:buChar char="•"/>
            </a:pPr>
            <a:r>
              <a:rPr lang="en-US" dirty="0"/>
              <a:t>We then observe the true fiducial cut percentage from these out-of-time </a:t>
            </a:r>
            <a:r>
              <a:rPr lang="en-US" dirty="0" err="1"/>
              <a:t>reco</a:t>
            </a:r>
            <a:r>
              <a:rPr lang="en-US" dirty="0"/>
              <a:t> interactions</a:t>
            </a:r>
          </a:p>
        </p:txBody>
      </p:sp>
    </p:spTree>
    <p:extLst>
      <p:ext uri="{BB962C8B-B14F-4D97-AF65-F5344CB8AC3E}">
        <p14:creationId xmlns:p14="http://schemas.microsoft.com/office/powerpoint/2010/main" val="3780455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57197-3CFA-1DBB-C8E5-E1BE57EE2B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BFB8F-98D8-E47C-43CC-DAA32A59F1C3}"/>
              </a:ext>
            </a:extLst>
          </p:cNvPr>
          <p:cNvSpPr>
            <a:spLocks noGrp="1"/>
          </p:cNvSpPr>
          <p:nvPr>
            <p:ph type="title"/>
          </p:nvPr>
        </p:nvSpPr>
        <p:spPr/>
        <p:txBody>
          <a:bodyPr/>
          <a:lstStyle/>
          <a:p>
            <a:r>
              <a:rPr lang="en-US" dirty="0"/>
              <a:t>Reducing effect of </a:t>
            </a:r>
            <a:r>
              <a:rPr lang="en-US" dirty="0" err="1"/>
              <a:t>cosmics</a:t>
            </a:r>
            <a:endParaRPr lang="en-SG" dirty="0"/>
          </a:p>
        </p:txBody>
      </p:sp>
      <p:sp>
        <p:nvSpPr>
          <p:cNvPr id="15" name="TextBox 14">
            <a:extLst>
              <a:ext uri="{FF2B5EF4-FFF2-40B4-BE49-F238E27FC236}">
                <a16:creationId xmlns:a16="http://schemas.microsoft.com/office/drawing/2014/main" id="{94F92460-F3DA-8C93-891A-2E2CAC0E42C9}"/>
              </a:ext>
            </a:extLst>
          </p:cNvPr>
          <p:cNvSpPr txBox="1"/>
          <p:nvPr/>
        </p:nvSpPr>
        <p:spPr>
          <a:xfrm>
            <a:off x="1097280" y="1870839"/>
            <a:ext cx="4598670" cy="4247317"/>
          </a:xfrm>
          <a:prstGeom prst="rect">
            <a:avLst/>
          </a:prstGeom>
          <a:noFill/>
        </p:spPr>
        <p:txBody>
          <a:bodyPr wrap="square">
            <a:spAutoFit/>
          </a:bodyPr>
          <a:lstStyle/>
          <a:p>
            <a:r>
              <a:rPr lang="en-US" b="1" u="sng" dirty="0"/>
              <a:t>How do we select reconstructed out-of-time </a:t>
            </a:r>
            <a:r>
              <a:rPr lang="en-US" b="1" u="sng" dirty="0" err="1"/>
              <a:t>cosmics</a:t>
            </a:r>
            <a:r>
              <a:rPr lang="en-US" b="1" u="sng" dirty="0"/>
              <a:t> that are </a:t>
            </a:r>
            <a:r>
              <a:rPr lang="en-US" b="1" u="sng" dirty="0" err="1"/>
              <a:t>fiducialized</a:t>
            </a:r>
            <a:r>
              <a:rPr lang="en-US" b="1" u="sng" dirty="0"/>
              <a:t>? </a:t>
            </a:r>
          </a:p>
          <a:p>
            <a:pPr marL="285750" indent="-285750">
              <a:buFont typeface="Arial" panose="020B0604020202020204" pitchFamily="34" charset="0"/>
              <a:buChar char="•"/>
            </a:pPr>
            <a:r>
              <a:rPr lang="en-US" dirty="0"/>
              <a:t>Create a selection in reconstructed mode</a:t>
            </a:r>
          </a:p>
          <a:p>
            <a:pPr marL="285750" indent="-285750">
              <a:buFont typeface="Arial" panose="020B0604020202020204" pitchFamily="34" charset="0"/>
              <a:buChar char="•"/>
            </a:pPr>
            <a:r>
              <a:rPr lang="en-US" dirty="0"/>
              <a:t>Apply a </a:t>
            </a:r>
            <a:r>
              <a:rPr lang="en-US" dirty="0" err="1"/>
              <a:t>reco</a:t>
            </a:r>
            <a:r>
              <a:rPr lang="en-US" dirty="0"/>
              <a:t> fiducial cut and </a:t>
            </a:r>
            <a:r>
              <a:rPr lang="en-US" dirty="0" err="1"/>
              <a:t>reco</a:t>
            </a:r>
            <a:r>
              <a:rPr lang="en-US" dirty="0"/>
              <a:t> inverted flash cut</a:t>
            </a:r>
          </a:p>
          <a:p>
            <a:pPr marL="742950" lvl="1" indent="-285750">
              <a:buFont typeface="Arial" panose="020B0604020202020204" pitchFamily="34" charset="0"/>
              <a:buChar char="•"/>
            </a:pPr>
            <a:r>
              <a:rPr lang="en-US" dirty="0"/>
              <a:t>Inverting the flash cut allows us to select any reconstructed interactions that are out-of-time with beam spill </a:t>
            </a:r>
          </a:p>
          <a:p>
            <a:pPr marL="285750" indent="-285750">
              <a:buFont typeface="Arial" panose="020B0604020202020204" pitchFamily="34" charset="0"/>
              <a:buChar char="•"/>
            </a:pPr>
            <a:r>
              <a:rPr lang="en-US" dirty="0"/>
              <a:t>This selection will thus select reconstructed interactions that are out-of-time AND </a:t>
            </a:r>
            <a:r>
              <a:rPr lang="en-US" dirty="0" err="1"/>
              <a:t>fiducialized</a:t>
            </a:r>
            <a:r>
              <a:rPr lang="en-US" dirty="0"/>
              <a:t> </a:t>
            </a:r>
          </a:p>
          <a:p>
            <a:pPr marL="285750" indent="-285750">
              <a:buFont typeface="Arial" panose="020B0604020202020204" pitchFamily="34" charset="0"/>
              <a:buChar char="•"/>
            </a:pPr>
            <a:r>
              <a:rPr lang="en-US" dirty="0"/>
              <a:t>We can select reconstructed and </a:t>
            </a:r>
            <a:r>
              <a:rPr lang="en-US" dirty="0" err="1"/>
              <a:t>fiducialized</a:t>
            </a:r>
            <a:r>
              <a:rPr lang="en-US" dirty="0"/>
              <a:t> neutrino interactions by applying a normal flash cut and fiducial cut</a:t>
            </a:r>
          </a:p>
          <a:p>
            <a:pPr marL="285750" indent="-285750">
              <a:buFont typeface="Arial" panose="020B0604020202020204" pitchFamily="34" charset="0"/>
              <a:buChar char="•"/>
            </a:pPr>
            <a:endParaRPr lang="en-US" dirty="0"/>
          </a:p>
        </p:txBody>
      </p:sp>
      <p:pic>
        <p:nvPicPr>
          <p:cNvPr id="4" name="Picture 3">
            <a:extLst>
              <a:ext uri="{FF2B5EF4-FFF2-40B4-BE49-F238E27FC236}">
                <a16:creationId xmlns:a16="http://schemas.microsoft.com/office/drawing/2014/main" id="{257B0C79-C83D-E103-826F-FD5842F2DEC8}"/>
              </a:ext>
            </a:extLst>
          </p:cNvPr>
          <p:cNvPicPr>
            <a:picLocks noChangeAspect="1"/>
          </p:cNvPicPr>
          <p:nvPr/>
        </p:nvPicPr>
        <p:blipFill>
          <a:blip r:embed="rId2"/>
          <a:srcRect b="70980"/>
          <a:stretch>
            <a:fillRect/>
          </a:stretch>
        </p:blipFill>
        <p:spPr>
          <a:xfrm>
            <a:off x="5774487" y="2571750"/>
            <a:ext cx="6222249" cy="1206011"/>
          </a:xfrm>
          <a:prstGeom prst="rect">
            <a:avLst/>
          </a:prstGeom>
        </p:spPr>
      </p:pic>
      <p:pic>
        <p:nvPicPr>
          <p:cNvPr id="6" name="Picture 5">
            <a:extLst>
              <a:ext uri="{FF2B5EF4-FFF2-40B4-BE49-F238E27FC236}">
                <a16:creationId xmlns:a16="http://schemas.microsoft.com/office/drawing/2014/main" id="{21D4B288-1E4E-7157-064E-606452E01172}"/>
              </a:ext>
            </a:extLst>
          </p:cNvPr>
          <p:cNvPicPr>
            <a:picLocks noChangeAspect="1"/>
          </p:cNvPicPr>
          <p:nvPr/>
        </p:nvPicPr>
        <p:blipFill>
          <a:blip r:embed="rId3"/>
          <a:stretch>
            <a:fillRect/>
          </a:stretch>
        </p:blipFill>
        <p:spPr>
          <a:xfrm>
            <a:off x="5774487" y="4802225"/>
            <a:ext cx="6222249" cy="1213911"/>
          </a:xfrm>
          <a:prstGeom prst="rect">
            <a:avLst/>
          </a:prstGeom>
        </p:spPr>
      </p:pic>
    </p:spTree>
    <p:extLst>
      <p:ext uri="{BB962C8B-B14F-4D97-AF65-F5344CB8AC3E}">
        <p14:creationId xmlns:p14="http://schemas.microsoft.com/office/powerpoint/2010/main" val="14432236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54524-2375-EF69-B349-FC7662344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ECA9F1-2B13-4274-F88B-27C4BEAF3C70}"/>
              </a:ext>
            </a:extLst>
          </p:cNvPr>
          <p:cNvSpPr>
            <a:spLocks noGrp="1"/>
          </p:cNvSpPr>
          <p:nvPr>
            <p:ph type="title"/>
          </p:nvPr>
        </p:nvSpPr>
        <p:spPr/>
        <p:txBody>
          <a:bodyPr/>
          <a:lstStyle/>
          <a:p>
            <a:r>
              <a:rPr lang="en-US" dirty="0"/>
              <a:t>Out-of-time cosmic selection</a:t>
            </a:r>
            <a:endParaRPr lang="en-SG" dirty="0"/>
          </a:p>
        </p:txBody>
      </p:sp>
      <p:sp>
        <p:nvSpPr>
          <p:cNvPr id="15" name="TextBox 14">
            <a:extLst>
              <a:ext uri="{FF2B5EF4-FFF2-40B4-BE49-F238E27FC236}">
                <a16:creationId xmlns:a16="http://schemas.microsoft.com/office/drawing/2014/main" id="{0D3AE5AC-5A07-C6ED-E092-3E13ED5FAA6A}"/>
              </a:ext>
            </a:extLst>
          </p:cNvPr>
          <p:cNvSpPr txBox="1"/>
          <p:nvPr/>
        </p:nvSpPr>
        <p:spPr>
          <a:xfrm>
            <a:off x="1097280" y="1870839"/>
            <a:ext cx="4598670" cy="646331"/>
          </a:xfrm>
          <a:prstGeom prst="rect">
            <a:avLst/>
          </a:prstGeom>
          <a:noFill/>
        </p:spPr>
        <p:txBody>
          <a:bodyPr wrap="square">
            <a:spAutoFit/>
          </a:bodyPr>
          <a:lstStyle/>
          <a:p>
            <a:endParaRPr lang="en-US" dirty="0"/>
          </a:p>
          <a:p>
            <a:pPr marL="285750" indent="-285750">
              <a:buFont typeface="Arial" panose="020B0604020202020204" pitchFamily="34" charset="0"/>
              <a:buChar char="•"/>
            </a:pPr>
            <a:endParaRPr lang="en-US" dirty="0"/>
          </a:p>
        </p:txBody>
      </p:sp>
      <p:sp>
        <p:nvSpPr>
          <p:cNvPr id="3" name="TextBox 2">
            <a:extLst>
              <a:ext uri="{FF2B5EF4-FFF2-40B4-BE49-F238E27FC236}">
                <a16:creationId xmlns:a16="http://schemas.microsoft.com/office/drawing/2014/main" id="{57A12DD0-B764-D004-2A8F-83398FEE60C5}"/>
              </a:ext>
            </a:extLst>
          </p:cNvPr>
          <p:cNvSpPr txBox="1"/>
          <p:nvPr/>
        </p:nvSpPr>
        <p:spPr>
          <a:xfrm>
            <a:off x="1097280" y="1870839"/>
            <a:ext cx="5802284" cy="2862322"/>
          </a:xfrm>
          <a:prstGeom prst="rect">
            <a:avLst/>
          </a:prstGeom>
          <a:noFill/>
        </p:spPr>
        <p:txBody>
          <a:bodyPr wrap="square">
            <a:spAutoFit/>
          </a:bodyPr>
          <a:lstStyle/>
          <a:p>
            <a:r>
              <a:rPr lang="en-US" b="1" u="sng" dirty="0"/>
              <a:t>Looking at the selection for reconstructed </a:t>
            </a:r>
            <a:r>
              <a:rPr lang="en-US" b="1" u="sng" dirty="0" err="1"/>
              <a:t>fiducialized</a:t>
            </a:r>
            <a:r>
              <a:rPr lang="en-US" b="1" u="sng" dirty="0"/>
              <a:t> out-of-time interactions</a:t>
            </a:r>
            <a:br>
              <a:rPr lang="en-US" b="1" u="sng" dirty="0"/>
            </a:br>
            <a:endParaRPr lang="en-US" b="1" u="sng" dirty="0"/>
          </a:p>
          <a:p>
            <a:pPr marL="285750" indent="-285750">
              <a:buFont typeface="Arial" panose="020B0604020202020204" pitchFamily="34" charset="0"/>
              <a:buChar char="•"/>
            </a:pPr>
            <a:r>
              <a:rPr lang="en-US" dirty="0"/>
              <a:t>When plotting the true fiducial cut, we can see how many of these reconstructed out-of-time interactions would have failed the fiducial cut based on their truth data</a:t>
            </a:r>
          </a:p>
          <a:p>
            <a:pPr marL="285750" indent="-285750">
              <a:buFont typeface="Arial" panose="020B0604020202020204" pitchFamily="34" charset="0"/>
              <a:buChar char="•"/>
            </a:pPr>
            <a:r>
              <a:rPr lang="en-US" dirty="0"/>
              <a:t>We can say that out-of-time cosmic interactions are poorly reconstructed based on the large majority of false positives in the true fiducial cut</a:t>
            </a:r>
          </a:p>
        </p:txBody>
      </p:sp>
      <p:graphicFrame>
        <p:nvGraphicFramePr>
          <p:cNvPr id="13" name="Table 12">
            <a:extLst>
              <a:ext uri="{FF2B5EF4-FFF2-40B4-BE49-F238E27FC236}">
                <a16:creationId xmlns:a16="http://schemas.microsoft.com/office/drawing/2014/main" id="{DF840933-A1C6-F893-2098-0BEF86301F53}"/>
              </a:ext>
            </a:extLst>
          </p:cNvPr>
          <p:cNvGraphicFramePr>
            <a:graphicFrameLocks noGrp="1"/>
          </p:cNvGraphicFramePr>
          <p:nvPr>
            <p:extLst>
              <p:ext uri="{D42A27DB-BD31-4B8C-83A1-F6EECF244321}">
                <p14:modId xmlns:p14="http://schemas.microsoft.com/office/powerpoint/2010/main" val="3930054445"/>
              </p:ext>
            </p:extLst>
          </p:nvPr>
        </p:nvGraphicFramePr>
        <p:xfrm>
          <a:off x="7711391" y="2515082"/>
          <a:ext cx="1673660" cy="2810507"/>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err="1">
                          <a:solidFill>
                            <a:schemeClr val="tx1"/>
                          </a:solidFill>
                        </a:rPr>
                        <a:t>NuMI</a:t>
                      </a:r>
                      <a:endParaRPr lang="en-SG" b="1" dirty="0">
                        <a:solidFill>
                          <a:schemeClr val="tx1"/>
                        </a:solidFill>
                      </a:endParaRPr>
                    </a:p>
                  </a:txBody>
                  <a:tcPr anchor="ctr"/>
                </a:tc>
                <a:tc>
                  <a:txBody>
                    <a:bodyPr/>
                    <a:lstStyle/>
                    <a:p>
                      <a:pPr algn="ctr"/>
                      <a:r>
                        <a:rPr lang="en-US" sz="1400" dirty="0">
                          <a:solidFill>
                            <a:srgbClr val="FF0000"/>
                          </a:solidFill>
                        </a:rPr>
                        <a:t>Passes fiducial</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Passes fiducial</a:t>
                      </a:r>
                      <a:endParaRPr lang="en-SG" sz="1400" b="0" dirty="0">
                        <a:solidFill>
                          <a:srgbClr val="FF0000"/>
                        </a:solidFill>
                      </a:endParaRPr>
                    </a:p>
                  </a:txBody>
                  <a:tcPr anchor="ctr">
                    <a:solidFill>
                      <a:schemeClr val="bg2"/>
                    </a:solidFill>
                  </a:tcPr>
                </a:tc>
                <a:tc>
                  <a:txBody>
                    <a:bodyPr/>
                    <a:lstStyle/>
                    <a:p>
                      <a:pPr algn="ctr"/>
                      <a:r>
                        <a:rPr lang="en-US" dirty="0"/>
                        <a:t>0.8%</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fails fiducial</a:t>
                      </a:r>
                      <a:endParaRPr lang="en-SG" sz="1400" b="0" dirty="0">
                        <a:solidFill>
                          <a:srgbClr val="FF0000"/>
                        </a:solidFill>
                      </a:endParaRPr>
                    </a:p>
                  </a:txBody>
                  <a:tcPr anchor="ctr">
                    <a:solidFill>
                      <a:schemeClr val="bg2"/>
                    </a:solidFill>
                  </a:tcPr>
                </a:tc>
                <a:tc>
                  <a:txBody>
                    <a:bodyPr/>
                    <a:lstStyle/>
                    <a:p>
                      <a:pPr algn="ctr"/>
                      <a:r>
                        <a:rPr lang="en-US" dirty="0"/>
                        <a:t>96.6%</a:t>
                      </a:r>
                      <a:endParaRPr lang="en-SG" dirty="0"/>
                    </a:p>
                  </a:txBody>
                  <a:tcPr anchor="ctr"/>
                </a:tc>
                <a:extLst>
                  <a:ext uri="{0D108BD9-81ED-4DB2-BD59-A6C34878D82A}">
                    <a16:rowId xmlns:a16="http://schemas.microsoft.com/office/drawing/2014/main" val="2781143425"/>
                  </a:ext>
                </a:extLst>
              </a:tr>
              <a:tr h="757766">
                <a:tc>
                  <a:txBody>
                    <a:bodyPr/>
                    <a:lstStyle/>
                    <a:p>
                      <a:pPr algn="ctr"/>
                      <a:r>
                        <a:rPr lang="en-US" sz="1400" b="0" dirty="0" err="1">
                          <a:solidFill>
                            <a:srgbClr val="FF0000"/>
                          </a:solidFill>
                        </a:rPr>
                        <a:t>NaN</a:t>
                      </a:r>
                      <a:endParaRPr lang="en-SG" sz="1400" b="0" dirty="0">
                        <a:solidFill>
                          <a:srgbClr val="FF0000"/>
                        </a:solidFill>
                      </a:endParaRPr>
                    </a:p>
                  </a:txBody>
                  <a:tcPr anchor="ctr">
                    <a:solidFill>
                      <a:schemeClr val="bg2"/>
                    </a:solidFill>
                  </a:tcPr>
                </a:tc>
                <a:tc>
                  <a:txBody>
                    <a:bodyPr/>
                    <a:lstStyle/>
                    <a:p>
                      <a:pPr algn="ctr"/>
                      <a:r>
                        <a:rPr lang="en-US" dirty="0"/>
                        <a:t>2.6%</a:t>
                      </a:r>
                      <a:endParaRPr lang="en-SG" dirty="0"/>
                    </a:p>
                  </a:txBody>
                  <a:tcPr anchor="ctr"/>
                </a:tc>
                <a:extLst>
                  <a:ext uri="{0D108BD9-81ED-4DB2-BD59-A6C34878D82A}">
                    <a16:rowId xmlns:a16="http://schemas.microsoft.com/office/drawing/2014/main" val="1805301536"/>
                  </a:ext>
                </a:extLst>
              </a:tr>
            </a:tbl>
          </a:graphicData>
        </a:graphic>
      </p:graphicFrame>
      <p:sp>
        <p:nvSpPr>
          <p:cNvPr id="14" name="TextBox 13">
            <a:extLst>
              <a:ext uri="{FF2B5EF4-FFF2-40B4-BE49-F238E27FC236}">
                <a16:creationId xmlns:a16="http://schemas.microsoft.com/office/drawing/2014/main" id="{3D2934A2-6415-BC09-DD71-E1A1F0F51FC4}"/>
              </a:ext>
            </a:extLst>
          </p:cNvPr>
          <p:cNvSpPr txBox="1"/>
          <p:nvPr/>
        </p:nvSpPr>
        <p:spPr>
          <a:xfrm rot="16200000">
            <a:off x="7221400" y="3751056"/>
            <a:ext cx="657609" cy="338554"/>
          </a:xfrm>
          <a:prstGeom prst="rect">
            <a:avLst/>
          </a:prstGeom>
          <a:noFill/>
        </p:spPr>
        <p:txBody>
          <a:bodyPr wrap="square" rtlCol="0">
            <a:spAutoFit/>
          </a:bodyPr>
          <a:lstStyle/>
          <a:p>
            <a:r>
              <a:rPr lang="en-US" sz="1600" dirty="0"/>
              <a:t>Truth</a:t>
            </a:r>
            <a:endParaRPr lang="en-SG" dirty="0"/>
          </a:p>
        </p:txBody>
      </p:sp>
      <p:sp>
        <p:nvSpPr>
          <p:cNvPr id="16" name="TextBox 15">
            <a:extLst>
              <a:ext uri="{FF2B5EF4-FFF2-40B4-BE49-F238E27FC236}">
                <a16:creationId xmlns:a16="http://schemas.microsoft.com/office/drawing/2014/main" id="{4D7404C0-9CF2-72DF-F6D5-721D655D6D7F}"/>
              </a:ext>
            </a:extLst>
          </p:cNvPr>
          <p:cNvSpPr txBox="1"/>
          <p:nvPr/>
        </p:nvSpPr>
        <p:spPr>
          <a:xfrm>
            <a:off x="8179112" y="2174440"/>
            <a:ext cx="1378831" cy="338554"/>
          </a:xfrm>
          <a:prstGeom prst="rect">
            <a:avLst/>
          </a:prstGeom>
          <a:noFill/>
        </p:spPr>
        <p:txBody>
          <a:bodyPr wrap="square" rtlCol="0">
            <a:spAutoFit/>
          </a:bodyPr>
          <a:lstStyle/>
          <a:p>
            <a:r>
              <a:rPr lang="en-US" sz="1600" dirty="0"/>
              <a:t>Reconstructed</a:t>
            </a:r>
            <a:endParaRPr lang="en-SG" sz="1600" dirty="0"/>
          </a:p>
        </p:txBody>
      </p:sp>
      <p:graphicFrame>
        <p:nvGraphicFramePr>
          <p:cNvPr id="19" name="Table 18">
            <a:extLst>
              <a:ext uri="{FF2B5EF4-FFF2-40B4-BE49-F238E27FC236}">
                <a16:creationId xmlns:a16="http://schemas.microsoft.com/office/drawing/2014/main" id="{C8803E45-BC33-ACA7-42B8-1827E1BFA961}"/>
              </a:ext>
            </a:extLst>
          </p:cNvPr>
          <p:cNvGraphicFramePr>
            <a:graphicFrameLocks noGrp="1"/>
          </p:cNvGraphicFramePr>
          <p:nvPr>
            <p:extLst>
              <p:ext uri="{D42A27DB-BD31-4B8C-83A1-F6EECF244321}">
                <p14:modId xmlns:p14="http://schemas.microsoft.com/office/powerpoint/2010/main" val="764522995"/>
              </p:ext>
            </p:extLst>
          </p:nvPr>
        </p:nvGraphicFramePr>
        <p:xfrm>
          <a:off x="10218610" y="2515082"/>
          <a:ext cx="1673660" cy="2810507"/>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a:solidFill>
                            <a:schemeClr val="tx1"/>
                          </a:solidFill>
                        </a:rPr>
                        <a:t>BNB</a:t>
                      </a:r>
                      <a:endParaRPr lang="en-SG" b="1" dirty="0">
                        <a:solidFill>
                          <a:schemeClr val="tx1"/>
                        </a:solidFill>
                      </a:endParaRPr>
                    </a:p>
                  </a:txBody>
                  <a:tcPr anchor="ctr"/>
                </a:tc>
                <a:tc>
                  <a:txBody>
                    <a:bodyPr/>
                    <a:lstStyle/>
                    <a:p>
                      <a:pPr algn="ctr"/>
                      <a:r>
                        <a:rPr lang="en-US" sz="1400" dirty="0">
                          <a:solidFill>
                            <a:srgbClr val="FF0000"/>
                          </a:solidFill>
                        </a:rPr>
                        <a:t>Passes fiducial</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Passes fiducial</a:t>
                      </a:r>
                      <a:endParaRPr lang="en-SG" sz="1400" b="0" dirty="0">
                        <a:solidFill>
                          <a:srgbClr val="FF0000"/>
                        </a:solidFill>
                      </a:endParaRPr>
                    </a:p>
                  </a:txBody>
                  <a:tcPr anchor="ctr">
                    <a:solidFill>
                      <a:schemeClr val="bg2"/>
                    </a:solidFill>
                  </a:tcPr>
                </a:tc>
                <a:tc>
                  <a:txBody>
                    <a:bodyPr/>
                    <a:lstStyle/>
                    <a:p>
                      <a:pPr algn="ctr"/>
                      <a:r>
                        <a:rPr lang="en-US" dirty="0"/>
                        <a:t>1.1%</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fails fiducial</a:t>
                      </a:r>
                      <a:endParaRPr lang="en-SG" sz="1400" b="0" dirty="0">
                        <a:solidFill>
                          <a:srgbClr val="FF0000"/>
                        </a:solidFill>
                      </a:endParaRPr>
                    </a:p>
                  </a:txBody>
                  <a:tcPr anchor="ctr">
                    <a:solidFill>
                      <a:schemeClr val="bg2"/>
                    </a:solidFill>
                  </a:tcPr>
                </a:tc>
                <a:tc>
                  <a:txBody>
                    <a:bodyPr/>
                    <a:lstStyle/>
                    <a:p>
                      <a:pPr algn="ctr"/>
                      <a:r>
                        <a:rPr lang="en-US" dirty="0"/>
                        <a:t>96.3%</a:t>
                      </a:r>
                      <a:endParaRPr lang="en-SG" dirty="0"/>
                    </a:p>
                  </a:txBody>
                  <a:tcPr anchor="ctr"/>
                </a:tc>
                <a:extLst>
                  <a:ext uri="{0D108BD9-81ED-4DB2-BD59-A6C34878D82A}">
                    <a16:rowId xmlns:a16="http://schemas.microsoft.com/office/drawing/2014/main" val="2781143425"/>
                  </a:ext>
                </a:extLst>
              </a:tr>
              <a:tr h="757766">
                <a:tc>
                  <a:txBody>
                    <a:bodyPr/>
                    <a:lstStyle/>
                    <a:p>
                      <a:pPr algn="ctr"/>
                      <a:r>
                        <a:rPr lang="en-US" sz="1400" b="0" dirty="0" err="1">
                          <a:solidFill>
                            <a:srgbClr val="FF0000"/>
                          </a:solidFill>
                        </a:rPr>
                        <a:t>NaN</a:t>
                      </a:r>
                      <a:endParaRPr lang="en-SG" sz="1400" b="0" dirty="0">
                        <a:solidFill>
                          <a:srgbClr val="FF0000"/>
                        </a:solidFill>
                      </a:endParaRPr>
                    </a:p>
                  </a:txBody>
                  <a:tcPr anchor="ctr">
                    <a:solidFill>
                      <a:schemeClr val="bg2"/>
                    </a:solidFill>
                  </a:tcPr>
                </a:tc>
                <a:tc>
                  <a:txBody>
                    <a:bodyPr/>
                    <a:lstStyle/>
                    <a:p>
                      <a:pPr algn="ctr"/>
                      <a:r>
                        <a:rPr lang="en-US" dirty="0"/>
                        <a:t>2.5%</a:t>
                      </a:r>
                      <a:endParaRPr lang="en-SG" dirty="0"/>
                    </a:p>
                  </a:txBody>
                  <a:tcPr anchor="ctr"/>
                </a:tc>
                <a:extLst>
                  <a:ext uri="{0D108BD9-81ED-4DB2-BD59-A6C34878D82A}">
                    <a16:rowId xmlns:a16="http://schemas.microsoft.com/office/drawing/2014/main" val="1805301536"/>
                  </a:ext>
                </a:extLst>
              </a:tr>
            </a:tbl>
          </a:graphicData>
        </a:graphic>
      </p:graphicFrame>
      <p:sp>
        <p:nvSpPr>
          <p:cNvPr id="20" name="TextBox 19">
            <a:extLst>
              <a:ext uri="{FF2B5EF4-FFF2-40B4-BE49-F238E27FC236}">
                <a16:creationId xmlns:a16="http://schemas.microsoft.com/office/drawing/2014/main" id="{76BCFBBE-1545-E313-F9F4-D48DF14CAB29}"/>
              </a:ext>
            </a:extLst>
          </p:cNvPr>
          <p:cNvSpPr txBox="1"/>
          <p:nvPr/>
        </p:nvSpPr>
        <p:spPr>
          <a:xfrm rot="16200000">
            <a:off x="9720529" y="3751057"/>
            <a:ext cx="657609" cy="338554"/>
          </a:xfrm>
          <a:prstGeom prst="rect">
            <a:avLst/>
          </a:prstGeom>
          <a:noFill/>
        </p:spPr>
        <p:txBody>
          <a:bodyPr wrap="square" rtlCol="0">
            <a:spAutoFit/>
          </a:bodyPr>
          <a:lstStyle/>
          <a:p>
            <a:r>
              <a:rPr lang="en-US" sz="1600" dirty="0"/>
              <a:t>Truth</a:t>
            </a:r>
            <a:endParaRPr lang="en-SG" dirty="0"/>
          </a:p>
        </p:txBody>
      </p:sp>
      <p:sp>
        <p:nvSpPr>
          <p:cNvPr id="21" name="TextBox 20">
            <a:extLst>
              <a:ext uri="{FF2B5EF4-FFF2-40B4-BE49-F238E27FC236}">
                <a16:creationId xmlns:a16="http://schemas.microsoft.com/office/drawing/2014/main" id="{50EDCD94-83CE-2BAC-912F-A2A4B4DC0E8D}"/>
              </a:ext>
            </a:extLst>
          </p:cNvPr>
          <p:cNvSpPr txBox="1"/>
          <p:nvPr/>
        </p:nvSpPr>
        <p:spPr>
          <a:xfrm>
            <a:off x="10686331" y="2174440"/>
            <a:ext cx="1378831" cy="338554"/>
          </a:xfrm>
          <a:prstGeom prst="rect">
            <a:avLst/>
          </a:prstGeom>
          <a:noFill/>
        </p:spPr>
        <p:txBody>
          <a:bodyPr wrap="square" rtlCol="0">
            <a:spAutoFit/>
          </a:bodyPr>
          <a:lstStyle/>
          <a:p>
            <a:r>
              <a:rPr lang="en-US" sz="1600" dirty="0"/>
              <a:t>Reconstructed</a:t>
            </a:r>
            <a:endParaRPr lang="en-SG" sz="1600" dirty="0"/>
          </a:p>
        </p:txBody>
      </p:sp>
    </p:spTree>
    <p:extLst>
      <p:ext uri="{BB962C8B-B14F-4D97-AF65-F5344CB8AC3E}">
        <p14:creationId xmlns:p14="http://schemas.microsoft.com/office/powerpoint/2010/main" val="12445904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E054A-7B09-66B7-4D02-546FEB7565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C0D0E3-F056-0B3F-198D-4FB1BBFF2554}"/>
              </a:ext>
            </a:extLst>
          </p:cNvPr>
          <p:cNvSpPr>
            <a:spLocks noGrp="1"/>
          </p:cNvSpPr>
          <p:nvPr>
            <p:ph type="title"/>
          </p:nvPr>
        </p:nvSpPr>
        <p:spPr/>
        <p:txBody>
          <a:bodyPr/>
          <a:lstStyle/>
          <a:p>
            <a:r>
              <a:rPr lang="en-US" dirty="0"/>
              <a:t>Out-of-time cosmic selection</a:t>
            </a:r>
            <a:endParaRPr lang="en-SG" dirty="0"/>
          </a:p>
        </p:txBody>
      </p:sp>
      <p:sp>
        <p:nvSpPr>
          <p:cNvPr id="15" name="TextBox 14">
            <a:extLst>
              <a:ext uri="{FF2B5EF4-FFF2-40B4-BE49-F238E27FC236}">
                <a16:creationId xmlns:a16="http://schemas.microsoft.com/office/drawing/2014/main" id="{AE38403B-F296-16C0-2BDF-DCF6491A97C3}"/>
              </a:ext>
            </a:extLst>
          </p:cNvPr>
          <p:cNvSpPr txBox="1"/>
          <p:nvPr/>
        </p:nvSpPr>
        <p:spPr>
          <a:xfrm>
            <a:off x="1097280" y="1870839"/>
            <a:ext cx="4598670" cy="646331"/>
          </a:xfrm>
          <a:prstGeom prst="rect">
            <a:avLst/>
          </a:prstGeom>
          <a:noFill/>
        </p:spPr>
        <p:txBody>
          <a:bodyPr wrap="square">
            <a:spAutoFit/>
          </a:bodyPr>
          <a:lstStyle/>
          <a:p>
            <a:endParaRPr lang="en-US" dirty="0"/>
          </a:p>
          <a:p>
            <a:pPr marL="285750" indent="-285750">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36DF29A9-90B5-77DC-C25C-31E54D1D66B5}"/>
              </a:ext>
            </a:extLst>
          </p:cNvPr>
          <p:cNvPicPr>
            <a:picLocks noChangeAspect="1"/>
          </p:cNvPicPr>
          <p:nvPr/>
        </p:nvPicPr>
        <p:blipFill>
          <a:blip r:embed="rId2"/>
          <a:stretch>
            <a:fillRect/>
          </a:stretch>
        </p:blipFill>
        <p:spPr>
          <a:xfrm>
            <a:off x="253713" y="1854253"/>
            <a:ext cx="3662059" cy="2643856"/>
          </a:xfrm>
          <a:prstGeom prst="rect">
            <a:avLst/>
          </a:prstGeom>
        </p:spPr>
      </p:pic>
      <p:pic>
        <p:nvPicPr>
          <p:cNvPr id="7" name="Picture 6">
            <a:extLst>
              <a:ext uri="{FF2B5EF4-FFF2-40B4-BE49-F238E27FC236}">
                <a16:creationId xmlns:a16="http://schemas.microsoft.com/office/drawing/2014/main" id="{FBAF8B83-7E7D-BAAD-F59E-BA0DB8202CD2}"/>
              </a:ext>
            </a:extLst>
          </p:cNvPr>
          <p:cNvPicPr>
            <a:picLocks noChangeAspect="1"/>
          </p:cNvPicPr>
          <p:nvPr/>
        </p:nvPicPr>
        <p:blipFill>
          <a:blip r:embed="rId3"/>
          <a:stretch>
            <a:fillRect/>
          </a:stretch>
        </p:blipFill>
        <p:spPr>
          <a:xfrm>
            <a:off x="3915772" y="1870839"/>
            <a:ext cx="4266976" cy="2468365"/>
          </a:xfrm>
          <a:prstGeom prst="rect">
            <a:avLst/>
          </a:prstGeom>
        </p:spPr>
      </p:pic>
      <p:sp>
        <p:nvSpPr>
          <p:cNvPr id="8" name="TextBox 7">
            <a:extLst>
              <a:ext uri="{FF2B5EF4-FFF2-40B4-BE49-F238E27FC236}">
                <a16:creationId xmlns:a16="http://schemas.microsoft.com/office/drawing/2014/main" id="{206AAFC5-ADCE-3BE5-34EF-C82520D9981D}"/>
              </a:ext>
            </a:extLst>
          </p:cNvPr>
          <p:cNvSpPr txBox="1"/>
          <p:nvPr/>
        </p:nvSpPr>
        <p:spPr>
          <a:xfrm>
            <a:off x="887730" y="5194836"/>
            <a:ext cx="11050557" cy="923330"/>
          </a:xfrm>
          <a:prstGeom prst="rect">
            <a:avLst/>
          </a:prstGeom>
          <a:noFill/>
        </p:spPr>
        <p:txBody>
          <a:bodyPr wrap="square">
            <a:spAutoFit/>
          </a:bodyPr>
          <a:lstStyle/>
          <a:p>
            <a:br>
              <a:rPr lang="en-US" b="1" u="sng" dirty="0"/>
            </a:br>
            <a:endParaRPr lang="en-US" b="1" u="sng" dirty="0"/>
          </a:p>
          <a:p>
            <a:pPr marL="285750" indent="-285750">
              <a:buFont typeface="Arial" panose="020B0604020202020204" pitchFamily="34" charset="0"/>
              <a:buChar char="•"/>
            </a:pPr>
            <a:r>
              <a:rPr lang="en-US" dirty="0"/>
              <a:t>There are large differences between true and </a:t>
            </a:r>
            <a:r>
              <a:rPr lang="en-US" dirty="0" err="1"/>
              <a:t>reco</a:t>
            </a:r>
            <a:r>
              <a:rPr lang="en-US" dirty="0"/>
              <a:t> interaction vertex positions</a:t>
            </a:r>
          </a:p>
        </p:txBody>
      </p:sp>
      <p:pic>
        <p:nvPicPr>
          <p:cNvPr id="10" name="Picture 9">
            <a:extLst>
              <a:ext uri="{FF2B5EF4-FFF2-40B4-BE49-F238E27FC236}">
                <a16:creationId xmlns:a16="http://schemas.microsoft.com/office/drawing/2014/main" id="{C768DC2C-D7C6-B7E9-02AC-DF4D267F2754}"/>
              </a:ext>
            </a:extLst>
          </p:cNvPr>
          <p:cNvPicPr>
            <a:picLocks noChangeAspect="1"/>
          </p:cNvPicPr>
          <p:nvPr/>
        </p:nvPicPr>
        <p:blipFill>
          <a:blip r:embed="rId4"/>
          <a:stretch>
            <a:fillRect/>
          </a:stretch>
        </p:blipFill>
        <p:spPr>
          <a:xfrm>
            <a:off x="8305414" y="1870839"/>
            <a:ext cx="3539393" cy="3005961"/>
          </a:xfrm>
          <a:prstGeom prst="rect">
            <a:avLst/>
          </a:prstGeom>
        </p:spPr>
      </p:pic>
    </p:spTree>
    <p:extLst>
      <p:ext uri="{BB962C8B-B14F-4D97-AF65-F5344CB8AC3E}">
        <p14:creationId xmlns:p14="http://schemas.microsoft.com/office/powerpoint/2010/main" val="37015023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0ECDD-7B7E-DD4B-2775-1421145410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6CB509-5058-D25E-E0AE-0119E8C6E29E}"/>
              </a:ext>
            </a:extLst>
          </p:cNvPr>
          <p:cNvSpPr>
            <a:spLocks noGrp="1"/>
          </p:cNvSpPr>
          <p:nvPr>
            <p:ph type="title"/>
          </p:nvPr>
        </p:nvSpPr>
        <p:spPr/>
        <p:txBody>
          <a:bodyPr/>
          <a:lstStyle/>
          <a:p>
            <a:r>
              <a:rPr lang="en-US" dirty="0"/>
              <a:t>Out-of-time cosmic selection</a:t>
            </a:r>
            <a:endParaRPr lang="en-SG" dirty="0"/>
          </a:p>
        </p:txBody>
      </p:sp>
      <p:sp>
        <p:nvSpPr>
          <p:cNvPr id="15" name="TextBox 14">
            <a:extLst>
              <a:ext uri="{FF2B5EF4-FFF2-40B4-BE49-F238E27FC236}">
                <a16:creationId xmlns:a16="http://schemas.microsoft.com/office/drawing/2014/main" id="{AAD1D6C4-09B8-79CB-18EC-1645FDC8DE51}"/>
              </a:ext>
            </a:extLst>
          </p:cNvPr>
          <p:cNvSpPr txBox="1"/>
          <p:nvPr/>
        </p:nvSpPr>
        <p:spPr>
          <a:xfrm>
            <a:off x="1097280" y="1870839"/>
            <a:ext cx="4598670" cy="646331"/>
          </a:xfrm>
          <a:prstGeom prst="rect">
            <a:avLst/>
          </a:prstGeom>
          <a:noFill/>
        </p:spPr>
        <p:txBody>
          <a:bodyPr wrap="square">
            <a:spAutoFit/>
          </a:bodyPr>
          <a:lstStyle/>
          <a:p>
            <a:endParaRPr lang="en-US" dirty="0"/>
          </a:p>
          <a:p>
            <a:pPr marL="285750" indent="-285750">
              <a:buFont typeface="Arial" panose="020B0604020202020204" pitchFamily="34" charset="0"/>
              <a:buChar char="•"/>
            </a:pPr>
            <a:endParaRPr lang="en-US" dirty="0"/>
          </a:p>
        </p:txBody>
      </p:sp>
      <p:sp>
        <p:nvSpPr>
          <p:cNvPr id="14" name="TextBox 13">
            <a:extLst>
              <a:ext uri="{FF2B5EF4-FFF2-40B4-BE49-F238E27FC236}">
                <a16:creationId xmlns:a16="http://schemas.microsoft.com/office/drawing/2014/main" id="{EFD2E41C-54DB-93C8-26AB-0B509B0B7EC1}"/>
              </a:ext>
            </a:extLst>
          </p:cNvPr>
          <p:cNvSpPr txBox="1"/>
          <p:nvPr/>
        </p:nvSpPr>
        <p:spPr>
          <a:xfrm>
            <a:off x="1097279" y="1870839"/>
            <a:ext cx="8942647" cy="3139321"/>
          </a:xfrm>
          <a:prstGeom prst="rect">
            <a:avLst/>
          </a:prstGeom>
          <a:noFill/>
        </p:spPr>
        <p:txBody>
          <a:bodyPr wrap="square">
            <a:spAutoFit/>
          </a:bodyPr>
          <a:lstStyle/>
          <a:p>
            <a:r>
              <a:rPr lang="en-US" b="1" u="sng" dirty="0"/>
              <a:t>Referring back to </a:t>
            </a:r>
            <a:r>
              <a:rPr lang="en-US" b="1" u="sng" dirty="0" err="1"/>
              <a:t>NuMI</a:t>
            </a:r>
            <a:r>
              <a:rPr lang="en-US" b="1" u="sng" dirty="0"/>
              <a:t> fiducial cut discrepancy</a:t>
            </a:r>
          </a:p>
          <a:p>
            <a:pPr marL="285750" indent="-285750">
              <a:buFont typeface="Arial" panose="020B0604020202020204" pitchFamily="34" charset="0"/>
              <a:buChar char="•"/>
            </a:pPr>
            <a:r>
              <a:rPr lang="en-US" dirty="0"/>
              <a:t>The reconstructed out-of-time and </a:t>
            </a:r>
            <a:r>
              <a:rPr lang="en-US" dirty="0" err="1"/>
              <a:t>fiducialized</a:t>
            </a:r>
            <a:r>
              <a:rPr lang="en-US" dirty="0"/>
              <a:t> interactions account for 97% of wrongly </a:t>
            </a:r>
            <a:r>
              <a:rPr lang="en-US" dirty="0" err="1"/>
              <a:t>fiducialized</a:t>
            </a:r>
            <a:r>
              <a:rPr lang="en-US" dirty="0"/>
              <a:t> reconstructed interactions</a:t>
            </a:r>
          </a:p>
          <a:p>
            <a:pPr marL="285750" indent="-285750">
              <a:buFont typeface="Arial" panose="020B0604020202020204" pitchFamily="34" charset="0"/>
              <a:buChar char="•"/>
            </a:pPr>
            <a:r>
              <a:rPr lang="en-US" dirty="0"/>
              <a:t>Removing these interactions using a </a:t>
            </a:r>
            <a:r>
              <a:rPr lang="en-US" dirty="0" err="1"/>
              <a:t>flash_cut</a:t>
            </a:r>
            <a:r>
              <a:rPr lang="en-US" dirty="0"/>
              <a:t> will select 123209 reconstructed </a:t>
            </a:r>
            <a:r>
              <a:rPr lang="en-US" dirty="0" err="1"/>
              <a:t>fiducialized</a:t>
            </a:r>
            <a:r>
              <a:rPr lang="en-US" dirty="0"/>
              <a:t> interactions, which will give a percentage of 2.9% of all reconstructed interactions </a:t>
            </a:r>
            <a:r>
              <a:rPr lang="en-US" dirty="0" err="1"/>
              <a:t>fiducialized</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Discrepancy between percentage of interactions passing </a:t>
            </a:r>
            <a:r>
              <a:rPr lang="en-US" dirty="0" err="1"/>
              <a:t>reco</a:t>
            </a:r>
            <a:r>
              <a:rPr lang="en-US" dirty="0"/>
              <a:t> vs true fiducial cut thus reduces from 35.4% to 1.8%</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For BNB, discrepancy reduces from 34.8% to 0.5%</a:t>
            </a:r>
          </a:p>
        </p:txBody>
      </p:sp>
    </p:spTree>
    <p:extLst>
      <p:ext uri="{BB962C8B-B14F-4D97-AF65-F5344CB8AC3E}">
        <p14:creationId xmlns:p14="http://schemas.microsoft.com/office/powerpoint/2010/main" val="1719830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C84E9-11F2-A968-2493-E923C0DBB4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8653E7-B3FA-127B-E819-75911F25F31B}"/>
              </a:ext>
            </a:extLst>
          </p:cNvPr>
          <p:cNvSpPr>
            <a:spLocks noGrp="1"/>
          </p:cNvSpPr>
          <p:nvPr>
            <p:ph type="title"/>
          </p:nvPr>
        </p:nvSpPr>
        <p:spPr/>
        <p:txBody>
          <a:bodyPr/>
          <a:lstStyle/>
          <a:p>
            <a:r>
              <a:rPr lang="en-US" dirty="0"/>
              <a:t>Preselection total efficiency</a:t>
            </a:r>
            <a:endParaRPr lang="en-SG" b="1" dirty="0"/>
          </a:p>
        </p:txBody>
      </p:sp>
      <p:graphicFrame>
        <p:nvGraphicFramePr>
          <p:cNvPr id="15" name="Table 14">
            <a:extLst>
              <a:ext uri="{FF2B5EF4-FFF2-40B4-BE49-F238E27FC236}">
                <a16:creationId xmlns:a16="http://schemas.microsoft.com/office/drawing/2014/main" id="{409CF758-FBC3-DE0A-EE7E-0F2A83D2F283}"/>
              </a:ext>
            </a:extLst>
          </p:cNvPr>
          <p:cNvGraphicFramePr>
            <a:graphicFrameLocks noGrp="1"/>
          </p:cNvGraphicFramePr>
          <p:nvPr>
            <p:extLst>
              <p:ext uri="{D42A27DB-BD31-4B8C-83A1-F6EECF244321}">
                <p14:modId xmlns:p14="http://schemas.microsoft.com/office/powerpoint/2010/main" val="3901570775"/>
              </p:ext>
            </p:extLst>
          </p:nvPr>
        </p:nvGraphicFramePr>
        <p:xfrm>
          <a:off x="217974" y="2240376"/>
          <a:ext cx="5678002" cy="3845527"/>
        </p:xfrm>
        <a:graphic>
          <a:graphicData uri="http://schemas.openxmlformats.org/drawingml/2006/table">
            <a:tbl>
              <a:tblPr firstRow="1" bandRow="1">
                <a:tableStyleId>{5C22544A-7EE6-4342-B048-85BDC9FD1C3A}</a:tableStyleId>
              </a:tblPr>
              <a:tblGrid>
                <a:gridCol w="2326115">
                  <a:extLst>
                    <a:ext uri="{9D8B030D-6E8A-4147-A177-3AD203B41FA5}">
                      <a16:colId xmlns:a16="http://schemas.microsoft.com/office/drawing/2014/main" val="3682903481"/>
                    </a:ext>
                  </a:extLst>
                </a:gridCol>
                <a:gridCol w="1459220">
                  <a:extLst>
                    <a:ext uri="{9D8B030D-6E8A-4147-A177-3AD203B41FA5}">
                      <a16:colId xmlns:a16="http://schemas.microsoft.com/office/drawing/2014/main" val="3311962917"/>
                    </a:ext>
                  </a:extLst>
                </a:gridCol>
                <a:gridCol w="1892667">
                  <a:extLst>
                    <a:ext uri="{9D8B030D-6E8A-4147-A177-3AD203B41FA5}">
                      <a16:colId xmlns:a16="http://schemas.microsoft.com/office/drawing/2014/main" val="1281504000"/>
                    </a:ext>
                  </a:extLst>
                </a:gridCol>
              </a:tblGrid>
              <a:tr h="454792">
                <a:tc>
                  <a:txBody>
                    <a:bodyPr/>
                    <a:lstStyle/>
                    <a:p>
                      <a:r>
                        <a:rPr lang="en-US" sz="1400" dirty="0"/>
                        <a:t>Parameter</a:t>
                      </a:r>
                      <a:endParaRPr lang="en-SG" sz="1400" dirty="0"/>
                    </a:p>
                  </a:txBody>
                  <a:tcPr/>
                </a:tc>
                <a:tc>
                  <a:txBody>
                    <a:bodyPr/>
                    <a:lstStyle/>
                    <a:p>
                      <a:r>
                        <a:rPr lang="en-US" sz="1400" dirty="0"/>
                        <a:t>Percentage over tot no. of ALL interactions</a:t>
                      </a:r>
                      <a:endParaRPr lang="en-SG" sz="1400" dirty="0"/>
                    </a:p>
                  </a:txBody>
                  <a:tcPr/>
                </a:tc>
                <a:tc>
                  <a:txBody>
                    <a:bodyPr/>
                    <a:lstStyle/>
                    <a:p>
                      <a:r>
                        <a:rPr lang="en-US" sz="1400" dirty="0"/>
                        <a:t>Discrepancy</a:t>
                      </a:r>
                      <a:endParaRPr lang="en-SG" sz="1400" dirty="0"/>
                    </a:p>
                  </a:txBody>
                  <a:tcPr/>
                </a:tc>
                <a:extLst>
                  <a:ext uri="{0D108BD9-81ED-4DB2-BD59-A6C34878D82A}">
                    <a16:rowId xmlns:a16="http://schemas.microsoft.com/office/drawing/2014/main" val="804877316"/>
                  </a:ext>
                </a:extLst>
              </a:tr>
              <a:tr h="401287">
                <a:tc>
                  <a:txBody>
                    <a:bodyPr/>
                    <a:lstStyle/>
                    <a:p>
                      <a:r>
                        <a:rPr lang="en-US" sz="1400" dirty="0"/>
                        <a:t>Sample Root file used</a:t>
                      </a:r>
                      <a:endParaRPr lang="en-SG" sz="1400" dirty="0"/>
                    </a:p>
                  </a:txBody>
                  <a:tcPr/>
                </a:tc>
                <a:tc gridSpan="2">
                  <a:txBody>
                    <a:bodyPr/>
                    <a:lstStyle/>
                    <a:p>
                      <a:pPr algn="ctr"/>
                      <a:r>
                        <a:rPr lang="en-SG" sz="1200" b="1" kern="1200" dirty="0" err="1">
                          <a:solidFill>
                            <a:schemeClr val="dk1"/>
                          </a:solidFill>
                          <a:effectLst/>
                          <a:latin typeface="+mn-lt"/>
                          <a:ea typeface="+mn-ea"/>
                          <a:cs typeface="+mn-cs"/>
                        </a:rPr>
                        <a:t>NuMI</a:t>
                      </a:r>
                      <a:r>
                        <a:rPr lang="en-SG" sz="1200" b="1" kern="1200" dirty="0">
                          <a:solidFill>
                            <a:schemeClr val="dk1"/>
                          </a:solidFill>
                          <a:effectLst/>
                          <a:latin typeface="+mn-lt"/>
                          <a:ea typeface="+mn-ea"/>
                          <a:cs typeface="+mn-cs"/>
                        </a:rPr>
                        <a:t> </a:t>
                      </a:r>
                    </a:p>
                  </a:txBody>
                  <a:tcPr/>
                </a:tc>
                <a:tc hMerge="1">
                  <a:txBody>
                    <a:bodyPr/>
                    <a:lstStyle/>
                    <a:p>
                      <a:endParaRPr lang="en-SG" sz="1400" dirty="0"/>
                    </a:p>
                  </a:txBody>
                  <a:tcPr/>
                </a:tc>
                <a:extLst>
                  <a:ext uri="{0D108BD9-81ED-4DB2-BD59-A6C34878D82A}">
                    <a16:rowId xmlns:a16="http://schemas.microsoft.com/office/drawing/2014/main" val="1405745668"/>
                  </a:ext>
                </a:extLst>
              </a:tr>
              <a:tr h="454792">
                <a:tc>
                  <a:txBody>
                    <a:bodyPr/>
                    <a:lstStyle/>
                    <a:p>
                      <a:r>
                        <a:rPr lang="en-US" sz="1400" b="1" dirty="0"/>
                        <a:t>RECO</a:t>
                      </a:r>
                      <a:r>
                        <a:rPr lang="en-US" sz="1400" dirty="0"/>
                        <a:t> interactions passing fiducial cut </a:t>
                      </a:r>
                      <a:r>
                        <a:rPr lang="en-US" sz="1400" b="1" dirty="0"/>
                        <a:t>(NO CUTS)</a:t>
                      </a:r>
                      <a:endParaRPr lang="en-SG" sz="1400" b="1" dirty="0"/>
                    </a:p>
                  </a:txBody>
                  <a:tcPr/>
                </a:tc>
                <a:tc>
                  <a:txBody>
                    <a:bodyPr/>
                    <a:lstStyle/>
                    <a:p>
                      <a:r>
                        <a:rPr lang="en-US" sz="1400" dirty="0"/>
                        <a:t>36.5%</a:t>
                      </a:r>
                      <a:endParaRPr lang="en-SG" sz="1400" dirty="0"/>
                    </a:p>
                  </a:txBody>
                  <a:tcPr/>
                </a:tc>
                <a:tc rowSpan="2">
                  <a:txBody>
                    <a:bodyPr/>
                    <a:lstStyle/>
                    <a:p>
                      <a:pPr algn="ctr"/>
                      <a:r>
                        <a:rPr lang="en-US" sz="1400" dirty="0"/>
                        <a:t>35.4%</a:t>
                      </a:r>
                      <a:endParaRPr lang="en-SG" sz="1400" dirty="0"/>
                    </a:p>
                  </a:txBody>
                  <a:tcPr anchor="ctr"/>
                </a:tc>
                <a:extLst>
                  <a:ext uri="{0D108BD9-81ED-4DB2-BD59-A6C34878D82A}">
                    <a16:rowId xmlns:a16="http://schemas.microsoft.com/office/drawing/2014/main" val="11507174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TRUE</a:t>
                      </a:r>
                      <a:r>
                        <a:rPr lang="en-US" sz="1400" dirty="0"/>
                        <a:t> interactions passing fiducial cut </a:t>
                      </a:r>
                      <a:r>
                        <a:rPr lang="en-US" sz="1400" b="1" dirty="0"/>
                        <a:t>(NO CUTS APPLIED)</a:t>
                      </a:r>
                      <a:endParaRPr lang="en-SG" sz="14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1.1%</a:t>
                      </a:r>
                      <a:endParaRPr lang="en-SG" sz="1400" dirty="0"/>
                    </a:p>
                    <a:p>
                      <a:endParaRPr lang="en-SG" sz="1400" dirty="0"/>
                    </a:p>
                  </a:txBody>
                  <a:tcPr/>
                </a:tc>
                <a:tc vMerge="1">
                  <a:txBody>
                    <a:bodyPr/>
                    <a:lstStyle/>
                    <a:p>
                      <a:endParaRPr lang="en-SG" sz="1400" dirty="0"/>
                    </a:p>
                  </a:txBody>
                  <a:tcPr/>
                </a:tc>
                <a:extLst>
                  <a:ext uri="{0D108BD9-81ED-4DB2-BD59-A6C34878D82A}">
                    <a16:rowId xmlns:a16="http://schemas.microsoft.com/office/drawing/2014/main" val="1699651322"/>
                  </a:ext>
                </a:extLst>
              </a:tr>
              <a:tr h="454792">
                <a:tc>
                  <a:txBody>
                    <a:bodyPr/>
                    <a:lstStyle/>
                    <a:p>
                      <a:r>
                        <a:rPr lang="en-US" sz="1400" b="1" dirty="0"/>
                        <a:t>RECO</a:t>
                      </a:r>
                      <a:r>
                        <a:rPr lang="en-US" sz="1400" dirty="0"/>
                        <a:t> interactions passing fiducial cut </a:t>
                      </a:r>
                      <a:r>
                        <a:rPr lang="en-US" sz="1400" b="1" dirty="0"/>
                        <a:t>(FLASH CUT APPLIED)</a:t>
                      </a:r>
                      <a:endParaRPr lang="en-SG" sz="1400" b="1" dirty="0"/>
                    </a:p>
                  </a:txBody>
                  <a:tcPr/>
                </a:tc>
                <a:tc>
                  <a:txBody>
                    <a:bodyPr/>
                    <a:lstStyle/>
                    <a:p>
                      <a:r>
                        <a:rPr lang="en-US" sz="1400" dirty="0"/>
                        <a:t>2.9%</a:t>
                      </a:r>
                      <a:endParaRPr lang="en-SG" sz="1400" dirty="0"/>
                    </a:p>
                  </a:txBody>
                  <a:tcPr/>
                </a:tc>
                <a:tc rowSpan="2">
                  <a:txBody>
                    <a:bodyPr/>
                    <a:lstStyle/>
                    <a:p>
                      <a:pPr algn="ctr"/>
                      <a:r>
                        <a:rPr lang="en-US" sz="1400" dirty="0"/>
                        <a:t>1.8%</a:t>
                      </a:r>
                      <a:endParaRPr lang="en-SG" sz="1400" dirty="0"/>
                    </a:p>
                  </a:txBody>
                  <a:tcPr anchor="ctr"/>
                </a:tc>
                <a:extLst>
                  <a:ext uri="{0D108BD9-81ED-4DB2-BD59-A6C34878D82A}">
                    <a16:rowId xmlns:a16="http://schemas.microsoft.com/office/drawing/2014/main" val="2250954633"/>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TRUE</a:t>
                      </a:r>
                      <a:r>
                        <a:rPr lang="en-US" sz="1400" dirty="0"/>
                        <a:t> interactions passing fiducial cut </a:t>
                      </a:r>
                      <a:r>
                        <a:rPr lang="en-US" sz="1400" b="1" dirty="0"/>
                        <a:t>(NO CUTS APPLIED)</a:t>
                      </a:r>
                      <a:endParaRPr lang="en-SG" sz="1400" b="1" dirty="0"/>
                    </a:p>
                  </a:txBody>
                  <a:tcPr/>
                </a:tc>
                <a:tc>
                  <a:txBody>
                    <a:bodyPr/>
                    <a:lstStyle/>
                    <a:p>
                      <a:r>
                        <a:rPr lang="en-US" sz="1400" dirty="0"/>
                        <a:t>1.1%</a:t>
                      </a:r>
                      <a:endParaRPr lang="en-SG" sz="1400" dirty="0"/>
                    </a:p>
                  </a:txBody>
                  <a:tcPr/>
                </a:tc>
                <a:tc vMerge="1">
                  <a:txBody>
                    <a:bodyPr/>
                    <a:lstStyle/>
                    <a:p>
                      <a:pPr algn="ctr"/>
                      <a:endParaRPr lang="en-SG" sz="1400" dirty="0"/>
                    </a:p>
                  </a:txBody>
                  <a:tcPr anchor="ctr"/>
                </a:tc>
                <a:extLst>
                  <a:ext uri="{0D108BD9-81ED-4DB2-BD59-A6C34878D82A}">
                    <a16:rowId xmlns:a16="http://schemas.microsoft.com/office/drawing/2014/main" val="1002158922"/>
                  </a:ext>
                </a:extLst>
              </a:tr>
            </a:tbl>
          </a:graphicData>
        </a:graphic>
      </p:graphicFrame>
      <p:graphicFrame>
        <p:nvGraphicFramePr>
          <p:cNvPr id="6" name="Table 5">
            <a:extLst>
              <a:ext uri="{FF2B5EF4-FFF2-40B4-BE49-F238E27FC236}">
                <a16:creationId xmlns:a16="http://schemas.microsoft.com/office/drawing/2014/main" id="{1C03B748-8443-9A76-7E0E-2FFB551B337E}"/>
              </a:ext>
            </a:extLst>
          </p:cNvPr>
          <p:cNvGraphicFramePr>
            <a:graphicFrameLocks noGrp="1"/>
          </p:cNvGraphicFramePr>
          <p:nvPr>
            <p:extLst>
              <p:ext uri="{D42A27DB-BD31-4B8C-83A1-F6EECF244321}">
                <p14:modId xmlns:p14="http://schemas.microsoft.com/office/powerpoint/2010/main" val="2086428053"/>
              </p:ext>
            </p:extLst>
          </p:nvPr>
        </p:nvGraphicFramePr>
        <p:xfrm>
          <a:off x="6012873" y="2240376"/>
          <a:ext cx="5678002" cy="3845527"/>
        </p:xfrm>
        <a:graphic>
          <a:graphicData uri="http://schemas.openxmlformats.org/drawingml/2006/table">
            <a:tbl>
              <a:tblPr firstRow="1" bandRow="1">
                <a:tableStyleId>{5C22544A-7EE6-4342-B048-85BDC9FD1C3A}</a:tableStyleId>
              </a:tblPr>
              <a:tblGrid>
                <a:gridCol w="2326115">
                  <a:extLst>
                    <a:ext uri="{9D8B030D-6E8A-4147-A177-3AD203B41FA5}">
                      <a16:colId xmlns:a16="http://schemas.microsoft.com/office/drawing/2014/main" val="3682903481"/>
                    </a:ext>
                  </a:extLst>
                </a:gridCol>
                <a:gridCol w="1459220">
                  <a:extLst>
                    <a:ext uri="{9D8B030D-6E8A-4147-A177-3AD203B41FA5}">
                      <a16:colId xmlns:a16="http://schemas.microsoft.com/office/drawing/2014/main" val="3311962917"/>
                    </a:ext>
                  </a:extLst>
                </a:gridCol>
                <a:gridCol w="1892667">
                  <a:extLst>
                    <a:ext uri="{9D8B030D-6E8A-4147-A177-3AD203B41FA5}">
                      <a16:colId xmlns:a16="http://schemas.microsoft.com/office/drawing/2014/main" val="1281504000"/>
                    </a:ext>
                  </a:extLst>
                </a:gridCol>
              </a:tblGrid>
              <a:tr h="454792">
                <a:tc>
                  <a:txBody>
                    <a:bodyPr/>
                    <a:lstStyle/>
                    <a:p>
                      <a:r>
                        <a:rPr lang="en-US" sz="1400" dirty="0"/>
                        <a:t>Parameter</a:t>
                      </a:r>
                      <a:endParaRPr lang="en-SG" sz="1400" dirty="0"/>
                    </a:p>
                  </a:txBody>
                  <a:tcPr/>
                </a:tc>
                <a:tc>
                  <a:txBody>
                    <a:bodyPr/>
                    <a:lstStyle/>
                    <a:p>
                      <a:r>
                        <a:rPr lang="en-US" sz="1400" dirty="0"/>
                        <a:t>Percentage over tot no. of interactions</a:t>
                      </a:r>
                      <a:endParaRPr lang="en-SG" sz="1400" dirty="0"/>
                    </a:p>
                  </a:txBody>
                  <a:tcPr/>
                </a:tc>
                <a:tc>
                  <a:txBody>
                    <a:bodyPr/>
                    <a:lstStyle/>
                    <a:p>
                      <a:r>
                        <a:rPr lang="en-US" sz="1400" dirty="0"/>
                        <a:t>Discrepancy</a:t>
                      </a:r>
                      <a:endParaRPr lang="en-SG" sz="1400" dirty="0"/>
                    </a:p>
                  </a:txBody>
                  <a:tcPr/>
                </a:tc>
                <a:extLst>
                  <a:ext uri="{0D108BD9-81ED-4DB2-BD59-A6C34878D82A}">
                    <a16:rowId xmlns:a16="http://schemas.microsoft.com/office/drawing/2014/main" val="804877316"/>
                  </a:ext>
                </a:extLst>
              </a:tr>
              <a:tr h="401287">
                <a:tc>
                  <a:txBody>
                    <a:bodyPr/>
                    <a:lstStyle/>
                    <a:p>
                      <a:r>
                        <a:rPr lang="en-US" sz="1400" dirty="0"/>
                        <a:t>Root file used</a:t>
                      </a:r>
                      <a:endParaRPr lang="en-SG" sz="1400" dirty="0"/>
                    </a:p>
                  </a:txBody>
                  <a:tcPr/>
                </a:tc>
                <a:tc gridSpan="2">
                  <a:txBody>
                    <a:bodyPr/>
                    <a:lstStyle/>
                    <a:p>
                      <a:pPr algn="ctr"/>
                      <a:r>
                        <a:rPr lang="fr-FR" sz="1200" b="1" kern="1200" dirty="0">
                          <a:solidFill>
                            <a:schemeClr val="dk1"/>
                          </a:solidFill>
                          <a:effectLst/>
                          <a:latin typeface="+mn-lt"/>
                          <a:ea typeface="+mn-ea"/>
                          <a:cs typeface="+mn-cs"/>
                        </a:rPr>
                        <a:t>BNB</a:t>
                      </a:r>
                    </a:p>
                  </a:txBody>
                  <a:tcPr/>
                </a:tc>
                <a:tc hMerge="1">
                  <a:txBody>
                    <a:bodyPr/>
                    <a:lstStyle/>
                    <a:p>
                      <a:endParaRPr lang="en-SG" sz="1400" dirty="0"/>
                    </a:p>
                  </a:txBody>
                  <a:tcPr/>
                </a:tc>
                <a:extLst>
                  <a:ext uri="{0D108BD9-81ED-4DB2-BD59-A6C34878D82A}">
                    <a16:rowId xmlns:a16="http://schemas.microsoft.com/office/drawing/2014/main" val="1405745668"/>
                  </a:ext>
                </a:extLst>
              </a:tr>
              <a:tr h="454792">
                <a:tc>
                  <a:txBody>
                    <a:bodyPr/>
                    <a:lstStyle/>
                    <a:p>
                      <a:r>
                        <a:rPr lang="en-US" sz="1400" b="1" dirty="0"/>
                        <a:t>RECO</a:t>
                      </a:r>
                      <a:r>
                        <a:rPr lang="en-US" sz="1400" dirty="0"/>
                        <a:t> interactions passing fiducial cut </a:t>
                      </a:r>
                      <a:r>
                        <a:rPr lang="en-US" sz="1400" b="1" dirty="0"/>
                        <a:t>(NO CUTS)</a:t>
                      </a:r>
                      <a:endParaRPr lang="en-SG" sz="1400" b="1" dirty="0"/>
                    </a:p>
                  </a:txBody>
                  <a:tcPr/>
                </a:tc>
                <a:tc>
                  <a:txBody>
                    <a:bodyPr/>
                    <a:lstStyle/>
                    <a:p>
                      <a:r>
                        <a:rPr lang="en-US" sz="1400" dirty="0"/>
                        <a:t>37%</a:t>
                      </a:r>
                      <a:endParaRPr lang="en-SG" sz="1400" dirty="0"/>
                    </a:p>
                  </a:txBody>
                  <a:tcPr/>
                </a:tc>
                <a:tc rowSpan="2">
                  <a:txBody>
                    <a:bodyPr/>
                    <a:lstStyle/>
                    <a:p>
                      <a:pPr algn="ctr"/>
                      <a:r>
                        <a:rPr lang="en-US" sz="1400" dirty="0"/>
                        <a:t>34.8%</a:t>
                      </a:r>
                      <a:endParaRPr lang="en-SG" sz="1400" dirty="0"/>
                    </a:p>
                  </a:txBody>
                  <a:tcPr anchor="ctr"/>
                </a:tc>
                <a:extLst>
                  <a:ext uri="{0D108BD9-81ED-4DB2-BD59-A6C34878D82A}">
                    <a16:rowId xmlns:a16="http://schemas.microsoft.com/office/drawing/2014/main" val="11507174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TRUE</a:t>
                      </a:r>
                      <a:r>
                        <a:rPr lang="en-US" sz="1400" dirty="0"/>
                        <a:t> interactions passing fiducial cut </a:t>
                      </a:r>
                      <a:r>
                        <a:rPr lang="en-US" sz="1400" b="1" dirty="0"/>
                        <a:t>(NO CUTS APPLIED)</a:t>
                      </a:r>
                      <a:endParaRPr lang="en-SG" sz="1400" b="1" dirty="0"/>
                    </a:p>
                  </a:txBody>
                  <a:tcPr/>
                </a:tc>
                <a:tc>
                  <a:txBody>
                    <a:bodyPr/>
                    <a:lstStyle/>
                    <a:p>
                      <a:r>
                        <a:rPr lang="en-US" sz="1400" dirty="0"/>
                        <a:t>2.2%</a:t>
                      </a:r>
                      <a:endParaRPr lang="en-SG" sz="1400" dirty="0"/>
                    </a:p>
                  </a:txBody>
                  <a:tcPr/>
                </a:tc>
                <a:tc vMerge="1">
                  <a:txBody>
                    <a:bodyPr/>
                    <a:lstStyle/>
                    <a:p>
                      <a:endParaRPr lang="en-SG" sz="1400" dirty="0"/>
                    </a:p>
                  </a:txBody>
                  <a:tcPr/>
                </a:tc>
                <a:extLst>
                  <a:ext uri="{0D108BD9-81ED-4DB2-BD59-A6C34878D82A}">
                    <a16:rowId xmlns:a16="http://schemas.microsoft.com/office/drawing/2014/main" val="3744653109"/>
                  </a:ext>
                </a:extLst>
              </a:tr>
              <a:tr h="454792">
                <a:tc>
                  <a:txBody>
                    <a:bodyPr/>
                    <a:lstStyle/>
                    <a:p>
                      <a:r>
                        <a:rPr lang="en-US" sz="1400" b="1" dirty="0"/>
                        <a:t>RECO</a:t>
                      </a:r>
                      <a:r>
                        <a:rPr lang="en-US" sz="1400" dirty="0"/>
                        <a:t> interactions passing fiducial cut </a:t>
                      </a:r>
                      <a:r>
                        <a:rPr lang="en-US" sz="1400" b="1" dirty="0"/>
                        <a:t>(FLASH CUT APPLIED)</a:t>
                      </a:r>
                      <a:endParaRPr lang="en-SG" sz="1400" b="1" dirty="0"/>
                    </a:p>
                  </a:txBody>
                  <a:tcPr/>
                </a:tc>
                <a:tc>
                  <a:txBody>
                    <a:bodyPr/>
                    <a:lstStyle/>
                    <a:p>
                      <a:r>
                        <a:rPr lang="en-US" sz="1400" dirty="0"/>
                        <a:t>1.7%</a:t>
                      </a:r>
                      <a:endParaRPr lang="en-SG" sz="1400" dirty="0"/>
                    </a:p>
                  </a:txBody>
                  <a:tcPr/>
                </a:tc>
                <a:tc rowSpan="2">
                  <a:txBody>
                    <a:bodyPr/>
                    <a:lstStyle/>
                    <a:p>
                      <a:pPr algn="ctr"/>
                      <a:r>
                        <a:rPr lang="en-US" sz="1400" dirty="0"/>
                        <a:t>0.5%</a:t>
                      </a:r>
                      <a:endParaRPr lang="en-SG" sz="1400" dirty="0"/>
                    </a:p>
                  </a:txBody>
                  <a:tcPr anchor="ctr"/>
                </a:tc>
                <a:extLst>
                  <a:ext uri="{0D108BD9-81ED-4DB2-BD59-A6C34878D82A}">
                    <a16:rowId xmlns:a16="http://schemas.microsoft.com/office/drawing/2014/main" val="3714247652"/>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TRUE</a:t>
                      </a:r>
                      <a:r>
                        <a:rPr lang="en-US" sz="1400" dirty="0"/>
                        <a:t> interactions passing fiducial cut </a:t>
                      </a:r>
                      <a:r>
                        <a:rPr lang="en-US" sz="1400" b="1" dirty="0"/>
                        <a:t>(NO CUTS APPLIED)</a:t>
                      </a:r>
                      <a:endParaRPr lang="en-SG" sz="1400" b="1" dirty="0"/>
                    </a:p>
                  </a:txBody>
                  <a:tcPr/>
                </a:tc>
                <a:tc>
                  <a:txBody>
                    <a:bodyPr/>
                    <a:lstStyle/>
                    <a:p>
                      <a:r>
                        <a:rPr lang="en-US" sz="1400" dirty="0"/>
                        <a:t>2.2%</a:t>
                      </a:r>
                      <a:endParaRPr lang="en-SG" sz="1400" dirty="0"/>
                    </a:p>
                  </a:txBody>
                  <a:tcPr/>
                </a:tc>
                <a:tc vMerge="1">
                  <a:txBody>
                    <a:bodyPr/>
                    <a:lstStyle/>
                    <a:p>
                      <a:pPr algn="ctr"/>
                      <a:endParaRPr lang="en-SG" sz="1400" dirty="0"/>
                    </a:p>
                  </a:txBody>
                  <a:tcPr anchor="ctr"/>
                </a:tc>
                <a:extLst>
                  <a:ext uri="{0D108BD9-81ED-4DB2-BD59-A6C34878D82A}">
                    <a16:rowId xmlns:a16="http://schemas.microsoft.com/office/drawing/2014/main" val="2359043611"/>
                  </a:ext>
                </a:extLst>
              </a:tr>
            </a:tbl>
          </a:graphicData>
        </a:graphic>
      </p:graphicFrame>
      <p:sp>
        <p:nvSpPr>
          <p:cNvPr id="10" name="TextBox 9">
            <a:extLst>
              <a:ext uri="{FF2B5EF4-FFF2-40B4-BE49-F238E27FC236}">
                <a16:creationId xmlns:a16="http://schemas.microsoft.com/office/drawing/2014/main" id="{38A76CB3-96B4-ABD7-EA5D-31F7415B9F90}"/>
              </a:ext>
            </a:extLst>
          </p:cNvPr>
          <p:cNvSpPr txBox="1"/>
          <p:nvPr/>
        </p:nvSpPr>
        <p:spPr>
          <a:xfrm>
            <a:off x="8758787" y="1778711"/>
            <a:ext cx="752475" cy="461665"/>
          </a:xfrm>
          <a:prstGeom prst="rect">
            <a:avLst/>
          </a:prstGeom>
          <a:noFill/>
        </p:spPr>
        <p:txBody>
          <a:bodyPr wrap="square">
            <a:spAutoFit/>
          </a:bodyPr>
          <a:lstStyle/>
          <a:p>
            <a:r>
              <a:rPr lang="en-US" sz="2400" b="1" dirty="0"/>
              <a:t>BNB</a:t>
            </a:r>
            <a:endParaRPr lang="en-SG" sz="2400" b="1" dirty="0"/>
          </a:p>
        </p:txBody>
      </p:sp>
      <p:sp>
        <p:nvSpPr>
          <p:cNvPr id="12" name="TextBox 11">
            <a:extLst>
              <a:ext uri="{FF2B5EF4-FFF2-40B4-BE49-F238E27FC236}">
                <a16:creationId xmlns:a16="http://schemas.microsoft.com/office/drawing/2014/main" id="{D18215FA-F8FD-CF03-0377-6461B912E7A8}"/>
              </a:ext>
            </a:extLst>
          </p:cNvPr>
          <p:cNvSpPr txBox="1"/>
          <p:nvPr/>
        </p:nvSpPr>
        <p:spPr>
          <a:xfrm>
            <a:off x="2606644" y="1778711"/>
            <a:ext cx="900661" cy="461665"/>
          </a:xfrm>
          <a:prstGeom prst="rect">
            <a:avLst/>
          </a:prstGeom>
          <a:noFill/>
        </p:spPr>
        <p:txBody>
          <a:bodyPr wrap="square">
            <a:spAutoFit/>
          </a:bodyPr>
          <a:lstStyle/>
          <a:p>
            <a:r>
              <a:rPr lang="en-US" sz="2400" b="1" dirty="0" err="1"/>
              <a:t>NuMI</a:t>
            </a:r>
            <a:endParaRPr lang="en-SG" sz="2400" b="1" dirty="0"/>
          </a:p>
        </p:txBody>
      </p:sp>
    </p:spTree>
    <p:extLst>
      <p:ext uri="{BB962C8B-B14F-4D97-AF65-F5344CB8AC3E}">
        <p14:creationId xmlns:p14="http://schemas.microsoft.com/office/powerpoint/2010/main" val="29177140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7AC09-7663-7B66-37CA-F2C89D671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96C62-B16D-F699-64FC-104F4F91FF0D}"/>
              </a:ext>
            </a:extLst>
          </p:cNvPr>
          <p:cNvSpPr>
            <a:spLocks noGrp="1"/>
          </p:cNvSpPr>
          <p:nvPr>
            <p:ph type="title"/>
          </p:nvPr>
        </p:nvSpPr>
        <p:spPr/>
        <p:txBody>
          <a:bodyPr/>
          <a:lstStyle/>
          <a:p>
            <a:r>
              <a:rPr lang="en-US" dirty="0"/>
              <a:t>In-time interaction selection</a:t>
            </a:r>
            <a:endParaRPr lang="en-SG" dirty="0"/>
          </a:p>
        </p:txBody>
      </p:sp>
      <p:sp>
        <p:nvSpPr>
          <p:cNvPr id="15" name="TextBox 14">
            <a:extLst>
              <a:ext uri="{FF2B5EF4-FFF2-40B4-BE49-F238E27FC236}">
                <a16:creationId xmlns:a16="http://schemas.microsoft.com/office/drawing/2014/main" id="{0E44D190-6931-4B34-6C9A-559468076174}"/>
              </a:ext>
            </a:extLst>
          </p:cNvPr>
          <p:cNvSpPr txBox="1"/>
          <p:nvPr/>
        </p:nvSpPr>
        <p:spPr>
          <a:xfrm>
            <a:off x="1097280" y="1870839"/>
            <a:ext cx="4598670" cy="646331"/>
          </a:xfrm>
          <a:prstGeom prst="rect">
            <a:avLst/>
          </a:prstGeom>
          <a:noFill/>
        </p:spPr>
        <p:txBody>
          <a:bodyPr wrap="square">
            <a:spAutoFit/>
          </a:bodyPr>
          <a:lstStyle/>
          <a:p>
            <a:endParaRPr lang="en-US" dirty="0"/>
          </a:p>
          <a:p>
            <a:pPr marL="285750" indent="-285750">
              <a:buFont typeface="Arial" panose="020B0604020202020204" pitchFamily="34" charset="0"/>
              <a:buChar char="•"/>
            </a:pPr>
            <a:endParaRPr lang="en-US" dirty="0"/>
          </a:p>
        </p:txBody>
      </p:sp>
      <p:sp>
        <p:nvSpPr>
          <p:cNvPr id="14" name="TextBox 13">
            <a:extLst>
              <a:ext uri="{FF2B5EF4-FFF2-40B4-BE49-F238E27FC236}">
                <a16:creationId xmlns:a16="http://schemas.microsoft.com/office/drawing/2014/main" id="{6EAD062D-7D67-959A-39B2-C490357B0381}"/>
              </a:ext>
            </a:extLst>
          </p:cNvPr>
          <p:cNvSpPr txBox="1"/>
          <p:nvPr/>
        </p:nvSpPr>
        <p:spPr>
          <a:xfrm>
            <a:off x="1097279" y="1870839"/>
            <a:ext cx="5617557" cy="2308324"/>
          </a:xfrm>
          <a:prstGeom prst="rect">
            <a:avLst/>
          </a:prstGeom>
          <a:noFill/>
        </p:spPr>
        <p:txBody>
          <a:bodyPr wrap="square">
            <a:spAutoFit/>
          </a:bodyPr>
          <a:lstStyle/>
          <a:p>
            <a:r>
              <a:rPr lang="en-US" b="1" u="sng" dirty="0"/>
              <a:t>Selection with reconstructed interactions that are in-time and </a:t>
            </a:r>
            <a:r>
              <a:rPr lang="en-US" b="1" u="sng" dirty="0" err="1"/>
              <a:t>fiducialized</a:t>
            </a:r>
            <a:endParaRPr lang="en-US" b="1" u="sng" dirty="0"/>
          </a:p>
          <a:p>
            <a:r>
              <a:rPr lang="en-US" b="1" u="sng" dirty="0"/>
              <a:t> </a:t>
            </a:r>
          </a:p>
          <a:p>
            <a:pPr marL="285750" indent="-285750">
              <a:buFont typeface="Arial" panose="020B0604020202020204" pitchFamily="34" charset="0"/>
              <a:buChar char="•"/>
            </a:pPr>
            <a:r>
              <a:rPr lang="en-US" dirty="0"/>
              <a:t>We look at the percentage of interactions that pass the fiducial cut based on truth data</a:t>
            </a:r>
          </a:p>
          <a:p>
            <a:pPr marL="285750" indent="-285750">
              <a:buFont typeface="Arial" panose="020B0604020202020204" pitchFamily="34" charset="0"/>
              <a:buChar char="•"/>
            </a:pPr>
            <a:r>
              <a:rPr lang="en-US" dirty="0"/>
              <a:t>27.6% of </a:t>
            </a:r>
            <a:r>
              <a:rPr lang="en-US" dirty="0" err="1"/>
              <a:t>NuMI</a:t>
            </a:r>
            <a:r>
              <a:rPr lang="en-US" dirty="0"/>
              <a:t> reconstructed interactions would fail the cut when comparing to their true data</a:t>
            </a:r>
          </a:p>
          <a:p>
            <a:pPr marL="285750" indent="-285750">
              <a:buFont typeface="Arial" panose="020B0604020202020204" pitchFamily="34" charset="0"/>
              <a:buChar char="•"/>
            </a:pPr>
            <a:endParaRPr lang="en-US" dirty="0"/>
          </a:p>
        </p:txBody>
      </p:sp>
      <p:graphicFrame>
        <p:nvGraphicFramePr>
          <p:cNvPr id="8" name="Table 7">
            <a:extLst>
              <a:ext uri="{FF2B5EF4-FFF2-40B4-BE49-F238E27FC236}">
                <a16:creationId xmlns:a16="http://schemas.microsoft.com/office/drawing/2014/main" id="{D6E8D688-2B66-265E-A978-F9B1DB7BAC93}"/>
              </a:ext>
            </a:extLst>
          </p:cNvPr>
          <p:cNvGraphicFramePr>
            <a:graphicFrameLocks noGrp="1"/>
          </p:cNvGraphicFramePr>
          <p:nvPr>
            <p:extLst>
              <p:ext uri="{D42A27DB-BD31-4B8C-83A1-F6EECF244321}">
                <p14:modId xmlns:p14="http://schemas.microsoft.com/office/powerpoint/2010/main" val="4031674824"/>
              </p:ext>
            </p:extLst>
          </p:nvPr>
        </p:nvGraphicFramePr>
        <p:xfrm>
          <a:off x="7711391" y="2515082"/>
          <a:ext cx="1673660" cy="2810507"/>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err="1">
                          <a:solidFill>
                            <a:schemeClr val="tx1"/>
                          </a:solidFill>
                        </a:rPr>
                        <a:t>NuMI</a:t>
                      </a:r>
                      <a:endParaRPr lang="en-SG" b="1" dirty="0">
                        <a:solidFill>
                          <a:schemeClr val="tx1"/>
                        </a:solidFill>
                      </a:endParaRPr>
                    </a:p>
                  </a:txBody>
                  <a:tcPr anchor="ctr"/>
                </a:tc>
                <a:tc>
                  <a:txBody>
                    <a:bodyPr/>
                    <a:lstStyle/>
                    <a:p>
                      <a:pPr algn="ctr"/>
                      <a:r>
                        <a:rPr lang="en-US" sz="1400" dirty="0">
                          <a:solidFill>
                            <a:srgbClr val="FF0000"/>
                          </a:solidFill>
                        </a:rPr>
                        <a:t>Passes fiducial</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Passes fiducial</a:t>
                      </a:r>
                      <a:endParaRPr lang="en-SG" sz="1400" b="0" dirty="0">
                        <a:solidFill>
                          <a:srgbClr val="FF0000"/>
                        </a:solidFill>
                      </a:endParaRPr>
                    </a:p>
                  </a:txBody>
                  <a:tcPr anchor="ctr">
                    <a:solidFill>
                      <a:schemeClr val="bg2"/>
                    </a:solidFill>
                  </a:tcPr>
                </a:tc>
                <a:tc>
                  <a:txBody>
                    <a:bodyPr/>
                    <a:lstStyle/>
                    <a:p>
                      <a:pPr algn="ctr"/>
                      <a:r>
                        <a:rPr lang="en-US" dirty="0"/>
                        <a:t>70.5%</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fails fiducial</a:t>
                      </a:r>
                      <a:endParaRPr lang="en-SG" sz="1400" b="0" dirty="0">
                        <a:solidFill>
                          <a:srgbClr val="FF0000"/>
                        </a:solidFill>
                      </a:endParaRPr>
                    </a:p>
                  </a:txBody>
                  <a:tcPr anchor="ctr">
                    <a:solidFill>
                      <a:schemeClr val="bg2"/>
                    </a:solidFill>
                  </a:tcPr>
                </a:tc>
                <a:tc>
                  <a:txBody>
                    <a:bodyPr/>
                    <a:lstStyle/>
                    <a:p>
                      <a:pPr algn="ctr"/>
                      <a:r>
                        <a:rPr lang="en-US" dirty="0"/>
                        <a:t>27.6%</a:t>
                      </a:r>
                      <a:endParaRPr lang="en-SG" dirty="0"/>
                    </a:p>
                  </a:txBody>
                  <a:tcPr anchor="ctr"/>
                </a:tc>
                <a:extLst>
                  <a:ext uri="{0D108BD9-81ED-4DB2-BD59-A6C34878D82A}">
                    <a16:rowId xmlns:a16="http://schemas.microsoft.com/office/drawing/2014/main" val="2781143425"/>
                  </a:ext>
                </a:extLst>
              </a:tr>
              <a:tr h="757766">
                <a:tc>
                  <a:txBody>
                    <a:bodyPr/>
                    <a:lstStyle/>
                    <a:p>
                      <a:pPr algn="ctr"/>
                      <a:r>
                        <a:rPr lang="en-US" sz="1400" b="0" dirty="0" err="1">
                          <a:solidFill>
                            <a:srgbClr val="FF0000"/>
                          </a:solidFill>
                        </a:rPr>
                        <a:t>NaN</a:t>
                      </a:r>
                      <a:endParaRPr lang="en-SG" sz="1400" b="0" dirty="0">
                        <a:solidFill>
                          <a:srgbClr val="FF0000"/>
                        </a:solidFill>
                      </a:endParaRPr>
                    </a:p>
                  </a:txBody>
                  <a:tcPr anchor="ctr">
                    <a:solidFill>
                      <a:schemeClr val="bg2"/>
                    </a:solidFill>
                  </a:tcPr>
                </a:tc>
                <a:tc>
                  <a:txBody>
                    <a:bodyPr/>
                    <a:lstStyle/>
                    <a:p>
                      <a:pPr algn="ctr"/>
                      <a:r>
                        <a:rPr lang="en-US" dirty="0"/>
                        <a:t>1.9%</a:t>
                      </a:r>
                      <a:endParaRPr lang="en-SG" dirty="0"/>
                    </a:p>
                  </a:txBody>
                  <a:tcPr anchor="ctr"/>
                </a:tc>
                <a:extLst>
                  <a:ext uri="{0D108BD9-81ED-4DB2-BD59-A6C34878D82A}">
                    <a16:rowId xmlns:a16="http://schemas.microsoft.com/office/drawing/2014/main" val="1805301536"/>
                  </a:ext>
                </a:extLst>
              </a:tr>
            </a:tbl>
          </a:graphicData>
        </a:graphic>
      </p:graphicFrame>
      <p:sp>
        <p:nvSpPr>
          <p:cNvPr id="9" name="TextBox 8">
            <a:extLst>
              <a:ext uri="{FF2B5EF4-FFF2-40B4-BE49-F238E27FC236}">
                <a16:creationId xmlns:a16="http://schemas.microsoft.com/office/drawing/2014/main" id="{AF30BF48-6709-879B-503D-D489F2FB3650}"/>
              </a:ext>
            </a:extLst>
          </p:cNvPr>
          <p:cNvSpPr txBox="1"/>
          <p:nvPr/>
        </p:nvSpPr>
        <p:spPr>
          <a:xfrm rot="16200000">
            <a:off x="7221400" y="3751056"/>
            <a:ext cx="657609" cy="338554"/>
          </a:xfrm>
          <a:prstGeom prst="rect">
            <a:avLst/>
          </a:prstGeom>
          <a:noFill/>
        </p:spPr>
        <p:txBody>
          <a:bodyPr wrap="square" rtlCol="0">
            <a:spAutoFit/>
          </a:bodyPr>
          <a:lstStyle/>
          <a:p>
            <a:r>
              <a:rPr lang="en-US" sz="1600" dirty="0"/>
              <a:t>Truth</a:t>
            </a:r>
            <a:endParaRPr lang="en-SG" dirty="0"/>
          </a:p>
        </p:txBody>
      </p:sp>
      <p:sp>
        <p:nvSpPr>
          <p:cNvPr id="10" name="TextBox 9">
            <a:extLst>
              <a:ext uri="{FF2B5EF4-FFF2-40B4-BE49-F238E27FC236}">
                <a16:creationId xmlns:a16="http://schemas.microsoft.com/office/drawing/2014/main" id="{95438552-263A-0B75-5370-6CE543A8C05F}"/>
              </a:ext>
            </a:extLst>
          </p:cNvPr>
          <p:cNvSpPr txBox="1"/>
          <p:nvPr/>
        </p:nvSpPr>
        <p:spPr>
          <a:xfrm>
            <a:off x="8179112" y="2174440"/>
            <a:ext cx="1378831" cy="338554"/>
          </a:xfrm>
          <a:prstGeom prst="rect">
            <a:avLst/>
          </a:prstGeom>
          <a:noFill/>
        </p:spPr>
        <p:txBody>
          <a:bodyPr wrap="square" rtlCol="0">
            <a:spAutoFit/>
          </a:bodyPr>
          <a:lstStyle/>
          <a:p>
            <a:r>
              <a:rPr lang="en-US" sz="1600" dirty="0"/>
              <a:t>Reconstructed</a:t>
            </a:r>
            <a:endParaRPr lang="en-SG" sz="1600" dirty="0"/>
          </a:p>
        </p:txBody>
      </p:sp>
      <p:graphicFrame>
        <p:nvGraphicFramePr>
          <p:cNvPr id="11" name="Table 10">
            <a:extLst>
              <a:ext uri="{FF2B5EF4-FFF2-40B4-BE49-F238E27FC236}">
                <a16:creationId xmlns:a16="http://schemas.microsoft.com/office/drawing/2014/main" id="{2F84DD27-2A12-C605-882E-956BCA919D07}"/>
              </a:ext>
            </a:extLst>
          </p:cNvPr>
          <p:cNvGraphicFramePr>
            <a:graphicFrameLocks noGrp="1"/>
          </p:cNvGraphicFramePr>
          <p:nvPr>
            <p:extLst>
              <p:ext uri="{D42A27DB-BD31-4B8C-83A1-F6EECF244321}">
                <p14:modId xmlns:p14="http://schemas.microsoft.com/office/powerpoint/2010/main" val="1651927892"/>
              </p:ext>
            </p:extLst>
          </p:nvPr>
        </p:nvGraphicFramePr>
        <p:xfrm>
          <a:off x="10218610" y="2515082"/>
          <a:ext cx="1673660" cy="2810507"/>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a:solidFill>
                            <a:schemeClr val="tx1"/>
                          </a:solidFill>
                        </a:rPr>
                        <a:t>BNB</a:t>
                      </a:r>
                      <a:endParaRPr lang="en-SG" b="1" dirty="0">
                        <a:solidFill>
                          <a:schemeClr val="tx1"/>
                        </a:solidFill>
                      </a:endParaRPr>
                    </a:p>
                  </a:txBody>
                  <a:tcPr anchor="ctr"/>
                </a:tc>
                <a:tc>
                  <a:txBody>
                    <a:bodyPr/>
                    <a:lstStyle/>
                    <a:p>
                      <a:pPr algn="ctr"/>
                      <a:r>
                        <a:rPr lang="en-US" sz="1400" dirty="0">
                          <a:solidFill>
                            <a:srgbClr val="FF0000"/>
                          </a:solidFill>
                        </a:rPr>
                        <a:t>Passes fiducial</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Passes fiducial</a:t>
                      </a:r>
                      <a:endParaRPr lang="en-SG" sz="1400" b="0" dirty="0">
                        <a:solidFill>
                          <a:srgbClr val="FF0000"/>
                        </a:solidFill>
                      </a:endParaRPr>
                    </a:p>
                  </a:txBody>
                  <a:tcPr anchor="ctr">
                    <a:solidFill>
                      <a:schemeClr val="bg2"/>
                    </a:solidFill>
                  </a:tcPr>
                </a:tc>
                <a:tc>
                  <a:txBody>
                    <a:bodyPr/>
                    <a:lstStyle/>
                    <a:p>
                      <a:pPr algn="ctr"/>
                      <a:r>
                        <a:rPr lang="en-US" dirty="0"/>
                        <a:t>90.3%</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fails fiducial</a:t>
                      </a:r>
                      <a:endParaRPr lang="en-SG" sz="1400" b="0" dirty="0">
                        <a:solidFill>
                          <a:srgbClr val="FF0000"/>
                        </a:solidFill>
                      </a:endParaRPr>
                    </a:p>
                  </a:txBody>
                  <a:tcPr anchor="ctr">
                    <a:solidFill>
                      <a:schemeClr val="bg2"/>
                    </a:solidFill>
                  </a:tcPr>
                </a:tc>
                <a:tc>
                  <a:txBody>
                    <a:bodyPr/>
                    <a:lstStyle/>
                    <a:p>
                      <a:pPr algn="ctr"/>
                      <a:r>
                        <a:rPr lang="en-US" dirty="0"/>
                        <a:t>8.9%</a:t>
                      </a:r>
                      <a:endParaRPr lang="en-SG" dirty="0"/>
                    </a:p>
                  </a:txBody>
                  <a:tcPr anchor="ctr"/>
                </a:tc>
                <a:extLst>
                  <a:ext uri="{0D108BD9-81ED-4DB2-BD59-A6C34878D82A}">
                    <a16:rowId xmlns:a16="http://schemas.microsoft.com/office/drawing/2014/main" val="2781143425"/>
                  </a:ext>
                </a:extLst>
              </a:tr>
              <a:tr h="757766">
                <a:tc>
                  <a:txBody>
                    <a:bodyPr/>
                    <a:lstStyle/>
                    <a:p>
                      <a:pPr algn="ctr"/>
                      <a:r>
                        <a:rPr lang="en-US" sz="1400" b="0" dirty="0" err="1">
                          <a:solidFill>
                            <a:srgbClr val="FF0000"/>
                          </a:solidFill>
                        </a:rPr>
                        <a:t>NaN</a:t>
                      </a:r>
                      <a:endParaRPr lang="en-SG" sz="1400" b="0" dirty="0">
                        <a:solidFill>
                          <a:srgbClr val="FF0000"/>
                        </a:solidFill>
                      </a:endParaRPr>
                    </a:p>
                  </a:txBody>
                  <a:tcPr anchor="ctr">
                    <a:solidFill>
                      <a:schemeClr val="bg2"/>
                    </a:solidFill>
                  </a:tcPr>
                </a:tc>
                <a:tc>
                  <a:txBody>
                    <a:bodyPr/>
                    <a:lstStyle/>
                    <a:p>
                      <a:pPr algn="ctr"/>
                      <a:r>
                        <a:rPr lang="en-US" dirty="0"/>
                        <a:t>0.8%</a:t>
                      </a:r>
                      <a:endParaRPr lang="en-SG" dirty="0"/>
                    </a:p>
                  </a:txBody>
                  <a:tcPr anchor="ctr"/>
                </a:tc>
                <a:extLst>
                  <a:ext uri="{0D108BD9-81ED-4DB2-BD59-A6C34878D82A}">
                    <a16:rowId xmlns:a16="http://schemas.microsoft.com/office/drawing/2014/main" val="1805301536"/>
                  </a:ext>
                </a:extLst>
              </a:tr>
            </a:tbl>
          </a:graphicData>
        </a:graphic>
      </p:graphicFrame>
      <p:sp>
        <p:nvSpPr>
          <p:cNvPr id="12" name="TextBox 11">
            <a:extLst>
              <a:ext uri="{FF2B5EF4-FFF2-40B4-BE49-F238E27FC236}">
                <a16:creationId xmlns:a16="http://schemas.microsoft.com/office/drawing/2014/main" id="{51825016-D75A-CD71-31E1-F61A0EEE3F49}"/>
              </a:ext>
            </a:extLst>
          </p:cNvPr>
          <p:cNvSpPr txBox="1"/>
          <p:nvPr/>
        </p:nvSpPr>
        <p:spPr>
          <a:xfrm rot="16200000">
            <a:off x="9720529" y="3751057"/>
            <a:ext cx="657609" cy="338554"/>
          </a:xfrm>
          <a:prstGeom prst="rect">
            <a:avLst/>
          </a:prstGeom>
          <a:noFill/>
        </p:spPr>
        <p:txBody>
          <a:bodyPr wrap="square" rtlCol="0">
            <a:spAutoFit/>
          </a:bodyPr>
          <a:lstStyle/>
          <a:p>
            <a:r>
              <a:rPr lang="en-US" sz="1600" dirty="0"/>
              <a:t>Truth</a:t>
            </a:r>
            <a:endParaRPr lang="en-SG" dirty="0"/>
          </a:p>
        </p:txBody>
      </p:sp>
      <p:sp>
        <p:nvSpPr>
          <p:cNvPr id="13" name="TextBox 12">
            <a:extLst>
              <a:ext uri="{FF2B5EF4-FFF2-40B4-BE49-F238E27FC236}">
                <a16:creationId xmlns:a16="http://schemas.microsoft.com/office/drawing/2014/main" id="{7297773B-6F3E-9B18-BF61-86492ED2F207}"/>
              </a:ext>
            </a:extLst>
          </p:cNvPr>
          <p:cNvSpPr txBox="1"/>
          <p:nvPr/>
        </p:nvSpPr>
        <p:spPr>
          <a:xfrm>
            <a:off x="10686331" y="2174440"/>
            <a:ext cx="1378831" cy="338554"/>
          </a:xfrm>
          <a:prstGeom prst="rect">
            <a:avLst/>
          </a:prstGeom>
          <a:noFill/>
        </p:spPr>
        <p:txBody>
          <a:bodyPr wrap="square" rtlCol="0">
            <a:spAutoFit/>
          </a:bodyPr>
          <a:lstStyle/>
          <a:p>
            <a:r>
              <a:rPr lang="en-US" sz="1600" dirty="0"/>
              <a:t>Reconstructed</a:t>
            </a:r>
            <a:endParaRPr lang="en-SG" sz="1600" dirty="0"/>
          </a:p>
        </p:txBody>
      </p:sp>
    </p:spTree>
    <p:extLst>
      <p:ext uri="{BB962C8B-B14F-4D97-AF65-F5344CB8AC3E}">
        <p14:creationId xmlns:p14="http://schemas.microsoft.com/office/powerpoint/2010/main" val="119785523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5917</TotalTime>
  <Words>2802</Words>
  <Application>Microsoft Office PowerPoint</Application>
  <PresentationFormat>Widescreen</PresentationFormat>
  <Paragraphs>247</Paragraphs>
  <Slides>32</Slides>
  <Notes>23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38" baseType="lpstr">
      <vt:lpstr>Aptos</vt:lpstr>
      <vt:lpstr>Arial</vt:lpstr>
      <vt:lpstr>Calibri</vt:lpstr>
      <vt:lpstr>Calibri Light</vt:lpstr>
      <vt:lpstr>Retrospect</vt:lpstr>
      <vt:lpstr>Packager Shell Object</vt:lpstr>
      <vt:lpstr>Tasks completed (26 Feb) </vt:lpstr>
      <vt:lpstr>PID Type confusion matrix</vt:lpstr>
      <vt:lpstr>Particle PID type Confusion matrix</vt:lpstr>
      <vt:lpstr>NuMI PID Reco to truth matching (Reco mode) - using reco valid_flashmatch cut</vt:lpstr>
      <vt:lpstr>NuMI PID Truth to reco matching (True mode) - using reco valid_flashmatch cut</vt:lpstr>
      <vt:lpstr>BNB PID Reco to truth matching (Reco mode) - using reco valid_flashmatch cut</vt:lpstr>
      <vt:lpstr>BNB PID Truth to reco matching (True mode) - using reco valid_flashmatch cut</vt:lpstr>
      <vt:lpstr>Semantic Type confusion matrix</vt:lpstr>
      <vt:lpstr>Particle Semantic type Confusion matrix</vt:lpstr>
      <vt:lpstr>NuMI Semantic type Reco to truth matching (Reco mode)</vt:lpstr>
      <vt:lpstr>NuMI Semantic type Truth to reco matching (True mode)</vt:lpstr>
      <vt:lpstr>BNB Semantic type Reco to truth matching (Reco mode)</vt:lpstr>
      <vt:lpstr>BNB Semantic type Truth to reco matching (True mode)</vt:lpstr>
      <vt:lpstr>Removing low energy particles</vt:lpstr>
      <vt:lpstr>PID Type confusion matrix</vt:lpstr>
      <vt:lpstr>NuMI PID type Reco to truth matching (Reco mode) - Removing reco particles with ke &lt; 10 MeV</vt:lpstr>
      <vt:lpstr>NuMI PID type Truth to Reco matching (True mode) - Removing truth particles with ke &lt; 10 MeV</vt:lpstr>
      <vt:lpstr>BNB PID type Reco to Truth matching (Reco mode) - Removing reco particles with ke &lt; 10 MeV</vt:lpstr>
      <vt:lpstr>BNB PID type Truth to Reco matching (True mode) - Removing truth particles with ke &lt; 10 MeV</vt:lpstr>
      <vt:lpstr>Semantic Type confusion matrix</vt:lpstr>
      <vt:lpstr>NuMI Semantic type Reco to truth matching (Reco mode) - Removing reco particles with ke &lt; 10 MeV</vt:lpstr>
      <vt:lpstr>NuMI Semantic type Truth to reco matching (True mode) - Removing true particles with ke &lt; 10 MeV</vt:lpstr>
      <vt:lpstr>BNB Semantic type Reco to truth matching (Reco mode) - Removing reco particles with ke &lt; 10 MeV</vt:lpstr>
      <vt:lpstr>BNB Semantic type Truth to reco matching (True mode) - Removing true particles with ke &lt; 10 MeV</vt:lpstr>
      <vt:lpstr>Out-of-time cosmic interaction selection</vt:lpstr>
      <vt:lpstr>Reducing effect of cosmics</vt:lpstr>
      <vt:lpstr>Reducing effect of cosmics</vt:lpstr>
      <vt:lpstr>Out-of-time cosmic selection</vt:lpstr>
      <vt:lpstr>Out-of-time cosmic selection</vt:lpstr>
      <vt:lpstr>Out-of-time cosmic selection</vt:lpstr>
      <vt:lpstr>Preselection total efficiency</vt:lpstr>
      <vt:lpstr>In-time interaction selection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#JORDON KOH JIN CHEN#</dc:creator>
  <cp:lastModifiedBy>#JORDON KOH JIN CHEN#</cp:lastModifiedBy>
  <cp:revision>26</cp:revision>
  <dcterms:created xsi:type="dcterms:W3CDTF">2025-11-12T13:24:12Z</dcterms:created>
  <dcterms:modified xsi:type="dcterms:W3CDTF">2026-02-26T15:56:49Z</dcterms:modified>
</cp:coreProperties>
</file>