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5"/>
  </p:notesMasterIdLst>
  <p:sldIdLst>
    <p:sldId id="415" r:id="rId2"/>
    <p:sldId id="429" r:id="rId3"/>
    <p:sldId id="351" r:id="rId4"/>
    <p:sldId id="416" r:id="rId5"/>
    <p:sldId id="417" r:id="rId6"/>
    <p:sldId id="419" r:id="rId7"/>
    <p:sldId id="384" r:id="rId8"/>
    <p:sldId id="385" r:id="rId9"/>
    <p:sldId id="386" r:id="rId10"/>
    <p:sldId id="418" r:id="rId11"/>
    <p:sldId id="420" r:id="rId12"/>
    <p:sldId id="421" r:id="rId13"/>
    <p:sldId id="430" r:id="rId14"/>
    <p:sldId id="431" r:id="rId15"/>
    <p:sldId id="432" r:id="rId16"/>
    <p:sldId id="423" r:id="rId17"/>
    <p:sldId id="424" r:id="rId18"/>
    <p:sldId id="410" r:id="rId19"/>
    <p:sldId id="425" r:id="rId20"/>
    <p:sldId id="426" r:id="rId21"/>
    <p:sldId id="427" r:id="rId22"/>
    <p:sldId id="428" r:id="rId23"/>
    <p:sldId id="43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3630" autoAdjust="0"/>
  </p:normalViewPr>
  <p:slideViewPr>
    <p:cSldViewPr snapToGrid="0">
      <p:cViewPr varScale="1">
        <p:scale>
          <a:sx n="104" d="100"/>
          <a:sy n="104" d="100"/>
        </p:scale>
        <p:origin x="78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2/4/2026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t>
            </a:r>
            <a:r>
              <a:rPr lang="en-US" dirty="0" err="1"/>
              <a:t>im</a:t>
            </a:r>
            <a:r>
              <a:rPr lang="en-US" dirty="0"/>
              <a:t> Jordon Koh, and </a:t>
            </a:r>
            <a:r>
              <a:rPr lang="en-US" dirty="0" err="1"/>
              <a:t>im</a:t>
            </a:r>
            <a:r>
              <a:rPr lang="en-US" dirty="0"/>
              <a:t> here to present on my research on two-shower selection for HNL candidates </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2465246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3DD84-DF28-14C3-AABA-4A14FF968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2E7C4-F36E-80EB-8F77-348CE06A5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521DF-2C68-9723-63A4-5E72111CA73F}"/>
              </a:ext>
            </a:extLst>
          </p:cNvPr>
          <p:cNvSpPr>
            <a:spLocks noGrp="1"/>
          </p:cNvSpPr>
          <p:nvPr>
            <p:ph type="body" idx="1"/>
          </p:nvPr>
        </p:nvSpPr>
        <p:spPr/>
        <p:txBody>
          <a:bodyPr/>
          <a:lstStyle/>
          <a:p>
            <a:r>
              <a:rPr lang="en-US" dirty="0"/>
              <a:t>So a little bit about myself, I am a final year physics undergraduate at Nanyang Technological university in Singapore. </a:t>
            </a:r>
          </a:p>
          <a:p>
            <a:r>
              <a:rPr lang="en-US" dirty="0"/>
              <a:t>I am undertaking my Final Year Project under Dr Animesh Chatterjee and Dr albert De Roeck as supervisors.</a:t>
            </a:r>
          </a:p>
          <a:p>
            <a:r>
              <a:rPr lang="en-US" dirty="0"/>
              <a:t>So </a:t>
            </a:r>
            <a:r>
              <a:rPr lang="en-US" dirty="0" err="1"/>
              <a:t>im</a:t>
            </a:r>
            <a:r>
              <a:rPr lang="en-US" dirty="0"/>
              <a:t> currently working alongside in a group with Dr Animesh, Dr Gajendra, and Dr harry. And I have been doing so since last year august </a:t>
            </a:r>
            <a:endParaRPr lang="en-SG" dirty="0"/>
          </a:p>
        </p:txBody>
      </p:sp>
      <p:sp>
        <p:nvSpPr>
          <p:cNvPr id="4" name="Slide Number Placeholder 3">
            <a:extLst>
              <a:ext uri="{FF2B5EF4-FFF2-40B4-BE49-F238E27FC236}">
                <a16:creationId xmlns:a16="http://schemas.microsoft.com/office/drawing/2014/main" id="{8AE520CE-4513-6452-14D3-C33E51F29E52}"/>
              </a:ext>
            </a:extLst>
          </p:cNvPr>
          <p:cNvSpPr>
            <a:spLocks noGrp="1"/>
          </p:cNvSpPr>
          <p:nvPr>
            <p:ph type="sldNum" sz="quarter" idx="5"/>
          </p:nvPr>
        </p:nvSpPr>
        <p:spPr/>
        <p:txBody>
          <a:bodyPr/>
          <a:lstStyle/>
          <a:p>
            <a:fld id="{02B5FDCB-33CC-4AD4-B363-617329C34B90}" type="slidenum">
              <a:rPr lang="en-SG" smtClean="0"/>
              <a:t>2</a:t>
            </a:fld>
            <a:endParaRPr lang="en-SG"/>
          </a:p>
        </p:txBody>
      </p:sp>
    </p:spTree>
    <p:extLst>
      <p:ext uri="{BB962C8B-B14F-4D97-AF65-F5344CB8AC3E}">
        <p14:creationId xmlns:p14="http://schemas.microsoft.com/office/powerpoint/2010/main" val="2974026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A4BA-4D29-A8DF-B57D-85882B6D3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80DA-365B-C047-1DEC-58D6D5B2F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B8D1C-17EA-F430-CF55-D15A23D189EB}"/>
              </a:ext>
            </a:extLst>
          </p:cNvPr>
          <p:cNvSpPr>
            <a:spLocks noGrp="1"/>
          </p:cNvSpPr>
          <p:nvPr>
            <p:ph type="body" idx="1"/>
          </p:nvPr>
        </p:nvSpPr>
        <p:spPr/>
        <p:txBody>
          <a:bodyPr/>
          <a:lstStyle/>
          <a:p>
            <a:r>
              <a:rPr lang="en-US" dirty="0"/>
              <a:t>Moving on to some background on the research. We are specifically looking for right-handed neutrinos above the MeV scale, also known as Heavy Neutral Leptons via its decay products in various decay channels listed on the right. </a:t>
            </a:r>
          </a:p>
          <a:p>
            <a:endParaRPr lang="en-US" dirty="0"/>
          </a:p>
          <a:p>
            <a:r>
              <a:rPr lang="en-US" dirty="0"/>
              <a:t>We are focusing on the ICARUS </a:t>
            </a:r>
            <a:r>
              <a:rPr lang="en-US" dirty="0" err="1"/>
              <a:t>LArTPC</a:t>
            </a:r>
            <a:r>
              <a:rPr lang="en-US" dirty="0"/>
              <a:t> detector and data from the </a:t>
            </a:r>
            <a:r>
              <a:rPr lang="en-US" dirty="0" err="1"/>
              <a:t>NuMI</a:t>
            </a:r>
            <a:r>
              <a:rPr lang="en-US" dirty="0"/>
              <a:t> to look for these HNLs. </a:t>
            </a:r>
          </a:p>
          <a:p>
            <a:endParaRPr lang="en-US" dirty="0"/>
          </a:p>
          <a:p>
            <a:r>
              <a:rPr lang="en-US" dirty="0"/>
              <a:t>While all the possible decay channels will be eventually looked into, I am currently particularly focusing on final state two shower particles as HNL candidates, so the ones circled in red. So specifically Di-electron and Di-photon shower signatures in ICARUS detector via the </a:t>
            </a:r>
            <a:r>
              <a:rPr lang="en-US" dirty="0" err="1"/>
              <a:t>NuMI</a:t>
            </a:r>
            <a:r>
              <a:rPr lang="en-US" dirty="0"/>
              <a:t> beam</a:t>
            </a:r>
          </a:p>
        </p:txBody>
      </p:sp>
      <p:sp>
        <p:nvSpPr>
          <p:cNvPr id="4" name="Slide Number Placeholder 3">
            <a:extLst>
              <a:ext uri="{FF2B5EF4-FFF2-40B4-BE49-F238E27FC236}">
                <a16:creationId xmlns:a16="http://schemas.microsoft.com/office/drawing/2014/main" id="{6B8C0B01-45D4-6BF3-1074-6D74E0E73FA3}"/>
              </a:ext>
            </a:extLst>
          </p:cNvPr>
          <p:cNvSpPr>
            <a:spLocks noGrp="1"/>
          </p:cNvSpPr>
          <p:nvPr>
            <p:ph type="sldNum" sz="quarter" idx="5"/>
          </p:nvPr>
        </p:nvSpPr>
        <p:spPr/>
        <p:txBody>
          <a:bodyPr/>
          <a:lstStyle/>
          <a:p>
            <a:fld id="{02B5FDCB-33CC-4AD4-B363-617329C34B90}" type="slidenum">
              <a:rPr lang="en-SG" smtClean="0"/>
              <a:t>3</a:t>
            </a:fld>
            <a:endParaRPr lang="en-SG"/>
          </a:p>
        </p:txBody>
      </p:sp>
    </p:spTree>
    <p:extLst>
      <p:ext uri="{BB962C8B-B14F-4D97-AF65-F5344CB8AC3E}">
        <p14:creationId xmlns:p14="http://schemas.microsoft.com/office/powerpoint/2010/main" val="639299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B4791-2B0C-B0FF-37E5-15066CB37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D74B4-5A9F-F32D-59FA-607DAA396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DD9F1-EEB7-BE44-3E5B-20CB3E35BFF2}"/>
              </a:ext>
            </a:extLst>
          </p:cNvPr>
          <p:cNvSpPr>
            <a:spLocks noGrp="1"/>
          </p:cNvSpPr>
          <p:nvPr>
            <p:ph type="body" idx="1"/>
          </p:nvPr>
        </p:nvSpPr>
        <p:spPr/>
        <p:txBody>
          <a:bodyPr/>
          <a:lstStyle/>
          <a:p>
            <a:r>
              <a:rPr lang="en-US" dirty="0"/>
              <a:t>So I </a:t>
            </a:r>
            <a:r>
              <a:rPr lang="en-US" dirty="0" err="1"/>
              <a:t>wanna</a:t>
            </a:r>
            <a:r>
              <a:rPr lang="en-US" dirty="0"/>
              <a:t> talk our motivations for choosing ICARUS and </a:t>
            </a:r>
            <a:r>
              <a:rPr lang="en-US" dirty="0" err="1"/>
              <a:t>NuMI</a:t>
            </a:r>
            <a:r>
              <a:rPr lang="en-US" dirty="0"/>
              <a:t>. Firstly, the higher energy of </a:t>
            </a:r>
            <a:r>
              <a:rPr lang="en-US" dirty="0" err="1"/>
              <a:t>NuMI</a:t>
            </a:r>
            <a:r>
              <a:rPr lang="en-US" dirty="0"/>
              <a:t> compared to the BNB beam should result in greater meson production and thus potentially increased HNL production, which leads to higher chance of detection and data to </a:t>
            </a:r>
            <a:r>
              <a:rPr lang="en-US" dirty="0" err="1"/>
              <a:t>analyse</a:t>
            </a:r>
            <a:r>
              <a:rPr lang="en-US" dirty="0"/>
              <a:t>. </a:t>
            </a:r>
          </a:p>
          <a:p>
            <a:endParaRPr lang="en-US" dirty="0"/>
          </a:p>
          <a:p>
            <a:r>
              <a:rPr lang="en-US" dirty="0"/>
              <a:t>Second is that the </a:t>
            </a:r>
            <a:r>
              <a:rPr lang="en-US" dirty="0" err="1"/>
              <a:t>NuMI</a:t>
            </a:r>
            <a:r>
              <a:rPr lang="en-US" dirty="0"/>
              <a:t> beam is directed off-axis to ICARUS, and thus neutrino background will be significantly lower than that of the on-axis BNB beam, allowing for easier background rejection of standard neutrino interactions</a:t>
            </a:r>
          </a:p>
          <a:p>
            <a:endParaRPr lang="en-US" dirty="0"/>
          </a:p>
          <a:p>
            <a:r>
              <a:rPr lang="en-US" dirty="0"/>
              <a:t>Lastly is that the ICARUS detector is that largest operational </a:t>
            </a:r>
            <a:r>
              <a:rPr lang="en-US" dirty="0" err="1"/>
              <a:t>LArTPC</a:t>
            </a:r>
            <a:r>
              <a:rPr lang="en-US" dirty="0"/>
              <a:t> detector, and has excellent calorimetric and Particle identification reconstruction efficiency, so it’s an ideal detector for searching in all the promising decay channels for any final state particles</a:t>
            </a:r>
          </a:p>
          <a:p>
            <a:endParaRPr lang="en-US" dirty="0"/>
          </a:p>
          <a:p>
            <a:r>
              <a:rPr lang="en-US" dirty="0"/>
              <a:t>The reason for focusing on two-shower channel is that they will be significant in searches for HNL, and being able to characterize two shower signatures arising from standard neutrinos and HNLs will be crucial in background rejection and identification. </a:t>
            </a:r>
            <a:endParaRPr lang="en-SG" dirty="0"/>
          </a:p>
        </p:txBody>
      </p:sp>
      <p:sp>
        <p:nvSpPr>
          <p:cNvPr id="4" name="Slide Number Placeholder 3">
            <a:extLst>
              <a:ext uri="{FF2B5EF4-FFF2-40B4-BE49-F238E27FC236}">
                <a16:creationId xmlns:a16="http://schemas.microsoft.com/office/drawing/2014/main" id="{2263E2B5-069F-3A0C-0310-3F272A86AAF4}"/>
              </a:ext>
            </a:extLst>
          </p:cNvPr>
          <p:cNvSpPr>
            <a:spLocks noGrp="1"/>
          </p:cNvSpPr>
          <p:nvPr>
            <p:ph type="sldNum" sz="quarter" idx="5"/>
          </p:nvPr>
        </p:nvSpPr>
        <p:spPr/>
        <p:txBody>
          <a:bodyPr/>
          <a:lstStyle/>
          <a:p>
            <a:fld id="{02B5FDCB-33CC-4AD4-B363-617329C34B90}" type="slidenum">
              <a:rPr lang="en-SG" smtClean="0"/>
              <a:t>4</a:t>
            </a:fld>
            <a:endParaRPr lang="en-SG"/>
          </a:p>
        </p:txBody>
      </p:sp>
    </p:spTree>
    <p:extLst>
      <p:ext uri="{BB962C8B-B14F-4D97-AF65-F5344CB8AC3E}">
        <p14:creationId xmlns:p14="http://schemas.microsoft.com/office/powerpoint/2010/main" val="150294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3C6E-A9FB-EB3F-01E4-0562A986A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3D360-FE34-1626-72BE-310254334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6ADEE-EE95-4EF9-34C7-273AE387589F}"/>
              </a:ext>
            </a:extLst>
          </p:cNvPr>
          <p:cNvSpPr>
            <a:spLocks noGrp="1"/>
          </p:cNvSpPr>
          <p:nvPr>
            <p:ph type="body" idx="1"/>
          </p:nvPr>
        </p:nvSpPr>
        <p:spPr/>
        <p:txBody>
          <a:bodyPr/>
          <a:lstStyle/>
          <a:p>
            <a:r>
              <a:rPr lang="en-US" dirty="0"/>
              <a:t>Moving on to initial event selection plan. For the Di-photon shower selection channel, I will be largely referencing Lane </a:t>
            </a:r>
            <a:r>
              <a:rPr lang="en-US" dirty="0" err="1"/>
              <a:t>Kashur’s</a:t>
            </a:r>
            <a:r>
              <a:rPr lang="en-US" dirty="0"/>
              <a:t> thesis work and using many of his kinematical and topological cuts and variables from </a:t>
            </a:r>
            <a:r>
              <a:rPr lang="en-US" dirty="0" err="1"/>
              <a:t>justin’s</a:t>
            </a:r>
            <a:r>
              <a:rPr lang="en-US" dirty="0"/>
              <a:t> medulla event selection tool. </a:t>
            </a:r>
          </a:p>
          <a:p>
            <a:endParaRPr lang="en-US" dirty="0"/>
          </a:p>
          <a:p>
            <a:r>
              <a:rPr lang="en-US" dirty="0"/>
              <a:t>My aim for this is to utilize lane’s results and validate it for background rejection for our eventual HNL search in a dedicated HNL simulation sample. </a:t>
            </a:r>
          </a:p>
          <a:p>
            <a:endParaRPr lang="en-US" dirty="0"/>
          </a:p>
          <a:p>
            <a:r>
              <a:rPr lang="en-US" dirty="0"/>
              <a:t>I will be using Lane’s thesis work and verifying his results for BNB Monte Carlo samples of muon neutrino and </a:t>
            </a:r>
            <a:r>
              <a:rPr lang="en-US" dirty="0" err="1"/>
              <a:t>cosmics</a:t>
            </a:r>
            <a:r>
              <a:rPr lang="en-US" dirty="0"/>
              <a:t>, and then moving on to applying the same selection in the </a:t>
            </a:r>
            <a:r>
              <a:rPr lang="en-US" dirty="0" err="1"/>
              <a:t>NuMI</a:t>
            </a:r>
            <a:r>
              <a:rPr lang="en-US" dirty="0"/>
              <a:t> MC sample and comparing</a:t>
            </a:r>
          </a:p>
          <a:p>
            <a:endParaRPr lang="en-US" dirty="0"/>
          </a:p>
          <a:p>
            <a:r>
              <a:rPr lang="en-US" dirty="0"/>
              <a:t>For</a:t>
            </a:r>
            <a:endParaRPr lang="en-SG" dirty="0"/>
          </a:p>
        </p:txBody>
      </p:sp>
      <p:sp>
        <p:nvSpPr>
          <p:cNvPr id="4" name="Slide Number Placeholder 3">
            <a:extLst>
              <a:ext uri="{FF2B5EF4-FFF2-40B4-BE49-F238E27FC236}">
                <a16:creationId xmlns:a16="http://schemas.microsoft.com/office/drawing/2014/main" id="{BC25A49A-D07D-CBF8-3730-F2B530DB1AC3}"/>
              </a:ext>
            </a:extLst>
          </p:cNvPr>
          <p:cNvSpPr>
            <a:spLocks noGrp="1"/>
          </p:cNvSpPr>
          <p:nvPr>
            <p:ph type="sldNum" sz="quarter" idx="5"/>
          </p:nvPr>
        </p:nvSpPr>
        <p:spPr/>
        <p:txBody>
          <a:bodyPr/>
          <a:lstStyle/>
          <a:p>
            <a:fld id="{02B5FDCB-33CC-4AD4-B363-617329C34B90}" type="slidenum">
              <a:rPr lang="en-SG" smtClean="0"/>
              <a:t>5</a:t>
            </a:fld>
            <a:endParaRPr lang="en-SG"/>
          </a:p>
        </p:txBody>
      </p:sp>
    </p:spTree>
    <p:extLst>
      <p:ext uri="{BB962C8B-B14F-4D97-AF65-F5344CB8AC3E}">
        <p14:creationId xmlns:p14="http://schemas.microsoft.com/office/powerpoint/2010/main" val="1503995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02DCF-53A0-FA01-953D-913ED0924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38DD8-E5A4-47B5-743D-869B8D3A0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EFA1D3-DB14-AAC2-6127-4A0765FDE517}"/>
              </a:ext>
            </a:extLst>
          </p:cNvPr>
          <p:cNvSpPr>
            <a:spLocks noGrp="1"/>
          </p:cNvSpPr>
          <p:nvPr>
            <p:ph type="body" idx="1"/>
          </p:nvPr>
        </p:nvSpPr>
        <p:spPr/>
        <p:txBody>
          <a:bodyPr/>
          <a:lstStyle/>
          <a:p>
            <a:r>
              <a:rPr lang="en-US" dirty="0"/>
              <a:t>Based on Lane’s thesis. I followed the same signal and selected definitions. </a:t>
            </a:r>
            <a:br>
              <a:rPr lang="en-US" dirty="0"/>
            </a:br>
            <a:br>
              <a:rPr lang="en-US" dirty="0"/>
            </a:br>
            <a:r>
              <a:rPr lang="en-US" dirty="0"/>
              <a:t>This z-axis requirement is made in an eﬀort to</a:t>
            </a:r>
          </a:p>
          <a:p>
            <a:r>
              <a:rPr lang="en-US" dirty="0"/>
              <a:t>159 avoid potential eﬀects in data and simulation related to the split ﬁrst induction</a:t>
            </a:r>
          </a:p>
          <a:p>
            <a:r>
              <a:rPr lang="en-US" dirty="0"/>
              <a:t>160 wire plane geometry</a:t>
            </a:r>
          </a:p>
          <a:p>
            <a:endParaRPr lang="en-US" dirty="0"/>
          </a:p>
          <a:p>
            <a:r>
              <a:rPr lang="en-US" dirty="0"/>
              <a:t>A signal will be defined as </a:t>
            </a:r>
            <a:endParaRPr lang="en-SG" dirty="0"/>
          </a:p>
        </p:txBody>
      </p:sp>
      <p:sp>
        <p:nvSpPr>
          <p:cNvPr id="4" name="Slide Number Placeholder 3">
            <a:extLst>
              <a:ext uri="{FF2B5EF4-FFF2-40B4-BE49-F238E27FC236}">
                <a16:creationId xmlns:a16="http://schemas.microsoft.com/office/drawing/2014/main" id="{57DA0DF1-2FBA-EC81-8428-D9B4A2E021FC}"/>
              </a:ext>
            </a:extLst>
          </p:cNvPr>
          <p:cNvSpPr>
            <a:spLocks noGrp="1"/>
          </p:cNvSpPr>
          <p:nvPr>
            <p:ph type="sldNum" sz="quarter" idx="5"/>
          </p:nvPr>
        </p:nvSpPr>
        <p:spPr/>
        <p:txBody>
          <a:bodyPr/>
          <a:lstStyle/>
          <a:p>
            <a:fld id="{02B5FDCB-33CC-4AD4-B363-617329C34B90}" type="slidenum">
              <a:rPr lang="en-SG" smtClean="0"/>
              <a:t>6</a:t>
            </a:fld>
            <a:endParaRPr lang="en-SG"/>
          </a:p>
        </p:txBody>
      </p:sp>
    </p:spTree>
    <p:extLst>
      <p:ext uri="{BB962C8B-B14F-4D97-AF65-F5344CB8AC3E}">
        <p14:creationId xmlns:p14="http://schemas.microsoft.com/office/powerpoint/2010/main" val="3655392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 efficiency is vastly different from lane’s with mine significantly higher. Will need to look into this more. Other than that, most of the other values are similar, with the primary reason for inefficiency being the same with final state protons misidentified as muons or </a:t>
            </a:r>
            <a:r>
              <a:rPr lang="en-US" dirty="0" err="1"/>
              <a:t>pions</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8</a:t>
            </a:fld>
            <a:endParaRPr lang="en-SG"/>
          </a:p>
        </p:txBody>
      </p:sp>
    </p:spTree>
    <p:extLst>
      <p:ext uri="{BB962C8B-B14F-4D97-AF65-F5344CB8AC3E}">
        <p14:creationId xmlns:p14="http://schemas.microsoft.com/office/powerpoint/2010/main" val="945978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issue here with the electron. The muon is also lower by about 10% for the efficiency. So ill need to look into as well, but it could be due to the small differences in our cuts and POT size</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9</a:t>
            </a:fld>
            <a:endParaRPr lang="en-SG"/>
          </a:p>
        </p:txBody>
      </p:sp>
    </p:spTree>
    <p:extLst>
      <p:ext uri="{BB962C8B-B14F-4D97-AF65-F5344CB8AC3E}">
        <p14:creationId xmlns:p14="http://schemas.microsoft.com/office/powerpoint/2010/main" val="3435855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recreated plots and comparing to lanes paper, the reconstructed neutral pion mass is basically identical with some small differences that could be due to slight binning differences. </a:t>
            </a:r>
          </a:p>
          <a:p>
            <a:endParaRPr lang="en-US" dirty="0"/>
          </a:p>
          <a:p>
            <a:r>
              <a:rPr lang="en-SG" dirty="0"/>
              <a:t>Primary muon length to assess basic reconstruction performance, very similar, </a:t>
            </a:r>
          </a:p>
          <a:p>
            <a:endParaRPr lang="en-SG" dirty="0"/>
          </a:p>
          <a:p>
            <a:r>
              <a:rPr lang="en-SG" dirty="0"/>
              <a:t>Boosting angle is the </a:t>
            </a:r>
            <a:r>
              <a:rPr lang="en-US" dirty="0"/>
              <a:t>the angle between the transverse momentum imbalance  vector  and  the  negative  transverse  momentum  of  the  muon</a:t>
            </a:r>
          </a:p>
          <a:p>
            <a:endParaRPr lang="en-US" dirty="0"/>
          </a:p>
          <a:p>
            <a:r>
              <a:rPr lang="en-US" dirty="0"/>
              <a:t>Transverse momentum imbalance, or the magnitude of the vector diﬀer-</a:t>
            </a:r>
          </a:p>
          <a:p>
            <a:r>
              <a:rPr lang="en-US" dirty="0"/>
              <a:t>275 </a:t>
            </a:r>
            <a:r>
              <a:rPr lang="en-US" dirty="0" err="1"/>
              <a:t>ence</a:t>
            </a:r>
            <a:r>
              <a:rPr lang="en-US" dirty="0"/>
              <a:t> between the transverse momentum of the muon and the hadronic</a:t>
            </a:r>
          </a:p>
          <a:p>
            <a:r>
              <a:rPr lang="en-US" dirty="0"/>
              <a:t>276                                                        system</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10</a:t>
            </a:fld>
            <a:endParaRPr lang="en-SG"/>
          </a:p>
        </p:txBody>
      </p:sp>
    </p:spTree>
    <p:extLst>
      <p:ext uri="{BB962C8B-B14F-4D97-AF65-F5344CB8AC3E}">
        <p14:creationId xmlns:p14="http://schemas.microsoft.com/office/powerpoint/2010/main" val="1501383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photon KE and Diphoton opening angle  relevant   to   the   calibration   of   electromagnetic  showers</a:t>
            </a:r>
          </a:p>
          <a:p>
            <a:endParaRPr lang="en-US" dirty="0"/>
          </a:p>
          <a:p>
            <a:r>
              <a:rPr lang="en-US" dirty="0"/>
              <a:t>Muon momentum and pi0 momentum which are relevant to Cross   section   analysis   observables   for   which   single   diﬀerential   cross   sec-</a:t>
            </a:r>
            <a:r>
              <a:rPr lang="en-US" dirty="0" err="1"/>
              <a:t>tions</a:t>
            </a:r>
            <a:r>
              <a:rPr lang="en-US" dirty="0"/>
              <a:t>  will  be  extracted  as  a  function  of</a:t>
            </a:r>
          </a:p>
          <a:p>
            <a:endParaRPr lang="en-US" dirty="0"/>
          </a:p>
          <a:p>
            <a:endParaRPr lang="en-US" dirty="0"/>
          </a:p>
          <a:p>
            <a:endParaRPr lang="en-US" dirty="0"/>
          </a:p>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11</a:t>
            </a:fld>
            <a:endParaRPr lang="en-SG"/>
          </a:p>
        </p:txBody>
      </p:sp>
    </p:spTree>
    <p:extLst>
      <p:ext uri="{BB962C8B-B14F-4D97-AF65-F5344CB8AC3E}">
        <p14:creationId xmlns:p14="http://schemas.microsoft.com/office/powerpoint/2010/main" val="3748115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4FF31-6C81-2BEF-DC0E-351A07E24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8FF50-797F-F668-BCC0-15607F53D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DEE6-2488-D74B-9C53-23D49D7F699D}"/>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D8E4514-34A4-763F-F426-914A4C2181A6}"/>
              </a:ext>
            </a:extLst>
          </p:cNvPr>
          <p:cNvSpPr>
            <a:spLocks noGrp="1"/>
          </p:cNvSpPr>
          <p:nvPr>
            <p:ph type="sldNum" sz="quarter" idx="5"/>
          </p:nvPr>
        </p:nvSpPr>
        <p:spPr/>
        <p:txBody>
          <a:bodyPr/>
          <a:lstStyle/>
          <a:p>
            <a:fld id="{02B5FDCB-33CC-4AD4-B363-617329C34B90}" type="slidenum">
              <a:rPr lang="en-SG" smtClean="0"/>
              <a:t>12</a:t>
            </a:fld>
            <a:endParaRPr lang="en-SG"/>
          </a:p>
        </p:txBody>
      </p:sp>
    </p:spTree>
    <p:extLst>
      <p:ext uri="{BB962C8B-B14F-4D97-AF65-F5344CB8AC3E}">
        <p14:creationId xmlns:p14="http://schemas.microsoft.com/office/powerpoint/2010/main" val="214169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A5836-8139-8709-69EE-923D94EDD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F5F29-5AE2-3333-6457-D156D0134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B3ECE-F868-5E44-1A9D-3B84D540853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C3D67CE-7270-A8CA-6F49-780ED29DDDBF}"/>
              </a:ext>
            </a:extLst>
          </p:cNvPr>
          <p:cNvSpPr>
            <a:spLocks noGrp="1"/>
          </p:cNvSpPr>
          <p:nvPr>
            <p:ph type="sldNum" sz="quarter" idx="5"/>
          </p:nvPr>
        </p:nvSpPr>
        <p:spPr/>
        <p:txBody>
          <a:bodyPr/>
          <a:lstStyle/>
          <a:p>
            <a:fld id="{02B5FDCB-33CC-4AD4-B363-617329C34B90}" type="slidenum">
              <a:rPr lang="en-SG" smtClean="0"/>
              <a:t>21</a:t>
            </a:fld>
            <a:endParaRPr lang="en-SG"/>
          </a:p>
        </p:txBody>
      </p:sp>
    </p:spTree>
    <p:extLst>
      <p:ext uri="{BB962C8B-B14F-4D97-AF65-F5344CB8AC3E}">
        <p14:creationId xmlns:p14="http://schemas.microsoft.com/office/powerpoint/2010/main" val="1218793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F4C623-3743-44FE-BB30-4D680FC21E5F}" type="datetime1">
              <a:rPr lang="en-SG" smtClean="0"/>
              <a:t>2/4/2026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92CC0-9396-4A95-847B-A14B5DA76FDA}" type="datetime1">
              <a:rPr lang="en-SG" smtClean="0"/>
              <a:t>2/4/2026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34868E-9FA3-45B6-9344-676864A44AF2}" type="datetime1">
              <a:rPr lang="en-SG" smtClean="0"/>
              <a:t>2/4/2026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97E219-D9CC-45F7-B320-31161895D8F1}" type="datetime1">
              <a:rPr lang="en-SG" smtClean="0"/>
              <a:t>2/4/2026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2A2B4F-3B42-493F-ABF9-3B86C6B4C746}" type="datetime1">
              <a:rPr lang="en-SG" smtClean="0"/>
              <a:t>2/4/2026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B82DB6-1CC4-41F8-90E0-9F605F9EDFF6}" type="datetime1">
              <a:rPr lang="en-SG" smtClean="0"/>
              <a:t>2/4/2026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7" name="Date Placeholder 6"/>
          <p:cNvSpPr>
            <a:spLocks noGrp="1"/>
          </p:cNvSpPr>
          <p:nvPr>
            <p:ph type="dt" sz="half" idx="10"/>
          </p:nvPr>
        </p:nvSpPr>
        <p:spPr/>
        <p:txBody>
          <a:bodyPr/>
          <a:lstStyle/>
          <a:p>
            <a:fld id="{B19941C0-5AAE-417A-957F-F9240437422A}" type="datetime1">
              <a:rPr lang="en-SG" smtClean="0"/>
              <a:t>2/4/2026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C0B95CB-D201-426D-A26D-E012AF0ECA84}" type="datetime1">
              <a:rPr lang="en-SG" smtClean="0"/>
              <a:t>2/4/2026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17E626-740C-4E7C-A260-9534A8E5421A}" type="datetime1">
              <a:rPr lang="en-SG" smtClean="0"/>
              <a:t>2/4/2026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8A08BD-E832-4BCB-9498-E6B091C19109}" type="datetime1">
              <a:rPr lang="en-SG" smtClean="0"/>
              <a:t>2/4/2026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B60EA9-F6A6-4AEA-985F-AACEB2270760}" type="datetime1">
              <a:rPr lang="en-SG" smtClean="0"/>
              <a:t>2/4/2026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E6F66B9-CA95-47B7-8675-9CEDFD5B040A}" type="datetime1">
              <a:rPr lang="en-SG" smtClean="0"/>
              <a:t>2/4/2026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3.png"/><Relationship Id="rId7"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5.png"/><Relationship Id="rId7" Type="http://schemas.openxmlformats.org/officeDocument/2006/relationships/image" Target="../media/image2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C4A4-1ABF-D84E-77AE-1336A4D0FA5B}"/>
              </a:ext>
            </a:extLst>
          </p:cNvPr>
          <p:cNvSpPr>
            <a:spLocks noGrp="1"/>
          </p:cNvSpPr>
          <p:nvPr>
            <p:ph type="ctrTitle"/>
          </p:nvPr>
        </p:nvSpPr>
        <p:spPr/>
        <p:txBody>
          <a:bodyPr/>
          <a:lstStyle/>
          <a:p>
            <a:r>
              <a:rPr lang="en-US" dirty="0"/>
              <a:t>Two-shower selection of HNL candidates</a:t>
            </a:r>
            <a:endParaRPr lang="en-SG" dirty="0"/>
          </a:p>
        </p:txBody>
      </p:sp>
      <p:sp>
        <p:nvSpPr>
          <p:cNvPr id="3" name="Subtitle 2">
            <a:extLst>
              <a:ext uri="{FF2B5EF4-FFF2-40B4-BE49-F238E27FC236}">
                <a16:creationId xmlns:a16="http://schemas.microsoft.com/office/drawing/2014/main" id="{FC2FF7D7-4FED-B2CE-418E-FE906F991867}"/>
              </a:ext>
            </a:extLst>
          </p:cNvPr>
          <p:cNvSpPr>
            <a:spLocks noGrp="1"/>
          </p:cNvSpPr>
          <p:nvPr>
            <p:ph type="subTitle" idx="1"/>
          </p:nvPr>
        </p:nvSpPr>
        <p:spPr/>
        <p:txBody>
          <a:bodyPr/>
          <a:lstStyle/>
          <a:p>
            <a:r>
              <a:rPr lang="en-US" dirty="0"/>
              <a:t>Jordon </a:t>
            </a:r>
            <a:r>
              <a:rPr lang="en-US" dirty="0" err="1"/>
              <a:t>koh</a:t>
            </a:r>
            <a:r>
              <a:rPr lang="en-US" dirty="0"/>
              <a:t>, Nanyang technological university</a:t>
            </a:r>
            <a:endParaRPr lang="en-SG" dirty="0"/>
          </a:p>
        </p:txBody>
      </p:sp>
      <p:sp>
        <p:nvSpPr>
          <p:cNvPr id="4" name="Slide Number Placeholder 3">
            <a:extLst>
              <a:ext uri="{FF2B5EF4-FFF2-40B4-BE49-F238E27FC236}">
                <a16:creationId xmlns:a16="http://schemas.microsoft.com/office/drawing/2014/main" id="{90199223-F3FA-34EA-AD1E-16827E704A98}"/>
              </a:ext>
            </a:extLst>
          </p:cNvPr>
          <p:cNvSpPr>
            <a:spLocks noGrp="1"/>
          </p:cNvSpPr>
          <p:nvPr>
            <p:ph type="sldNum" sz="quarter" idx="12"/>
          </p:nvPr>
        </p:nvSpPr>
        <p:spPr/>
        <p:txBody>
          <a:bodyPr/>
          <a:lstStyle/>
          <a:p>
            <a:fld id="{BBCD8743-5A53-4A98-BC6F-5DFD6CC2F469}" type="slidenum">
              <a:rPr lang="en-SG" smtClean="0"/>
              <a:t>1</a:t>
            </a:fld>
            <a:endParaRPr lang="en-SG"/>
          </a:p>
        </p:txBody>
      </p:sp>
    </p:spTree>
    <p:extLst>
      <p:ext uri="{BB962C8B-B14F-4D97-AF65-F5344CB8AC3E}">
        <p14:creationId xmlns:p14="http://schemas.microsoft.com/office/powerpoint/2010/main" val="3887369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5E0C-9AA0-7E86-C136-6E777C57C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C42BA-7297-98FA-F44B-6D0EF83BBE54}"/>
              </a:ext>
            </a:extLst>
          </p:cNvPr>
          <p:cNvSpPr>
            <a:spLocks noGrp="1"/>
          </p:cNvSpPr>
          <p:nvPr>
            <p:ph type="title"/>
          </p:nvPr>
        </p:nvSpPr>
        <p:spPr/>
        <p:txBody>
          <a:bodyPr/>
          <a:lstStyle/>
          <a:p>
            <a:r>
              <a:rPr lang="en-US" dirty="0"/>
              <a:t>About myself</a:t>
            </a:r>
            <a:endParaRPr lang="en-SG" dirty="0"/>
          </a:p>
        </p:txBody>
      </p:sp>
      <p:sp>
        <p:nvSpPr>
          <p:cNvPr id="3" name="Content Placeholder 2">
            <a:extLst>
              <a:ext uri="{FF2B5EF4-FFF2-40B4-BE49-F238E27FC236}">
                <a16:creationId xmlns:a16="http://schemas.microsoft.com/office/drawing/2014/main" id="{EB178758-AA35-3D04-2139-34FE1E8A6EF6}"/>
              </a:ext>
            </a:extLst>
          </p:cNvPr>
          <p:cNvSpPr>
            <a:spLocks noGrp="1"/>
          </p:cNvSpPr>
          <p:nvPr>
            <p:ph idx="1"/>
          </p:nvPr>
        </p:nvSpPr>
        <p:spPr>
          <a:xfrm>
            <a:off x="1097280" y="1845734"/>
            <a:ext cx="10651375" cy="4351866"/>
          </a:xfrm>
        </p:spPr>
        <p:txBody>
          <a:bodyPr>
            <a:normAutofit/>
          </a:bodyPr>
          <a:lstStyle/>
          <a:p>
            <a:pPr marL="201168" lvl="1" indent="0">
              <a:buNone/>
            </a:pPr>
            <a:r>
              <a:rPr lang="en-US" dirty="0"/>
              <a:t>			</a:t>
            </a:r>
          </a:p>
          <a:p>
            <a:pPr marL="0" indent="0">
              <a:buNone/>
            </a:pPr>
            <a:endParaRPr lang="en-SG" dirty="0"/>
          </a:p>
        </p:txBody>
      </p:sp>
      <p:sp>
        <p:nvSpPr>
          <p:cNvPr id="4" name="TextBox 3">
            <a:extLst>
              <a:ext uri="{FF2B5EF4-FFF2-40B4-BE49-F238E27FC236}">
                <a16:creationId xmlns:a16="http://schemas.microsoft.com/office/drawing/2014/main" id="{A68096C5-1471-0BAB-5A78-9C2C76757696}"/>
              </a:ext>
            </a:extLst>
          </p:cNvPr>
          <p:cNvSpPr txBox="1"/>
          <p:nvPr/>
        </p:nvSpPr>
        <p:spPr>
          <a:xfrm>
            <a:off x="1097281" y="1845734"/>
            <a:ext cx="8425410" cy="1754326"/>
          </a:xfrm>
          <a:prstGeom prst="rect">
            <a:avLst/>
          </a:prstGeom>
          <a:noFill/>
        </p:spPr>
        <p:txBody>
          <a:bodyPr wrap="square">
            <a:spAutoFit/>
          </a:bodyPr>
          <a:lstStyle/>
          <a:p>
            <a:pPr marL="285750" indent="-285750">
              <a:buFont typeface="Arial" panose="020B0604020202020204" pitchFamily="34" charset="0"/>
              <a:buChar char="•"/>
            </a:pPr>
            <a:r>
              <a:rPr lang="en-US" dirty="0"/>
              <a:t>Final year Physics undergraduate at Nanyang Technological University</a:t>
            </a:r>
          </a:p>
          <a:p>
            <a:pPr marL="285750" indent="-285750">
              <a:buFont typeface="Arial" panose="020B0604020202020204" pitchFamily="34" charset="0"/>
              <a:buChar char="•"/>
            </a:pPr>
            <a:r>
              <a:rPr lang="en-US" dirty="0"/>
              <a:t>Undertaking Final Year Project under Dr. Animesh Chatterjee and Dr. Albert De Roeck</a:t>
            </a:r>
          </a:p>
          <a:p>
            <a:pPr marL="285750" indent="-285750">
              <a:buFont typeface="Arial" panose="020B0604020202020204" pitchFamily="34" charset="0"/>
              <a:buChar char="•"/>
            </a:pPr>
            <a:r>
              <a:rPr lang="en-US" dirty="0"/>
              <a:t>Working with Dr. Animesh, Dr. Gajendra Gurung, and Dr. Harry Hausner’s group</a:t>
            </a:r>
          </a:p>
          <a:p>
            <a:pPr marL="285750" indent="-285750">
              <a:buFont typeface="Arial" panose="020B0604020202020204" pitchFamily="34" charset="0"/>
              <a:buChar char="•"/>
            </a:pPr>
            <a:r>
              <a:rPr lang="en-US" dirty="0"/>
              <a:t>Started in August last year </a:t>
            </a:r>
          </a:p>
          <a:p>
            <a:pPr marL="285750" indent="-285750">
              <a:buFont typeface="Arial" panose="020B0604020202020204" pitchFamily="34" charset="0"/>
              <a:buChar char="•"/>
            </a:pPr>
            <a:endParaRPr lang="en-US" dirty="0"/>
          </a:p>
          <a:p>
            <a:endParaRPr lang="en-SG" b="1" dirty="0"/>
          </a:p>
        </p:txBody>
      </p:sp>
      <p:sp>
        <p:nvSpPr>
          <p:cNvPr id="5" name="Slide Number Placeholder 4">
            <a:extLst>
              <a:ext uri="{FF2B5EF4-FFF2-40B4-BE49-F238E27FC236}">
                <a16:creationId xmlns:a16="http://schemas.microsoft.com/office/drawing/2014/main" id="{351BA14C-4804-537F-5973-A4E7D7A00BFB}"/>
              </a:ext>
            </a:extLst>
          </p:cNvPr>
          <p:cNvSpPr>
            <a:spLocks noGrp="1"/>
          </p:cNvSpPr>
          <p:nvPr>
            <p:ph type="sldNum" sz="quarter" idx="12"/>
          </p:nvPr>
        </p:nvSpPr>
        <p:spPr/>
        <p:txBody>
          <a:bodyPr/>
          <a:lstStyle/>
          <a:p>
            <a:fld id="{BBCD8743-5A53-4A98-BC6F-5DFD6CC2F469}" type="slidenum">
              <a:rPr lang="en-SG" smtClean="0"/>
              <a:t>2</a:t>
            </a:fld>
            <a:endParaRPr lang="en-SG"/>
          </a:p>
        </p:txBody>
      </p:sp>
    </p:spTree>
    <p:extLst>
      <p:ext uri="{BB962C8B-B14F-4D97-AF65-F5344CB8AC3E}">
        <p14:creationId xmlns:p14="http://schemas.microsoft.com/office/powerpoint/2010/main" val="1613910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7BDB-9701-984E-3B5C-CAFEA31C7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78366-A442-6703-8E8A-09627C3215C5}"/>
              </a:ext>
            </a:extLst>
          </p:cNvPr>
          <p:cNvSpPr>
            <a:spLocks noGrp="1"/>
          </p:cNvSpPr>
          <p:nvPr>
            <p:ph type="title"/>
          </p:nvPr>
        </p:nvSpPr>
        <p:spPr/>
        <p:txBody>
          <a:bodyPr/>
          <a:lstStyle/>
          <a:p>
            <a:r>
              <a:rPr lang="en-US" dirty="0"/>
              <a:t>Background</a:t>
            </a:r>
            <a:endParaRPr lang="en-SG" dirty="0"/>
          </a:p>
        </p:txBody>
      </p:sp>
      <p:sp>
        <p:nvSpPr>
          <p:cNvPr id="3" name="Content Placeholder 2">
            <a:extLst>
              <a:ext uri="{FF2B5EF4-FFF2-40B4-BE49-F238E27FC236}">
                <a16:creationId xmlns:a16="http://schemas.microsoft.com/office/drawing/2014/main" id="{9A3A9378-1C91-D033-6E65-8E0A3680C8BB}"/>
              </a:ext>
            </a:extLst>
          </p:cNvPr>
          <p:cNvSpPr>
            <a:spLocks noGrp="1"/>
          </p:cNvSpPr>
          <p:nvPr>
            <p:ph idx="1"/>
          </p:nvPr>
        </p:nvSpPr>
        <p:spPr>
          <a:xfrm>
            <a:off x="1097280" y="1845734"/>
            <a:ext cx="10651375" cy="4351866"/>
          </a:xfrm>
        </p:spPr>
        <p:txBody>
          <a:bodyPr>
            <a:normAutofit/>
          </a:bodyPr>
          <a:lstStyle/>
          <a:p>
            <a:pPr marL="201168" lvl="1" indent="0">
              <a:buNone/>
            </a:pPr>
            <a:r>
              <a:rPr lang="en-US" dirty="0"/>
              <a:t>			</a:t>
            </a:r>
          </a:p>
          <a:p>
            <a:pPr marL="0" indent="0">
              <a:buNone/>
            </a:pPr>
            <a:endParaRPr lang="en-SG"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4D2DD50-F74D-F46C-EEE7-7F2E8C6B0064}"/>
                  </a:ext>
                </a:extLst>
              </p:cNvPr>
              <p:cNvSpPr txBox="1"/>
              <p:nvPr/>
            </p:nvSpPr>
            <p:spPr>
              <a:xfrm>
                <a:off x="1097280" y="1815053"/>
                <a:ext cx="5728393" cy="3693319"/>
              </a:xfrm>
              <a:prstGeom prst="rect">
                <a:avLst/>
              </a:prstGeom>
              <a:noFill/>
            </p:spPr>
            <p:txBody>
              <a:bodyPr wrap="square">
                <a:spAutoFit/>
              </a:bodyPr>
              <a:lstStyle/>
              <a:p>
                <a:r>
                  <a:rPr lang="en-US" sz="2400" b="1" dirty="0"/>
                  <a:t>Looking for Heavy Neutral Leptons (HNLs) decay product candidates </a:t>
                </a:r>
              </a:p>
              <a:p>
                <a:pPr marL="285750" indent="-285750">
                  <a:buFont typeface="Arial" panose="020B0604020202020204" pitchFamily="34" charset="0"/>
                  <a:buChar char="•"/>
                </a:pPr>
                <a:r>
                  <a:rPr lang="en-US" dirty="0"/>
                  <a:t>Focusing on </a:t>
                </a:r>
                <a:r>
                  <a:rPr lang="en-US" dirty="0" err="1"/>
                  <a:t>NuMI</a:t>
                </a:r>
                <a:r>
                  <a:rPr lang="en-US" dirty="0"/>
                  <a:t> beam and ICARUS detector</a:t>
                </a:r>
              </a:p>
              <a:p>
                <a:pPr marL="285750" indent="-285750">
                  <a:buFont typeface="Arial" panose="020B0604020202020204" pitchFamily="34" charset="0"/>
                  <a:buChar char="•"/>
                </a:pPr>
                <a:r>
                  <a:rPr lang="en-US" dirty="0"/>
                  <a:t>Particularly looking at final state two-shower particles </a:t>
                </a:r>
              </a:p>
              <a:p>
                <a:endParaRPr lang="en-US" dirty="0"/>
              </a:p>
              <a:p>
                <a:r>
                  <a:rPr lang="en-US" sz="2400" b="1" dirty="0"/>
                  <a:t>Examples</a:t>
                </a:r>
              </a:p>
              <a:p>
                <a:pPr marL="285750" indent="-285750">
                  <a:buFont typeface="Arial" panose="020B0604020202020204" pitchFamily="34" charset="0"/>
                  <a:buChar char="•"/>
                </a:pPr>
                <a:r>
                  <a:rPr lang="en-US" dirty="0"/>
                  <a:t>Di-electron shower (</a:t>
                </a:r>
                <a:r>
                  <a:rPr lang="en-US" i="1" dirty="0" err="1"/>
                  <a:t>eev</a:t>
                </a:r>
                <a:r>
                  <a:rPr lang="en-US" i="1" dirty="0"/>
                  <a:t>)</a:t>
                </a:r>
              </a:p>
              <a:p>
                <a:pPr marL="285750" indent="-285750">
                  <a:buFont typeface="Arial" panose="020B0604020202020204" pitchFamily="34" charset="0"/>
                  <a:buChar char="•"/>
                </a:pPr>
                <a:r>
                  <a:rPr lang="en-US" dirty="0"/>
                  <a:t>Di-photon shower from neutral pion production channel (</a:t>
                </a:r>
                <a:r>
                  <a:rPr lang="en-US" i="1" dirty="0"/>
                  <a:t>v</a:t>
                </a:r>
                <a14:m>
                  <m:oMath xmlns:m="http://schemas.openxmlformats.org/officeDocument/2006/math">
                    <m:sSup>
                      <m:sSupPr>
                        <m:ctrlPr>
                          <a:rPr lang="el-GR" i="1" smtClean="0">
                            <a:latin typeface="Cambria Math" panose="02040503050406030204" pitchFamily="18" charset="0"/>
                          </a:rPr>
                        </m:ctrlPr>
                      </m:sSupPr>
                      <m:e>
                        <m:r>
                          <a:rPr lang="el-GR" i="1">
                            <a:latin typeface="Cambria Math" panose="02040503050406030204" pitchFamily="18" charset="0"/>
                          </a:rPr>
                          <m:t>𝜋</m:t>
                        </m:r>
                      </m:e>
                      <m:sup>
                        <m:r>
                          <a:rPr lang="en-US" b="0" i="1" smtClean="0">
                            <a:latin typeface="Cambria Math" panose="02040503050406030204" pitchFamily="18" charset="0"/>
                          </a:rPr>
                          <m:t>0</m:t>
                        </m:r>
                      </m:sup>
                    </m:sSup>
                  </m:oMath>
                </a14:m>
                <a:r>
                  <a:rPr lang="en-US" dirty="0"/>
                  <a:t>)</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SG" b="1" dirty="0"/>
              </a:p>
            </p:txBody>
          </p:sp>
        </mc:Choice>
        <mc:Fallback xmlns="">
          <p:sp>
            <p:nvSpPr>
              <p:cNvPr id="4" name="TextBox 3">
                <a:extLst>
                  <a:ext uri="{FF2B5EF4-FFF2-40B4-BE49-F238E27FC236}">
                    <a16:creationId xmlns:a16="http://schemas.microsoft.com/office/drawing/2014/main" id="{D4D2DD50-F74D-F46C-EEE7-7F2E8C6B0064}"/>
                  </a:ext>
                </a:extLst>
              </p:cNvPr>
              <p:cNvSpPr txBox="1">
                <a:spLocks noRot="1" noChangeAspect="1" noMove="1" noResize="1" noEditPoints="1" noAdjustHandles="1" noChangeArrowheads="1" noChangeShapeType="1" noTextEdit="1"/>
              </p:cNvSpPr>
              <p:nvPr/>
            </p:nvSpPr>
            <p:spPr>
              <a:xfrm>
                <a:off x="1097280" y="1815053"/>
                <a:ext cx="5728393" cy="3693319"/>
              </a:xfrm>
              <a:prstGeom prst="rect">
                <a:avLst/>
              </a:prstGeom>
              <a:blipFill>
                <a:blip r:embed="rId3"/>
                <a:stretch>
                  <a:fillRect l="-1596" t="-1320" r="-1277"/>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D0B74264-0CAE-1276-60A0-FB3A5D41A1F5}"/>
              </a:ext>
            </a:extLst>
          </p:cNvPr>
          <p:cNvPicPr>
            <a:picLocks noChangeAspect="1"/>
          </p:cNvPicPr>
          <p:nvPr/>
        </p:nvPicPr>
        <p:blipFill>
          <a:blip r:embed="rId4"/>
          <a:stretch>
            <a:fillRect/>
          </a:stretch>
        </p:blipFill>
        <p:spPr>
          <a:xfrm>
            <a:off x="7721601" y="1988271"/>
            <a:ext cx="3898178" cy="3151485"/>
          </a:xfrm>
          <a:prstGeom prst="rect">
            <a:avLst/>
          </a:prstGeom>
        </p:spPr>
      </p:pic>
      <p:sp>
        <p:nvSpPr>
          <p:cNvPr id="7" name="TextBox 6">
            <a:extLst>
              <a:ext uri="{FF2B5EF4-FFF2-40B4-BE49-F238E27FC236}">
                <a16:creationId xmlns:a16="http://schemas.microsoft.com/office/drawing/2014/main" id="{695ECE92-3C21-D601-BB29-EC523FEF1232}"/>
              </a:ext>
            </a:extLst>
          </p:cNvPr>
          <p:cNvSpPr txBox="1"/>
          <p:nvPr/>
        </p:nvSpPr>
        <p:spPr>
          <a:xfrm>
            <a:off x="7784484" y="5139756"/>
            <a:ext cx="3772411" cy="523220"/>
          </a:xfrm>
          <a:prstGeom prst="rect">
            <a:avLst/>
          </a:prstGeom>
          <a:noFill/>
        </p:spPr>
        <p:txBody>
          <a:bodyPr wrap="square">
            <a:spAutoFit/>
          </a:bodyPr>
          <a:lstStyle/>
          <a:p>
            <a:pPr algn="ctr"/>
            <a:r>
              <a:rPr lang="en-US" sz="1400" dirty="0"/>
              <a:t>Most relevant HNL decay channels into SM particles, from (Chatterjee et al., 2025) </a:t>
            </a:r>
            <a:endParaRPr lang="en-SG" sz="1400" dirty="0"/>
          </a:p>
        </p:txBody>
      </p:sp>
      <p:sp>
        <p:nvSpPr>
          <p:cNvPr id="11" name="Oval 10">
            <a:extLst>
              <a:ext uri="{FF2B5EF4-FFF2-40B4-BE49-F238E27FC236}">
                <a16:creationId xmlns:a16="http://schemas.microsoft.com/office/drawing/2014/main" id="{3E9CD772-3EF5-869F-2343-82A2639EEAE4}"/>
              </a:ext>
            </a:extLst>
          </p:cNvPr>
          <p:cNvSpPr/>
          <p:nvPr/>
        </p:nvSpPr>
        <p:spPr>
          <a:xfrm>
            <a:off x="8617527" y="3429000"/>
            <a:ext cx="480291" cy="34867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Oval 11">
            <a:extLst>
              <a:ext uri="{FF2B5EF4-FFF2-40B4-BE49-F238E27FC236}">
                <a16:creationId xmlns:a16="http://schemas.microsoft.com/office/drawing/2014/main" id="{AB0486DA-C949-F3C4-59AA-E0C0CF76226F}"/>
              </a:ext>
            </a:extLst>
          </p:cNvPr>
          <p:cNvSpPr/>
          <p:nvPr/>
        </p:nvSpPr>
        <p:spPr>
          <a:xfrm>
            <a:off x="8617526" y="3783585"/>
            <a:ext cx="480291" cy="34867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9A168A28-9160-2174-EC71-DAA422C557F8}"/>
              </a:ext>
            </a:extLst>
          </p:cNvPr>
          <p:cNvSpPr/>
          <p:nvPr/>
        </p:nvSpPr>
        <p:spPr>
          <a:xfrm>
            <a:off x="8617526" y="2601750"/>
            <a:ext cx="480291" cy="34867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848D424E-A74E-36B0-18E9-DE78DCEC8457}"/>
              </a:ext>
            </a:extLst>
          </p:cNvPr>
          <p:cNvSpPr/>
          <p:nvPr/>
        </p:nvSpPr>
        <p:spPr>
          <a:xfrm>
            <a:off x="8617526" y="3003752"/>
            <a:ext cx="480291" cy="34867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Slide Number Placeholder 4">
            <a:extLst>
              <a:ext uri="{FF2B5EF4-FFF2-40B4-BE49-F238E27FC236}">
                <a16:creationId xmlns:a16="http://schemas.microsoft.com/office/drawing/2014/main" id="{F6791921-3AE4-2980-89C0-A83A3D075261}"/>
              </a:ext>
            </a:extLst>
          </p:cNvPr>
          <p:cNvSpPr>
            <a:spLocks noGrp="1"/>
          </p:cNvSpPr>
          <p:nvPr>
            <p:ph type="sldNum" sz="quarter" idx="12"/>
          </p:nvPr>
        </p:nvSpPr>
        <p:spPr/>
        <p:txBody>
          <a:bodyPr/>
          <a:lstStyle/>
          <a:p>
            <a:fld id="{BBCD8743-5A53-4A98-BC6F-5DFD6CC2F469}" type="slidenum">
              <a:rPr lang="en-SG" smtClean="0"/>
              <a:t>3</a:t>
            </a:fld>
            <a:endParaRPr lang="en-SG"/>
          </a:p>
        </p:txBody>
      </p:sp>
    </p:spTree>
    <p:extLst>
      <p:ext uri="{BB962C8B-B14F-4D97-AF65-F5344CB8AC3E}">
        <p14:creationId xmlns:p14="http://schemas.microsoft.com/office/powerpoint/2010/main" val="2454742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AB677-3F1E-B058-2833-45741004A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298F4-D01B-D251-9722-671611468CAC}"/>
              </a:ext>
            </a:extLst>
          </p:cNvPr>
          <p:cNvSpPr>
            <a:spLocks noGrp="1"/>
          </p:cNvSpPr>
          <p:nvPr>
            <p:ph type="title"/>
          </p:nvPr>
        </p:nvSpPr>
        <p:spPr/>
        <p:txBody>
          <a:bodyPr/>
          <a:lstStyle/>
          <a:p>
            <a:r>
              <a:rPr lang="en-US" dirty="0"/>
              <a:t>Motivations</a:t>
            </a:r>
            <a:endParaRPr lang="en-SG" dirty="0"/>
          </a:p>
        </p:txBody>
      </p:sp>
      <p:sp>
        <p:nvSpPr>
          <p:cNvPr id="3" name="Content Placeholder 2">
            <a:extLst>
              <a:ext uri="{FF2B5EF4-FFF2-40B4-BE49-F238E27FC236}">
                <a16:creationId xmlns:a16="http://schemas.microsoft.com/office/drawing/2014/main" id="{E3522F9E-B332-9841-A067-B97A2B72FBF9}"/>
              </a:ext>
            </a:extLst>
          </p:cNvPr>
          <p:cNvSpPr>
            <a:spLocks noGrp="1"/>
          </p:cNvSpPr>
          <p:nvPr>
            <p:ph idx="1"/>
          </p:nvPr>
        </p:nvSpPr>
        <p:spPr>
          <a:xfrm>
            <a:off x="1097280" y="1845734"/>
            <a:ext cx="10651375" cy="4351866"/>
          </a:xfrm>
        </p:spPr>
        <p:txBody>
          <a:bodyPr>
            <a:normAutofit/>
          </a:bodyPr>
          <a:lstStyle/>
          <a:p>
            <a:pPr marL="201168" lvl="1" indent="0">
              <a:buNone/>
            </a:pPr>
            <a:r>
              <a:rPr lang="en-US" dirty="0"/>
              <a:t>			</a:t>
            </a:r>
          </a:p>
          <a:p>
            <a:pPr>
              <a:buFont typeface="Arial" panose="020B0604020202020204" pitchFamily="34" charset="0"/>
              <a:buChar char="•"/>
            </a:pPr>
            <a:endParaRPr lang="en-SG" dirty="0"/>
          </a:p>
        </p:txBody>
      </p:sp>
      <p:sp>
        <p:nvSpPr>
          <p:cNvPr id="4" name="TextBox 3">
            <a:extLst>
              <a:ext uri="{FF2B5EF4-FFF2-40B4-BE49-F238E27FC236}">
                <a16:creationId xmlns:a16="http://schemas.microsoft.com/office/drawing/2014/main" id="{EDB4F0BB-D074-9811-26A7-6FD74DEC6AC8}"/>
              </a:ext>
            </a:extLst>
          </p:cNvPr>
          <p:cNvSpPr txBox="1"/>
          <p:nvPr/>
        </p:nvSpPr>
        <p:spPr>
          <a:xfrm>
            <a:off x="1097280" y="1815053"/>
            <a:ext cx="9589193" cy="5078313"/>
          </a:xfrm>
          <a:prstGeom prst="rect">
            <a:avLst/>
          </a:prstGeom>
          <a:noFill/>
        </p:spPr>
        <p:txBody>
          <a:bodyPr wrap="square">
            <a:spAutoFit/>
          </a:bodyPr>
          <a:lstStyle/>
          <a:p>
            <a:r>
              <a:rPr lang="en-US" sz="2400" b="1" u="sng" dirty="0"/>
              <a:t>Reasons for choosing ICARUS and </a:t>
            </a:r>
            <a:r>
              <a:rPr lang="en-US" sz="2400" b="1" u="sng" dirty="0" err="1"/>
              <a:t>NuMI</a:t>
            </a:r>
            <a:r>
              <a:rPr lang="en-US" sz="2400" b="1" u="sng" dirty="0"/>
              <a:t>  beam</a:t>
            </a:r>
            <a:endParaRPr lang="en-US" b="1" u="sng" dirty="0"/>
          </a:p>
          <a:p>
            <a:pPr marL="285750" indent="-285750">
              <a:buFont typeface="Arial" panose="020B0604020202020204" pitchFamily="34" charset="0"/>
              <a:buChar char="•"/>
            </a:pPr>
            <a:r>
              <a:rPr lang="en-US" dirty="0"/>
              <a:t>Higher energy of </a:t>
            </a:r>
            <a:r>
              <a:rPr lang="en-US" dirty="0" err="1"/>
              <a:t>NuMI</a:t>
            </a:r>
            <a:r>
              <a:rPr lang="en-US" dirty="0"/>
              <a:t> beam compared to BNB beam results in greater meson production rate and potentially increased HNL production</a:t>
            </a:r>
          </a:p>
          <a:p>
            <a:pPr marL="285750" indent="-285750">
              <a:buFont typeface="Arial" panose="020B0604020202020204" pitchFamily="34" charset="0"/>
              <a:buChar char="•"/>
            </a:pPr>
            <a:r>
              <a:rPr lang="en-US" dirty="0" err="1"/>
              <a:t>NuMI</a:t>
            </a:r>
            <a:r>
              <a:rPr lang="en-US" dirty="0"/>
              <a:t> beam is directed off-axis to ICARUS, thus neutrino background is significantly lower than that of on-axis BNB beam</a:t>
            </a:r>
          </a:p>
          <a:p>
            <a:pPr marL="285750" indent="-285750">
              <a:buFont typeface="Arial" panose="020B0604020202020204" pitchFamily="34" charset="0"/>
              <a:buChar char="•"/>
            </a:pPr>
            <a:r>
              <a:rPr lang="en-US" dirty="0"/>
              <a:t>ICARUS is the largest operational </a:t>
            </a:r>
            <a:r>
              <a:rPr lang="en-US" dirty="0" err="1"/>
              <a:t>LArTPC</a:t>
            </a:r>
            <a:r>
              <a:rPr lang="en-US" dirty="0"/>
              <a:t> detector with excellent calorimetric and Particle PID reconstruction, enabling identification of all promising decay channels</a:t>
            </a:r>
          </a:p>
          <a:p>
            <a:endParaRPr lang="en-US" dirty="0"/>
          </a:p>
          <a:p>
            <a:r>
              <a:rPr lang="en-US" sz="2400" b="1" u="sng" dirty="0"/>
              <a:t>Reasons for two-shower channel</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a:rPr>
              <a:t>Two-shower channels are significant in searches for HNL, being able to characterize two-shower interactions from neutrinos and HNLs will be crucial </a:t>
            </a: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endParaRPr lang="en-US" sz="2400" b="1" u="sng" dirty="0"/>
          </a:p>
          <a:p>
            <a:endParaRPr lang="en-US" dirty="0"/>
          </a:p>
          <a:p>
            <a:endParaRPr lang="en-US" dirty="0"/>
          </a:p>
          <a:p>
            <a:endParaRPr lang="en-US" dirty="0"/>
          </a:p>
          <a:p>
            <a:pPr marL="285750" indent="-285750">
              <a:buFont typeface="Arial" panose="020B0604020202020204" pitchFamily="34" charset="0"/>
              <a:buChar char="•"/>
            </a:pPr>
            <a:endParaRPr lang="en-US" dirty="0"/>
          </a:p>
          <a:p>
            <a:endParaRPr lang="en-SG" b="1" dirty="0"/>
          </a:p>
        </p:txBody>
      </p:sp>
      <p:sp>
        <p:nvSpPr>
          <p:cNvPr id="5" name="Slide Number Placeholder 4">
            <a:extLst>
              <a:ext uri="{FF2B5EF4-FFF2-40B4-BE49-F238E27FC236}">
                <a16:creationId xmlns:a16="http://schemas.microsoft.com/office/drawing/2014/main" id="{D9330D64-A3BD-BE59-CDE6-18BE76E9F59B}"/>
              </a:ext>
            </a:extLst>
          </p:cNvPr>
          <p:cNvSpPr>
            <a:spLocks noGrp="1"/>
          </p:cNvSpPr>
          <p:nvPr>
            <p:ph type="sldNum" sz="quarter" idx="12"/>
          </p:nvPr>
        </p:nvSpPr>
        <p:spPr/>
        <p:txBody>
          <a:bodyPr/>
          <a:lstStyle/>
          <a:p>
            <a:fld id="{BBCD8743-5A53-4A98-BC6F-5DFD6CC2F469}" type="slidenum">
              <a:rPr lang="en-SG" smtClean="0"/>
              <a:t>4</a:t>
            </a:fld>
            <a:endParaRPr lang="en-SG"/>
          </a:p>
        </p:txBody>
      </p:sp>
    </p:spTree>
    <p:extLst>
      <p:ext uri="{BB962C8B-B14F-4D97-AF65-F5344CB8AC3E}">
        <p14:creationId xmlns:p14="http://schemas.microsoft.com/office/powerpoint/2010/main" val="1218123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B9375-E165-D792-07E9-A887AD7ED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708E6-21C1-9002-AB94-BCA2C6025EEF}"/>
              </a:ext>
            </a:extLst>
          </p:cNvPr>
          <p:cNvSpPr>
            <a:spLocks noGrp="1"/>
          </p:cNvSpPr>
          <p:nvPr>
            <p:ph type="title"/>
          </p:nvPr>
        </p:nvSpPr>
        <p:spPr/>
        <p:txBody>
          <a:bodyPr/>
          <a:lstStyle/>
          <a:p>
            <a:r>
              <a:rPr lang="en-US" dirty="0"/>
              <a:t>Event selection plan</a:t>
            </a:r>
            <a:endParaRPr lang="en-SG" dirty="0"/>
          </a:p>
        </p:txBody>
      </p:sp>
      <p:sp>
        <p:nvSpPr>
          <p:cNvPr id="3" name="Content Placeholder 2">
            <a:extLst>
              <a:ext uri="{FF2B5EF4-FFF2-40B4-BE49-F238E27FC236}">
                <a16:creationId xmlns:a16="http://schemas.microsoft.com/office/drawing/2014/main" id="{5D4D1A27-3F10-8545-24F8-824185EC93C5}"/>
              </a:ext>
            </a:extLst>
          </p:cNvPr>
          <p:cNvSpPr>
            <a:spLocks noGrp="1"/>
          </p:cNvSpPr>
          <p:nvPr>
            <p:ph idx="1"/>
          </p:nvPr>
        </p:nvSpPr>
        <p:spPr>
          <a:xfrm>
            <a:off x="1097280" y="1845734"/>
            <a:ext cx="10651375" cy="4351866"/>
          </a:xfrm>
        </p:spPr>
        <p:txBody>
          <a:bodyPr>
            <a:normAutofit/>
          </a:bodyPr>
          <a:lstStyle/>
          <a:p>
            <a:pPr marL="201168" lvl="1" indent="0">
              <a:buNone/>
            </a:pPr>
            <a:r>
              <a:rPr lang="en-US" dirty="0"/>
              <a:t>			</a:t>
            </a:r>
          </a:p>
          <a:p>
            <a:pPr>
              <a:buFont typeface="Arial" panose="020B0604020202020204" pitchFamily="34" charset="0"/>
              <a:buChar char="•"/>
            </a:pPr>
            <a:endParaRPr lang="en-SG" dirty="0"/>
          </a:p>
        </p:txBody>
      </p:sp>
      <p:sp>
        <p:nvSpPr>
          <p:cNvPr id="4" name="TextBox 3">
            <a:extLst>
              <a:ext uri="{FF2B5EF4-FFF2-40B4-BE49-F238E27FC236}">
                <a16:creationId xmlns:a16="http://schemas.microsoft.com/office/drawing/2014/main" id="{9BC6C4AA-05E2-A40A-51DD-5F3208DF66B3}"/>
              </a:ext>
            </a:extLst>
          </p:cNvPr>
          <p:cNvSpPr txBox="1"/>
          <p:nvPr/>
        </p:nvSpPr>
        <p:spPr>
          <a:xfrm>
            <a:off x="1097280" y="1815053"/>
            <a:ext cx="6347229" cy="4893647"/>
          </a:xfrm>
          <a:prstGeom prst="rect">
            <a:avLst/>
          </a:prstGeom>
          <a:noFill/>
        </p:spPr>
        <p:txBody>
          <a:bodyPr wrap="square">
            <a:spAutoFit/>
          </a:bodyPr>
          <a:lstStyle/>
          <a:p>
            <a:r>
              <a:rPr lang="en-US" sz="2400" b="1" dirty="0"/>
              <a:t>For Di-photon shower selection</a:t>
            </a:r>
            <a:br>
              <a:rPr lang="en-US" b="1" dirty="0"/>
            </a:br>
            <a:endParaRPr lang="en-US" b="1" dirty="0"/>
          </a:p>
          <a:p>
            <a:pPr marL="285750" indent="-285750">
              <a:buFont typeface="Arial" panose="020B0604020202020204" pitchFamily="34" charset="0"/>
              <a:buChar char="•"/>
            </a:pPr>
            <a:r>
              <a:rPr lang="en-US" dirty="0"/>
              <a:t>Referencing and verifying Lane </a:t>
            </a:r>
            <a:r>
              <a:rPr lang="en-US" dirty="0" err="1"/>
              <a:t>Kashur’s</a:t>
            </a:r>
            <a:r>
              <a:rPr lang="en-US" dirty="0"/>
              <a:t> thesis work</a:t>
            </a:r>
          </a:p>
          <a:p>
            <a:pPr marL="285750" indent="-285750">
              <a:buFont typeface="Arial" panose="020B0604020202020204" pitchFamily="34" charset="0"/>
              <a:buChar char="•"/>
            </a:pPr>
            <a:r>
              <a:rPr lang="en-US" dirty="0"/>
              <a:t>Lane’s work focused on BNB beam data and MC sample</a:t>
            </a:r>
          </a:p>
          <a:p>
            <a:pPr marL="285750" indent="-285750">
              <a:buFont typeface="Arial" panose="020B0604020202020204" pitchFamily="34" charset="0"/>
              <a:buChar char="•"/>
            </a:pPr>
            <a:r>
              <a:rPr lang="en-US" dirty="0"/>
              <a:t>Eventually recreate selection for </a:t>
            </a:r>
            <a:r>
              <a:rPr lang="en-US" dirty="0" err="1"/>
              <a:t>NuMI</a:t>
            </a:r>
            <a:r>
              <a:rPr lang="en-US" dirty="0"/>
              <a:t> beam data and MC sample and compare distributions</a:t>
            </a:r>
          </a:p>
          <a:p>
            <a:pPr marL="285750" indent="-285750">
              <a:buFont typeface="Arial" panose="020B0604020202020204" pitchFamily="34" charset="0"/>
              <a:buChar char="•"/>
            </a:pPr>
            <a:endParaRPr lang="en-US" dirty="0"/>
          </a:p>
          <a:p>
            <a:r>
              <a:rPr lang="en-US" b="1" dirty="0"/>
              <a:t>Differences </a:t>
            </a:r>
          </a:p>
          <a:p>
            <a:pPr marL="285750" indent="-285750">
              <a:buFont typeface="Arial" panose="020B0604020202020204" pitchFamily="34" charset="0"/>
              <a:buChar char="•"/>
            </a:pPr>
            <a:r>
              <a:rPr lang="en-US" dirty="0"/>
              <a:t>Used much smaller MC BNB sample for recreation (1.68e21 vs 1.74e20) </a:t>
            </a:r>
          </a:p>
          <a:p>
            <a:pPr marL="285750" indent="-285750">
              <a:buFont typeface="Arial" panose="020B0604020202020204" pitchFamily="34" charset="0"/>
              <a:buChar char="•"/>
            </a:pPr>
            <a:r>
              <a:rPr lang="en-US" dirty="0"/>
              <a:t>Only focused on MC sample, no data comparison</a:t>
            </a:r>
          </a:p>
          <a:p>
            <a:pPr marL="285750" indent="-285750">
              <a:buFont typeface="Arial" panose="020B0604020202020204" pitchFamily="34" charset="0"/>
              <a:buChar char="•"/>
            </a:pPr>
            <a:r>
              <a:rPr lang="en-US" dirty="0"/>
              <a:t>Some data and beam quality cuts not applied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SG" b="1" dirty="0"/>
          </a:p>
        </p:txBody>
      </p:sp>
      <p:pic>
        <p:nvPicPr>
          <p:cNvPr id="5" name="Picture 4">
            <a:extLst>
              <a:ext uri="{FF2B5EF4-FFF2-40B4-BE49-F238E27FC236}">
                <a16:creationId xmlns:a16="http://schemas.microsoft.com/office/drawing/2014/main" id="{9608CCD7-7B27-1E7F-60FA-918AC42E70B4}"/>
              </a:ext>
            </a:extLst>
          </p:cNvPr>
          <p:cNvPicPr>
            <a:picLocks noChangeAspect="1"/>
          </p:cNvPicPr>
          <p:nvPr/>
        </p:nvPicPr>
        <p:blipFill>
          <a:blip r:embed="rId3"/>
          <a:stretch>
            <a:fillRect/>
          </a:stretch>
        </p:blipFill>
        <p:spPr>
          <a:xfrm>
            <a:off x="7929130" y="3298886"/>
            <a:ext cx="3819525" cy="533400"/>
          </a:xfrm>
          <a:prstGeom prst="rect">
            <a:avLst/>
          </a:prstGeom>
        </p:spPr>
      </p:pic>
      <p:pic>
        <p:nvPicPr>
          <p:cNvPr id="18" name="Picture 17">
            <a:extLst>
              <a:ext uri="{FF2B5EF4-FFF2-40B4-BE49-F238E27FC236}">
                <a16:creationId xmlns:a16="http://schemas.microsoft.com/office/drawing/2014/main" id="{D75001D3-F83A-CAA0-3149-937642DAC7BF}"/>
              </a:ext>
            </a:extLst>
          </p:cNvPr>
          <p:cNvPicPr>
            <a:picLocks noChangeAspect="1"/>
          </p:cNvPicPr>
          <p:nvPr/>
        </p:nvPicPr>
        <p:blipFill>
          <a:blip r:embed="rId4"/>
          <a:stretch>
            <a:fillRect/>
          </a:stretch>
        </p:blipFill>
        <p:spPr>
          <a:xfrm>
            <a:off x="7444509" y="1982441"/>
            <a:ext cx="4651951" cy="1319210"/>
          </a:xfrm>
          <a:prstGeom prst="rect">
            <a:avLst/>
          </a:prstGeom>
        </p:spPr>
      </p:pic>
      <p:sp>
        <p:nvSpPr>
          <p:cNvPr id="6" name="Slide Number Placeholder 5">
            <a:extLst>
              <a:ext uri="{FF2B5EF4-FFF2-40B4-BE49-F238E27FC236}">
                <a16:creationId xmlns:a16="http://schemas.microsoft.com/office/drawing/2014/main" id="{85C678B0-69F6-000B-6767-5BBCCDECF195}"/>
              </a:ext>
            </a:extLst>
          </p:cNvPr>
          <p:cNvSpPr>
            <a:spLocks noGrp="1"/>
          </p:cNvSpPr>
          <p:nvPr>
            <p:ph type="sldNum" sz="quarter" idx="12"/>
          </p:nvPr>
        </p:nvSpPr>
        <p:spPr/>
        <p:txBody>
          <a:bodyPr/>
          <a:lstStyle/>
          <a:p>
            <a:fld id="{BBCD8743-5A53-4A98-BC6F-5DFD6CC2F469}" type="slidenum">
              <a:rPr lang="en-SG" smtClean="0"/>
              <a:t>5</a:t>
            </a:fld>
            <a:endParaRPr lang="en-SG"/>
          </a:p>
        </p:txBody>
      </p:sp>
    </p:spTree>
    <p:extLst>
      <p:ext uri="{BB962C8B-B14F-4D97-AF65-F5344CB8AC3E}">
        <p14:creationId xmlns:p14="http://schemas.microsoft.com/office/powerpoint/2010/main" val="2366835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136F-3C88-11B6-E8BC-F4D0616A8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D33EC-53CA-6232-BA89-D11E7CD38647}"/>
              </a:ext>
            </a:extLst>
          </p:cNvPr>
          <p:cNvSpPr>
            <a:spLocks noGrp="1"/>
          </p:cNvSpPr>
          <p:nvPr>
            <p:ph type="title"/>
          </p:nvPr>
        </p:nvSpPr>
        <p:spPr/>
        <p:txBody>
          <a:bodyPr/>
          <a:lstStyle/>
          <a:p>
            <a:r>
              <a:rPr lang="en-US" dirty="0"/>
              <a:t>Signal and Selected definitions</a:t>
            </a:r>
            <a:endParaRPr lang="en-SG" dirty="0"/>
          </a:p>
        </p:txBody>
      </p:sp>
      <p:sp>
        <p:nvSpPr>
          <p:cNvPr id="4" name="TextBox 3">
            <a:extLst>
              <a:ext uri="{FF2B5EF4-FFF2-40B4-BE49-F238E27FC236}">
                <a16:creationId xmlns:a16="http://schemas.microsoft.com/office/drawing/2014/main" id="{39AD4609-0522-B37E-A405-119B1C97C913}"/>
              </a:ext>
            </a:extLst>
          </p:cNvPr>
          <p:cNvSpPr txBox="1"/>
          <p:nvPr/>
        </p:nvSpPr>
        <p:spPr>
          <a:xfrm>
            <a:off x="995680" y="1815053"/>
            <a:ext cx="4915593" cy="4801314"/>
          </a:xfrm>
          <a:prstGeom prst="rect">
            <a:avLst/>
          </a:prstGeom>
          <a:noFill/>
        </p:spPr>
        <p:txBody>
          <a:bodyPr wrap="square">
            <a:spAutoFit/>
          </a:bodyPr>
          <a:lstStyle/>
          <a:p>
            <a:r>
              <a:rPr lang="en-US" b="1" dirty="0"/>
              <a:t>Signal: defined as a true Charged Current muon neutrino interaction that is </a:t>
            </a:r>
          </a:p>
          <a:p>
            <a:pPr marL="742950" lvl="1" indent="-285750">
              <a:buFont typeface="Arial" panose="020B0604020202020204" pitchFamily="34" charset="0"/>
              <a:buChar char="•"/>
            </a:pPr>
            <a:r>
              <a:rPr lang="en-US" dirty="0" err="1"/>
              <a:t>Fiducialized</a:t>
            </a:r>
            <a:endParaRPr lang="en-US" dirty="0"/>
          </a:p>
          <a:p>
            <a:pPr marL="742950" lvl="1" indent="-285750">
              <a:buFont typeface="Arial" panose="020B0604020202020204" pitchFamily="34" charset="0"/>
              <a:buChar char="•"/>
            </a:pPr>
            <a:r>
              <a:rPr lang="en-US" dirty="0"/>
              <a:t>Not within the region deﬁning the central 200 cm of the detector (z-axis not within -100cm to 100cm in detector coordinates)</a:t>
            </a:r>
          </a:p>
          <a:p>
            <a:pPr marL="742950" lvl="1" indent="-285750">
              <a:buFont typeface="Arial" panose="020B0604020202020204" pitchFamily="34" charset="0"/>
              <a:buChar char="•"/>
            </a:pPr>
            <a:r>
              <a:rPr lang="en-US" dirty="0"/>
              <a:t>Exactly one primary muon (KE ≥ 143.425 MeV)</a:t>
            </a:r>
          </a:p>
          <a:p>
            <a:pPr marL="742950" lvl="1" indent="-285750">
              <a:buFont typeface="Arial" panose="020B0604020202020204" pitchFamily="34" charset="0"/>
              <a:buChar char="•"/>
            </a:pPr>
            <a:r>
              <a:rPr lang="en-US" dirty="0"/>
              <a:t>Zero primary charged </a:t>
            </a:r>
            <a:r>
              <a:rPr lang="en-US" dirty="0" err="1"/>
              <a:t>pions</a:t>
            </a:r>
            <a:r>
              <a:rPr lang="en-US" dirty="0"/>
              <a:t>  (KE ≥ 25 MeV)</a:t>
            </a:r>
          </a:p>
          <a:p>
            <a:pPr marL="742950" lvl="1" indent="-285750">
              <a:buFont typeface="Arial" panose="020B0604020202020204" pitchFamily="34" charset="0"/>
              <a:buChar char="•"/>
            </a:pPr>
            <a:r>
              <a:rPr lang="en-US" dirty="0"/>
              <a:t>Exactly one neutral pion (no KE threshold)</a:t>
            </a:r>
          </a:p>
          <a:p>
            <a:pPr marL="742950" lvl="1" indent="-285750">
              <a:buFont typeface="Arial" panose="020B0604020202020204" pitchFamily="34" charset="0"/>
              <a:buChar char="•"/>
            </a:pPr>
            <a:r>
              <a:rPr lang="en-US" dirty="0"/>
              <a:t>Any number of particles that are not muons or </a:t>
            </a:r>
            <a:r>
              <a:rPr lang="en-US" dirty="0" err="1"/>
              <a:t>pions</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SG" b="1" dirty="0"/>
          </a:p>
        </p:txBody>
      </p:sp>
      <p:sp>
        <p:nvSpPr>
          <p:cNvPr id="10" name="TextBox 9">
            <a:extLst>
              <a:ext uri="{FF2B5EF4-FFF2-40B4-BE49-F238E27FC236}">
                <a16:creationId xmlns:a16="http://schemas.microsoft.com/office/drawing/2014/main" id="{0C94E430-6263-5708-3B21-091B53744F12}"/>
              </a:ext>
            </a:extLst>
          </p:cNvPr>
          <p:cNvSpPr txBox="1"/>
          <p:nvPr/>
        </p:nvSpPr>
        <p:spPr>
          <a:xfrm>
            <a:off x="6280729" y="1815053"/>
            <a:ext cx="4915593" cy="2862322"/>
          </a:xfrm>
          <a:prstGeom prst="rect">
            <a:avLst/>
          </a:prstGeom>
          <a:noFill/>
        </p:spPr>
        <p:txBody>
          <a:bodyPr wrap="square">
            <a:spAutoFit/>
          </a:bodyPr>
          <a:lstStyle/>
          <a:p>
            <a:r>
              <a:rPr lang="en-US" b="1" dirty="0"/>
              <a:t>Selection: Cuts applied for selection of reconstructed interactions</a:t>
            </a:r>
          </a:p>
          <a:p>
            <a:pPr marL="742950" lvl="1" indent="-285750">
              <a:buFont typeface="Arial" panose="020B0604020202020204" pitchFamily="34" charset="0"/>
              <a:buChar char="•"/>
            </a:pPr>
            <a:r>
              <a:rPr lang="en-US" dirty="0"/>
              <a:t>Fiducial</a:t>
            </a:r>
          </a:p>
          <a:p>
            <a:pPr marL="742950" lvl="1" indent="-285750">
              <a:buFont typeface="Arial" panose="020B0604020202020204" pitchFamily="34" charset="0"/>
              <a:buChar char="•"/>
            </a:pPr>
            <a:r>
              <a:rPr lang="en-US" dirty="0"/>
              <a:t>z-axis not within -100cm to 100cm in detector coordinates</a:t>
            </a:r>
          </a:p>
          <a:p>
            <a:pPr marL="742950" lvl="1" indent="-285750">
              <a:buFont typeface="Arial" panose="020B0604020202020204" pitchFamily="34" charset="0"/>
              <a:buChar char="•"/>
            </a:pPr>
            <a:r>
              <a:rPr lang="en-US" dirty="0"/>
              <a:t>Flash time</a:t>
            </a:r>
          </a:p>
          <a:p>
            <a:pPr marL="742950" lvl="1" indent="-285750">
              <a:buFont typeface="Arial" panose="020B0604020202020204" pitchFamily="34" charset="0"/>
              <a:buChar char="•"/>
            </a:pPr>
            <a:r>
              <a:rPr lang="en-US" dirty="0"/>
              <a:t>Single primary muon (KE ≥ 143.425 MeV)</a:t>
            </a:r>
          </a:p>
          <a:p>
            <a:pPr marL="742950" lvl="1" indent="-285750">
              <a:buFont typeface="Arial" panose="020B0604020202020204" pitchFamily="34" charset="0"/>
              <a:buChar char="•"/>
            </a:pPr>
            <a:r>
              <a:rPr lang="en-US" dirty="0"/>
              <a:t>No primary charged </a:t>
            </a:r>
            <a:r>
              <a:rPr lang="en-US" dirty="0" err="1"/>
              <a:t>pions</a:t>
            </a:r>
            <a:r>
              <a:rPr lang="en-US" dirty="0"/>
              <a:t> (KE ≥ 25 MeV)</a:t>
            </a:r>
          </a:p>
          <a:p>
            <a:pPr marL="742950" lvl="1" indent="-285750">
              <a:buFont typeface="Arial" panose="020B0604020202020204" pitchFamily="34" charset="0"/>
              <a:buChar char="•"/>
            </a:pPr>
            <a:r>
              <a:rPr lang="en-US" dirty="0"/>
              <a:t>Two primary photons (KE ≥ 25 MeV)</a:t>
            </a:r>
          </a:p>
          <a:p>
            <a:pPr marL="742950" lvl="1" indent="-285750">
              <a:buFont typeface="Arial" panose="020B0604020202020204" pitchFamily="34" charset="0"/>
              <a:buChar char="•"/>
            </a:pPr>
            <a:r>
              <a:rPr lang="en-US" dirty="0"/>
              <a:t>Pi0 mass cut </a:t>
            </a:r>
          </a:p>
        </p:txBody>
      </p:sp>
      <p:sp>
        <p:nvSpPr>
          <p:cNvPr id="3" name="Slide Number Placeholder 2">
            <a:extLst>
              <a:ext uri="{FF2B5EF4-FFF2-40B4-BE49-F238E27FC236}">
                <a16:creationId xmlns:a16="http://schemas.microsoft.com/office/drawing/2014/main" id="{81012C81-158C-E337-D332-C1BDFA9239F9}"/>
              </a:ext>
            </a:extLst>
          </p:cNvPr>
          <p:cNvSpPr>
            <a:spLocks noGrp="1"/>
          </p:cNvSpPr>
          <p:nvPr>
            <p:ph type="sldNum" sz="quarter" idx="12"/>
          </p:nvPr>
        </p:nvSpPr>
        <p:spPr/>
        <p:txBody>
          <a:bodyPr/>
          <a:lstStyle/>
          <a:p>
            <a:fld id="{BBCD8743-5A53-4A98-BC6F-5DFD6CC2F469}" type="slidenum">
              <a:rPr lang="en-SG" smtClean="0"/>
              <a:t>6</a:t>
            </a:fld>
            <a:endParaRPr lang="en-SG"/>
          </a:p>
        </p:txBody>
      </p:sp>
    </p:spTree>
    <p:extLst>
      <p:ext uri="{BB962C8B-B14F-4D97-AF65-F5344CB8AC3E}">
        <p14:creationId xmlns:p14="http://schemas.microsoft.com/office/powerpoint/2010/main" val="4140483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4144-36F2-840B-8590-F00E22E3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F9056-A598-1597-35F3-A324DC3AAD13}"/>
              </a:ext>
            </a:extLst>
          </p:cNvPr>
          <p:cNvSpPr>
            <a:spLocks noGrp="1"/>
          </p:cNvSpPr>
          <p:nvPr>
            <p:ph type="title"/>
          </p:nvPr>
        </p:nvSpPr>
        <p:spPr/>
        <p:txBody>
          <a:bodyPr/>
          <a:lstStyle/>
          <a:p>
            <a:r>
              <a:rPr lang="en-US" b="1" dirty="0"/>
              <a:t>Efficiency and Purity analysis</a:t>
            </a:r>
            <a:endParaRPr lang="en-SG" dirty="0"/>
          </a:p>
        </p:txBody>
      </p:sp>
      <p:sp>
        <p:nvSpPr>
          <p:cNvPr id="4" name="TextBox 3">
            <a:extLst>
              <a:ext uri="{FF2B5EF4-FFF2-40B4-BE49-F238E27FC236}">
                <a16:creationId xmlns:a16="http://schemas.microsoft.com/office/drawing/2014/main" id="{11F267A1-6DDE-E38A-5349-210EB6C2ACB5}"/>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Efficiency defined as fraction of true signal interactions that are matched to selected interactions</a:t>
            </a:r>
          </a:p>
          <a:p>
            <a:pPr marL="285750" indent="-285750">
              <a:buFont typeface="Arial" panose="020B0604020202020204" pitchFamily="34" charset="0"/>
              <a:buChar char="•"/>
            </a:pPr>
            <a:r>
              <a:rPr lang="en-US" dirty="0"/>
              <a:t>Purity defined as the fraction of selected interactions that are matched to true signal interactions</a:t>
            </a:r>
            <a:endParaRPr lang="en-SG"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544423">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11099">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11099">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11099">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11099">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11099">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11099">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63111">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𝑚</m:t>
                                  </m:r>
                                </m:e>
                                <m:sub>
                                  <m:r>
                                    <a:rPr lang="ar-AE" sz="1600" i="1">
                                      <a:latin typeface="Cambria Math" panose="02040503050406030204" pitchFamily="18" charset="0"/>
                                    </a:rPr>
                                    <m:t>𝛾𝛾</m:t>
                                  </m:r>
                                </m:sub>
                              </m:sSub>
                              <m:r>
                                <a:rPr lang="ar-AE" sz="1600" i="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i="0">
                                      <a:latin typeface="Cambria Math" panose="02040503050406030204" pitchFamily="18" charset="0"/>
                                    </a:rPr>
                                    <m:t>60</m:t>
                                  </m:r>
                                </m:e>
                                <m:e>
                                  <m:r>
                                    <a:rPr lang="ar-AE" sz="1600" i="0">
                                      <a:latin typeface="Cambria Math" panose="02040503050406030204" pitchFamily="18" charset="0"/>
                                    </a:rPr>
                                    <m:t>300</m:t>
                                  </m:r>
                                </m:e>
                              </m:d>
                            </m:oMath>
                          </a14:m>
                          <a:r>
                            <a:rPr lang="ar-AE" sz="1600">
                              <a:effectLst/>
                            </a:rPr>
                            <a:t>﻿ </a:t>
                          </a:r>
                          <a:r>
                            <a:rPr lang="en-SG" sz="1600">
                              <a:effectLst/>
                            </a:rPr>
                            <a:t>MeV/c2</a:t>
                          </a:r>
                        </a:p>
                      </a:txBody>
                      <a:tcPr anchor="ct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Choice>
        <mc:Fallback xmlns="">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81842994"/>
                  </p:ext>
                </p:extLst>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640080">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35280">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35280">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35280">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35280">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35280">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35280">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98551">
                    <a:tc>
                      <a:txBody>
                        <a:bodyPr/>
                        <a:lstStyle/>
                        <a:p>
                          <a:endParaRPr lang="en-US"/>
                        </a:p>
                      </a:txBody>
                      <a:tcPr anchor="ctr">
                        <a:blipFill>
                          <a:blip r:embed="rId2"/>
                          <a:stretch>
                            <a:fillRect l="-295" t="-450000" r="-200885" b="-13265"/>
                          </a:stretch>
                        </a:blipFill>
                      </a:tcP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Fallback>
      </mc:AlternateContent>
      <p:pic>
        <p:nvPicPr>
          <p:cNvPr id="7" name="Picture 6">
            <a:extLst>
              <a:ext uri="{FF2B5EF4-FFF2-40B4-BE49-F238E27FC236}">
                <a16:creationId xmlns:a16="http://schemas.microsoft.com/office/drawing/2014/main" id="{FCC7F37B-6BEB-2FFE-934A-1FDB3F067277}"/>
              </a:ext>
            </a:extLst>
          </p:cNvPr>
          <p:cNvPicPr>
            <a:picLocks noChangeAspect="1"/>
          </p:cNvPicPr>
          <p:nvPr/>
        </p:nvPicPr>
        <p:blipFill>
          <a:blip r:embed="rId3"/>
          <a:stretch>
            <a:fillRect/>
          </a:stretch>
        </p:blipFill>
        <p:spPr>
          <a:xfrm>
            <a:off x="585787" y="3133724"/>
            <a:ext cx="5126537" cy="2314575"/>
          </a:xfrm>
          <a:prstGeom prst="rect">
            <a:avLst/>
          </a:prstGeom>
        </p:spPr>
      </p:pic>
      <p:sp>
        <p:nvSpPr>
          <p:cNvPr id="8" name="TextBox 7">
            <a:extLst>
              <a:ext uri="{FF2B5EF4-FFF2-40B4-BE49-F238E27FC236}">
                <a16:creationId xmlns:a16="http://schemas.microsoft.com/office/drawing/2014/main" id="{A0CCB21C-9D0A-D6E9-4C92-15D6D975D9AF}"/>
              </a:ext>
            </a:extLst>
          </p:cNvPr>
          <p:cNvSpPr txBox="1"/>
          <p:nvPr/>
        </p:nvSpPr>
        <p:spPr>
          <a:xfrm>
            <a:off x="585787" y="5448299"/>
            <a:ext cx="5927329" cy="307777"/>
          </a:xfrm>
          <a:prstGeom prst="rect">
            <a:avLst/>
          </a:prstGeom>
          <a:noFill/>
        </p:spPr>
        <p:txBody>
          <a:bodyPr wrap="square">
            <a:spAutoFit/>
          </a:bodyPr>
          <a:lstStyle/>
          <a:p>
            <a:r>
              <a:rPr lang="en-US" sz="1400" b="1" dirty="0"/>
              <a:t>Efficiency and Purity from Lane’s paper</a:t>
            </a:r>
            <a:endParaRPr lang="en-SG" sz="1400" b="1" dirty="0"/>
          </a:p>
        </p:txBody>
      </p:sp>
      <p:sp>
        <p:nvSpPr>
          <p:cNvPr id="9" name="TextBox 8">
            <a:extLst>
              <a:ext uri="{FF2B5EF4-FFF2-40B4-BE49-F238E27FC236}">
                <a16:creationId xmlns:a16="http://schemas.microsoft.com/office/drawing/2014/main" id="{920B0FF2-8672-142F-7451-861ABCBEC5CD}"/>
              </a:ext>
            </a:extLst>
          </p:cNvPr>
          <p:cNvSpPr txBox="1"/>
          <p:nvPr/>
        </p:nvSpPr>
        <p:spPr>
          <a:xfrm>
            <a:off x="5712324" y="5965869"/>
            <a:ext cx="4574841" cy="307777"/>
          </a:xfrm>
          <a:prstGeom prst="rect">
            <a:avLst/>
          </a:prstGeom>
          <a:noFill/>
        </p:spPr>
        <p:txBody>
          <a:bodyPr wrap="square">
            <a:spAutoFit/>
          </a:bodyPr>
          <a:lstStyle/>
          <a:p>
            <a:r>
              <a:rPr lang="en-US" sz="1400" b="1" dirty="0"/>
              <a:t>Efficiency and Purity from my BNB sample</a:t>
            </a:r>
            <a:endParaRPr lang="en-SG" sz="1400" b="1" dirty="0"/>
          </a:p>
        </p:txBody>
      </p:sp>
      <p:sp>
        <p:nvSpPr>
          <p:cNvPr id="3" name="Slide Number Placeholder 2">
            <a:extLst>
              <a:ext uri="{FF2B5EF4-FFF2-40B4-BE49-F238E27FC236}">
                <a16:creationId xmlns:a16="http://schemas.microsoft.com/office/drawing/2014/main" id="{E5E5A935-8854-8688-4902-DCE340D0D16E}"/>
              </a:ext>
            </a:extLst>
          </p:cNvPr>
          <p:cNvSpPr>
            <a:spLocks noGrp="1"/>
          </p:cNvSpPr>
          <p:nvPr>
            <p:ph type="sldNum" sz="quarter" idx="12"/>
          </p:nvPr>
        </p:nvSpPr>
        <p:spPr/>
        <p:txBody>
          <a:bodyPr/>
          <a:lstStyle/>
          <a:p>
            <a:fld id="{BBCD8743-5A53-4A98-BC6F-5DFD6CC2F469}" type="slidenum">
              <a:rPr lang="en-SG" smtClean="0"/>
              <a:t>7</a:t>
            </a:fld>
            <a:endParaRPr lang="en-SG"/>
          </a:p>
        </p:txBody>
      </p:sp>
    </p:spTree>
    <p:extLst>
      <p:ext uri="{BB962C8B-B14F-4D97-AF65-F5344CB8AC3E}">
        <p14:creationId xmlns:p14="http://schemas.microsoft.com/office/powerpoint/2010/main" val="3768856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CDCFD-44DF-F70A-70F3-FA4F47CCC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B3994-68A0-96C1-082F-5B4F794FB866}"/>
              </a:ext>
            </a:extLst>
          </p:cNvPr>
          <p:cNvSpPr>
            <a:spLocks noGrp="1"/>
          </p:cNvSpPr>
          <p:nvPr>
            <p:ph type="title"/>
          </p:nvPr>
        </p:nvSpPr>
        <p:spPr/>
        <p:txBody>
          <a:bodyPr/>
          <a:lstStyle/>
          <a:p>
            <a:r>
              <a:rPr lang="en-US" b="1" dirty="0"/>
              <a:t>PID Truth to Reco confusion matrix</a:t>
            </a:r>
            <a:endParaRPr lang="en-SG" dirty="0"/>
          </a:p>
        </p:txBody>
      </p:sp>
      <p:sp>
        <p:nvSpPr>
          <p:cNvPr id="4" name="TextBox 3">
            <a:extLst>
              <a:ext uri="{FF2B5EF4-FFF2-40B4-BE49-F238E27FC236}">
                <a16:creationId xmlns:a16="http://schemas.microsoft.com/office/drawing/2014/main" id="{A8046E30-6369-82EF-83B2-78046C0EF136}"/>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inefficiency is due to true final state protons misidentified as muons or </a:t>
            </a:r>
            <a:r>
              <a:rPr lang="en-US" dirty="0" err="1"/>
              <a:t>pions</a:t>
            </a:r>
            <a:endParaRPr lang="en-SG" dirty="0"/>
          </a:p>
        </p:txBody>
      </p:sp>
      <p:pic>
        <p:nvPicPr>
          <p:cNvPr id="11" name="Picture 10">
            <a:extLst>
              <a:ext uri="{FF2B5EF4-FFF2-40B4-BE49-F238E27FC236}">
                <a16:creationId xmlns:a16="http://schemas.microsoft.com/office/drawing/2014/main" id="{E5B328E1-3426-01B7-4D7C-5CEDBAC6F45B}"/>
              </a:ext>
            </a:extLst>
          </p:cNvPr>
          <p:cNvPicPr>
            <a:picLocks noChangeAspect="1"/>
          </p:cNvPicPr>
          <p:nvPr/>
        </p:nvPicPr>
        <p:blipFill>
          <a:blip r:embed="rId3"/>
          <a:srcRect b="11269"/>
          <a:stretch>
            <a:fillRect/>
          </a:stretch>
        </p:blipFill>
        <p:spPr>
          <a:xfrm>
            <a:off x="1097279" y="2539077"/>
            <a:ext cx="3436709" cy="3557697"/>
          </a:xfrm>
          <a:prstGeom prst="rect">
            <a:avLst/>
          </a:prstGeom>
        </p:spPr>
      </p:pic>
      <p:pic>
        <p:nvPicPr>
          <p:cNvPr id="13" name="Picture 12">
            <a:extLst>
              <a:ext uri="{FF2B5EF4-FFF2-40B4-BE49-F238E27FC236}">
                <a16:creationId xmlns:a16="http://schemas.microsoft.com/office/drawing/2014/main" id="{F1DAD5A3-CE1E-D132-5441-8A4C72AA76D9}"/>
              </a:ext>
            </a:extLst>
          </p:cNvPr>
          <p:cNvPicPr>
            <a:picLocks noChangeAspect="1"/>
          </p:cNvPicPr>
          <p:nvPr/>
        </p:nvPicPr>
        <p:blipFill>
          <a:blip r:embed="rId4"/>
          <a:stretch>
            <a:fillRect/>
          </a:stretch>
        </p:blipFill>
        <p:spPr>
          <a:xfrm>
            <a:off x="6714262" y="2613492"/>
            <a:ext cx="4799646" cy="3437643"/>
          </a:xfrm>
          <a:prstGeom prst="rect">
            <a:avLst/>
          </a:prstGeom>
        </p:spPr>
      </p:pic>
      <p:sp>
        <p:nvSpPr>
          <p:cNvPr id="14" name="TextBox 13">
            <a:extLst>
              <a:ext uri="{FF2B5EF4-FFF2-40B4-BE49-F238E27FC236}">
                <a16:creationId xmlns:a16="http://schemas.microsoft.com/office/drawing/2014/main" id="{D3725E21-478B-5DFF-5DD2-A77C7156B4AE}"/>
              </a:ext>
            </a:extLst>
          </p:cNvPr>
          <p:cNvSpPr txBox="1"/>
          <p:nvPr/>
        </p:nvSpPr>
        <p:spPr>
          <a:xfrm>
            <a:off x="1097279" y="6020578"/>
            <a:ext cx="5927329" cy="307777"/>
          </a:xfrm>
          <a:prstGeom prst="rect">
            <a:avLst/>
          </a:prstGeom>
          <a:noFill/>
        </p:spPr>
        <p:txBody>
          <a:bodyPr wrap="square">
            <a:spAutoFit/>
          </a:bodyPr>
          <a:lstStyle/>
          <a:p>
            <a:r>
              <a:rPr lang="en-US" sz="1400" b="1" dirty="0"/>
              <a:t>Truth to Reco confusion matrix from lane’s paper</a:t>
            </a:r>
            <a:endParaRPr lang="en-SG" sz="1400" b="1" dirty="0"/>
          </a:p>
        </p:txBody>
      </p:sp>
      <p:sp>
        <p:nvSpPr>
          <p:cNvPr id="15" name="TextBox 14">
            <a:extLst>
              <a:ext uri="{FF2B5EF4-FFF2-40B4-BE49-F238E27FC236}">
                <a16:creationId xmlns:a16="http://schemas.microsoft.com/office/drawing/2014/main" id="{C308B177-BE44-DC23-79B6-67E6D68C8D55}"/>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sp>
        <p:nvSpPr>
          <p:cNvPr id="3" name="Slide Number Placeholder 2">
            <a:extLst>
              <a:ext uri="{FF2B5EF4-FFF2-40B4-BE49-F238E27FC236}">
                <a16:creationId xmlns:a16="http://schemas.microsoft.com/office/drawing/2014/main" id="{88B3653B-AA74-806F-5A27-A2F4AF8F8C07}"/>
              </a:ext>
            </a:extLst>
          </p:cNvPr>
          <p:cNvSpPr>
            <a:spLocks noGrp="1"/>
          </p:cNvSpPr>
          <p:nvPr>
            <p:ph type="sldNum" sz="quarter" idx="12"/>
          </p:nvPr>
        </p:nvSpPr>
        <p:spPr/>
        <p:txBody>
          <a:bodyPr/>
          <a:lstStyle/>
          <a:p>
            <a:fld id="{BBCD8743-5A53-4A98-BC6F-5DFD6CC2F469}" type="slidenum">
              <a:rPr lang="en-SG" smtClean="0"/>
              <a:t>8</a:t>
            </a:fld>
            <a:endParaRPr lang="en-SG"/>
          </a:p>
        </p:txBody>
      </p:sp>
    </p:spTree>
    <p:extLst>
      <p:ext uri="{BB962C8B-B14F-4D97-AF65-F5344CB8AC3E}">
        <p14:creationId xmlns:p14="http://schemas.microsoft.com/office/powerpoint/2010/main" val="1251475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7F81-FD92-BDE9-2A40-1F2BB6AE1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02A35-60E0-DC0E-629F-E627A240211A}"/>
              </a:ext>
            </a:extLst>
          </p:cNvPr>
          <p:cNvSpPr>
            <a:spLocks noGrp="1"/>
          </p:cNvSpPr>
          <p:nvPr>
            <p:ph type="title"/>
          </p:nvPr>
        </p:nvSpPr>
        <p:spPr/>
        <p:txBody>
          <a:bodyPr/>
          <a:lstStyle/>
          <a:p>
            <a:r>
              <a:rPr lang="en-US" b="1" dirty="0"/>
              <a:t>PID Reco to Truth confusion matrix</a:t>
            </a:r>
            <a:endParaRPr lang="en-SG" dirty="0"/>
          </a:p>
        </p:txBody>
      </p:sp>
      <p:sp>
        <p:nvSpPr>
          <p:cNvPr id="4" name="TextBox 3">
            <a:extLst>
              <a:ext uri="{FF2B5EF4-FFF2-40B4-BE49-F238E27FC236}">
                <a16:creationId xmlns:a16="http://schemas.microsoft.com/office/drawing/2014/main" id="{9E2AD1D2-7FBF-BDFE-7A9A-8576786B3882}"/>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impurity is due to misidentification of true </a:t>
            </a:r>
            <a:r>
              <a:rPr lang="en-US" dirty="0" err="1"/>
              <a:t>pions</a:t>
            </a:r>
            <a:r>
              <a:rPr lang="en-US" dirty="0"/>
              <a:t> as protons</a:t>
            </a:r>
            <a:endParaRPr lang="en-SG" dirty="0"/>
          </a:p>
        </p:txBody>
      </p:sp>
      <p:sp>
        <p:nvSpPr>
          <p:cNvPr id="14" name="TextBox 13">
            <a:extLst>
              <a:ext uri="{FF2B5EF4-FFF2-40B4-BE49-F238E27FC236}">
                <a16:creationId xmlns:a16="http://schemas.microsoft.com/office/drawing/2014/main" id="{CE40C7CF-39BA-CD16-707F-8969B8E02F3F}"/>
              </a:ext>
            </a:extLst>
          </p:cNvPr>
          <p:cNvSpPr txBox="1"/>
          <p:nvPr/>
        </p:nvSpPr>
        <p:spPr>
          <a:xfrm>
            <a:off x="1097279" y="6020578"/>
            <a:ext cx="5927329" cy="307777"/>
          </a:xfrm>
          <a:prstGeom prst="rect">
            <a:avLst/>
          </a:prstGeom>
          <a:noFill/>
        </p:spPr>
        <p:txBody>
          <a:bodyPr wrap="square">
            <a:spAutoFit/>
          </a:bodyPr>
          <a:lstStyle/>
          <a:p>
            <a:r>
              <a:rPr lang="en-US" sz="1400" b="1" dirty="0"/>
              <a:t>Reco to Truth confusion matrix from lane’s paper</a:t>
            </a:r>
            <a:endParaRPr lang="en-SG" sz="1400" b="1" dirty="0"/>
          </a:p>
        </p:txBody>
      </p:sp>
      <p:sp>
        <p:nvSpPr>
          <p:cNvPr id="15" name="TextBox 14">
            <a:extLst>
              <a:ext uri="{FF2B5EF4-FFF2-40B4-BE49-F238E27FC236}">
                <a16:creationId xmlns:a16="http://schemas.microsoft.com/office/drawing/2014/main" id="{CCD1E6F2-EE49-4410-B7A2-4C944965C230}"/>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pic>
        <p:nvPicPr>
          <p:cNvPr id="5" name="Picture 4">
            <a:extLst>
              <a:ext uri="{FF2B5EF4-FFF2-40B4-BE49-F238E27FC236}">
                <a16:creationId xmlns:a16="http://schemas.microsoft.com/office/drawing/2014/main" id="{3A44EC9B-754E-4128-EB7F-DF9618B14593}"/>
              </a:ext>
            </a:extLst>
          </p:cNvPr>
          <p:cNvPicPr>
            <a:picLocks noChangeAspect="1"/>
          </p:cNvPicPr>
          <p:nvPr/>
        </p:nvPicPr>
        <p:blipFill>
          <a:blip r:embed="rId3"/>
          <a:srcRect b="12211"/>
          <a:stretch>
            <a:fillRect/>
          </a:stretch>
        </p:blipFill>
        <p:spPr>
          <a:xfrm>
            <a:off x="1389998" y="2596336"/>
            <a:ext cx="3248677" cy="3424242"/>
          </a:xfrm>
          <a:prstGeom prst="rect">
            <a:avLst/>
          </a:prstGeom>
        </p:spPr>
      </p:pic>
      <p:pic>
        <p:nvPicPr>
          <p:cNvPr id="7" name="Picture 6">
            <a:extLst>
              <a:ext uri="{FF2B5EF4-FFF2-40B4-BE49-F238E27FC236}">
                <a16:creationId xmlns:a16="http://schemas.microsoft.com/office/drawing/2014/main" id="{6C37E546-1A73-9A61-EF98-A9CAD6CBF90A}"/>
              </a:ext>
            </a:extLst>
          </p:cNvPr>
          <p:cNvPicPr>
            <a:picLocks noChangeAspect="1"/>
          </p:cNvPicPr>
          <p:nvPr/>
        </p:nvPicPr>
        <p:blipFill>
          <a:blip r:embed="rId4"/>
          <a:stretch>
            <a:fillRect/>
          </a:stretch>
        </p:blipFill>
        <p:spPr>
          <a:xfrm>
            <a:off x="6648450" y="2628887"/>
            <a:ext cx="4735486" cy="3391690"/>
          </a:xfrm>
          <a:prstGeom prst="rect">
            <a:avLst/>
          </a:prstGeom>
        </p:spPr>
      </p:pic>
      <p:sp>
        <p:nvSpPr>
          <p:cNvPr id="3" name="Slide Number Placeholder 2">
            <a:extLst>
              <a:ext uri="{FF2B5EF4-FFF2-40B4-BE49-F238E27FC236}">
                <a16:creationId xmlns:a16="http://schemas.microsoft.com/office/drawing/2014/main" id="{B1D2D674-2D6D-7B25-BB1D-F41A60CE3252}"/>
              </a:ext>
            </a:extLst>
          </p:cNvPr>
          <p:cNvSpPr>
            <a:spLocks noGrp="1"/>
          </p:cNvSpPr>
          <p:nvPr>
            <p:ph type="sldNum" sz="quarter" idx="12"/>
          </p:nvPr>
        </p:nvSpPr>
        <p:spPr/>
        <p:txBody>
          <a:bodyPr/>
          <a:lstStyle/>
          <a:p>
            <a:fld id="{BBCD8743-5A53-4A98-BC6F-5DFD6CC2F469}" type="slidenum">
              <a:rPr lang="en-SG" smtClean="0"/>
              <a:t>9</a:t>
            </a:fld>
            <a:endParaRPr lang="en-SG"/>
          </a:p>
        </p:txBody>
      </p:sp>
    </p:spTree>
    <p:extLst>
      <p:ext uri="{BB962C8B-B14F-4D97-AF65-F5344CB8AC3E}">
        <p14:creationId xmlns:p14="http://schemas.microsoft.com/office/powerpoint/2010/main" val="369361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B572-32EC-1ABD-4D5C-10544EF4A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6526D-69BD-6957-2605-22AFE579FDBE}"/>
              </a:ext>
            </a:extLst>
          </p:cNvPr>
          <p:cNvSpPr>
            <a:spLocks noGrp="1"/>
          </p:cNvSpPr>
          <p:nvPr>
            <p:ph type="title"/>
          </p:nvPr>
        </p:nvSpPr>
        <p:spPr/>
        <p:txBody>
          <a:bodyPr/>
          <a:lstStyle/>
          <a:p>
            <a:r>
              <a:rPr lang="en-US" dirty="0"/>
              <a:t>Plot comparison</a:t>
            </a:r>
            <a:endParaRPr lang="en-SG" dirty="0"/>
          </a:p>
        </p:txBody>
      </p:sp>
      <p:pic>
        <p:nvPicPr>
          <p:cNvPr id="3" name="Picture 2">
            <a:extLst>
              <a:ext uri="{FF2B5EF4-FFF2-40B4-BE49-F238E27FC236}">
                <a16:creationId xmlns:a16="http://schemas.microsoft.com/office/drawing/2014/main" id="{97A167A7-B63E-781A-FEA9-9A432F72ECE4}"/>
              </a:ext>
            </a:extLst>
          </p:cNvPr>
          <p:cNvPicPr>
            <a:picLocks noChangeAspect="1"/>
          </p:cNvPicPr>
          <p:nvPr/>
        </p:nvPicPr>
        <p:blipFill>
          <a:blip r:embed="rId3"/>
          <a:stretch>
            <a:fillRect/>
          </a:stretch>
        </p:blipFill>
        <p:spPr>
          <a:xfrm>
            <a:off x="252811" y="2011154"/>
            <a:ext cx="3408499" cy="1782275"/>
          </a:xfrm>
          <a:prstGeom prst="rect">
            <a:avLst/>
          </a:prstGeom>
        </p:spPr>
      </p:pic>
      <p:pic>
        <p:nvPicPr>
          <p:cNvPr id="5" name="Picture 4">
            <a:extLst>
              <a:ext uri="{FF2B5EF4-FFF2-40B4-BE49-F238E27FC236}">
                <a16:creationId xmlns:a16="http://schemas.microsoft.com/office/drawing/2014/main" id="{0F9CF99C-E7C4-BEE9-5575-1AC4F34C8910}"/>
              </a:ext>
            </a:extLst>
          </p:cNvPr>
          <p:cNvPicPr>
            <a:picLocks noChangeAspect="1"/>
          </p:cNvPicPr>
          <p:nvPr/>
        </p:nvPicPr>
        <p:blipFill>
          <a:blip r:embed="rId4"/>
          <a:stretch>
            <a:fillRect/>
          </a:stretch>
        </p:blipFill>
        <p:spPr>
          <a:xfrm>
            <a:off x="3661310" y="1958640"/>
            <a:ext cx="3110937" cy="1887301"/>
          </a:xfrm>
          <a:prstGeom prst="rect">
            <a:avLst/>
          </a:prstGeom>
        </p:spPr>
      </p:pic>
      <p:pic>
        <p:nvPicPr>
          <p:cNvPr id="6" name="Picture 5">
            <a:extLst>
              <a:ext uri="{FF2B5EF4-FFF2-40B4-BE49-F238E27FC236}">
                <a16:creationId xmlns:a16="http://schemas.microsoft.com/office/drawing/2014/main" id="{9E549279-BD60-3BE5-A8CB-C7E405C4B2B1}"/>
              </a:ext>
            </a:extLst>
          </p:cNvPr>
          <p:cNvPicPr>
            <a:picLocks noChangeAspect="1"/>
          </p:cNvPicPr>
          <p:nvPr/>
        </p:nvPicPr>
        <p:blipFill>
          <a:blip r:embed="rId5"/>
          <a:stretch>
            <a:fillRect/>
          </a:stretch>
        </p:blipFill>
        <p:spPr>
          <a:xfrm>
            <a:off x="1007569" y="4435695"/>
            <a:ext cx="1822359" cy="1738876"/>
          </a:xfrm>
          <a:prstGeom prst="rect">
            <a:avLst/>
          </a:prstGeom>
        </p:spPr>
      </p:pic>
      <p:pic>
        <p:nvPicPr>
          <p:cNvPr id="8" name="Picture 7">
            <a:extLst>
              <a:ext uri="{FF2B5EF4-FFF2-40B4-BE49-F238E27FC236}">
                <a16:creationId xmlns:a16="http://schemas.microsoft.com/office/drawing/2014/main" id="{22CFA421-AC46-3BBA-FAA8-81EC82C9E25C}"/>
              </a:ext>
            </a:extLst>
          </p:cNvPr>
          <p:cNvPicPr>
            <a:picLocks noChangeAspect="1"/>
          </p:cNvPicPr>
          <p:nvPr/>
        </p:nvPicPr>
        <p:blipFill>
          <a:blip r:embed="rId6"/>
          <a:stretch>
            <a:fillRect/>
          </a:stretch>
        </p:blipFill>
        <p:spPr>
          <a:xfrm>
            <a:off x="2986399" y="4415480"/>
            <a:ext cx="2795064" cy="1788187"/>
          </a:xfrm>
          <a:prstGeom prst="rect">
            <a:avLst/>
          </a:prstGeom>
        </p:spPr>
      </p:pic>
      <p:pic>
        <p:nvPicPr>
          <p:cNvPr id="11" name="Picture 10">
            <a:extLst>
              <a:ext uri="{FF2B5EF4-FFF2-40B4-BE49-F238E27FC236}">
                <a16:creationId xmlns:a16="http://schemas.microsoft.com/office/drawing/2014/main" id="{0E2954D0-F0A2-A854-8194-66E6FF083ED6}"/>
              </a:ext>
            </a:extLst>
          </p:cNvPr>
          <p:cNvPicPr>
            <a:picLocks noChangeAspect="1"/>
          </p:cNvPicPr>
          <p:nvPr/>
        </p:nvPicPr>
        <p:blipFill>
          <a:blip r:embed="rId5"/>
          <a:stretch>
            <a:fillRect/>
          </a:stretch>
        </p:blipFill>
        <p:spPr>
          <a:xfrm>
            <a:off x="7197570" y="2085329"/>
            <a:ext cx="1871375" cy="1785647"/>
          </a:xfrm>
          <a:prstGeom prst="rect">
            <a:avLst/>
          </a:prstGeom>
        </p:spPr>
      </p:pic>
      <p:pic>
        <p:nvPicPr>
          <p:cNvPr id="12" name="Picture 11">
            <a:extLst>
              <a:ext uri="{FF2B5EF4-FFF2-40B4-BE49-F238E27FC236}">
                <a16:creationId xmlns:a16="http://schemas.microsoft.com/office/drawing/2014/main" id="{AB3329FE-0462-9F78-50DD-B3BC14EFF0B0}"/>
              </a:ext>
            </a:extLst>
          </p:cNvPr>
          <p:cNvPicPr>
            <a:picLocks noChangeAspect="1"/>
          </p:cNvPicPr>
          <p:nvPr/>
        </p:nvPicPr>
        <p:blipFill>
          <a:blip r:embed="rId6"/>
          <a:stretch>
            <a:fillRect/>
          </a:stretch>
        </p:blipFill>
        <p:spPr>
          <a:xfrm>
            <a:off x="9068945" y="2030411"/>
            <a:ext cx="2870244" cy="1836285"/>
          </a:xfrm>
          <a:prstGeom prst="rect">
            <a:avLst/>
          </a:prstGeom>
        </p:spPr>
      </p:pic>
      <p:sp>
        <p:nvSpPr>
          <p:cNvPr id="13" name="TextBox 12">
            <a:extLst>
              <a:ext uri="{FF2B5EF4-FFF2-40B4-BE49-F238E27FC236}">
                <a16:creationId xmlns:a16="http://schemas.microsoft.com/office/drawing/2014/main" id="{39D7392C-DEA4-8ADD-8879-86482F7B45E7}"/>
              </a:ext>
            </a:extLst>
          </p:cNvPr>
          <p:cNvSpPr txBox="1"/>
          <p:nvPr/>
        </p:nvSpPr>
        <p:spPr>
          <a:xfrm>
            <a:off x="8033759" y="1757721"/>
            <a:ext cx="3331884" cy="307777"/>
          </a:xfrm>
          <a:prstGeom prst="rect">
            <a:avLst/>
          </a:prstGeom>
          <a:noFill/>
        </p:spPr>
        <p:txBody>
          <a:bodyPr wrap="square">
            <a:spAutoFit/>
          </a:bodyPr>
          <a:lstStyle/>
          <a:p>
            <a:pPr algn="ctr"/>
            <a:r>
              <a:rPr lang="en-US" sz="1400" b="1" u="sng" dirty="0"/>
              <a:t>Reconstructed Hadronic Invariant Mass</a:t>
            </a:r>
            <a:endParaRPr lang="en-SG" sz="1400" b="1" u="sng" dirty="0"/>
          </a:p>
        </p:txBody>
      </p:sp>
      <p:sp>
        <p:nvSpPr>
          <p:cNvPr id="16" name="TextBox 15">
            <a:extLst>
              <a:ext uri="{FF2B5EF4-FFF2-40B4-BE49-F238E27FC236}">
                <a16:creationId xmlns:a16="http://schemas.microsoft.com/office/drawing/2014/main" id="{1F77E1EC-BB6D-D296-05DA-590B28704E28}"/>
              </a:ext>
            </a:extLst>
          </p:cNvPr>
          <p:cNvSpPr txBox="1"/>
          <p:nvPr/>
        </p:nvSpPr>
        <p:spPr>
          <a:xfrm>
            <a:off x="7533114" y="3772449"/>
            <a:ext cx="1348509" cy="307777"/>
          </a:xfrm>
          <a:prstGeom prst="rect">
            <a:avLst/>
          </a:prstGeom>
          <a:noFill/>
        </p:spPr>
        <p:txBody>
          <a:bodyPr wrap="square">
            <a:spAutoFit/>
          </a:bodyPr>
          <a:lstStyle/>
          <a:p>
            <a:pPr algn="ctr"/>
            <a:r>
              <a:rPr lang="en-US" sz="1400" b="1" dirty="0"/>
              <a:t>lane’s paper</a:t>
            </a:r>
            <a:endParaRPr lang="en-SG" sz="1400" dirty="0"/>
          </a:p>
        </p:txBody>
      </p:sp>
      <p:sp>
        <p:nvSpPr>
          <p:cNvPr id="17" name="TextBox 16">
            <a:extLst>
              <a:ext uri="{FF2B5EF4-FFF2-40B4-BE49-F238E27FC236}">
                <a16:creationId xmlns:a16="http://schemas.microsoft.com/office/drawing/2014/main" id="{94BFE2CD-20ED-26C8-461D-D29AFACC6988}"/>
              </a:ext>
            </a:extLst>
          </p:cNvPr>
          <p:cNvSpPr txBox="1"/>
          <p:nvPr/>
        </p:nvSpPr>
        <p:spPr>
          <a:xfrm>
            <a:off x="10017134" y="3772449"/>
            <a:ext cx="1348509" cy="307777"/>
          </a:xfrm>
          <a:prstGeom prst="rect">
            <a:avLst/>
          </a:prstGeom>
          <a:noFill/>
        </p:spPr>
        <p:txBody>
          <a:bodyPr wrap="square">
            <a:spAutoFit/>
          </a:bodyPr>
          <a:lstStyle/>
          <a:p>
            <a:pPr algn="ctr"/>
            <a:r>
              <a:rPr lang="en-US" sz="1400" b="1" dirty="0"/>
              <a:t>My selection</a:t>
            </a:r>
            <a:endParaRPr lang="en-SG" sz="1400" dirty="0"/>
          </a:p>
        </p:txBody>
      </p:sp>
      <p:sp>
        <p:nvSpPr>
          <p:cNvPr id="18" name="TextBox 17">
            <a:extLst>
              <a:ext uri="{FF2B5EF4-FFF2-40B4-BE49-F238E27FC236}">
                <a16:creationId xmlns:a16="http://schemas.microsoft.com/office/drawing/2014/main" id="{9E0EDEBB-E92C-E06A-B368-0D1EE43AFC76}"/>
              </a:ext>
            </a:extLst>
          </p:cNvPr>
          <p:cNvSpPr txBox="1"/>
          <p:nvPr/>
        </p:nvSpPr>
        <p:spPr>
          <a:xfrm>
            <a:off x="1240146" y="3712807"/>
            <a:ext cx="1348509" cy="307777"/>
          </a:xfrm>
          <a:prstGeom prst="rect">
            <a:avLst/>
          </a:prstGeom>
          <a:noFill/>
        </p:spPr>
        <p:txBody>
          <a:bodyPr wrap="square">
            <a:spAutoFit/>
          </a:bodyPr>
          <a:lstStyle/>
          <a:p>
            <a:pPr algn="ctr"/>
            <a:r>
              <a:rPr lang="en-US" sz="1400" b="1" dirty="0"/>
              <a:t>lane’s paper</a:t>
            </a:r>
            <a:endParaRPr lang="en-SG" sz="1400" dirty="0"/>
          </a:p>
        </p:txBody>
      </p:sp>
      <p:sp>
        <p:nvSpPr>
          <p:cNvPr id="19" name="TextBox 18">
            <a:extLst>
              <a:ext uri="{FF2B5EF4-FFF2-40B4-BE49-F238E27FC236}">
                <a16:creationId xmlns:a16="http://schemas.microsoft.com/office/drawing/2014/main" id="{03E1DD11-71E3-B817-9D35-F88A9490957D}"/>
              </a:ext>
            </a:extLst>
          </p:cNvPr>
          <p:cNvSpPr txBox="1"/>
          <p:nvPr/>
        </p:nvSpPr>
        <p:spPr>
          <a:xfrm>
            <a:off x="4542523" y="3712807"/>
            <a:ext cx="1348509" cy="307777"/>
          </a:xfrm>
          <a:prstGeom prst="rect">
            <a:avLst/>
          </a:prstGeom>
          <a:noFill/>
        </p:spPr>
        <p:txBody>
          <a:bodyPr wrap="square">
            <a:spAutoFit/>
          </a:bodyPr>
          <a:lstStyle/>
          <a:p>
            <a:pPr algn="ctr"/>
            <a:r>
              <a:rPr lang="en-US" sz="1400" b="1" dirty="0"/>
              <a:t>My selection</a:t>
            </a:r>
            <a:endParaRPr lang="en-SG" sz="1400" dirty="0"/>
          </a:p>
        </p:txBody>
      </p:sp>
      <p:sp>
        <p:nvSpPr>
          <p:cNvPr id="20" name="TextBox 19">
            <a:extLst>
              <a:ext uri="{FF2B5EF4-FFF2-40B4-BE49-F238E27FC236}">
                <a16:creationId xmlns:a16="http://schemas.microsoft.com/office/drawing/2014/main" id="{CA8A7898-A003-7E6C-2C8F-6B21F3E2516C}"/>
              </a:ext>
            </a:extLst>
          </p:cNvPr>
          <p:cNvSpPr txBox="1"/>
          <p:nvPr/>
        </p:nvSpPr>
        <p:spPr>
          <a:xfrm>
            <a:off x="2156746" y="1720369"/>
            <a:ext cx="3009127" cy="307777"/>
          </a:xfrm>
          <a:prstGeom prst="rect">
            <a:avLst/>
          </a:prstGeom>
          <a:noFill/>
        </p:spPr>
        <p:txBody>
          <a:bodyPr wrap="square">
            <a:spAutoFit/>
          </a:bodyPr>
          <a:lstStyle/>
          <a:p>
            <a:pPr algn="ctr"/>
            <a:r>
              <a:rPr lang="en-US" sz="1400" b="1" u="sng" dirty="0"/>
              <a:t>Reconstructed neutral pion mass</a:t>
            </a:r>
            <a:endParaRPr lang="en-SG" sz="1400" b="1" u="sng" dirty="0"/>
          </a:p>
        </p:txBody>
      </p:sp>
      <p:sp>
        <p:nvSpPr>
          <p:cNvPr id="21" name="TextBox 20">
            <a:extLst>
              <a:ext uri="{FF2B5EF4-FFF2-40B4-BE49-F238E27FC236}">
                <a16:creationId xmlns:a16="http://schemas.microsoft.com/office/drawing/2014/main" id="{A62A1738-E49C-1466-B58C-DEBDF99D8707}"/>
              </a:ext>
            </a:extLst>
          </p:cNvPr>
          <p:cNvSpPr txBox="1"/>
          <p:nvPr/>
        </p:nvSpPr>
        <p:spPr>
          <a:xfrm>
            <a:off x="1763346" y="4119735"/>
            <a:ext cx="3331884" cy="307777"/>
          </a:xfrm>
          <a:prstGeom prst="rect">
            <a:avLst/>
          </a:prstGeom>
          <a:noFill/>
        </p:spPr>
        <p:txBody>
          <a:bodyPr wrap="square">
            <a:spAutoFit/>
          </a:bodyPr>
          <a:lstStyle/>
          <a:p>
            <a:pPr algn="ctr"/>
            <a:r>
              <a:rPr lang="en-US" sz="1400" b="1" u="sng" dirty="0"/>
              <a:t>Reconstructed primary muon length</a:t>
            </a:r>
            <a:endParaRPr lang="en-SG" sz="1400" b="1" u="sng" dirty="0"/>
          </a:p>
        </p:txBody>
      </p:sp>
      <p:sp>
        <p:nvSpPr>
          <p:cNvPr id="22" name="TextBox 21">
            <a:extLst>
              <a:ext uri="{FF2B5EF4-FFF2-40B4-BE49-F238E27FC236}">
                <a16:creationId xmlns:a16="http://schemas.microsoft.com/office/drawing/2014/main" id="{44D8CA14-4724-3819-7754-A9E7380B80E1}"/>
              </a:ext>
            </a:extLst>
          </p:cNvPr>
          <p:cNvSpPr txBox="1"/>
          <p:nvPr/>
        </p:nvSpPr>
        <p:spPr>
          <a:xfrm>
            <a:off x="1389274" y="6107082"/>
            <a:ext cx="1348509" cy="307777"/>
          </a:xfrm>
          <a:prstGeom prst="rect">
            <a:avLst/>
          </a:prstGeom>
          <a:noFill/>
        </p:spPr>
        <p:txBody>
          <a:bodyPr wrap="square">
            <a:spAutoFit/>
          </a:bodyPr>
          <a:lstStyle/>
          <a:p>
            <a:pPr algn="ctr"/>
            <a:r>
              <a:rPr lang="en-US" sz="1400" b="1" dirty="0"/>
              <a:t>lane’s paper</a:t>
            </a:r>
            <a:endParaRPr lang="en-SG" sz="1400" dirty="0"/>
          </a:p>
        </p:txBody>
      </p:sp>
      <p:sp>
        <p:nvSpPr>
          <p:cNvPr id="23" name="TextBox 22">
            <a:extLst>
              <a:ext uri="{FF2B5EF4-FFF2-40B4-BE49-F238E27FC236}">
                <a16:creationId xmlns:a16="http://schemas.microsoft.com/office/drawing/2014/main" id="{E8C6E040-F980-79BE-33FB-B9F9ED945AC4}"/>
              </a:ext>
            </a:extLst>
          </p:cNvPr>
          <p:cNvSpPr txBox="1"/>
          <p:nvPr/>
        </p:nvSpPr>
        <p:spPr>
          <a:xfrm>
            <a:off x="3834444" y="6107081"/>
            <a:ext cx="1348509" cy="307777"/>
          </a:xfrm>
          <a:prstGeom prst="rect">
            <a:avLst/>
          </a:prstGeom>
          <a:noFill/>
        </p:spPr>
        <p:txBody>
          <a:bodyPr wrap="square">
            <a:spAutoFit/>
          </a:bodyPr>
          <a:lstStyle/>
          <a:p>
            <a:pPr algn="ctr"/>
            <a:r>
              <a:rPr lang="en-US" sz="1400" b="1" dirty="0"/>
              <a:t>My selection</a:t>
            </a:r>
            <a:endParaRPr lang="en-SG" sz="1400" dirty="0"/>
          </a:p>
        </p:txBody>
      </p:sp>
      <p:sp>
        <p:nvSpPr>
          <p:cNvPr id="24" name="TextBox 23">
            <a:extLst>
              <a:ext uri="{FF2B5EF4-FFF2-40B4-BE49-F238E27FC236}">
                <a16:creationId xmlns:a16="http://schemas.microsoft.com/office/drawing/2014/main" id="{54440C8D-F709-9ECC-16CA-34E56BE8DB48}"/>
              </a:ext>
            </a:extLst>
          </p:cNvPr>
          <p:cNvSpPr txBox="1"/>
          <p:nvPr/>
        </p:nvSpPr>
        <p:spPr>
          <a:xfrm>
            <a:off x="7877098" y="4078607"/>
            <a:ext cx="3331884" cy="307777"/>
          </a:xfrm>
          <a:prstGeom prst="rect">
            <a:avLst/>
          </a:prstGeom>
          <a:noFill/>
        </p:spPr>
        <p:txBody>
          <a:bodyPr wrap="square">
            <a:spAutoFit/>
          </a:bodyPr>
          <a:lstStyle/>
          <a:p>
            <a:pPr algn="ctr"/>
            <a:r>
              <a:rPr lang="en-US" sz="1400" b="1" u="sng" dirty="0"/>
              <a:t>Reconstructed boosting angle</a:t>
            </a:r>
            <a:endParaRPr lang="en-SG" sz="1400" b="1" u="sng" dirty="0"/>
          </a:p>
        </p:txBody>
      </p:sp>
      <p:pic>
        <p:nvPicPr>
          <p:cNvPr id="25" name="Picture 24">
            <a:extLst>
              <a:ext uri="{FF2B5EF4-FFF2-40B4-BE49-F238E27FC236}">
                <a16:creationId xmlns:a16="http://schemas.microsoft.com/office/drawing/2014/main" id="{332054FD-0588-4019-E390-52B47C216711}"/>
              </a:ext>
            </a:extLst>
          </p:cNvPr>
          <p:cNvPicPr>
            <a:picLocks noChangeAspect="1"/>
          </p:cNvPicPr>
          <p:nvPr/>
        </p:nvPicPr>
        <p:blipFill>
          <a:blip r:embed="rId7"/>
          <a:stretch>
            <a:fillRect/>
          </a:stretch>
        </p:blipFill>
        <p:spPr>
          <a:xfrm>
            <a:off x="7197570" y="4381274"/>
            <a:ext cx="1779171" cy="1738876"/>
          </a:xfrm>
          <a:prstGeom prst="rect">
            <a:avLst/>
          </a:prstGeom>
        </p:spPr>
      </p:pic>
      <p:pic>
        <p:nvPicPr>
          <p:cNvPr id="26" name="Picture 25">
            <a:extLst>
              <a:ext uri="{FF2B5EF4-FFF2-40B4-BE49-F238E27FC236}">
                <a16:creationId xmlns:a16="http://schemas.microsoft.com/office/drawing/2014/main" id="{28630B71-8E4D-9E14-9251-D57F0CCC7BCD}"/>
              </a:ext>
            </a:extLst>
          </p:cNvPr>
          <p:cNvPicPr>
            <a:picLocks noChangeAspect="1"/>
          </p:cNvPicPr>
          <p:nvPr/>
        </p:nvPicPr>
        <p:blipFill>
          <a:blip r:embed="rId8"/>
          <a:stretch>
            <a:fillRect/>
          </a:stretch>
        </p:blipFill>
        <p:spPr>
          <a:xfrm>
            <a:off x="9192481" y="4359174"/>
            <a:ext cx="2795064" cy="1788187"/>
          </a:xfrm>
          <a:prstGeom prst="rect">
            <a:avLst/>
          </a:prstGeom>
        </p:spPr>
      </p:pic>
      <p:sp>
        <p:nvSpPr>
          <p:cNvPr id="27" name="TextBox 26">
            <a:extLst>
              <a:ext uri="{FF2B5EF4-FFF2-40B4-BE49-F238E27FC236}">
                <a16:creationId xmlns:a16="http://schemas.microsoft.com/office/drawing/2014/main" id="{5CED360A-23EC-F727-584F-6B6AD8F2A005}"/>
              </a:ext>
            </a:extLst>
          </p:cNvPr>
          <p:cNvSpPr txBox="1"/>
          <p:nvPr/>
        </p:nvSpPr>
        <p:spPr>
          <a:xfrm>
            <a:off x="7499988" y="6049778"/>
            <a:ext cx="1348509" cy="307777"/>
          </a:xfrm>
          <a:prstGeom prst="rect">
            <a:avLst/>
          </a:prstGeom>
          <a:noFill/>
        </p:spPr>
        <p:txBody>
          <a:bodyPr wrap="square">
            <a:spAutoFit/>
          </a:bodyPr>
          <a:lstStyle/>
          <a:p>
            <a:pPr algn="ctr"/>
            <a:r>
              <a:rPr lang="en-US" sz="1400" b="1" dirty="0"/>
              <a:t>lane’s paper</a:t>
            </a:r>
            <a:endParaRPr lang="en-SG" sz="1400" dirty="0"/>
          </a:p>
        </p:txBody>
      </p:sp>
      <p:sp>
        <p:nvSpPr>
          <p:cNvPr id="28" name="TextBox 27">
            <a:extLst>
              <a:ext uri="{FF2B5EF4-FFF2-40B4-BE49-F238E27FC236}">
                <a16:creationId xmlns:a16="http://schemas.microsoft.com/office/drawing/2014/main" id="{8CBFBFFB-C12A-C369-180E-4376642310A2}"/>
              </a:ext>
            </a:extLst>
          </p:cNvPr>
          <p:cNvSpPr txBox="1"/>
          <p:nvPr/>
        </p:nvSpPr>
        <p:spPr>
          <a:xfrm>
            <a:off x="10017134" y="6049778"/>
            <a:ext cx="1348509" cy="307777"/>
          </a:xfrm>
          <a:prstGeom prst="rect">
            <a:avLst/>
          </a:prstGeom>
          <a:noFill/>
        </p:spPr>
        <p:txBody>
          <a:bodyPr wrap="square">
            <a:spAutoFit/>
          </a:bodyPr>
          <a:lstStyle/>
          <a:p>
            <a:pPr algn="ctr"/>
            <a:r>
              <a:rPr lang="en-US" sz="1400" b="1" dirty="0"/>
              <a:t>My selection</a:t>
            </a:r>
            <a:endParaRPr lang="en-SG" sz="1400" dirty="0"/>
          </a:p>
        </p:txBody>
      </p:sp>
      <p:sp>
        <p:nvSpPr>
          <p:cNvPr id="4" name="Slide Number Placeholder 3">
            <a:extLst>
              <a:ext uri="{FF2B5EF4-FFF2-40B4-BE49-F238E27FC236}">
                <a16:creationId xmlns:a16="http://schemas.microsoft.com/office/drawing/2014/main" id="{C12938BB-CF65-E3F2-17C7-A845C3CC1362}"/>
              </a:ext>
            </a:extLst>
          </p:cNvPr>
          <p:cNvSpPr>
            <a:spLocks noGrp="1"/>
          </p:cNvSpPr>
          <p:nvPr>
            <p:ph type="sldNum" sz="quarter" idx="12"/>
          </p:nvPr>
        </p:nvSpPr>
        <p:spPr/>
        <p:txBody>
          <a:bodyPr/>
          <a:lstStyle/>
          <a:p>
            <a:fld id="{BBCD8743-5A53-4A98-BC6F-5DFD6CC2F469}" type="slidenum">
              <a:rPr lang="en-SG" smtClean="0"/>
              <a:t>10</a:t>
            </a:fld>
            <a:endParaRPr lang="en-SG"/>
          </a:p>
        </p:txBody>
      </p:sp>
    </p:spTree>
    <p:extLst>
      <p:ext uri="{BB962C8B-B14F-4D97-AF65-F5344CB8AC3E}">
        <p14:creationId xmlns:p14="http://schemas.microsoft.com/office/powerpoint/2010/main" val="2804146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4888-0134-2000-C88C-4594B9876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6C385-025E-7AA7-D4C2-2EE242F9DDB2}"/>
              </a:ext>
            </a:extLst>
          </p:cNvPr>
          <p:cNvSpPr>
            <a:spLocks noGrp="1"/>
          </p:cNvSpPr>
          <p:nvPr>
            <p:ph type="title"/>
          </p:nvPr>
        </p:nvSpPr>
        <p:spPr/>
        <p:txBody>
          <a:bodyPr/>
          <a:lstStyle/>
          <a:p>
            <a:r>
              <a:rPr lang="en-US" dirty="0"/>
              <a:t>Plot comparison</a:t>
            </a:r>
            <a:endParaRPr lang="en-SG" dirty="0"/>
          </a:p>
        </p:txBody>
      </p:sp>
      <p:sp>
        <p:nvSpPr>
          <p:cNvPr id="13" name="TextBox 12">
            <a:extLst>
              <a:ext uri="{FF2B5EF4-FFF2-40B4-BE49-F238E27FC236}">
                <a16:creationId xmlns:a16="http://schemas.microsoft.com/office/drawing/2014/main" id="{4BAA525A-00E4-3CBA-33E3-540A88ECF5DE}"/>
              </a:ext>
            </a:extLst>
          </p:cNvPr>
          <p:cNvSpPr txBox="1"/>
          <p:nvPr/>
        </p:nvSpPr>
        <p:spPr>
          <a:xfrm>
            <a:off x="8033759" y="1757721"/>
            <a:ext cx="3331884" cy="307777"/>
          </a:xfrm>
          <a:prstGeom prst="rect">
            <a:avLst/>
          </a:prstGeom>
          <a:noFill/>
        </p:spPr>
        <p:txBody>
          <a:bodyPr wrap="square">
            <a:spAutoFit/>
          </a:bodyPr>
          <a:lstStyle/>
          <a:p>
            <a:pPr algn="ctr"/>
            <a:r>
              <a:rPr lang="en-US" sz="1400" b="1" u="sng" dirty="0"/>
              <a:t>Reconstructed Di-photon opening angle</a:t>
            </a:r>
            <a:endParaRPr lang="en-SG" sz="1400" b="1" u="sng" dirty="0"/>
          </a:p>
        </p:txBody>
      </p:sp>
      <p:sp>
        <p:nvSpPr>
          <p:cNvPr id="16" name="TextBox 15">
            <a:extLst>
              <a:ext uri="{FF2B5EF4-FFF2-40B4-BE49-F238E27FC236}">
                <a16:creationId xmlns:a16="http://schemas.microsoft.com/office/drawing/2014/main" id="{8AB38839-1A76-3CE8-1319-3E0B88226BC0}"/>
              </a:ext>
            </a:extLst>
          </p:cNvPr>
          <p:cNvSpPr txBox="1"/>
          <p:nvPr/>
        </p:nvSpPr>
        <p:spPr>
          <a:xfrm>
            <a:off x="7533114" y="3772449"/>
            <a:ext cx="1348509" cy="307777"/>
          </a:xfrm>
          <a:prstGeom prst="rect">
            <a:avLst/>
          </a:prstGeom>
          <a:noFill/>
        </p:spPr>
        <p:txBody>
          <a:bodyPr wrap="square">
            <a:spAutoFit/>
          </a:bodyPr>
          <a:lstStyle/>
          <a:p>
            <a:pPr algn="ctr"/>
            <a:r>
              <a:rPr lang="en-US" sz="1400" b="1" dirty="0"/>
              <a:t>lane’s paper</a:t>
            </a:r>
            <a:endParaRPr lang="en-SG" sz="1400" dirty="0"/>
          </a:p>
        </p:txBody>
      </p:sp>
      <p:sp>
        <p:nvSpPr>
          <p:cNvPr id="17" name="TextBox 16">
            <a:extLst>
              <a:ext uri="{FF2B5EF4-FFF2-40B4-BE49-F238E27FC236}">
                <a16:creationId xmlns:a16="http://schemas.microsoft.com/office/drawing/2014/main" id="{6F572B61-C160-AAC6-BF48-3F243587171D}"/>
              </a:ext>
            </a:extLst>
          </p:cNvPr>
          <p:cNvSpPr txBox="1"/>
          <p:nvPr/>
        </p:nvSpPr>
        <p:spPr>
          <a:xfrm>
            <a:off x="10017134" y="3772449"/>
            <a:ext cx="1348509" cy="307777"/>
          </a:xfrm>
          <a:prstGeom prst="rect">
            <a:avLst/>
          </a:prstGeom>
          <a:noFill/>
        </p:spPr>
        <p:txBody>
          <a:bodyPr wrap="square">
            <a:spAutoFit/>
          </a:bodyPr>
          <a:lstStyle/>
          <a:p>
            <a:pPr algn="ctr"/>
            <a:r>
              <a:rPr lang="en-US" sz="1400" b="1" dirty="0"/>
              <a:t>My selection</a:t>
            </a:r>
            <a:endParaRPr lang="en-SG" sz="1400" dirty="0"/>
          </a:p>
        </p:txBody>
      </p:sp>
      <p:sp>
        <p:nvSpPr>
          <p:cNvPr id="18" name="TextBox 17">
            <a:extLst>
              <a:ext uri="{FF2B5EF4-FFF2-40B4-BE49-F238E27FC236}">
                <a16:creationId xmlns:a16="http://schemas.microsoft.com/office/drawing/2014/main" id="{5D06DF40-0122-D37D-045F-FD5A65EE082F}"/>
              </a:ext>
            </a:extLst>
          </p:cNvPr>
          <p:cNvSpPr txBox="1"/>
          <p:nvPr/>
        </p:nvSpPr>
        <p:spPr>
          <a:xfrm>
            <a:off x="1240146" y="3712807"/>
            <a:ext cx="1348509" cy="307777"/>
          </a:xfrm>
          <a:prstGeom prst="rect">
            <a:avLst/>
          </a:prstGeom>
          <a:noFill/>
        </p:spPr>
        <p:txBody>
          <a:bodyPr wrap="square">
            <a:spAutoFit/>
          </a:bodyPr>
          <a:lstStyle/>
          <a:p>
            <a:pPr algn="ctr"/>
            <a:r>
              <a:rPr lang="en-US" sz="1400" b="1" dirty="0"/>
              <a:t>lane’s paper</a:t>
            </a:r>
            <a:endParaRPr lang="en-SG" sz="1400" dirty="0"/>
          </a:p>
        </p:txBody>
      </p:sp>
      <p:sp>
        <p:nvSpPr>
          <p:cNvPr id="19" name="TextBox 18">
            <a:extLst>
              <a:ext uri="{FF2B5EF4-FFF2-40B4-BE49-F238E27FC236}">
                <a16:creationId xmlns:a16="http://schemas.microsoft.com/office/drawing/2014/main" id="{1B144547-7024-BACB-258D-5ADF8DA7ECD1}"/>
              </a:ext>
            </a:extLst>
          </p:cNvPr>
          <p:cNvSpPr txBox="1"/>
          <p:nvPr/>
        </p:nvSpPr>
        <p:spPr>
          <a:xfrm>
            <a:off x="3834444" y="3712807"/>
            <a:ext cx="1348509" cy="307777"/>
          </a:xfrm>
          <a:prstGeom prst="rect">
            <a:avLst/>
          </a:prstGeom>
          <a:noFill/>
        </p:spPr>
        <p:txBody>
          <a:bodyPr wrap="square">
            <a:spAutoFit/>
          </a:bodyPr>
          <a:lstStyle/>
          <a:p>
            <a:pPr algn="ctr"/>
            <a:r>
              <a:rPr lang="en-US" sz="1400" b="1" dirty="0"/>
              <a:t>My selection</a:t>
            </a:r>
            <a:endParaRPr lang="en-SG" sz="1400" dirty="0"/>
          </a:p>
        </p:txBody>
      </p:sp>
      <p:sp>
        <p:nvSpPr>
          <p:cNvPr id="20" name="TextBox 19">
            <a:extLst>
              <a:ext uri="{FF2B5EF4-FFF2-40B4-BE49-F238E27FC236}">
                <a16:creationId xmlns:a16="http://schemas.microsoft.com/office/drawing/2014/main" id="{F4A15CB8-C593-F680-0298-D9554E01A276}"/>
              </a:ext>
            </a:extLst>
          </p:cNvPr>
          <p:cNvSpPr txBox="1"/>
          <p:nvPr/>
        </p:nvSpPr>
        <p:spPr>
          <a:xfrm>
            <a:off x="1763346" y="1707728"/>
            <a:ext cx="3009127" cy="307777"/>
          </a:xfrm>
          <a:prstGeom prst="rect">
            <a:avLst/>
          </a:prstGeom>
          <a:noFill/>
        </p:spPr>
        <p:txBody>
          <a:bodyPr wrap="square">
            <a:spAutoFit/>
          </a:bodyPr>
          <a:lstStyle/>
          <a:p>
            <a:pPr algn="ctr"/>
            <a:r>
              <a:rPr lang="en-US" sz="1400" b="1" u="sng" dirty="0"/>
              <a:t>Reconstructed leading photon KE</a:t>
            </a:r>
            <a:endParaRPr lang="en-SG" sz="1400" b="1" u="sng" dirty="0"/>
          </a:p>
        </p:txBody>
      </p:sp>
      <p:sp>
        <p:nvSpPr>
          <p:cNvPr id="21" name="TextBox 20">
            <a:extLst>
              <a:ext uri="{FF2B5EF4-FFF2-40B4-BE49-F238E27FC236}">
                <a16:creationId xmlns:a16="http://schemas.microsoft.com/office/drawing/2014/main" id="{0BE6E6C8-B0BD-1D84-99D1-786DEA87B4DB}"/>
              </a:ext>
            </a:extLst>
          </p:cNvPr>
          <p:cNvSpPr txBox="1"/>
          <p:nvPr/>
        </p:nvSpPr>
        <p:spPr>
          <a:xfrm>
            <a:off x="1763346" y="4119735"/>
            <a:ext cx="3331884" cy="307777"/>
          </a:xfrm>
          <a:prstGeom prst="rect">
            <a:avLst/>
          </a:prstGeom>
          <a:noFill/>
        </p:spPr>
        <p:txBody>
          <a:bodyPr wrap="square">
            <a:spAutoFit/>
          </a:bodyPr>
          <a:lstStyle/>
          <a:p>
            <a:pPr algn="ctr"/>
            <a:r>
              <a:rPr lang="en-US" sz="1400" b="1" u="sng" dirty="0"/>
              <a:t>Reconstructed muon momentum</a:t>
            </a:r>
            <a:endParaRPr lang="en-SG" sz="1400" b="1" u="sng" dirty="0"/>
          </a:p>
        </p:txBody>
      </p:sp>
      <p:sp>
        <p:nvSpPr>
          <p:cNvPr id="22" name="TextBox 21">
            <a:extLst>
              <a:ext uri="{FF2B5EF4-FFF2-40B4-BE49-F238E27FC236}">
                <a16:creationId xmlns:a16="http://schemas.microsoft.com/office/drawing/2014/main" id="{260ECA5D-893E-0F63-F4B5-82E78CDE8C94}"/>
              </a:ext>
            </a:extLst>
          </p:cNvPr>
          <p:cNvSpPr txBox="1"/>
          <p:nvPr/>
        </p:nvSpPr>
        <p:spPr>
          <a:xfrm>
            <a:off x="1389274" y="6107082"/>
            <a:ext cx="1348509" cy="307777"/>
          </a:xfrm>
          <a:prstGeom prst="rect">
            <a:avLst/>
          </a:prstGeom>
          <a:noFill/>
        </p:spPr>
        <p:txBody>
          <a:bodyPr wrap="square">
            <a:spAutoFit/>
          </a:bodyPr>
          <a:lstStyle/>
          <a:p>
            <a:pPr algn="ctr"/>
            <a:r>
              <a:rPr lang="en-US" sz="1400" b="1" dirty="0"/>
              <a:t>lane’s paper</a:t>
            </a:r>
            <a:endParaRPr lang="en-SG" sz="1400" dirty="0"/>
          </a:p>
        </p:txBody>
      </p:sp>
      <p:sp>
        <p:nvSpPr>
          <p:cNvPr id="23" name="TextBox 22">
            <a:extLst>
              <a:ext uri="{FF2B5EF4-FFF2-40B4-BE49-F238E27FC236}">
                <a16:creationId xmlns:a16="http://schemas.microsoft.com/office/drawing/2014/main" id="{F515ED0E-373F-47FE-DC9C-DDE054E326B4}"/>
              </a:ext>
            </a:extLst>
          </p:cNvPr>
          <p:cNvSpPr txBox="1"/>
          <p:nvPr/>
        </p:nvSpPr>
        <p:spPr>
          <a:xfrm>
            <a:off x="3960210" y="6087519"/>
            <a:ext cx="1348509" cy="307777"/>
          </a:xfrm>
          <a:prstGeom prst="rect">
            <a:avLst/>
          </a:prstGeom>
          <a:noFill/>
        </p:spPr>
        <p:txBody>
          <a:bodyPr wrap="square">
            <a:spAutoFit/>
          </a:bodyPr>
          <a:lstStyle/>
          <a:p>
            <a:pPr algn="ctr"/>
            <a:r>
              <a:rPr lang="en-US" sz="1400" b="1" dirty="0"/>
              <a:t>My selection</a:t>
            </a:r>
            <a:endParaRPr lang="en-SG" sz="1400" dirty="0"/>
          </a:p>
        </p:txBody>
      </p:sp>
      <p:sp>
        <p:nvSpPr>
          <p:cNvPr id="24" name="TextBox 23">
            <a:extLst>
              <a:ext uri="{FF2B5EF4-FFF2-40B4-BE49-F238E27FC236}">
                <a16:creationId xmlns:a16="http://schemas.microsoft.com/office/drawing/2014/main" id="{1221220D-0100-3082-AE4A-800883A42D96}"/>
              </a:ext>
            </a:extLst>
          </p:cNvPr>
          <p:cNvSpPr txBox="1"/>
          <p:nvPr/>
        </p:nvSpPr>
        <p:spPr>
          <a:xfrm>
            <a:off x="7877098" y="4078607"/>
            <a:ext cx="3331884" cy="307777"/>
          </a:xfrm>
          <a:prstGeom prst="rect">
            <a:avLst/>
          </a:prstGeom>
          <a:noFill/>
        </p:spPr>
        <p:txBody>
          <a:bodyPr wrap="square">
            <a:spAutoFit/>
          </a:bodyPr>
          <a:lstStyle/>
          <a:p>
            <a:pPr algn="ctr"/>
            <a:r>
              <a:rPr lang="en-US" sz="1400" b="1" u="sng" dirty="0"/>
              <a:t>Reconstructed Pi0 momentum</a:t>
            </a:r>
            <a:endParaRPr lang="en-SG" sz="1400" b="1" u="sng" dirty="0"/>
          </a:p>
        </p:txBody>
      </p:sp>
      <p:sp>
        <p:nvSpPr>
          <p:cNvPr id="27" name="TextBox 26">
            <a:extLst>
              <a:ext uri="{FF2B5EF4-FFF2-40B4-BE49-F238E27FC236}">
                <a16:creationId xmlns:a16="http://schemas.microsoft.com/office/drawing/2014/main" id="{B926612C-A1BA-D49F-F91C-743C32B89061}"/>
              </a:ext>
            </a:extLst>
          </p:cNvPr>
          <p:cNvSpPr txBox="1"/>
          <p:nvPr/>
        </p:nvSpPr>
        <p:spPr>
          <a:xfrm>
            <a:off x="7499988" y="6049778"/>
            <a:ext cx="1348509" cy="307777"/>
          </a:xfrm>
          <a:prstGeom prst="rect">
            <a:avLst/>
          </a:prstGeom>
          <a:noFill/>
        </p:spPr>
        <p:txBody>
          <a:bodyPr wrap="square">
            <a:spAutoFit/>
          </a:bodyPr>
          <a:lstStyle/>
          <a:p>
            <a:pPr algn="ctr"/>
            <a:r>
              <a:rPr lang="en-US" sz="1400" b="1" dirty="0"/>
              <a:t>lane’s paper</a:t>
            </a:r>
            <a:endParaRPr lang="en-SG" sz="1400" dirty="0"/>
          </a:p>
        </p:txBody>
      </p:sp>
      <p:sp>
        <p:nvSpPr>
          <p:cNvPr id="28" name="TextBox 27">
            <a:extLst>
              <a:ext uri="{FF2B5EF4-FFF2-40B4-BE49-F238E27FC236}">
                <a16:creationId xmlns:a16="http://schemas.microsoft.com/office/drawing/2014/main" id="{34F5C4E8-8106-0FC8-4CC1-A827D2F77518}"/>
              </a:ext>
            </a:extLst>
          </p:cNvPr>
          <p:cNvSpPr txBox="1"/>
          <p:nvPr/>
        </p:nvSpPr>
        <p:spPr>
          <a:xfrm>
            <a:off x="10017134" y="6049778"/>
            <a:ext cx="1348509" cy="307777"/>
          </a:xfrm>
          <a:prstGeom prst="rect">
            <a:avLst/>
          </a:prstGeom>
          <a:noFill/>
        </p:spPr>
        <p:txBody>
          <a:bodyPr wrap="square">
            <a:spAutoFit/>
          </a:bodyPr>
          <a:lstStyle/>
          <a:p>
            <a:pPr algn="ctr"/>
            <a:r>
              <a:rPr lang="en-US" sz="1400" b="1" dirty="0"/>
              <a:t>My selection</a:t>
            </a:r>
            <a:endParaRPr lang="en-SG" sz="1400" dirty="0"/>
          </a:p>
        </p:txBody>
      </p:sp>
      <p:pic>
        <p:nvPicPr>
          <p:cNvPr id="4" name="Picture 3">
            <a:extLst>
              <a:ext uri="{FF2B5EF4-FFF2-40B4-BE49-F238E27FC236}">
                <a16:creationId xmlns:a16="http://schemas.microsoft.com/office/drawing/2014/main" id="{6BFC8D76-AE9A-A39E-8FB8-35A52E1E91AE}"/>
              </a:ext>
            </a:extLst>
          </p:cNvPr>
          <p:cNvPicPr>
            <a:picLocks noChangeAspect="1"/>
          </p:cNvPicPr>
          <p:nvPr/>
        </p:nvPicPr>
        <p:blipFill>
          <a:blip r:embed="rId3"/>
          <a:stretch>
            <a:fillRect/>
          </a:stretch>
        </p:blipFill>
        <p:spPr>
          <a:xfrm>
            <a:off x="910625" y="1986658"/>
            <a:ext cx="1764094" cy="1705903"/>
          </a:xfrm>
          <a:prstGeom prst="rect">
            <a:avLst/>
          </a:prstGeom>
        </p:spPr>
      </p:pic>
      <p:pic>
        <p:nvPicPr>
          <p:cNvPr id="7" name="Picture 6">
            <a:extLst>
              <a:ext uri="{FF2B5EF4-FFF2-40B4-BE49-F238E27FC236}">
                <a16:creationId xmlns:a16="http://schemas.microsoft.com/office/drawing/2014/main" id="{D583913C-A30B-7270-670F-CC072507C08D}"/>
              </a:ext>
            </a:extLst>
          </p:cNvPr>
          <p:cNvPicPr>
            <a:picLocks noChangeAspect="1"/>
          </p:cNvPicPr>
          <p:nvPr/>
        </p:nvPicPr>
        <p:blipFill>
          <a:blip r:embed="rId4"/>
          <a:stretch>
            <a:fillRect/>
          </a:stretch>
        </p:blipFill>
        <p:spPr>
          <a:xfrm>
            <a:off x="3006328" y="1965552"/>
            <a:ext cx="2775135" cy="1775437"/>
          </a:xfrm>
          <a:prstGeom prst="rect">
            <a:avLst/>
          </a:prstGeom>
        </p:spPr>
      </p:pic>
      <p:pic>
        <p:nvPicPr>
          <p:cNvPr id="9" name="Picture 8">
            <a:extLst>
              <a:ext uri="{FF2B5EF4-FFF2-40B4-BE49-F238E27FC236}">
                <a16:creationId xmlns:a16="http://schemas.microsoft.com/office/drawing/2014/main" id="{29089F33-4C73-C8E5-7F6B-7F8F8A1D0FFF}"/>
              </a:ext>
            </a:extLst>
          </p:cNvPr>
          <p:cNvPicPr>
            <a:picLocks noChangeAspect="1"/>
          </p:cNvPicPr>
          <p:nvPr/>
        </p:nvPicPr>
        <p:blipFill>
          <a:blip r:embed="rId5"/>
          <a:stretch>
            <a:fillRect/>
          </a:stretch>
        </p:blipFill>
        <p:spPr>
          <a:xfrm>
            <a:off x="7187695" y="2023548"/>
            <a:ext cx="1866389" cy="1790852"/>
          </a:xfrm>
          <a:prstGeom prst="rect">
            <a:avLst/>
          </a:prstGeom>
        </p:spPr>
      </p:pic>
      <p:pic>
        <p:nvPicPr>
          <p:cNvPr id="10" name="Picture 9">
            <a:extLst>
              <a:ext uri="{FF2B5EF4-FFF2-40B4-BE49-F238E27FC236}">
                <a16:creationId xmlns:a16="http://schemas.microsoft.com/office/drawing/2014/main" id="{E45592EE-2AB2-8355-096F-A908A90F24CC}"/>
              </a:ext>
            </a:extLst>
          </p:cNvPr>
          <p:cNvPicPr>
            <a:picLocks noChangeAspect="1"/>
          </p:cNvPicPr>
          <p:nvPr/>
        </p:nvPicPr>
        <p:blipFill>
          <a:blip r:embed="rId6"/>
          <a:stretch>
            <a:fillRect/>
          </a:stretch>
        </p:blipFill>
        <p:spPr>
          <a:xfrm>
            <a:off x="9123282" y="2065498"/>
            <a:ext cx="2933461" cy="1790852"/>
          </a:xfrm>
          <a:prstGeom prst="rect">
            <a:avLst/>
          </a:prstGeom>
        </p:spPr>
      </p:pic>
      <p:pic>
        <p:nvPicPr>
          <p:cNvPr id="14" name="Picture 13">
            <a:extLst>
              <a:ext uri="{FF2B5EF4-FFF2-40B4-BE49-F238E27FC236}">
                <a16:creationId xmlns:a16="http://schemas.microsoft.com/office/drawing/2014/main" id="{34A61476-2F5F-FB1B-F896-BBDBA195D20A}"/>
              </a:ext>
            </a:extLst>
          </p:cNvPr>
          <p:cNvPicPr>
            <a:picLocks noChangeAspect="1"/>
          </p:cNvPicPr>
          <p:nvPr/>
        </p:nvPicPr>
        <p:blipFill>
          <a:blip r:embed="rId7"/>
          <a:stretch>
            <a:fillRect/>
          </a:stretch>
        </p:blipFill>
        <p:spPr>
          <a:xfrm>
            <a:off x="1097280" y="4447758"/>
            <a:ext cx="1759447" cy="1718965"/>
          </a:xfrm>
          <a:prstGeom prst="rect">
            <a:avLst/>
          </a:prstGeom>
        </p:spPr>
      </p:pic>
      <p:pic>
        <p:nvPicPr>
          <p:cNvPr id="29" name="Picture 28">
            <a:extLst>
              <a:ext uri="{FF2B5EF4-FFF2-40B4-BE49-F238E27FC236}">
                <a16:creationId xmlns:a16="http://schemas.microsoft.com/office/drawing/2014/main" id="{95D83E6B-A628-2D45-EC66-023B4A7BC607}"/>
              </a:ext>
            </a:extLst>
          </p:cNvPr>
          <p:cNvPicPr>
            <a:picLocks noChangeAspect="1"/>
          </p:cNvPicPr>
          <p:nvPr/>
        </p:nvPicPr>
        <p:blipFill>
          <a:blip r:embed="rId8"/>
          <a:stretch>
            <a:fillRect/>
          </a:stretch>
        </p:blipFill>
        <p:spPr>
          <a:xfrm>
            <a:off x="7209665" y="4343243"/>
            <a:ext cx="1822448" cy="1749676"/>
          </a:xfrm>
          <a:prstGeom prst="rect">
            <a:avLst/>
          </a:prstGeom>
        </p:spPr>
      </p:pic>
      <p:pic>
        <p:nvPicPr>
          <p:cNvPr id="12" name="Picture 11">
            <a:extLst>
              <a:ext uri="{FF2B5EF4-FFF2-40B4-BE49-F238E27FC236}">
                <a16:creationId xmlns:a16="http://schemas.microsoft.com/office/drawing/2014/main" id="{BB30A34C-51DF-4BF2-C601-156CD5440CFE}"/>
              </a:ext>
            </a:extLst>
          </p:cNvPr>
          <p:cNvPicPr>
            <a:picLocks noChangeAspect="1"/>
          </p:cNvPicPr>
          <p:nvPr/>
        </p:nvPicPr>
        <p:blipFill>
          <a:blip r:embed="rId9"/>
          <a:stretch>
            <a:fillRect/>
          </a:stretch>
        </p:blipFill>
        <p:spPr>
          <a:xfrm>
            <a:off x="3008761" y="4413350"/>
            <a:ext cx="2772702" cy="1753373"/>
          </a:xfrm>
          <a:prstGeom prst="rect">
            <a:avLst/>
          </a:prstGeom>
        </p:spPr>
      </p:pic>
      <p:pic>
        <p:nvPicPr>
          <p:cNvPr id="32" name="Picture 31">
            <a:extLst>
              <a:ext uri="{FF2B5EF4-FFF2-40B4-BE49-F238E27FC236}">
                <a16:creationId xmlns:a16="http://schemas.microsoft.com/office/drawing/2014/main" id="{89C1A2FF-D2E5-9D74-F9E9-00513626BE95}"/>
              </a:ext>
            </a:extLst>
          </p:cNvPr>
          <p:cNvPicPr>
            <a:picLocks noChangeAspect="1"/>
          </p:cNvPicPr>
          <p:nvPr/>
        </p:nvPicPr>
        <p:blipFill>
          <a:blip r:embed="rId10"/>
          <a:stretch>
            <a:fillRect/>
          </a:stretch>
        </p:blipFill>
        <p:spPr>
          <a:xfrm>
            <a:off x="9182030" y="4340224"/>
            <a:ext cx="2769983" cy="1755714"/>
          </a:xfrm>
          <a:prstGeom prst="rect">
            <a:avLst/>
          </a:prstGeom>
        </p:spPr>
      </p:pic>
      <p:sp>
        <p:nvSpPr>
          <p:cNvPr id="33" name="Slide Number Placeholder 32">
            <a:extLst>
              <a:ext uri="{FF2B5EF4-FFF2-40B4-BE49-F238E27FC236}">
                <a16:creationId xmlns:a16="http://schemas.microsoft.com/office/drawing/2014/main" id="{596584EE-53EE-EDC4-53C2-3B09A096260B}"/>
              </a:ext>
            </a:extLst>
          </p:cNvPr>
          <p:cNvSpPr>
            <a:spLocks noGrp="1"/>
          </p:cNvSpPr>
          <p:nvPr>
            <p:ph type="sldNum" sz="quarter" idx="12"/>
          </p:nvPr>
        </p:nvSpPr>
        <p:spPr/>
        <p:txBody>
          <a:bodyPr/>
          <a:lstStyle/>
          <a:p>
            <a:fld id="{BBCD8743-5A53-4A98-BC6F-5DFD6CC2F469}" type="slidenum">
              <a:rPr lang="en-SG" smtClean="0"/>
              <a:t>11</a:t>
            </a:fld>
            <a:endParaRPr lang="en-SG"/>
          </a:p>
        </p:txBody>
      </p:sp>
    </p:spTree>
    <p:extLst>
      <p:ext uri="{BB962C8B-B14F-4D97-AF65-F5344CB8AC3E}">
        <p14:creationId xmlns:p14="http://schemas.microsoft.com/office/powerpoint/2010/main" val="2936472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E5F6-E4C5-C6A1-1209-F19871B26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9B504-4ADC-10D4-862A-F74ABEB5AF04}"/>
              </a:ext>
            </a:extLst>
          </p:cNvPr>
          <p:cNvSpPr>
            <a:spLocks noGrp="1"/>
          </p:cNvSpPr>
          <p:nvPr>
            <p:ph type="title"/>
          </p:nvPr>
        </p:nvSpPr>
        <p:spPr/>
        <p:txBody>
          <a:bodyPr/>
          <a:lstStyle/>
          <a:p>
            <a:r>
              <a:rPr lang="en-US" dirty="0" err="1"/>
              <a:t>NuMI</a:t>
            </a:r>
            <a:r>
              <a:rPr lang="en-US" dirty="0"/>
              <a:t> selection</a:t>
            </a:r>
            <a:endParaRPr lang="en-SG" dirty="0"/>
          </a:p>
        </p:txBody>
      </p:sp>
      <p:sp>
        <p:nvSpPr>
          <p:cNvPr id="3" name="Content Placeholder 2">
            <a:extLst>
              <a:ext uri="{FF2B5EF4-FFF2-40B4-BE49-F238E27FC236}">
                <a16:creationId xmlns:a16="http://schemas.microsoft.com/office/drawing/2014/main" id="{3BB760C8-6D22-25AF-E8C5-26D3D8A23BAA}"/>
              </a:ext>
            </a:extLst>
          </p:cNvPr>
          <p:cNvSpPr>
            <a:spLocks noGrp="1"/>
          </p:cNvSpPr>
          <p:nvPr>
            <p:ph idx="1"/>
          </p:nvPr>
        </p:nvSpPr>
        <p:spPr>
          <a:xfrm>
            <a:off x="1097280" y="1845734"/>
            <a:ext cx="10651375" cy="4351866"/>
          </a:xfrm>
        </p:spPr>
        <p:txBody>
          <a:bodyPr>
            <a:normAutofit/>
          </a:bodyPr>
          <a:lstStyle/>
          <a:p>
            <a:pPr marL="201168" lvl="1" indent="0">
              <a:buNone/>
            </a:pPr>
            <a:r>
              <a:rPr lang="en-US" dirty="0"/>
              <a:t>			</a:t>
            </a:r>
          </a:p>
          <a:p>
            <a:pPr>
              <a:buFont typeface="Arial" panose="020B0604020202020204" pitchFamily="34" charset="0"/>
              <a:buChar char="•"/>
            </a:pPr>
            <a:endParaRPr lang="en-SG" dirty="0"/>
          </a:p>
        </p:txBody>
      </p:sp>
      <p:sp>
        <p:nvSpPr>
          <p:cNvPr id="4" name="TextBox 3">
            <a:extLst>
              <a:ext uri="{FF2B5EF4-FFF2-40B4-BE49-F238E27FC236}">
                <a16:creationId xmlns:a16="http://schemas.microsoft.com/office/drawing/2014/main" id="{76790C48-8993-C8B4-61CD-CC03D2A089F7}"/>
              </a:ext>
            </a:extLst>
          </p:cNvPr>
          <p:cNvSpPr txBox="1"/>
          <p:nvPr/>
        </p:nvSpPr>
        <p:spPr>
          <a:xfrm>
            <a:off x="1097280" y="1815053"/>
            <a:ext cx="9589193" cy="2400657"/>
          </a:xfrm>
          <a:prstGeom prst="rect">
            <a:avLst/>
          </a:prstGeom>
          <a:noFill/>
        </p:spPr>
        <p:txBody>
          <a:bodyPr wrap="square">
            <a:spAutoFit/>
          </a:bodyPr>
          <a:lstStyle/>
          <a:p>
            <a:r>
              <a:rPr lang="en-US" sz="2400" b="1" dirty="0" err="1"/>
              <a:t>NuMI</a:t>
            </a:r>
            <a:r>
              <a:rPr lang="en-US" sz="2400" b="1" dirty="0"/>
              <a:t> MC sample </a:t>
            </a:r>
            <a:endParaRPr lang="en-US" b="1" dirty="0"/>
          </a:p>
          <a:p>
            <a:pPr marL="285750" indent="-285750">
              <a:buFont typeface="Arial" panose="020B0604020202020204" pitchFamily="34" charset="0"/>
              <a:buChar char="•"/>
            </a:pPr>
            <a:r>
              <a:rPr lang="en-US" dirty="0"/>
              <a:t>Muon neutrino + </a:t>
            </a:r>
            <a:r>
              <a:rPr lang="en-US" dirty="0" err="1"/>
              <a:t>cosmics</a:t>
            </a:r>
            <a:r>
              <a:rPr lang="en-US" dirty="0"/>
              <a:t> </a:t>
            </a:r>
          </a:p>
          <a:p>
            <a:pPr marL="285750" indent="-285750">
              <a:buFont typeface="Arial" panose="020B0604020202020204" pitchFamily="34" charset="0"/>
              <a:buChar char="•"/>
            </a:pPr>
            <a:r>
              <a:rPr lang="en-US" dirty="0"/>
              <a:t>File path</a:t>
            </a:r>
          </a:p>
          <a:p>
            <a:pPr marL="742950" lvl="1" indent="-285750">
              <a:buFont typeface="Arial" panose="020B0604020202020204" pitchFamily="34" charset="0"/>
              <a:buChar char="•"/>
            </a:pPr>
            <a:r>
              <a:rPr lang="en-US" dirty="0"/>
              <a:t>/</a:t>
            </a:r>
            <a:r>
              <a:rPr lang="en-US" dirty="0" err="1"/>
              <a:t>pnfs</a:t>
            </a:r>
            <a:r>
              <a:rPr lang="en-US" dirty="0"/>
              <a:t>/</a:t>
            </a:r>
            <a:r>
              <a:rPr lang="en-US" dirty="0" err="1"/>
              <a:t>icarus</a:t>
            </a:r>
            <a:r>
              <a:rPr lang="en-US" dirty="0"/>
              <a:t>/persistent/users/</a:t>
            </a:r>
            <a:r>
              <a:rPr lang="en-US" dirty="0" err="1"/>
              <a:t>dcarber</a:t>
            </a:r>
            <a:r>
              <a:rPr lang="en-US" dirty="0"/>
              <a:t>/spine/</a:t>
            </a:r>
            <a:r>
              <a:rPr lang="en-US" dirty="0" err="1"/>
              <a:t>combined_files</a:t>
            </a:r>
            <a:r>
              <a:rPr lang="en-US" dirty="0"/>
              <a:t>/NuMI_CV_flat_cafs_2/*.root</a:t>
            </a:r>
          </a:p>
          <a:p>
            <a:pPr marL="285750" indent="-285750">
              <a:buFont typeface="Arial" panose="020B0604020202020204" pitchFamily="34" charset="0"/>
              <a:buChar char="•"/>
            </a:pPr>
            <a:r>
              <a:rPr lang="en-US" dirty="0"/>
              <a:t>POT size = 147e20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SG" b="1" dirty="0"/>
          </a:p>
        </p:txBody>
      </p:sp>
      <p:graphicFrame>
        <p:nvGraphicFramePr>
          <p:cNvPr id="5" name="Table 4">
            <a:extLst>
              <a:ext uri="{FF2B5EF4-FFF2-40B4-BE49-F238E27FC236}">
                <a16:creationId xmlns:a16="http://schemas.microsoft.com/office/drawing/2014/main" id="{2CC81B7A-8F71-587F-2962-AEDA6D937C98}"/>
              </a:ext>
            </a:extLst>
          </p:cNvPr>
          <p:cNvGraphicFramePr>
            <a:graphicFrameLocks noGrp="1"/>
          </p:cNvGraphicFramePr>
          <p:nvPr>
            <p:extLst>
              <p:ext uri="{D42A27DB-BD31-4B8C-83A1-F6EECF244321}">
                <p14:modId xmlns:p14="http://schemas.microsoft.com/office/powerpoint/2010/main" val="2213400525"/>
              </p:ext>
            </p:extLst>
          </p:nvPr>
        </p:nvGraphicFramePr>
        <p:xfrm>
          <a:off x="2072639" y="3573703"/>
          <a:ext cx="7638474" cy="2296160"/>
        </p:xfrm>
        <a:graphic>
          <a:graphicData uri="http://schemas.openxmlformats.org/drawingml/2006/table">
            <a:tbl>
              <a:tblPr firstRow="1" bandRow="1">
                <a:tableStyleId>{5C22544A-7EE6-4342-B048-85BDC9FD1C3A}</a:tableStyleId>
              </a:tblPr>
              <a:tblGrid>
                <a:gridCol w="2546158">
                  <a:extLst>
                    <a:ext uri="{9D8B030D-6E8A-4147-A177-3AD203B41FA5}">
                      <a16:colId xmlns:a16="http://schemas.microsoft.com/office/drawing/2014/main" val="2802435026"/>
                    </a:ext>
                  </a:extLst>
                </a:gridCol>
                <a:gridCol w="2546158">
                  <a:extLst>
                    <a:ext uri="{9D8B030D-6E8A-4147-A177-3AD203B41FA5}">
                      <a16:colId xmlns:a16="http://schemas.microsoft.com/office/drawing/2014/main" val="2797951521"/>
                    </a:ext>
                  </a:extLst>
                </a:gridCol>
                <a:gridCol w="2546158">
                  <a:extLst>
                    <a:ext uri="{9D8B030D-6E8A-4147-A177-3AD203B41FA5}">
                      <a16:colId xmlns:a16="http://schemas.microsoft.com/office/drawing/2014/main" val="3851634423"/>
                    </a:ext>
                  </a:extLst>
                </a:gridCol>
              </a:tblGrid>
              <a:tr h="370840">
                <a:tc>
                  <a:txBody>
                    <a:bodyPr/>
                    <a:lstStyle/>
                    <a:p>
                      <a:pPr algn="ctr"/>
                      <a:r>
                        <a:rPr lang="en-US" dirty="0"/>
                        <a:t>Parameter</a:t>
                      </a:r>
                      <a:endParaRPr lang="en-SG" dirty="0"/>
                    </a:p>
                  </a:txBody>
                  <a:tcPr/>
                </a:tc>
                <a:tc>
                  <a:txBody>
                    <a:bodyPr/>
                    <a:lstStyle/>
                    <a:p>
                      <a:pPr algn="ctr"/>
                      <a:r>
                        <a:rPr lang="en-US" dirty="0" err="1"/>
                        <a:t>NuMI</a:t>
                      </a:r>
                      <a:endParaRPr lang="en-SG" dirty="0"/>
                    </a:p>
                  </a:txBody>
                  <a:tcPr/>
                </a:tc>
                <a:tc>
                  <a:txBody>
                    <a:bodyPr/>
                    <a:lstStyle/>
                    <a:p>
                      <a:pPr algn="ctr"/>
                      <a:r>
                        <a:rPr lang="en-US" dirty="0"/>
                        <a:t>BNB</a:t>
                      </a:r>
                      <a:endParaRPr lang="en-SG" dirty="0"/>
                    </a:p>
                  </a:txBody>
                  <a:tcPr/>
                </a:tc>
                <a:extLst>
                  <a:ext uri="{0D108BD9-81ED-4DB2-BD59-A6C34878D82A}">
                    <a16:rowId xmlns:a16="http://schemas.microsoft.com/office/drawing/2014/main" val="3521924384"/>
                  </a:ext>
                </a:extLst>
              </a:tr>
              <a:tr h="370840">
                <a:tc>
                  <a:txBody>
                    <a:bodyPr/>
                    <a:lstStyle/>
                    <a:p>
                      <a:r>
                        <a:rPr lang="en-US" dirty="0"/>
                        <a:t>Pot Size</a:t>
                      </a:r>
                      <a:endParaRPr lang="en-SG" dirty="0"/>
                    </a:p>
                  </a:txBody>
                  <a:tcPr/>
                </a:tc>
                <a:tc>
                  <a:txBody>
                    <a:bodyPr/>
                    <a:lstStyle/>
                    <a:p>
                      <a:pPr algn="ctr"/>
                      <a:r>
                        <a:rPr lang="en-US" dirty="0"/>
                        <a:t>147e20</a:t>
                      </a:r>
                      <a:endParaRPr lang="en-SG" dirty="0"/>
                    </a:p>
                  </a:txBody>
                  <a:tcPr/>
                </a:tc>
                <a:tc>
                  <a:txBody>
                    <a:bodyPr/>
                    <a:lstStyle/>
                    <a:p>
                      <a:pPr algn="ctr"/>
                      <a:r>
                        <a:rPr lang="en-US" dirty="0"/>
                        <a:t>174e20 </a:t>
                      </a:r>
                      <a:endParaRPr lang="en-SG" dirty="0"/>
                    </a:p>
                  </a:txBody>
                  <a:tcPr/>
                </a:tc>
                <a:extLst>
                  <a:ext uri="{0D108BD9-81ED-4DB2-BD59-A6C34878D82A}">
                    <a16:rowId xmlns:a16="http://schemas.microsoft.com/office/drawing/2014/main" val="3013287114"/>
                  </a:ext>
                </a:extLst>
              </a:tr>
              <a:tr h="370840">
                <a:tc>
                  <a:txBody>
                    <a:bodyPr/>
                    <a:lstStyle/>
                    <a:p>
                      <a:r>
                        <a:rPr lang="en-US" dirty="0"/>
                        <a:t>Number of reconstructed selected interactions</a:t>
                      </a:r>
                      <a:endParaRPr lang="en-SG" dirty="0"/>
                    </a:p>
                  </a:txBody>
                  <a:tcPr/>
                </a:tc>
                <a:tc>
                  <a:txBody>
                    <a:bodyPr/>
                    <a:lstStyle/>
                    <a:p>
                      <a:pPr algn="ctr"/>
                      <a:r>
                        <a:rPr lang="en-US" dirty="0"/>
                        <a:t>3566</a:t>
                      </a:r>
                      <a:endParaRPr lang="en-SG" dirty="0"/>
                    </a:p>
                  </a:txBody>
                  <a:tcPr/>
                </a:tc>
                <a:tc>
                  <a:txBody>
                    <a:bodyPr/>
                    <a:lstStyle/>
                    <a:p>
                      <a:pPr algn="ctr"/>
                      <a:r>
                        <a:rPr lang="en-US" dirty="0"/>
                        <a:t>4249</a:t>
                      </a:r>
                      <a:endParaRPr lang="en-SG" dirty="0"/>
                    </a:p>
                  </a:txBody>
                  <a:tcPr/>
                </a:tc>
                <a:extLst>
                  <a:ext uri="{0D108BD9-81ED-4DB2-BD59-A6C34878D82A}">
                    <a16:rowId xmlns:a16="http://schemas.microsoft.com/office/drawing/2014/main" val="16782021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Number of true signal interactions</a:t>
                      </a:r>
                      <a:endParaRPr lang="en-SG" dirty="0"/>
                    </a:p>
                    <a:p>
                      <a:endParaRPr lang="en-SG" dirty="0"/>
                    </a:p>
                  </a:txBody>
                  <a:tcPr/>
                </a:tc>
                <a:tc>
                  <a:txBody>
                    <a:bodyPr/>
                    <a:lstStyle/>
                    <a:p>
                      <a:pPr algn="ctr"/>
                      <a:r>
                        <a:rPr lang="en-US" dirty="0"/>
                        <a:t>3815</a:t>
                      </a:r>
                      <a:endParaRPr lang="en-SG" dirty="0"/>
                    </a:p>
                  </a:txBody>
                  <a:tcPr/>
                </a:tc>
                <a:tc>
                  <a:txBody>
                    <a:bodyPr/>
                    <a:lstStyle/>
                    <a:p>
                      <a:pPr algn="ctr"/>
                      <a:r>
                        <a:rPr lang="en-US" dirty="0"/>
                        <a:t>5532</a:t>
                      </a:r>
                      <a:endParaRPr lang="en-SG" dirty="0"/>
                    </a:p>
                  </a:txBody>
                  <a:tcPr/>
                </a:tc>
                <a:extLst>
                  <a:ext uri="{0D108BD9-81ED-4DB2-BD59-A6C34878D82A}">
                    <a16:rowId xmlns:a16="http://schemas.microsoft.com/office/drawing/2014/main" val="707796089"/>
                  </a:ext>
                </a:extLst>
              </a:tr>
            </a:tbl>
          </a:graphicData>
        </a:graphic>
      </p:graphicFrame>
      <p:sp>
        <p:nvSpPr>
          <p:cNvPr id="6" name="Slide Number Placeholder 5">
            <a:extLst>
              <a:ext uri="{FF2B5EF4-FFF2-40B4-BE49-F238E27FC236}">
                <a16:creationId xmlns:a16="http://schemas.microsoft.com/office/drawing/2014/main" id="{0E7B45DB-CD2A-3CE9-4D15-926426BA102F}"/>
              </a:ext>
            </a:extLst>
          </p:cNvPr>
          <p:cNvSpPr>
            <a:spLocks noGrp="1"/>
          </p:cNvSpPr>
          <p:nvPr>
            <p:ph type="sldNum" sz="quarter" idx="12"/>
          </p:nvPr>
        </p:nvSpPr>
        <p:spPr/>
        <p:txBody>
          <a:bodyPr/>
          <a:lstStyle/>
          <a:p>
            <a:fld id="{BBCD8743-5A53-4A98-BC6F-5DFD6CC2F469}" type="slidenum">
              <a:rPr lang="en-SG" smtClean="0"/>
              <a:t>12</a:t>
            </a:fld>
            <a:endParaRPr lang="en-SG"/>
          </a:p>
        </p:txBody>
      </p:sp>
    </p:spTree>
    <p:extLst>
      <p:ext uri="{BB962C8B-B14F-4D97-AF65-F5344CB8AC3E}">
        <p14:creationId xmlns:p14="http://schemas.microsoft.com/office/powerpoint/2010/main" val="1115318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4144-36F2-840B-8590-F00E22E3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F9056-A598-1597-35F3-A324DC3AAD13}"/>
              </a:ext>
            </a:extLst>
          </p:cNvPr>
          <p:cNvSpPr>
            <a:spLocks noGrp="1"/>
          </p:cNvSpPr>
          <p:nvPr>
            <p:ph type="title"/>
          </p:nvPr>
        </p:nvSpPr>
        <p:spPr/>
        <p:txBody>
          <a:bodyPr/>
          <a:lstStyle/>
          <a:p>
            <a:r>
              <a:rPr lang="en-US" b="1" dirty="0"/>
              <a:t>Efficiency and Purity analysis</a:t>
            </a:r>
            <a:endParaRPr lang="en-SG" dirty="0"/>
          </a:p>
        </p:txBody>
      </p:sp>
      <p:sp>
        <p:nvSpPr>
          <p:cNvPr id="4" name="TextBox 3">
            <a:extLst>
              <a:ext uri="{FF2B5EF4-FFF2-40B4-BE49-F238E27FC236}">
                <a16:creationId xmlns:a16="http://schemas.microsoft.com/office/drawing/2014/main" id="{11F267A1-6DDE-E38A-5349-210EB6C2ACB5}"/>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Efficiency defined as fraction of true signal interactions that are matched to selected interactions</a:t>
            </a:r>
          </a:p>
          <a:p>
            <a:pPr marL="285750" indent="-285750">
              <a:buFont typeface="Arial" panose="020B0604020202020204" pitchFamily="34" charset="0"/>
              <a:buChar char="•"/>
            </a:pPr>
            <a:r>
              <a:rPr lang="en-US" dirty="0"/>
              <a:t>Purity defined as the fraction of selected interactions that are matched to true signal interactions</a:t>
            </a:r>
            <a:endParaRPr lang="en-SG"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nvGraphicFramePr>
            <p:xfrm>
              <a:off x="6696365" y="2588471"/>
              <a:ext cx="5292204" cy="3250311"/>
            </p:xfrm>
            <a:graphic>
              <a:graphicData uri="http://schemas.openxmlformats.org/drawingml/2006/table">
                <a:tbl>
                  <a:tblPr firstRow="1" bandRow="1">
                    <a:tableStyleId>{5C22544A-7EE6-4342-B048-85BDC9FD1C3A}</a:tableStyleId>
                  </a:tblPr>
                  <a:tblGrid>
                    <a:gridCol w="1764069">
                      <a:extLst>
                        <a:ext uri="{9D8B030D-6E8A-4147-A177-3AD203B41FA5}">
                          <a16:colId xmlns:a16="http://schemas.microsoft.com/office/drawing/2014/main" val="600944633"/>
                        </a:ext>
                      </a:extLst>
                    </a:gridCol>
                    <a:gridCol w="1600753">
                      <a:extLst>
                        <a:ext uri="{9D8B030D-6E8A-4147-A177-3AD203B41FA5}">
                          <a16:colId xmlns:a16="http://schemas.microsoft.com/office/drawing/2014/main" val="1151758864"/>
                        </a:ext>
                      </a:extLst>
                    </a:gridCol>
                    <a:gridCol w="1927382">
                      <a:extLst>
                        <a:ext uri="{9D8B030D-6E8A-4147-A177-3AD203B41FA5}">
                          <a16:colId xmlns:a16="http://schemas.microsoft.com/office/drawing/2014/main" val="3768504631"/>
                        </a:ext>
                      </a:extLst>
                    </a:gridCol>
                  </a:tblGrid>
                  <a:tr h="544423">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11099">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dirty="0">
                              <a:effectLst/>
                            </a:rPr>
                            <a:t>0.0</a:t>
                          </a:r>
                        </a:p>
                      </a:txBody>
                      <a:tcPr anchor="ctr"/>
                    </a:tc>
                    <a:extLst>
                      <a:ext uri="{0D108BD9-81ED-4DB2-BD59-A6C34878D82A}">
                        <a16:rowId xmlns:a16="http://schemas.microsoft.com/office/drawing/2014/main" val="1418742392"/>
                      </a:ext>
                    </a:extLst>
                  </a:tr>
                  <a:tr h="311099">
                    <a:tc>
                      <a:txBody>
                        <a:bodyPr/>
                        <a:lstStyle/>
                        <a:p>
                          <a:pPr>
                            <a:buNone/>
                          </a:pPr>
                          <a:r>
                            <a:rPr lang="en-SG" sz="1600">
                              <a:effectLst/>
                            </a:rPr>
                            <a:t>In-Time Flash</a:t>
                          </a:r>
                        </a:p>
                      </a:txBody>
                      <a:tcPr anchor="ctr"/>
                    </a:tc>
                    <a:tc>
                      <a:txBody>
                        <a:bodyPr/>
                        <a:lstStyle/>
                        <a:p>
                          <a:pPr>
                            <a:buNone/>
                          </a:pPr>
                          <a:r>
                            <a:rPr lang="en-SG" sz="1600" dirty="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11099">
                    <a:tc>
                      <a:txBody>
                        <a:bodyPr/>
                        <a:lstStyle/>
                        <a:p>
                          <a:pPr>
                            <a:buNone/>
                          </a:pPr>
                          <a:r>
                            <a:rPr lang="en-SG" sz="1600" dirty="0">
                              <a:effectLst/>
                            </a:rPr>
                            <a:t>Fiducial Volume</a:t>
                          </a:r>
                        </a:p>
                      </a:txBody>
                      <a:tcPr anchor="ctr"/>
                    </a:tc>
                    <a:tc>
                      <a:txBody>
                        <a:bodyPr/>
                        <a:lstStyle/>
                        <a:p>
                          <a:pPr>
                            <a:buNone/>
                          </a:pPr>
                          <a:r>
                            <a:rPr lang="en-SG" sz="1600" dirty="0">
                              <a:effectLst/>
                            </a:rPr>
                            <a:t>96.6</a:t>
                          </a:r>
                        </a:p>
                      </a:txBody>
                      <a:tcPr anchor="ctr"/>
                    </a:tc>
                    <a:tc>
                      <a:txBody>
                        <a:bodyPr/>
                        <a:lstStyle/>
                        <a:p>
                          <a:pPr>
                            <a:buNone/>
                          </a:pPr>
                          <a:r>
                            <a:rPr lang="en-SG" sz="1600" dirty="0">
                              <a:effectLst/>
                            </a:rPr>
                            <a:t>4.0</a:t>
                          </a:r>
                        </a:p>
                      </a:txBody>
                      <a:tcPr anchor="ctr"/>
                    </a:tc>
                    <a:extLst>
                      <a:ext uri="{0D108BD9-81ED-4DB2-BD59-A6C34878D82A}">
                        <a16:rowId xmlns:a16="http://schemas.microsoft.com/office/drawing/2014/main" val="978431209"/>
                      </a:ext>
                    </a:extLst>
                  </a:tr>
                  <a:tr h="311099">
                    <a:tc>
                      <a:txBody>
                        <a:bodyPr/>
                        <a:lstStyle/>
                        <a:p>
                          <a:pPr>
                            <a:buNone/>
                          </a:pPr>
                          <a:r>
                            <a:rPr lang="en-SG" sz="1600" dirty="0">
                              <a:effectLst/>
                            </a:rPr>
                            <a:t>Single Muon</a:t>
                          </a:r>
                        </a:p>
                      </a:txBody>
                      <a:tcPr anchor="ctr"/>
                    </a:tc>
                    <a:tc>
                      <a:txBody>
                        <a:bodyPr/>
                        <a:lstStyle/>
                        <a:p>
                          <a:pPr>
                            <a:buNone/>
                          </a:pPr>
                          <a:r>
                            <a:rPr lang="en-SG" sz="1600" dirty="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11099">
                    <a:tc>
                      <a:txBody>
                        <a:bodyPr/>
                        <a:lstStyle/>
                        <a:p>
                          <a:pPr>
                            <a:buNone/>
                          </a:pPr>
                          <a:r>
                            <a:rPr lang="en-SG" sz="1600">
                              <a:effectLst/>
                            </a:rPr>
                            <a:t>No charged Pions</a:t>
                          </a:r>
                        </a:p>
                      </a:txBody>
                      <a:tcPr anchor="ctr"/>
                    </a:tc>
                    <a:tc>
                      <a:txBody>
                        <a:bodyPr/>
                        <a:lstStyle/>
                        <a:p>
                          <a:pPr>
                            <a:buNone/>
                          </a:pPr>
                          <a:r>
                            <a:rPr lang="en-SG" sz="1600" dirty="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11099">
                    <a:tc>
                      <a:txBody>
                        <a:bodyPr/>
                        <a:lstStyle/>
                        <a:p>
                          <a:pPr>
                            <a:buNone/>
                          </a:pPr>
                          <a:r>
                            <a:rPr lang="en-SG" sz="1600">
                              <a:effectLst/>
                            </a:rPr>
                            <a:t>Two Photons</a:t>
                          </a:r>
                        </a:p>
                      </a:txBody>
                      <a:tcPr anchor="ctr"/>
                    </a:tc>
                    <a:tc>
                      <a:txBody>
                        <a:bodyPr/>
                        <a:lstStyle/>
                        <a:p>
                          <a:pPr>
                            <a:buNone/>
                          </a:pPr>
                          <a:r>
                            <a:rPr lang="en-SG" sz="1600" dirty="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63111">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𝑚</m:t>
                                  </m:r>
                                </m:e>
                                <m:sub>
                                  <m:r>
                                    <a:rPr lang="ar-AE" sz="1600" i="1">
                                      <a:latin typeface="Cambria Math" panose="02040503050406030204" pitchFamily="18" charset="0"/>
                                    </a:rPr>
                                    <m:t>𝛾𝛾</m:t>
                                  </m:r>
                                </m:sub>
                              </m:sSub>
                              <m:r>
                                <a:rPr lang="ar-AE" sz="1600" i="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i="0">
                                      <a:latin typeface="Cambria Math" panose="02040503050406030204" pitchFamily="18" charset="0"/>
                                    </a:rPr>
                                    <m:t>60</m:t>
                                  </m:r>
                                </m:e>
                                <m:e>
                                  <m:r>
                                    <a:rPr lang="ar-AE" sz="1600" i="0">
                                      <a:latin typeface="Cambria Math" panose="02040503050406030204" pitchFamily="18" charset="0"/>
                                    </a:rPr>
                                    <m:t>300</m:t>
                                  </m:r>
                                </m:e>
                              </m:d>
                            </m:oMath>
                          </a14:m>
                          <a:r>
                            <a:rPr lang="ar-AE" sz="1600">
                              <a:effectLst/>
                            </a:rPr>
                            <a:t>﻿ </a:t>
                          </a:r>
                          <a:r>
                            <a:rPr lang="en-SG" sz="1600">
                              <a:effectLst/>
                            </a:rPr>
                            <a:t>MeV/c2</a:t>
                          </a:r>
                        </a:p>
                      </a:txBody>
                      <a:tcPr anchor="ctr"/>
                    </a:tc>
                    <a:tc>
                      <a:txBody>
                        <a:bodyPr/>
                        <a:lstStyle/>
                        <a:p>
                          <a:pPr>
                            <a:buNone/>
                          </a:pPr>
                          <a:r>
                            <a:rPr lang="en-SG" sz="1600" dirty="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Choice>
        <mc:Fallback xmlns="">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644013560"/>
                  </p:ext>
                </p:extLst>
              </p:nvPr>
            </p:nvGraphicFramePr>
            <p:xfrm>
              <a:off x="6696365" y="2588471"/>
              <a:ext cx="5292204" cy="3250311"/>
            </p:xfrm>
            <a:graphic>
              <a:graphicData uri="http://schemas.openxmlformats.org/drawingml/2006/table">
                <a:tbl>
                  <a:tblPr firstRow="1" bandRow="1">
                    <a:tableStyleId>{5C22544A-7EE6-4342-B048-85BDC9FD1C3A}</a:tableStyleId>
                  </a:tblPr>
                  <a:tblGrid>
                    <a:gridCol w="1764069">
                      <a:extLst>
                        <a:ext uri="{9D8B030D-6E8A-4147-A177-3AD203B41FA5}">
                          <a16:colId xmlns:a16="http://schemas.microsoft.com/office/drawing/2014/main" val="600944633"/>
                        </a:ext>
                      </a:extLst>
                    </a:gridCol>
                    <a:gridCol w="1600753">
                      <a:extLst>
                        <a:ext uri="{9D8B030D-6E8A-4147-A177-3AD203B41FA5}">
                          <a16:colId xmlns:a16="http://schemas.microsoft.com/office/drawing/2014/main" val="1151758864"/>
                        </a:ext>
                      </a:extLst>
                    </a:gridCol>
                    <a:gridCol w="1927382">
                      <a:extLst>
                        <a:ext uri="{9D8B030D-6E8A-4147-A177-3AD203B41FA5}">
                          <a16:colId xmlns:a16="http://schemas.microsoft.com/office/drawing/2014/main" val="3768504631"/>
                        </a:ext>
                      </a:extLst>
                    </a:gridCol>
                  </a:tblGrid>
                  <a:tr h="640080">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35280">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dirty="0">
                              <a:effectLst/>
                            </a:rPr>
                            <a:t>0.0</a:t>
                          </a:r>
                        </a:p>
                      </a:txBody>
                      <a:tcPr anchor="ctr"/>
                    </a:tc>
                    <a:extLst>
                      <a:ext uri="{0D108BD9-81ED-4DB2-BD59-A6C34878D82A}">
                        <a16:rowId xmlns:a16="http://schemas.microsoft.com/office/drawing/2014/main" val="1418742392"/>
                      </a:ext>
                    </a:extLst>
                  </a:tr>
                  <a:tr h="335280">
                    <a:tc>
                      <a:txBody>
                        <a:bodyPr/>
                        <a:lstStyle/>
                        <a:p>
                          <a:pPr>
                            <a:buNone/>
                          </a:pPr>
                          <a:r>
                            <a:rPr lang="en-SG" sz="1600">
                              <a:effectLst/>
                            </a:rPr>
                            <a:t>In-Time Flash</a:t>
                          </a:r>
                        </a:p>
                      </a:txBody>
                      <a:tcPr anchor="ctr"/>
                    </a:tc>
                    <a:tc>
                      <a:txBody>
                        <a:bodyPr/>
                        <a:lstStyle/>
                        <a:p>
                          <a:pPr>
                            <a:buNone/>
                          </a:pPr>
                          <a:r>
                            <a:rPr lang="en-SG" sz="1600" dirty="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35280">
                    <a:tc>
                      <a:txBody>
                        <a:bodyPr/>
                        <a:lstStyle/>
                        <a:p>
                          <a:pPr>
                            <a:buNone/>
                          </a:pPr>
                          <a:r>
                            <a:rPr lang="en-SG" sz="1600" dirty="0">
                              <a:effectLst/>
                            </a:rPr>
                            <a:t>Fiducial Volume</a:t>
                          </a:r>
                        </a:p>
                      </a:txBody>
                      <a:tcPr anchor="ctr"/>
                    </a:tc>
                    <a:tc>
                      <a:txBody>
                        <a:bodyPr/>
                        <a:lstStyle/>
                        <a:p>
                          <a:pPr>
                            <a:buNone/>
                          </a:pPr>
                          <a:r>
                            <a:rPr lang="en-SG" sz="1600" dirty="0">
                              <a:effectLst/>
                            </a:rPr>
                            <a:t>96.6</a:t>
                          </a:r>
                        </a:p>
                      </a:txBody>
                      <a:tcPr anchor="ctr"/>
                    </a:tc>
                    <a:tc>
                      <a:txBody>
                        <a:bodyPr/>
                        <a:lstStyle/>
                        <a:p>
                          <a:pPr>
                            <a:buNone/>
                          </a:pPr>
                          <a:r>
                            <a:rPr lang="en-SG" sz="1600" dirty="0">
                              <a:effectLst/>
                            </a:rPr>
                            <a:t>4.0</a:t>
                          </a:r>
                        </a:p>
                      </a:txBody>
                      <a:tcPr anchor="ctr"/>
                    </a:tc>
                    <a:extLst>
                      <a:ext uri="{0D108BD9-81ED-4DB2-BD59-A6C34878D82A}">
                        <a16:rowId xmlns:a16="http://schemas.microsoft.com/office/drawing/2014/main" val="978431209"/>
                      </a:ext>
                    </a:extLst>
                  </a:tr>
                  <a:tr h="335280">
                    <a:tc>
                      <a:txBody>
                        <a:bodyPr/>
                        <a:lstStyle/>
                        <a:p>
                          <a:pPr>
                            <a:buNone/>
                          </a:pPr>
                          <a:r>
                            <a:rPr lang="en-SG" sz="1600" dirty="0">
                              <a:effectLst/>
                            </a:rPr>
                            <a:t>Single Muon</a:t>
                          </a:r>
                        </a:p>
                      </a:txBody>
                      <a:tcPr anchor="ctr"/>
                    </a:tc>
                    <a:tc>
                      <a:txBody>
                        <a:bodyPr/>
                        <a:lstStyle/>
                        <a:p>
                          <a:pPr>
                            <a:buNone/>
                          </a:pPr>
                          <a:r>
                            <a:rPr lang="en-SG" sz="1600" dirty="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35280">
                    <a:tc>
                      <a:txBody>
                        <a:bodyPr/>
                        <a:lstStyle/>
                        <a:p>
                          <a:pPr>
                            <a:buNone/>
                          </a:pPr>
                          <a:r>
                            <a:rPr lang="en-SG" sz="1600">
                              <a:effectLst/>
                            </a:rPr>
                            <a:t>No charged Pions</a:t>
                          </a:r>
                        </a:p>
                      </a:txBody>
                      <a:tcPr anchor="ctr"/>
                    </a:tc>
                    <a:tc>
                      <a:txBody>
                        <a:bodyPr/>
                        <a:lstStyle/>
                        <a:p>
                          <a:pPr>
                            <a:buNone/>
                          </a:pPr>
                          <a:r>
                            <a:rPr lang="en-SG" sz="1600" dirty="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35280">
                    <a:tc>
                      <a:txBody>
                        <a:bodyPr/>
                        <a:lstStyle/>
                        <a:p>
                          <a:pPr>
                            <a:buNone/>
                          </a:pPr>
                          <a:r>
                            <a:rPr lang="en-SG" sz="1600">
                              <a:effectLst/>
                            </a:rPr>
                            <a:t>Two Photons</a:t>
                          </a:r>
                        </a:p>
                      </a:txBody>
                      <a:tcPr anchor="ctr"/>
                    </a:tc>
                    <a:tc>
                      <a:txBody>
                        <a:bodyPr/>
                        <a:lstStyle/>
                        <a:p>
                          <a:pPr>
                            <a:buNone/>
                          </a:pPr>
                          <a:r>
                            <a:rPr lang="en-SG" sz="1600" dirty="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98551">
                    <a:tc>
                      <a:txBody>
                        <a:bodyPr/>
                        <a:lstStyle/>
                        <a:p>
                          <a:endParaRPr lang="en-US"/>
                        </a:p>
                      </a:txBody>
                      <a:tcPr anchor="ctr">
                        <a:blipFill>
                          <a:blip r:embed="rId2"/>
                          <a:stretch>
                            <a:fillRect l="-345" t="-450000" r="-201034" b="-13265"/>
                          </a:stretch>
                        </a:blipFill>
                      </a:tcPr>
                    </a:tc>
                    <a:tc>
                      <a:txBody>
                        <a:bodyPr/>
                        <a:lstStyle/>
                        <a:p>
                          <a:pPr>
                            <a:buNone/>
                          </a:pPr>
                          <a:r>
                            <a:rPr lang="en-SG" sz="1600" dirty="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Fallback>
      </mc:AlternateContent>
      <p:sp>
        <p:nvSpPr>
          <p:cNvPr id="9" name="TextBox 8">
            <a:extLst>
              <a:ext uri="{FF2B5EF4-FFF2-40B4-BE49-F238E27FC236}">
                <a16:creationId xmlns:a16="http://schemas.microsoft.com/office/drawing/2014/main" id="{920B0FF2-8672-142F-7451-861ABCBEC5CD}"/>
              </a:ext>
            </a:extLst>
          </p:cNvPr>
          <p:cNvSpPr txBox="1"/>
          <p:nvPr/>
        </p:nvSpPr>
        <p:spPr>
          <a:xfrm>
            <a:off x="7055046" y="5872064"/>
            <a:ext cx="4574841" cy="369332"/>
          </a:xfrm>
          <a:prstGeom prst="rect">
            <a:avLst/>
          </a:prstGeom>
          <a:noFill/>
        </p:spPr>
        <p:txBody>
          <a:bodyPr wrap="square">
            <a:spAutoFit/>
          </a:bodyPr>
          <a:lstStyle/>
          <a:p>
            <a:pPr algn="ctr"/>
            <a:r>
              <a:rPr lang="en-US" sz="1400" b="1" dirty="0"/>
              <a:t>Efficiency and Purity from </a:t>
            </a:r>
            <a:r>
              <a:rPr lang="en-US" b="1" dirty="0">
                <a:solidFill>
                  <a:srgbClr val="FF0000"/>
                </a:solidFill>
              </a:rPr>
              <a:t>BNB</a:t>
            </a:r>
            <a:r>
              <a:rPr lang="en-US" sz="1400" b="1" dirty="0"/>
              <a:t> selection</a:t>
            </a:r>
            <a:endParaRPr lang="en-SG" sz="1400" b="1"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F94F782-75AC-D48C-F4B8-C596F7ACC6B8}"/>
                  </a:ext>
                </a:extLst>
              </p:cNvPr>
              <p:cNvGraphicFramePr>
                <a:graphicFrameLocks noGrp="1"/>
              </p:cNvGraphicFramePr>
              <p:nvPr/>
            </p:nvGraphicFramePr>
            <p:xfrm>
              <a:off x="203432" y="2588471"/>
              <a:ext cx="5292204" cy="3250311"/>
            </p:xfrm>
            <a:graphic>
              <a:graphicData uri="http://schemas.openxmlformats.org/drawingml/2006/table">
                <a:tbl>
                  <a:tblPr firstRow="1" bandRow="1">
                    <a:tableStyleId>{5C22544A-7EE6-4342-B048-85BDC9FD1C3A}</a:tableStyleId>
                  </a:tblPr>
                  <a:tblGrid>
                    <a:gridCol w="1764068">
                      <a:extLst>
                        <a:ext uri="{9D8B030D-6E8A-4147-A177-3AD203B41FA5}">
                          <a16:colId xmlns:a16="http://schemas.microsoft.com/office/drawing/2014/main" val="600944633"/>
                        </a:ext>
                      </a:extLst>
                    </a:gridCol>
                    <a:gridCol w="1600754">
                      <a:extLst>
                        <a:ext uri="{9D8B030D-6E8A-4147-A177-3AD203B41FA5}">
                          <a16:colId xmlns:a16="http://schemas.microsoft.com/office/drawing/2014/main" val="1151758864"/>
                        </a:ext>
                      </a:extLst>
                    </a:gridCol>
                    <a:gridCol w="1927382">
                      <a:extLst>
                        <a:ext uri="{9D8B030D-6E8A-4147-A177-3AD203B41FA5}">
                          <a16:colId xmlns:a16="http://schemas.microsoft.com/office/drawing/2014/main" val="3768504631"/>
                        </a:ext>
                      </a:extLst>
                    </a:gridCol>
                  </a:tblGrid>
                  <a:tr h="622740">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26197">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dirty="0">
                              <a:effectLst/>
                            </a:rPr>
                            <a:t>0.0</a:t>
                          </a:r>
                        </a:p>
                      </a:txBody>
                      <a:tcPr anchor="ctr"/>
                    </a:tc>
                    <a:extLst>
                      <a:ext uri="{0D108BD9-81ED-4DB2-BD59-A6C34878D82A}">
                        <a16:rowId xmlns:a16="http://schemas.microsoft.com/office/drawing/2014/main" val="1418742392"/>
                      </a:ext>
                    </a:extLst>
                  </a:tr>
                  <a:tr h="326197">
                    <a:tc>
                      <a:txBody>
                        <a:bodyPr/>
                        <a:lstStyle/>
                        <a:p>
                          <a:pPr>
                            <a:buNone/>
                          </a:pPr>
                          <a:r>
                            <a:rPr lang="en-SG" sz="1600">
                              <a:effectLst/>
                            </a:rPr>
                            <a:t>In-Time Flash</a:t>
                          </a:r>
                        </a:p>
                      </a:txBody>
                      <a:tcPr anchor="ctr"/>
                    </a:tc>
                    <a:tc>
                      <a:txBody>
                        <a:bodyPr/>
                        <a:lstStyle/>
                        <a:p>
                          <a:pPr>
                            <a:buNone/>
                          </a:pPr>
                          <a:r>
                            <a:rPr lang="en-SG" sz="1600" dirty="0">
                              <a:effectLst/>
                            </a:rPr>
                            <a:t>95.4</a:t>
                          </a:r>
                        </a:p>
                      </a:txBody>
                      <a:tcPr anchor="ctr"/>
                    </a:tc>
                    <a:tc>
                      <a:txBody>
                        <a:bodyPr/>
                        <a:lstStyle/>
                        <a:p>
                          <a:pPr>
                            <a:buNone/>
                          </a:pPr>
                          <a:r>
                            <a:rPr lang="en-US" sz="1600" dirty="0">
                              <a:effectLst/>
                            </a:rPr>
                            <a:t>1</a:t>
                          </a:r>
                          <a:r>
                            <a:rPr lang="en-SG" sz="1600" dirty="0">
                              <a:effectLst/>
                            </a:rPr>
                            <a:t>.5</a:t>
                          </a:r>
                        </a:p>
                      </a:txBody>
                      <a:tcPr anchor="ctr"/>
                    </a:tc>
                    <a:extLst>
                      <a:ext uri="{0D108BD9-81ED-4DB2-BD59-A6C34878D82A}">
                        <a16:rowId xmlns:a16="http://schemas.microsoft.com/office/drawing/2014/main" val="2619895179"/>
                      </a:ext>
                    </a:extLst>
                  </a:tr>
                  <a:tr h="326197">
                    <a:tc>
                      <a:txBody>
                        <a:bodyPr/>
                        <a:lstStyle/>
                        <a:p>
                          <a:pPr>
                            <a:buNone/>
                          </a:pPr>
                          <a:r>
                            <a:rPr lang="en-SG" sz="1600">
                              <a:effectLst/>
                            </a:rPr>
                            <a:t>Fiducial Volume</a:t>
                          </a:r>
                        </a:p>
                      </a:txBody>
                      <a:tcPr anchor="ctr"/>
                    </a:tc>
                    <a:tc>
                      <a:txBody>
                        <a:bodyPr/>
                        <a:lstStyle/>
                        <a:p>
                          <a:pPr>
                            <a:buNone/>
                          </a:pPr>
                          <a:r>
                            <a:rPr lang="en-SG" sz="1600" dirty="0">
                              <a:effectLst/>
                            </a:rPr>
                            <a:t>93.7</a:t>
                          </a:r>
                        </a:p>
                      </a:txBody>
                      <a:tcPr anchor="ctr"/>
                    </a:tc>
                    <a:tc>
                      <a:txBody>
                        <a:bodyPr/>
                        <a:lstStyle/>
                        <a:p>
                          <a:pPr>
                            <a:buNone/>
                          </a:pPr>
                          <a:r>
                            <a:rPr lang="en-US" sz="1600" dirty="0">
                              <a:effectLst/>
                            </a:rPr>
                            <a:t>3</a:t>
                          </a:r>
                          <a:r>
                            <a:rPr lang="en-SG" sz="1600" dirty="0">
                              <a:effectLst/>
                            </a:rPr>
                            <a:t>.1</a:t>
                          </a:r>
                        </a:p>
                      </a:txBody>
                      <a:tcPr anchor="ctr"/>
                    </a:tc>
                    <a:extLst>
                      <a:ext uri="{0D108BD9-81ED-4DB2-BD59-A6C34878D82A}">
                        <a16:rowId xmlns:a16="http://schemas.microsoft.com/office/drawing/2014/main" val="978431209"/>
                      </a:ext>
                    </a:extLst>
                  </a:tr>
                  <a:tr h="326197">
                    <a:tc>
                      <a:txBody>
                        <a:bodyPr/>
                        <a:lstStyle/>
                        <a:p>
                          <a:pPr>
                            <a:buNone/>
                          </a:pPr>
                          <a:r>
                            <a:rPr lang="en-SG" sz="1600">
                              <a:effectLst/>
                            </a:rPr>
                            <a:t>Single Muon</a:t>
                          </a:r>
                        </a:p>
                      </a:txBody>
                      <a:tcPr anchor="ctr"/>
                    </a:tc>
                    <a:tc>
                      <a:txBody>
                        <a:bodyPr/>
                        <a:lstStyle/>
                        <a:p>
                          <a:pPr>
                            <a:buNone/>
                          </a:pPr>
                          <a:r>
                            <a:rPr lang="en-US" sz="1600" dirty="0">
                              <a:effectLst/>
                            </a:rPr>
                            <a:t>8</a:t>
                          </a:r>
                          <a:r>
                            <a:rPr lang="en-SG" sz="1600" dirty="0">
                              <a:effectLst/>
                            </a:rPr>
                            <a:t>8.6</a:t>
                          </a:r>
                        </a:p>
                      </a:txBody>
                      <a:tcPr anchor="ctr"/>
                    </a:tc>
                    <a:tc>
                      <a:txBody>
                        <a:bodyPr/>
                        <a:lstStyle/>
                        <a:p>
                          <a:pPr>
                            <a:buNone/>
                          </a:pPr>
                          <a:r>
                            <a:rPr lang="en-US" sz="1600" dirty="0">
                              <a:effectLst/>
                            </a:rPr>
                            <a:t>4</a:t>
                          </a:r>
                          <a:r>
                            <a:rPr lang="en-SG" sz="1600" dirty="0">
                              <a:effectLst/>
                            </a:rPr>
                            <a:t>.9</a:t>
                          </a:r>
                        </a:p>
                      </a:txBody>
                      <a:tcPr anchor="ctr"/>
                    </a:tc>
                    <a:extLst>
                      <a:ext uri="{0D108BD9-81ED-4DB2-BD59-A6C34878D82A}">
                        <a16:rowId xmlns:a16="http://schemas.microsoft.com/office/drawing/2014/main" val="1034497719"/>
                      </a:ext>
                    </a:extLst>
                  </a:tr>
                  <a:tr h="326197">
                    <a:tc>
                      <a:txBody>
                        <a:bodyPr/>
                        <a:lstStyle/>
                        <a:p>
                          <a:pPr>
                            <a:buNone/>
                          </a:pPr>
                          <a:r>
                            <a:rPr lang="en-SG" sz="1600">
                              <a:effectLst/>
                            </a:rPr>
                            <a:t>No charged Pions</a:t>
                          </a:r>
                        </a:p>
                      </a:txBody>
                      <a:tcPr anchor="ctr"/>
                    </a:tc>
                    <a:tc>
                      <a:txBody>
                        <a:bodyPr/>
                        <a:lstStyle/>
                        <a:p>
                          <a:pPr>
                            <a:buNone/>
                          </a:pPr>
                          <a:r>
                            <a:rPr lang="en-US" sz="1600" dirty="0">
                              <a:effectLst/>
                            </a:rPr>
                            <a:t>7</a:t>
                          </a:r>
                          <a:r>
                            <a:rPr lang="en-SG" sz="1600" dirty="0">
                              <a:effectLst/>
                            </a:rPr>
                            <a:t>8.1</a:t>
                          </a:r>
                        </a:p>
                      </a:txBody>
                      <a:tcPr anchor="ctr"/>
                    </a:tc>
                    <a:tc>
                      <a:txBody>
                        <a:bodyPr/>
                        <a:lstStyle/>
                        <a:p>
                          <a:pPr>
                            <a:buNone/>
                          </a:pPr>
                          <a:r>
                            <a:rPr lang="en-US" sz="1600" dirty="0">
                              <a:effectLst/>
                            </a:rPr>
                            <a:t>5</a:t>
                          </a:r>
                          <a:r>
                            <a:rPr lang="en-SG" sz="1600" dirty="0">
                              <a:effectLst/>
                            </a:rPr>
                            <a:t>.6</a:t>
                          </a:r>
                        </a:p>
                      </a:txBody>
                      <a:tcPr anchor="ctr"/>
                    </a:tc>
                    <a:extLst>
                      <a:ext uri="{0D108BD9-81ED-4DB2-BD59-A6C34878D82A}">
                        <a16:rowId xmlns:a16="http://schemas.microsoft.com/office/drawing/2014/main" val="2727189938"/>
                      </a:ext>
                    </a:extLst>
                  </a:tr>
                  <a:tr h="326197">
                    <a:tc>
                      <a:txBody>
                        <a:bodyPr/>
                        <a:lstStyle/>
                        <a:p>
                          <a:pPr>
                            <a:buNone/>
                          </a:pPr>
                          <a:r>
                            <a:rPr lang="en-SG" sz="1600">
                              <a:effectLst/>
                            </a:rPr>
                            <a:t>Two Photons</a:t>
                          </a:r>
                        </a:p>
                      </a:txBody>
                      <a:tcPr anchor="ctr"/>
                    </a:tc>
                    <a:tc>
                      <a:txBody>
                        <a:bodyPr/>
                        <a:lstStyle/>
                        <a:p>
                          <a:pPr>
                            <a:buNone/>
                          </a:pPr>
                          <a:r>
                            <a:rPr lang="en-US" sz="1600" dirty="0">
                              <a:effectLst/>
                            </a:rPr>
                            <a:t>6</a:t>
                          </a:r>
                          <a:r>
                            <a:rPr lang="en-SG" sz="1600" dirty="0">
                              <a:effectLst/>
                            </a:rPr>
                            <a:t>5.1</a:t>
                          </a:r>
                        </a:p>
                      </a:txBody>
                      <a:tcPr anchor="ctr"/>
                    </a:tc>
                    <a:tc>
                      <a:txBody>
                        <a:bodyPr/>
                        <a:lstStyle/>
                        <a:p>
                          <a:pPr>
                            <a:buNone/>
                          </a:pPr>
                          <a:r>
                            <a:rPr lang="en-US" sz="1600" dirty="0">
                              <a:effectLst/>
                            </a:rPr>
                            <a:t>5</a:t>
                          </a:r>
                          <a:r>
                            <a:rPr lang="en-SG" sz="1600" dirty="0">
                              <a:effectLst/>
                            </a:rPr>
                            <a:t>9.6</a:t>
                          </a:r>
                        </a:p>
                      </a:txBody>
                      <a:tcPr anchor="ctr"/>
                    </a:tc>
                    <a:extLst>
                      <a:ext uri="{0D108BD9-81ED-4DB2-BD59-A6C34878D82A}">
                        <a16:rowId xmlns:a16="http://schemas.microsoft.com/office/drawing/2014/main" val="581167627"/>
                      </a:ext>
                    </a:extLst>
                  </a:tr>
                  <a:tr h="582336">
                    <a:tc>
                      <a:txBody>
                        <a:bodyPr/>
                        <a:lstStyle/>
                        <a:p>
                          <a:pPr>
                            <a:buNone/>
                          </a:pP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𝑚</m:t>
                                  </m:r>
                                </m:e>
                                <m:sub>
                                  <m:r>
                                    <a:rPr lang="ar-AE" sz="1600" i="1">
                                      <a:latin typeface="Cambria Math" panose="02040503050406030204" pitchFamily="18" charset="0"/>
                                    </a:rPr>
                                    <m:t>𝛾𝛾</m:t>
                                  </m:r>
                                </m:sub>
                              </m:sSub>
                              <m:r>
                                <a:rPr lang="ar-AE" sz="1600" i="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i="0">
                                      <a:latin typeface="Cambria Math" panose="02040503050406030204" pitchFamily="18" charset="0"/>
                                    </a:rPr>
                                    <m:t>60</m:t>
                                  </m:r>
                                </m:e>
                                <m:e>
                                  <m:r>
                                    <a:rPr lang="ar-AE" sz="1600" i="0">
                                      <a:latin typeface="Cambria Math" panose="02040503050406030204" pitchFamily="18" charset="0"/>
                                    </a:rPr>
                                    <m:t>300</m:t>
                                  </m:r>
                                </m:e>
                              </m:d>
                            </m:oMath>
                          </a14:m>
                          <a:r>
                            <a:rPr lang="ar-AE" sz="1600">
                              <a:effectLst/>
                            </a:rPr>
                            <a:t>﻿ </a:t>
                          </a:r>
                          <a:r>
                            <a:rPr lang="en-SG" sz="1600">
                              <a:effectLst/>
                            </a:rPr>
                            <a:t>MeV/c2</a:t>
                          </a:r>
                        </a:p>
                      </a:txBody>
                      <a:tcPr anchor="ctr"/>
                    </a:tc>
                    <a:tc>
                      <a:txBody>
                        <a:bodyPr/>
                        <a:lstStyle/>
                        <a:p>
                          <a:pPr>
                            <a:buNone/>
                          </a:pPr>
                          <a:r>
                            <a:rPr lang="en-SG" sz="1600" dirty="0">
                              <a:effectLst/>
                            </a:rPr>
                            <a:t>63.0</a:t>
                          </a:r>
                        </a:p>
                      </a:txBody>
                      <a:tcPr anchor="ctr"/>
                    </a:tc>
                    <a:tc>
                      <a:txBody>
                        <a:bodyPr/>
                        <a:lstStyle/>
                        <a:p>
                          <a:pPr>
                            <a:buNone/>
                          </a:pPr>
                          <a:r>
                            <a:rPr lang="en-US" sz="1600" dirty="0">
                              <a:effectLst/>
                            </a:rPr>
                            <a:t>63.33</a:t>
                          </a:r>
                          <a:endParaRPr lang="en-SG" sz="1600" dirty="0">
                            <a:effectLst/>
                          </a:endParaRPr>
                        </a:p>
                      </a:txBody>
                      <a:tcPr anchor="ctr"/>
                    </a:tc>
                    <a:extLst>
                      <a:ext uri="{0D108BD9-81ED-4DB2-BD59-A6C34878D82A}">
                        <a16:rowId xmlns:a16="http://schemas.microsoft.com/office/drawing/2014/main" val="1549417771"/>
                      </a:ext>
                    </a:extLst>
                  </a:tr>
                </a:tbl>
              </a:graphicData>
            </a:graphic>
          </p:graphicFrame>
        </mc:Choice>
        <mc:Fallback xmlns="">
          <p:graphicFrame>
            <p:nvGraphicFramePr>
              <p:cNvPr id="3" name="Table 2">
                <a:extLst>
                  <a:ext uri="{FF2B5EF4-FFF2-40B4-BE49-F238E27FC236}">
                    <a16:creationId xmlns:a16="http://schemas.microsoft.com/office/drawing/2014/main" id="{6F94F782-75AC-D48C-F4B8-C596F7ACC6B8}"/>
                  </a:ext>
                </a:extLst>
              </p:cNvPr>
              <p:cNvGraphicFramePr>
                <a:graphicFrameLocks noGrp="1"/>
              </p:cNvGraphicFramePr>
              <p:nvPr>
                <p:extLst>
                  <p:ext uri="{D42A27DB-BD31-4B8C-83A1-F6EECF244321}">
                    <p14:modId xmlns:p14="http://schemas.microsoft.com/office/powerpoint/2010/main" val="1967801246"/>
                  </p:ext>
                </p:extLst>
              </p:nvPr>
            </p:nvGraphicFramePr>
            <p:xfrm>
              <a:off x="203432" y="2588471"/>
              <a:ext cx="5292204" cy="3250311"/>
            </p:xfrm>
            <a:graphic>
              <a:graphicData uri="http://schemas.openxmlformats.org/drawingml/2006/table">
                <a:tbl>
                  <a:tblPr firstRow="1" bandRow="1">
                    <a:tableStyleId>{5C22544A-7EE6-4342-B048-85BDC9FD1C3A}</a:tableStyleId>
                  </a:tblPr>
                  <a:tblGrid>
                    <a:gridCol w="1764068">
                      <a:extLst>
                        <a:ext uri="{9D8B030D-6E8A-4147-A177-3AD203B41FA5}">
                          <a16:colId xmlns:a16="http://schemas.microsoft.com/office/drawing/2014/main" val="600944633"/>
                        </a:ext>
                      </a:extLst>
                    </a:gridCol>
                    <a:gridCol w="1600754">
                      <a:extLst>
                        <a:ext uri="{9D8B030D-6E8A-4147-A177-3AD203B41FA5}">
                          <a16:colId xmlns:a16="http://schemas.microsoft.com/office/drawing/2014/main" val="1151758864"/>
                        </a:ext>
                      </a:extLst>
                    </a:gridCol>
                    <a:gridCol w="1927382">
                      <a:extLst>
                        <a:ext uri="{9D8B030D-6E8A-4147-A177-3AD203B41FA5}">
                          <a16:colId xmlns:a16="http://schemas.microsoft.com/office/drawing/2014/main" val="3768504631"/>
                        </a:ext>
                      </a:extLst>
                    </a:gridCol>
                  </a:tblGrid>
                  <a:tr h="640080">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35280">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dirty="0">
                              <a:effectLst/>
                            </a:rPr>
                            <a:t>0.0</a:t>
                          </a:r>
                        </a:p>
                      </a:txBody>
                      <a:tcPr anchor="ctr"/>
                    </a:tc>
                    <a:extLst>
                      <a:ext uri="{0D108BD9-81ED-4DB2-BD59-A6C34878D82A}">
                        <a16:rowId xmlns:a16="http://schemas.microsoft.com/office/drawing/2014/main" val="1418742392"/>
                      </a:ext>
                    </a:extLst>
                  </a:tr>
                  <a:tr h="335280">
                    <a:tc>
                      <a:txBody>
                        <a:bodyPr/>
                        <a:lstStyle/>
                        <a:p>
                          <a:pPr>
                            <a:buNone/>
                          </a:pPr>
                          <a:r>
                            <a:rPr lang="en-SG" sz="1600">
                              <a:effectLst/>
                            </a:rPr>
                            <a:t>In-Time Flash</a:t>
                          </a:r>
                        </a:p>
                      </a:txBody>
                      <a:tcPr anchor="ctr"/>
                    </a:tc>
                    <a:tc>
                      <a:txBody>
                        <a:bodyPr/>
                        <a:lstStyle/>
                        <a:p>
                          <a:pPr>
                            <a:buNone/>
                          </a:pPr>
                          <a:r>
                            <a:rPr lang="en-SG" sz="1600" dirty="0">
                              <a:effectLst/>
                            </a:rPr>
                            <a:t>95.4</a:t>
                          </a:r>
                        </a:p>
                      </a:txBody>
                      <a:tcPr anchor="ctr"/>
                    </a:tc>
                    <a:tc>
                      <a:txBody>
                        <a:bodyPr/>
                        <a:lstStyle/>
                        <a:p>
                          <a:pPr>
                            <a:buNone/>
                          </a:pPr>
                          <a:r>
                            <a:rPr lang="en-US" sz="1600" dirty="0">
                              <a:effectLst/>
                            </a:rPr>
                            <a:t>1</a:t>
                          </a:r>
                          <a:r>
                            <a:rPr lang="en-SG" sz="1600" dirty="0">
                              <a:effectLst/>
                            </a:rPr>
                            <a:t>.5</a:t>
                          </a:r>
                        </a:p>
                      </a:txBody>
                      <a:tcPr anchor="ctr"/>
                    </a:tc>
                    <a:extLst>
                      <a:ext uri="{0D108BD9-81ED-4DB2-BD59-A6C34878D82A}">
                        <a16:rowId xmlns:a16="http://schemas.microsoft.com/office/drawing/2014/main" val="2619895179"/>
                      </a:ext>
                    </a:extLst>
                  </a:tr>
                  <a:tr h="335280">
                    <a:tc>
                      <a:txBody>
                        <a:bodyPr/>
                        <a:lstStyle/>
                        <a:p>
                          <a:pPr>
                            <a:buNone/>
                          </a:pPr>
                          <a:r>
                            <a:rPr lang="en-SG" sz="1600">
                              <a:effectLst/>
                            </a:rPr>
                            <a:t>Fiducial Volume</a:t>
                          </a:r>
                        </a:p>
                      </a:txBody>
                      <a:tcPr anchor="ctr"/>
                    </a:tc>
                    <a:tc>
                      <a:txBody>
                        <a:bodyPr/>
                        <a:lstStyle/>
                        <a:p>
                          <a:pPr>
                            <a:buNone/>
                          </a:pPr>
                          <a:r>
                            <a:rPr lang="en-SG" sz="1600" dirty="0">
                              <a:effectLst/>
                            </a:rPr>
                            <a:t>93.7</a:t>
                          </a:r>
                        </a:p>
                      </a:txBody>
                      <a:tcPr anchor="ctr"/>
                    </a:tc>
                    <a:tc>
                      <a:txBody>
                        <a:bodyPr/>
                        <a:lstStyle/>
                        <a:p>
                          <a:pPr>
                            <a:buNone/>
                          </a:pPr>
                          <a:r>
                            <a:rPr lang="en-US" sz="1600" dirty="0">
                              <a:effectLst/>
                            </a:rPr>
                            <a:t>3</a:t>
                          </a:r>
                          <a:r>
                            <a:rPr lang="en-SG" sz="1600" dirty="0">
                              <a:effectLst/>
                            </a:rPr>
                            <a:t>.1</a:t>
                          </a:r>
                        </a:p>
                      </a:txBody>
                      <a:tcPr anchor="ctr"/>
                    </a:tc>
                    <a:extLst>
                      <a:ext uri="{0D108BD9-81ED-4DB2-BD59-A6C34878D82A}">
                        <a16:rowId xmlns:a16="http://schemas.microsoft.com/office/drawing/2014/main" val="978431209"/>
                      </a:ext>
                    </a:extLst>
                  </a:tr>
                  <a:tr h="335280">
                    <a:tc>
                      <a:txBody>
                        <a:bodyPr/>
                        <a:lstStyle/>
                        <a:p>
                          <a:pPr>
                            <a:buNone/>
                          </a:pPr>
                          <a:r>
                            <a:rPr lang="en-SG" sz="1600">
                              <a:effectLst/>
                            </a:rPr>
                            <a:t>Single Muon</a:t>
                          </a:r>
                        </a:p>
                      </a:txBody>
                      <a:tcPr anchor="ctr"/>
                    </a:tc>
                    <a:tc>
                      <a:txBody>
                        <a:bodyPr/>
                        <a:lstStyle/>
                        <a:p>
                          <a:pPr>
                            <a:buNone/>
                          </a:pPr>
                          <a:r>
                            <a:rPr lang="en-US" sz="1600" dirty="0">
                              <a:effectLst/>
                            </a:rPr>
                            <a:t>8</a:t>
                          </a:r>
                          <a:r>
                            <a:rPr lang="en-SG" sz="1600" dirty="0">
                              <a:effectLst/>
                            </a:rPr>
                            <a:t>8.6</a:t>
                          </a:r>
                        </a:p>
                      </a:txBody>
                      <a:tcPr anchor="ctr"/>
                    </a:tc>
                    <a:tc>
                      <a:txBody>
                        <a:bodyPr/>
                        <a:lstStyle/>
                        <a:p>
                          <a:pPr>
                            <a:buNone/>
                          </a:pPr>
                          <a:r>
                            <a:rPr lang="en-US" sz="1600" dirty="0">
                              <a:effectLst/>
                            </a:rPr>
                            <a:t>4</a:t>
                          </a:r>
                          <a:r>
                            <a:rPr lang="en-SG" sz="1600" dirty="0">
                              <a:effectLst/>
                            </a:rPr>
                            <a:t>.9</a:t>
                          </a:r>
                        </a:p>
                      </a:txBody>
                      <a:tcPr anchor="ctr"/>
                    </a:tc>
                    <a:extLst>
                      <a:ext uri="{0D108BD9-81ED-4DB2-BD59-A6C34878D82A}">
                        <a16:rowId xmlns:a16="http://schemas.microsoft.com/office/drawing/2014/main" val="1034497719"/>
                      </a:ext>
                    </a:extLst>
                  </a:tr>
                  <a:tr h="335280">
                    <a:tc>
                      <a:txBody>
                        <a:bodyPr/>
                        <a:lstStyle/>
                        <a:p>
                          <a:pPr>
                            <a:buNone/>
                          </a:pPr>
                          <a:r>
                            <a:rPr lang="en-SG" sz="1600">
                              <a:effectLst/>
                            </a:rPr>
                            <a:t>No charged Pions</a:t>
                          </a:r>
                        </a:p>
                      </a:txBody>
                      <a:tcPr anchor="ctr"/>
                    </a:tc>
                    <a:tc>
                      <a:txBody>
                        <a:bodyPr/>
                        <a:lstStyle/>
                        <a:p>
                          <a:pPr>
                            <a:buNone/>
                          </a:pPr>
                          <a:r>
                            <a:rPr lang="en-US" sz="1600" dirty="0">
                              <a:effectLst/>
                            </a:rPr>
                            <a:t>7</a:t>
                          </a:r>
                          <a:r>
                            <a:rPr lang="en-SG" sz="1600" dirty="0">
                              <a:effectLst/>
                            </a:rPr>
                            <a:t>8.1</a:t>
                          </a:r>
                        </a:p>
                      </a:txBody>
                      <a:tcPr anchor="ctr"/>
                    </a:tc>
                    <a:tc>
                      <a:txBody>
                        <a:bodyPr/>
                        <a:lstStyle/>
                        <a:p>
                          <a:pPr>
                            <a:buNone/>
                          </a:pPr>
                          <a:r>
                            <a:rPr lang="en-US" sz="1600" dirty="0">
                              <a:effectLst/>
                            </a:rPr>
                            <a:t>5</a:t>
                          </a:r>
                          <a:r>
                            <a:rPr lang="en-SG" sz="1600" dirty="0">
                              <a:effectLst/>
                            </a:rPr>
                            <a:t>.6</a:t>
                          </a:r>
                        </a:p>
                      </a:txBody>
                      <a:tcPr anchor="ctr"/>
                    </a:tc>
                    <a:extLst>
                      <a:ext uri="{0D108BD9-81ED-4DB2-BD59-A6C34878D82A}">
                        <a16:rowId xmlns:a16="http://schemas.microsoft.com/office/drawing/2014/main" val="2727189938"/>
                      </a:ext>
                    </a:extLst>
                  </a:tr>
                  <a:tr h="335280">
                    <a:tc>
                      <a:txBody>
                        <a:bodyPr/>
                        <a:lstStyle/>
                        <a:p>
                          <a:pPr>
                            <a:buNone/>
                          </a:pPr>
                          <a:r>
                            <a:rPr lang="en-SG" sz="1600">
                              <a:effectLst/>
                            </a:rPr>
                            <a:t>Two Photons</a:t>
                          </a:r>
                        </a:p>
                      </a:txBody>
                      <a:tcPr anchor="ctr"/>
                    </a:tc>
                    <a:tc>
                      <a:txBody>
                        <a:bodyPr/>
                        <a:lstStyle/>
                        <a:p>
                          <a:pPr>
                            <a:buNone/>
                          </a:pPr>
                          <a:r>
                            <a:rPr lang="en-US" sz="1600" dirty="0">
                              <a:effectLst/>
                            </a:rPr>
                            <a:t>6</a:t>
                          </a:r>
                          <a:r>
                            <a:rPr lang="en-SG" sz="1600" dirty="0">
                              <a:effectLst/>
                            </a:rPr>
                            <a:t>5.1</a:t>
                          </a:r>
                        </a:p>
                      </a:txBody>
                      <a:tcPr anchor="ctr"/>
                    </a:tc>
                    <a:tc>
                      <a:txBody>
                        <a:bodyPr/>
                        <a:lstStyle/>
                        <a:p>
                          <a:pPr>
                            <a:buNone/>
                          </a:pPr>
                          <a:r>
                            <a:rPr lang="en-US" sz="1600" dirty="0">
                              <a:effectLst/>
                            </a:rPr>
                            <a:t>5</a:t>
                          </a:r>
                          <a:r>
                            <a:rPr lang="en-SG" sz="1600" dirty="0">
                              <a:effectLst/>
                            </a:rPr>
                            <a:t>9.6</a:t>
                          </a:r>
                        </a:p>
                      </a:txBody>
                      <a:tcPr anchor="ctr"/>
                    </a:tc>
                    <a:extLst>
                      <a:ext uri="{0D108BD9-81ED-4DB2-BD59-A6C34878D82A}">
                        <a16:rowId xmlns:a16="http://schemas.microsoft.com/office/drawing/2014/main" val="581167627"/>
                      </a:ext>
                    </a:extLst>
                  </a:tr>
                  <a:tr h="598551">
                    <a:tc>
                      <a:txBody>
                        <a:bodyPr/>
                        <a:lstStyle/>
                        <a:p>
                          <a:endParaRPr lang="en-US"/>
                        </a:p>
                      </a:txBody>
                      <a:tcPr anchor="ctr">
                        <a:blipFill>
                          <a:blip r:embed="rId3"/>
                          <a:stretch>
                            <a:fillRect l="-345" t="-450000" r="-201034" b="-13265"/>
                          </a:stretch>
                        </a:blipFill>
                      </a:tcPr>
                    </a:tc>
                    <a:tc>
                      <a:txBody>
                        <a:bodyPr/>
                        <a:lstStyle/>
                        <a:p>
                          <a:pPr>
                            <a:buNone/>
                          </a:pPr>
                          <a:r>
                            <a:rPr lang="en-SG" sz="1600" dirty="0">
                              <a:effectLst/>
                            </a:rPr>
                            <a:t>63.0</a:t>
                          </a:r>
                        </a:p>
                      </a:txBody>
                      <a:tcPr anchor="ctr"/>
                    </a:tc>
                    <a:tc>
                      <a:txBody>
                        <a:bodyPr/>
                        <a:lstStyle/>
                        <a:p>
                          <a:pPr>
                            <a:buNone/>
                          </a:pPr>
                          <a:r>
                            <a:rPr lang="en-US" sz="1600" dirty="0">
                              <a:effectLst/>
                            </a:rPr>
                            <a:t>63.33</a:t>
                          </a:r>
                          <a:endParaRPr lang="en-SG" sz="1600" dirty="0">
                            <a:effectLst/>
                          </a:endParaRPr>
                        </a:p>
                      </a:txBody>
                      <a:tcPr anchor="ctr"/>
                    </a:tc>
                    <a:extLst>
                      <a:ext uri="{0D108BD9-81ED-4DB2-BD59-A6C34878D82A}">
                        <a16:rowId xmlns:a16="http://schemas.microsoft.com/office/drawing/2014/main" val="1549417771"/>
                      </a:ext>
                    </a:extLst>
                  </a:tr>
                </a:tbl>
              </a:graphicData>
            </a:graphic>
          </p:graphicFrame>
        </mc:Fallback>
      </mc:AlternateContent>
      <p:sp>
        <p:nvSpPr>
          <p:cNvPr id="6" name="TextBox 5">
            <a:extLst>
              <a:ext uri="{FF2B5EF4-FFF2-40B4-BE49-F238E27FC236}">
                <a16:creationId xmlns:a16="http://schemas.microsoft.com/office/drawing/2014/main" id="{B69B3E57-ED6D-9BA8-63AC-EF8ADCBC7838}"/>
              </a:ext>
            </a:extLst>
          </p:cNvPr>
          <p:cNvSpPr txBox="1"/>
          <p:nvPr/>
        </p:nvSpPr>
        <p:spPr>
          <a:xfrm>
            <a:off x="339921" y="5872064"/>
            <a:ext cx="4574841" cy="369332"/>
          </a:xfrm>
          <a:prstGeom prst="rect">
            <a:avLst/>
          </a:prstGeom>
          <a:noFill/>
        </p:spPr>
        <p:txBody>
          <a:bodyPr wrap="square">
            <a:spAutoFit/>
          </a:bodyPr>
          <a:lstStyle/>
          <a:p>
            <a:pPr algn="ctr"/>
            <a:r>
              <a:rPr lang="en-US" sz="1400" b="1" dirty="0"/>
              <a:t>Efficiency and Purity from </a:t>
            </a:r>
            <a:r>
              <a:rPr lang="en-US" b="1" dirty="0" err="1">
                <a:solidFill>
                  <a:srgbClr val="FF0000"/>
                </a:solidFill>
              </a:rPr>
              <a:t>NuMI</a:t>
            </a:r>
            <a:r>
              <a:rPr lang="en-US" sz="1400" b="1" dirty="0"/>
              <a:t> selection</a:t>
            </a:r>
            <a:endParaRPr lang="en-SG" sz="1400" b="1" dirty="0"/>
          </a:p>
        </p:txBody>
      </p:sp>
      <p:sp>
        <p:nvSpPr>
          <p:cNvPr id="7" name="Slide Number Placeholder 6">
            <a:extLst>
              <a:ext uri="{FF2B5EF4-FFF2-40B4-BE49-F238E27FC236}">
                <a16:creationId xmlns:a16="http://schemas.microsoft.com/office/drawing/2014/main" id="{BF4F1BE1-D107-C9BA-39B7-7683EB8AAF4F}"/>
              </a:ext>
            </a:extLst>
          </p:cNvPr>
          <p:cNvSpPr>
            <a:spLocks noGrp="1"/>
          </p:cNvSpPr>
          <p:nvPr>
            <p:ph type="sldNum" sz="quarter" idx="12"/>
          </p:nvPr>
        </p:nvSpPr>
        <p:spPr/>
        <p:txBody>
          <a:bodyPr/>
          <a:lstStyle/>
          <a:p>
            <a:fld id="{BBCD8743-5A53-4A98-BC6F-5DFD6CC2F469}" type="slidenum">
              <a:rPr lang="en-SG" smtClean="0"/>
              <a:t>13</a:t>
            </a:fld>
            <a:endParaRPr lang="en-SG"/>
          </a:p>
        </p:txBody>
      </p:sp>
    </p:spTree>
    <p:extLst>
      <p:ext uri="{BB962C8B-B14F-4D97-AF65-F5344CB8AC3E}">
        <p14:creationId xmlns:p14="http://schemas.microsoft.com/office/powerpoint/2010/main" val="2101585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CDCFD-44DF-F70A-70F3-FA4F47CCC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B3994-68A0-96C1-082F-5B4F794FB866}"/>
              </a:ext>
            </a:extLst>
          </p:cNvPr>
          <p:cNvSpPr>
            <a:spLocks noGrp="1"/>
          </p:cNvSpPr>
          <p:nvPr>
            <p:ph type="title"/>
          </p:nvPr>
        </p:nvSpPr>
        <p:spPr/>
        <p:txBody>
          <a:bodyPr/>
          <a:lstStyle/>
          <a:p>
            <a:r>
              <a:rPr lang="en-US" b="1" dirty="0"/>
              <a:t>PID Truth to Reco confusion matrix</a:t>
            </a:r>
            <a:endParaRPr lang="en-SG" dirty="0"/>
          </a:p>
        </p:txBody>
      </p:sp>
      <p:sp>
        <p:nvSpPr>
          <p:cNvPr id="4" name="TextBox 3">
            <a:extLst>
              <a:ext uri="{FF2B5EF4-FFF2-40B4-BE49-F238E27FC236}">
                <a16:creationId xmlns:a16="http://schemas.microsoft.com/office/drawing/2014/main" id="{A8046E30-6369-82EF-83B2-78046C0EF136}"/>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inefficiency is due to true final state protons misidentified as muons or </a:t>
            </a:r>
            <a:r>
              <a:rPr lang="en-US" dirty="0" err="1"/>
              <a:t>pions</a:t>
            </a:r>
            <a:endParaRPr lang="en-SG" dirty="0"/>
          </a:p>
        </p:txBody>
      </p:sp>
      <p:pic>
        <p:nvPicPr>
          <p:cNvPr id="13" name="Picture 12">
            <a:extLst>
              <a:ext uri="{FF2B5EF4-FFF2-40B4-BE49-F238E27FC236}">
                <a16:creationId xmlns:a16="http://schemas.microsoft.com/office/drawing/2014/main" id="{F1DAD5A3-CE1E-D132-5441-8A4C72AA76D9}"/>
              </a:ext>
            </a:extLst>
          </p:cNvPr>
          <p:cNvPicPr>
            <a:picLocks noChangeAspect="1"/>
          </p:cNvPicPr>
          <p:nvPr/>
        </p:nvPicPr>
        <p:blipFill>
          <a:blip r:embed="rId2"/>
          <a:stretch>
            <a:fillRect/>
          </a:stretch>
        </p:blipFill>
        <p:spPr>
          <a:xfrm>
            <a:off x="6714262" y="2594442"/>
            <a:ext cx="4799646" cy="3437643"/>
          </a:xfrm>
          <a:prstGeom prst="rect">
            <a:avLst/>
          </a:prstGeom>
        </p:spPr>
      </p:pic>
      <p:sp>
        <p:nvSpPr>
          <p:cNvPr id="14" name="TextBox 13">
            <a:extLst>
              <a:ext uri="{FF2B5EF4-FFF2-40B4-BE49-F238E27FC236}">
                <a16:creationId xmlns:a16="http://schemas.microsoft.com/office/drawing/2014/main" id="{D3725E21-478B-5DFF-5DD2-A77C7156B4AE}"/>
              </a:ext>
            </a:extLst>
          </p:cNvPr>
          <p:cNvSpPr txBox="1"/>
          <p:nvPr/>
        </p:nvSpPr>
        <p:spPr>
          <a:xfrm>
            <a:off x="114251" y="6020576"/>
            <a:ext cx="5927329" cy="369332"/>
          </a:xfrm>
          <a:prstGeom prst="rect">
            <a:avLst/>
          </a:prstGeom>
          <a:noFill/>
        </p:spPr>
        <p:txBody>
          <a:bodyPr wrap="square">
            <a:spAutoFit/>
          </a:bodyPr>
          <a:lstStyle/>
          <a:p>
            <a:pPr algn="ctr"/>
            <a:r>
              <a:rPr lang="en-US" sz="1400" b="1" dirty="0"/>
              <a:t>Truth to Reco confusion matrix from </a:t>
            </a:r>
            <a:r>
              <a:rPr lang="en-US" b="1" dirty="0" err="1">
                <a:solidFill>
                  <a:srgbClr val="FF0000"/>
                </a:solidFill>
              </a:rPr>
              <a:t>NuMI</a:t>
            </a:r>
            <a:r>
              <a:rPr lang="en-US" sz="1400" b="1" dirty="0"/>
              <a:t> selection</a:t>
            </a:r>
            <a:endParaRPr lang="en-SG" sz="1400" b="1" dirty="0"/>
          </a:p>
        </p:txBody>
      </p:sp>
      <p:sp>
        <p:nvSpPr>
          <p:cNvPr id="15" name="TextBox 14">
            <a:extLst>
              <a:ext uri="{FF2B5EF4-FFF2-40B4-BE49-F238E27FC236}">
                <a16:creationId xmlns:a16="http://schemas.microsoft.com/office/drawing/2014/main" id="{C308B177-BE44-DC23-79B6-67E6D68C8D55}"/>
              </a:ext>
            </a:extLst>
          </p:cNvPr>
          <p:cNvSpPr txBox="1"/>
          <p:nvPr/>
        </p:nvSpPr>
        <p:spPr>
          <a:xfrm>
            <a:off x="6826664" y="6020577"/>
            <a:ext cx="4574841" cy="369332"/>
          </a:xfrm>
          <a:prstGeom prst="rect">
            <a:avLst/>
          </a:prstGeom>
          <a:noFill/>
        </p:spPr>
        <p:txBody>
          <a:bodyPr wrap="square">
            <a:spAutoFit/>
          </a:bodyPr>
          <a:lstStyle/>
          <a:p>
            <a:pPr algn="ctr"/>
            <a:r>
              <a:rPr lang="en-US" sz="1400" b="1" dirty="0"/>
              <a:t>Truth to Reco confusion matrix from </a:t>
            </a:r>
            <a:r>
              <a:rPr lang="en-US" b="1" dirty="0">
                <a:solidFill>
                  <a:srgbClr val="FF0000"/>
                </a:solidFill>
              </a:rPr>
              <a:t>BNB</a:t>
            </a:r>
            <a:r>
              <a:rPr lang="en-US" sz="1400" b="1" dirty="0"/>
              <a:t> selection</a:t>
            </a:r>
            <a:endParaRPr lang="en-SG" sz="1400" b="1" dirty="0"/>
          </a:p>
        </p:txBody>
      </p:sp>
      <p:pic>
        <p:nvPicPr>
          <p:cNvPr id="5" name="Picture 4">
            <a:extLst>
              <a:ext uri="{FF2B5EF4-FFF2-40B4-BE49-F238E27FC236}">
                <a16:creationId xmlns:a16="http://schemas.microsoft.com/office/drawing/2014/main" id="{C1BF8B37-A3E6-E684-713B-2636FAA79390}"/>
              </a:ext>
            </a:extLst>
          </p:cNvPr>
          <p:cNvPicPr>
            <a:picLocks noChangeAspect="1"/>
          </p:cNvPicPr>
          <p:nvPr/>
        </p:nvPicPr>
        <p:blipFill>
          <a:blip r:embed="rId3"/>
          <a:stretch>
            <a:fillRect/>
          </a:stretch>
        </p:blipFill>
        <p:spPr>
          <a:xfrm>
            <a:off x="678093" y="2563884"/>
            <a:ext cx="4799646" cy="3437643"/>
          </a:xfrm>
          <a:prstGeom prst="rect">
            <a:avLst/>
          </a:prstGeom>
        </p:spPr>
      </p:pic>
      <p:sp>
        <p:nvSpPr>
          <p:cNvPr id="3" name="Slide Number Placeholder 2">
            <a:extLst>
              <a:ext uri="{FF2B5EF4-FFF2-40B4-BE49-F238E27FC236}">
                <a16:creationId xmlns:a16="http://schemas.microsoft.com/office/drawing/2014/main" id="{66DA4DB5-7BE3-02C3-B4DF-AF2D41315FDC}"/>
              </a:ext>
            </a:extLst>
          </p:cNvPr>
          <p:cNvSpPr>
            <a:spLocks noGrp="1"/>
          </p:cNvSpPr>
          <p:nvPr>
            <p:ph type="sldNum" sz="quarter" idx="12"/>
          </p:nvPr>
        </p:nvSpPr>
        <p:spPr/>
        <p:txBody>
          <a:bodyPr/>
          <a:lstStyle/>
          <a:p>
            <a:fld id="{BBCD8743-5A53-4A98-BC6F-5DFD6CC2F469}" type="slidenum">
              <a:rPr lang="en-SG" smtClean="0"/>
              <a:t>14</a:t>
            </a:fld>
            <a:endParaRPr lang="en-SG"/>
          </a:p>
        </p:txBody>
      </p:sp>
    </p:spTree>
    <p:extLst>
      <p:ext uri="{BB962C8B-B14F-4D97-AF65-F5344CB8AC3E}">
        <p14:creationId xmlns:p14="http://schemas.microsoft.com/office/powerpoint/2010/main" val="3713948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7F81-FD92-BDE9-2A40-1F2BB6AE1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02A35-60E0-DC0E-629F-E627A240211A}"/>
              </a:ext>
            </a:extLst>
          </p:cNvPr>
          <p:cNvSpPr>
            <a:spLocks noGrp="1"/>
          </p:cNvSpPr>
          <p:nvPr>
            <p:ph type="title"/>
          </p:nvPr>
        </p:nvSpPr>
        <p:spPr/>
        <p:txBody>
          <a:bodyPr/>
          <a:lstStyle/>
          <a:p>
            <a:r>
              <a:rPr lang="en-US" b="1" dirty="0"/>
              <a:t>PID Reco to Truth confusion matrix</a:t>
            </a:r>
            <a:endParaRPr lang="en-SG" dirty="0"/>
          </a:p>
        </p:txBody>
      </p:sp>
      <p:sp>
        <p:nvSpPr>
          <p:cNvPr id="4" name="TextBox 3">
            <a:extLst>
              <a:ext uri="{FF2B5EF4-FFF2-40B4-BE49-F238E27FC236}">
                <a16:creationId xmlns:a16="http://schemas.microsoft.com/office/drawing/2014/main" id="{9E2AD1D2-7FBF-BDFE-7A9A-8576786B3882}"/>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impurity is due to misidentification of true </a:t>
            </a:r>
            <a:r>
              <a:rPr lang="en-US" dirty="0" err="1"/>
              <a:t>pions</a:t>
            </a:r>
            <a:r>
              <a:rPr lang="en-US" dirty="0"/>
              <a:t> as protons</a:t>
            </a:r>
            <a:endParaRPr lang="en-SG" dirty="0"/>
          </a:p>
        </p:txBody>
      </p:sp>
      <p:sp>
        <p:nvSpPr>
          <p:cNvPr id="14" name="TextBox 13">
            <a:extLst>
              <a:ext uri="{FF2B5EF4-FFF2-40B4-BE49-F238E27FC236}">
                <a16:creationId xmlns:a16="http://schemas.microsoft.com/office/drawing/2014/main" id="{CE40C7CF-39BA-CD16-707F-8969B8E02F3F}"/>
              </a:ext>
            </a:extLst>
          </p:cNvPr>
          <p:cNvSpPr txBox="1"/>
          <p:nvPr/>
        </p:nvSpPr>
        <p:spPr>
          <a:xfrm>
            <a:off x="208832" y="6021354"/>
            <a:ext cx="5927329" cy="369332"/>
          </a:xfrm>
          <a:prstGeom prst="rect">
            <a:avLst/>
          </a:prstGeom>
          <a:noFill/>
        </p:spPr>
        <p:txBody>
          <a:bodyPr wrap="square">
            <a:spAutoFit/>
          </a:bodyPr>
          <a:lstStyle/>
          <a:p>
            <a:pPr algn="ctr"/>
            <a:r>
              <a:rPr lang="en-US" sz="1400" b="1" dirty="0"/>
              <a:t>Reco to Truth confusion matrix from </a:t>
            </a:r>
            <a:r>
              <a:rPr lang="en-US" b="1" dirty="0" err="1">
                <a:solidFill>
                  <a:srgbClr val="FF0000"/>
                </a:solidFill>
              </a:rPr>
              <a:t>NuMI</a:t>
            </a:r>
            <a:r>
              <a:rPr lang="en-US" sz="1400" b="1" dirty="0"/>
              <a:t> selection</a:t>
            </a:r>
            <a:endParaRPr lang="en-SG" sz="1400" b="1" dirty="0"/>
          </a:p>
        </p:txBody>
      </p:sp>
      <p:sp>
        <p:nvSpPr>
          <p:cNvPr id="15" name="TextBox 14">
            <a:extLst>
              <a:ext uri="{FF2B5EF4-FFF2-40B4-BE49-F238E27FC236}">
                <a16:creationId xmlns:a16="http://schemas.microsoft.com/office/drawing/2014/main" id="{CCD1E6F2-EE49-4410-B7A2-4C944965C230}"/>
              </a:ext>
            </a:extLst>
          </p:cNvPr>
          <p:cNvSpPr txBox="1"/>
          <p:nvPr/>
        </p:nvSpPr>
        <p:spPr>
          <a:xfrm>
            <a:off x="6728772" y="6003414"/>
            <a:ext cx="4574841" cy="369332"/>
          </a:xfrm>
          <a:prstGeom prst="rect">
            <a:avLst/>
          </a:prstGeom>
          <a:noFill/>
        </p:spPr>
        <p:txBody>
          <a:bodyPr wrap="square">
            <a:spAutoFit/>
          </a:bodyPr>
          <a:lstStyle/>
          <a:p>
            <a:pPr algn="ctr"/>
            <a:r>
              <a:rPr lang="en-US" sz="1400" b="1" dirty="0"/>
              <a:t>Reco to Truth confusion matrix from </a:t>
            </a:r>
            <a:r>
              <a:rPr lang="en-US" b="1" dirty="0">
                <a:solidFill>
                  <a:srgbClr val="FF0000"/>
                </a:solidFill>
              </a:rPr>
              <a:t>BNB</a:t>
            </a:r>
            <a:r>
              <a:rPr lang="en-US" sz="1400" b="1" dirty="0"/>
              <a:t> selection</a:t>
            </a:r>
            <a:endParaRPr lang="en-SG" sz="1400" b="1" dirty="0"/>
          </a:p>
        </p:txBody>
      </p:sp>
      <p:pic>
        <p:nvPicPr>
          <p:cNvPr id="7" name="Picture 6">
            <a:extLst>
              <a:ext uri="{FF2B5EF4-FFF2-40B4-BE49-F238E27FC236}">
                <a16:creationId xmlns:a16="http://schemas.microsoft.com/office/drawing/2014/main" id="{6C37E546-1A73-9A61-EF98-A9CAD6CBF90A}"/>
              </a:ext>
            </a:extLst>
          </p:cNvPr>
          <p:cNvPicPr>
            <a:picLocks noChangeAspect="1"/>
          </p:cNvPicPr>
          <p:nvPr/>
        </p:nvPicPr>
        <p:blipFill>
          <a:blip r:embed="rId2"/>
          <a:stretch>
            <a:fillRect/>
          </a:stretch>
        </p:blipFill>
        <p:spPr>
          <a:xfrm>
            <a:off x="6648450" y="2628887"/>
            <a:ext cx="4735486" cy="3391690"/>
          </a:xfrm>
          <a:prstGeom prst="rect">
            <a:avLst/>
          </a:prstGeom>
        </p:spPr>
      </p:pic>
      <p:pic>
        <p:nvPicPr>
          <p:cNvPr id="6" name="Picture 5">
            <a:extLst>
              <a:ext uri="{FF2B5EF4-FFF2-40B4-BE49-F238E27FC236}">
                <a16:creationId xmlns:a16="http://schemas.microsoft.com/office/drawing/2014/main" id="{1DF254D1-93A3-EBED-46CD-BC0C96DDE215}"/>
              </a:ext>
            </a:extLst>
          </p:cNvPr>
          <p:cNvPicPr>
            <a:picLocks noChangeAspect="1"/>
          </p:cNvPicPr>
          <p:nvPr/>
        </p:nvPicPr>
        <p:blipFill>
          <a:blip r:embed="rId3"/>
          <a:stretch>
            <a:fillRect/>
          </a:stretch>
        </p:blipFill>
        <p:spPr>
          <a:xfrm>
            <a:off x="808063" y="2628886"/>
            <a:ext cx="4735488" cy="3391691"/>
          </a:xfrm>
          <a:prstGeom prst="rect">
            <a:avLst/>
          </a:prstGeom>
        </p:spPr>
      </p:pic>
      <p:sp>
        <p:nvSpPr>
          <p:cNvPr id="3" name="Slide Number Placeholder 2">
            <a:extLst>
              <a:ext uri="{FF2B5EF4-FFF2-40B4-BE49-F238E27FC236}">
                <a16:creationId xmlns:a16="http://schemas.microsoft.com/office/drawing/2014/main" id="{3C79054C-D8D6-916E-5673-379ABCA2EA59}"/>
              </a:ext>
            </a:extLst>
          </p:cNvPr>
          <p:cNvSpPr>
            <a:spLocks noGrp="1"/>
          </p:cNvSpPr>
          <p:nvPr>
            <p:ph type="sldNum" sz="quarter" idx="12"/>
          </p:nvPr>
        </p:nvSpPr>
        <p:spPr/>
        <p:txBody>
          <a:bodyPr/>
          <a:lstStyle/>
          <a:p>
            <a:fld id="{BBCD8743-5A53-4A98-BC6F-5DFD6CC2F469}" type="slidenum">
              <a:rPr lang="en-SG" smtClean="0"/>
              <a:t>15</a:t>
            </a:fld>
            <a:endParaRPr lang="en-SG"/>
          </a:p>
        </p:txBody>
      </p:sp>
    </p:spTree>
    <p:extLst>
      <p:ext uri="{BB962C8B-B14F-4D97-AF65-F5344CB8AC3E}">
        <p14:creationId xmlns:p14="http://schemas.microsoft.com/office/powerpoint/2010/main" val="2574501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8C2AE-F4EE-2C08-A65C-C720B0833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7E29F-1172-2787-38DE-5C4D95CFB3E3}"/>
              </a:ext>
            </a:extLst>
          </p:cNvPr>
          <p:cNvSpPr>
            <a:spLocks noGrp="1"/>
          </p:cNvSpPr>
          <p:nvPr>
            <p:ph type="title"/>
          </p:nvPr>
        </p:nvSpPr>
        <p:spPr/>
        <p:txBody>
          <a:bodyPr/>
          <a:lstStyle/>
          <a:p>
            <a:r>
              <a:rPr lang="en-US" dirty="0"/>
              <a:t>Plot comparison (</a:t>
            </a:r>
            <a:r>
              <a:rPr lang="en-US" dirty="0" err="1"/>
              <a:t>NuMI</a:t>
            </a:r>
            <a:r>
              <a:rPr lang="en-US" dirty="0"/>
              <a:t> vs BNB selection)</a:t>
            </a:r>
            <a:endParaRPr lang="en-SG" dirty="0"/>
          </a:p>
        </p:txBody>
      </p:sp>
      <p:sp>
        <p:nvSpPr>
          <p:cNvPr id="13" name="TextBox 12">
            <a:extLst>
              <a:ext uri="{FF2B5EF4-FFF2-40B4-BE49-F238E27FC236}">
                <a16:creationId xmlns:a16="http://schemas.microsoft.com/office/drawing/2014/main" id="{8957E611-852C-96A8-06CF-9340CCD3E178}"/>
              </a:ext>
            </a:extLst>
          </p:cNvPr>
          <p:cNvSpPr txBox="1"/>
          <p:nvPr/>
        </p:nvSpPr>
        <p:spPr>
          <a:xfrm>
            <a:off x="7608864" y="1757721"/>
            <a:ext cx="3331884" cy="307777"/>
          </a:xfrm>
          <a:prstGeom prst="rect">
            <a:avLst/>
          </a:prstGeom>
          <a:noFill/>
        </p:spPr>
        <p:txBody>
          <a:bodyPr wrap="square">
            <a:spAutoFit/>
          </a:bodyPr>
          <a:lstStyle/>
          <a:p>
            <a:pPr algn="ctr"/>
            <a:r>
              <a:rPr lang="en-US" sz="1400" b="1" u="sng" dirty="0"/>
              <a:t>Reconstructed Hadronic Invariant Mass</a:t>
            </a:r>
            <a:endParaRPr lang="en-SG" sz="1400" b="1" u="sng" dirty="0"/>
          </a:p>
        </p:txBody>
      </p:sp>
      <p:sp>
        <p:nvSpPr>
          <p:cNvPr id="18" name="TextBox 17">
            <a:extLst>
              <a:ext uri="{FF2B5EF4-FFF2-40B4-BE49-F238E27FC236}">
                <a16:creationId xmlns:a16="http://schemas.microsoft.com/office/drawing/2014/main" id="{00DC2C71-3945-41D1-9664-24EA6299AFDF}"/>
              </a:ext>
            </a:extLst>
          </p:cNvPr>
          <p:cNvSpPr txBox="1"/>
          <p:nvPr/>
        </p:nvSpPr>
        <p:spPr>
          <a:xfrm>
            <a:off x="1026204" y="3663004"/>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19" name="TextBox 18">
            <a:extLst>
              <a:ext uri="{FF2B5EF4-FFF2-40B4-BE49-F238E27FC236}">
                <a16:creationId xmlns:a16="http://schemas.microsoft.com/office/drawing/2014/main" id="{0782BF41-6C99-E325-F2EE-6C8DE7CCC9FA}"/>
              </a:ext>
            </a:extLst>
          </p:cNvPr>
          <p:cNvSpPr txBox="1"/>
          <p:nvPr/>
        </p:nvSpPr>
        <p:spPr>
          <a:xfrm>
            <a:off x="3903495" y="3677633"/>
            <a:ext cx="1348509" cy="307777"/>
          </a:xfrm>
          <a:prstGeom prst="rect">
            <a:avLst/>
          </a:prstGeom>
          <a:noFill/>
        </p:spPr>
        <p:txBody>
          <a:bodyPr wrap="square">
            <a:spAutoFit/>
          </a:bodyPr>
          <a:lstStyle/>
          <a:p>
            <a:pPr algn="ctr"/>
            <a:r>
              <a:rPr lang="en-US" sz="1400" b="1" dirty="0"/>
              <a:t>BNB selection</a:t>
            </a:r>
            <a:endParaRPr lang="en-SG" sz="1400" dirty="0"/>
          </a:p>
        </p:txBody>
      </p:sp>
      <p:sp>
        <p:nvSpPr>
          <p:cNvPr id="20" name="TextBox 19">
            <a:extLst>
              <a:ext uri="{FF2B5EF4-FFF2-40B4-BE49-F238E27FC236}">
                <a16:creationId xmlns:a16="http://schemas.microsoft.com/office/drawing/2014/main" id="{05A95C0C-0711-B7B1-5076-144049235408}"/>
              </a:ext>
            </a:extLst>
          </p:cNvPr>
          <p:cNvSpPr txBox="1"/>
          <p:nvPr/>
        </p:nvSpPr>
        <p:spPr>
          <a:xfrm>
            <a:off x="1638064" y="1722635"/>
            <a:ext cx="3009127" cy="307777"/>
          </a:xfrm>
          <a:prstGeom prst="rect">
            <a:avLst/>
          </a:prstGeom>
          <a:noFill/>
        </p:spPr>
        <p:txBody>
          <a:bodyPr wrap="square">
            <a:spAutoFit/>
          </a:bodyPr>
          <a:lstStyle/>
          <a:p>
            <a:pPr algn="ctr"/>
            <a:r>
              <a:rPr lang="en-US" sz="1400" b="1" u="sng" dirty="0"/>
              <a:t>Reconstructed neutral pion mass</a:t>
            </a:r>
            <a:endParaRPr lang="en-SG" sz="1400" b="1" u="sng" dirty="0"/>
          </a:p>
        </p:txBody>
      </p:sp>
      <p:sp>
        <p:nvSpPr>
          <p:cNvPr id="21" name="TextBox 20">
            <a:extLst>
              <a:ext uri="{FF2B5EF4-FFF2-40B4-BE49-F238E27FC236}">
                <a16:creationId xmlns:a16="http://schemas.microsoft.com/office/drawing/2014/main" id="{6A7448F8-FC98-55C0-1EB9-2E7324AE60BD}"/>
              </a:ext>
            </a:extLst>
          </p:cNvPr>
          <p:cNvSpPr txBox="1"/>
          <p:nvPr/>
        </p:nvSpPr>
        <p:spPr>
          <a:xfrm>
            <a:off x="1465579" y="4119736"/>
            <a:ext cx="3331884" cy="307777"/>
          </a:xfrm>
          <a:prstGeom prst="rect">
            <a:avLst/>
          </a:prstGeom>
          <a:noFill/>
        </p:spPr>
        <p:txBody>
          <a:bodyPr wrap="square">
            <a:spAutoFit/>
          </a:bodyPr>
          <a:lstStyle/>
          <a:p>
            <a:pPr algn="ctr"/>
            <a:r>
              <a:rPr lang="en-US" sz="1400" b="1" u="sng" dirty="0"/>
              <a:t>Reconstructed primary muon length</a:t>
            </a:r>
            <a:endParaRPr lang="en-SG" sz="1400" b="1" u="sng" dirty="0"/>
          </a:p>
        </p:txBody>
      </p:sp>
      <p:sp>
        <p:nvSpPr>
          <p:cNvPr id="22" name="TextBox 21">
            <a:extLst>
              <a:ext uri="{FF2B5EF4-FFF2-40B4-BE49-F238E27FC236}">
                <a16:creationId xmlns:a16="http://schemas.microsoft.com/office/drawing/2014/main" id="{FF5BD58F-5DB6-1717-DFA9-F077B7596BD7}"/>
              </a:ext>
            </a:extLst>
          </p:cNvPr>
          <p:cNvSpPr txBox="1"/>
          <p:nvPr/>
        </p:nvSpPr>
        <p:spPr>
          <a:xfrm>
            <a:off x="1026204" y="6049778"/>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23" name="TextBox 22">
            <a:extLst>
              <a:ext uri="{FF2B5EF4-FFF2-40B4-BE49-F238E27FC236}">
                <a16:creationId xmlns:a16="http://schemas.microsoft.com/office/drawing/2014/main" id="{F73688AD-22F9-5781-2774-A87D4A8942F9}"/>
              </a:ext>
            </a:extLst>
          </p:cNvPr>
          <p:cNvSpPr txBox="1"/>
          <p:nvPr/>
        </p:nvSpPr>
        <p:spPr>
          <a:xfrm>
            <a:off x="3972936" y="6049778"/>
            <a:ext cx="1348509" cy="307777"/>
          </a:xfrm>
          <a:prstGeom prst="rect">
            <a:avLst/>
          </a:prstGeom>
          <a:noFill/>
        </p:spPr>
        <p:txBody>
          <a:bodyPr wrap="square">
            <a:spAutoFit/>
          </a:bodyPr>
          <a:lstStyle/>
          <a:p>
            <a:pPr algn="ctr"/>
            <a:r>
              <a:rPr lang="en-US" sz="1400" b="1" dirty="0"/>
              <a:t>BNB selection</a:t>
            </a:r>
            <a:endParaRPr lang="en-SG" sz="1400" dirty="0"/>
          </a:p>
        </p:txBody>
      </p:sp>
      <p:sp>
        <p:nvSpPr>
          <p:cNvPr id="24" name="TextBox 23">
            <a:extLst>
              <a:ext uri="{FF2B5EF4-FFF2-40B4-BE49-F238E27FC236}">
                <a16:creationId xmlns:a16="http://schemas.microsoft.com/office/drawing/2014/main" id="{8DE34BAA-BF8D-6ADD-07DE-2586358E072B}"/>
              </a:ext>
            </a:extLst>
          </p:cNvPr>
          <p:cNvSpPr txBox="1"/>
          <p:nvPr/>
        </p:nvSpPr>
        <p:spPr>
          <a:xfrm>
            <a:off x="7559754" y="4119736"/>
            <a:ext cx="3331884" cy="307777"/>
          </a:xfrm>
          <a:prstGeom prst="rect">
            <a:avLst/>
          </a:prstGeom>
          <a:noFill/>
        </p:spPr>
        <p:txBody>
          <a:bodyPr wrap="square">
            <a:spAutoFit/>
          </a:bodyPr>
          <a:lstStyle/>
          <a:p>
            <a:pPr algn="ctr"/>
            <a:r>
              <a:rPr lang="en-US" sz="1400" b="1" u="sng" dirty="0"/>
              <a:t>Reconstructed boosting angle</a:t>
            </a:r>
            <a:endParaRPr lang="en-SG" sz="1400" b="1" u="sng" dirty="0"/>
          </a:p>
        </p:txBody>
      </p:sp>
      <p:pic>
        <p:nvPicPr>
          <p:cNvPr id="4" name="Picture 3">
            <a:extLst>
              <a:ext uri="{FF2B5EF4-FFF2-40B4-BE49-F238E27FC236}">
                <a16:creationId xmlns:a16="http://schemas.microsoft.com/office/drawing/2014/main" id="{EB399E69-8754-8AF4-359F-026482C9B889}"/>
              </a:ext>
            </a:extLst>
          </p:cNvPr>
          <p:cNvPicPr>
            <a:picLocks noChangeAspect="1"/>
          </p:cNvPicPr>
          <p:nvPr/>
        </p:nvPicPr>
        <p:blipFill>
          <a:blip r:embed="rId2"/>
          <a:stretch>
            <a:fillRect/>
          </a:stretch>
        </p:blipFill>
        <p:spPr>
          <a:xfrm>
            <a:off x="321143" y="1995603"/>
            <a:ext cx="2770743" cy="1741282"/>
          </a:xfrm>
          <a:prstGeom prst="rect">
            <a:avLst/>
          </a:prstGeom>
        </p:spPr>
      </p:pic>
      <p:pic>
        <p:nvPicPr>
          <p:cNvPr id="7" name="Picture 6">
            <a:extLst>
              <a:ext uri="{FF2B5EF4-FFF2-40B4-BE49-F238E27FC236}">
                <a16:creationId xmlns:a16="http://schemas.microsoft.com/office/drawing/2014/main" id="{78CF48FF-F97B-0E6B-E05E-A5AC3A2A06CC}"/>
              </a:ext>
            </a:extLst>
          </p:cNvPr>
          <p:cNvPicPr>
            <a:picLocks noChangeAspect="1"/>
          </p:cNvPicPr>
          <p:nvPr/>
        </p:nvPicPr>
        <p:blipFill>
          <a:blip r:embed="rId3"/>
          <a:stretch>
            <a:fillRect/>
          </a:stretch>
        </p:blipFill>
        <p:spPr>
          <a:xfrm>
            <a:off x="3142628" y="1995603"/>
            <a:ext cx="2870244" cy="1741282"/>
          </a:xfrm>
          <a:prstGeom prst="rect">
            <a:avLst/>
          </a:prstGeom>
        </p:spPr>
      </p:pic>
      <p:pic>
        <p:nvPicPr>
          <p:cNvPr id="9" name="Picture 8">
            <a:extLst>
              <a:ext uri="{FF2B5EF4-FFF2-40B4-BE49-F238E27FC236}">
                <a16:creationId xmlns:a16="http://schemas.microsoft.com/office/drawing/2014/main" id="{6D9A9E05-3B9F-78E2-4B92-D41C8AF47C89}"/>
              </a:ext>
            </a:extLst>
          </p:cNvPr>
          <p:cNvPicPr>
            <a:picLocks noChangeAspect="1"/>
          </p:cNvPicPr>
          <p:nvPr/>
        </p:nvPicPr>
        <p:blipFill>
          <a:blip r:embed="rId4"/>
          <a:stretch>
            <a:fillRect/>
          </a:stretch>
        </p:blipFill>
        <p:spPr>
          <a:xfrm>
            <a:off x="434613" y="4487392"/>
            <a:ext cx="2531690" cy="1619690"/>
          </a:xfrm>
          <a:prstGeom prst="rect">
            <a:avLst/>
          </a:prstGeom>
        </p:spPr>
      </p:pic>
      <p:pic>
        <p:nvPicPr>
          <p:cNvPr id="10" name="Picture 9">
            <a:extLst>
              <a:ext uri="{FF2B5EF4-FFF2-40B4-BE49-F238E27FC236}">
                <a16:creationId xmlns:a16="http://schemas.microsoft.com/office/drawing/2014/main" id="{5A2CBCB5-AF8F-9723-DFD3-3D154FEABAE8}"/>
              </a:ext>
            </a:extLst>
          </p:cNvPr>
          <p:cNvPicPr>
            <a:picLocks noChangeAspect="1"/>
          </p:cNvPicPr>
          <p:nvPr/>
        </p:nvPicPr>
        <p:blipFill>
          <a:blip r:embed="rId5"/>
          <a:stretch>
            <a:fillRect/>
          </a:stretch>
        </p:blipFill>
        <p:spPr>
          <a:xfrm>
            <a:off x="3313411" y="4457452"/>
            <a:ext cx="2531690" cy="1619690"/>
          </a:xfrm>
          <a:prstGeom prst="rect">
            <a:avLst/>
          </a:prstGeom>
        </p:spPr>
      </p:pic>
      <p:pic>
        <p:nvPicPr>
          <p:cNvPr id="14" name="Picture 13">
            <a:extLst>
              <a:ext uri="{FF2B5EF4-FFF2-40B4-BE49-F238E27FC236}">
                <a16:creationId xmlns:a16="http://schemas.microsoft.com/office/drawing/2014/main" id="{69F6EF4C-8F96-A88C-0F30-8E237FEF2D7D}"/>
              </a:ext>
            </a:extLst>
          </p:cNvPr>
          <p:cNvPicPr>
            <a:picLocks noChangeAspect="1"/>
          </p:cNvPicPr>
          <p:nvPr/>
        </p:nvPicPr>
        <p:blipFill>
          <a:blip r:embed="rId6">
            <a:alphaModFix/>
          </a:blip>
          <a:stretch>
            <a:fillRect/>
          </a:stretch>
        </p:blipFill>
        <p:spPr>
          <a:xfrm>
            <a:off x="6666128" y="2085860"/>
            <a:ext cx="2608678" cy="1619690"/>
          </a:xfrm>
          <a:prstGeom prst="rect">
            <a:avLst/>
          </a:prstGeom>
        </p:spPr>
      </p:pic>
      <p:pic>
        <p:nvPicPr>
          <p:cNvPr id="15" name="Picture 14">
            <a:extLst>
              <a:ext uri="{FF2B5EF4-FFF2-40B4-BE49-F238E27FC236}">
                <a16:creationId xmlns:a16="http://schemas.microsoft.com/office/drawing/2014/main" id="{F2882F8B-AFE9-EBF7-48D6-A4EA2E947713}"/>
              </a:ext>
            </a:extLst>
          </p:cNvPr>
          <p:cNvPicPr>
            <a:picLocks noChangeAspect="1"/>
          </p:cNvPicPr>
          <p:nvPr/>
        </p:nvPicPr>
        <p:blipFill>
          <a:blip r:embed="rId7"/>
          <a:stretch>
            <a:fillRect/>
          </a:stretch>
        </p:blipFill>
        <p:spPr>
          <a:xfrm>
            <a:off x="9262178" y="2085859"/>
            <a:ext cx="2608679" cy="1619691"/>
          </a:xfrm>
          <a:prstGeom prst="rect">
            <a:avLst/>
          </a:prstGeom>
        </p:spPr>
      </p:pic>
      <p:sp>
        <p:nvSpPr>
          <p:cNvPr id="31" name="TextBox 30">
            <a:extLst>
              <a:ext uri="{FF2B5EF4-FFF2-40B4-BE49-F238E27FC236}">
                <a16:creationId xmlns:a16="http://schemas.microsoft.com/office/drawing/2014/main" id="{093BF42F-529A-88A8-0C75-9606E954F64E}"/>
              </a:ext>
            </a:extLst>
          </p:cNvPr>
          <p:cNvSpPr txBox="1"/>
          <p:nvPr/>
        </p:nvSpPr>
        <p:spPr>
          <a:xfrm>
            <a:off x="7370262" y="3619496"/>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32" name="TextBox 31">
            <a:extLst>
              <a:ext uri="{FF2B5EF4-FFF2-40B4-BE49-F238E27FC236}">
                <a16:creationId xmlns:a16="http://schemas.microsoft.com/office/drawing/2014/main" id="{CDFC151A-BE2C-B320-F6BE-39CDEE86927D}"/>
              </a:ext>
            </a:extLst>
          </p:cNvPr>
          <p:cNvSpPr txBox="1"/>
          <p:nvPr/>
        </p:nvSpPr>
        <p:spPr>
          <a:xfrm>
            <a:off x="9975846" y="3630546"/>
            <a:ext cx="1348509" cy="307777"/>
          </a:xfrm>
          <a:prstGeom prst="rect">
            <a:avLst/>
          </a:prstGeom>
          <a:noFill/>
        </p:spPr>
        <p:txBody>
          <a:bodyPr wrap="square">
            <a:spAutoFit/>
          </a:bodyPr>
          <a:lstStyle/>
          <a:p>
            <a:pPr algn="ctr"/>
            <a:r>
              <a:rPr lang="en-US" sz="1400" b="1" dirty="0"/>
              <a:t>BNB selection</a:t>
            </a:r>
            <a:endParaRPr lang="en-SG" sz="1400" dirty="0"/>
          </a:p>
        </p:txBody>
      </p:sp>
      <p:pic>
        <p:nvPicPr>
          <p:cNvPr id="33" name="Picture 32">
            <a:extLst>
              <a:ext uri="{FF2B5EF4-FFF2-40B4-BE49-F238E27FC236}">
                <a16:creationId xmlns:a16="http://schemas.microsoft.com/office/drawing/2014/main" id="{114E3BF4-8173-D027-BBE8-9F930AE74023}"/>
              </a:ext>
            </a:extLst>
          </p:cNvPr>
          <p:cNvPicPr>
            <a:picLocks noChangeAspect="1"/>
          </p:cNvPicPr>
          <p:nvPr/>
        </p:nvPicPr>
        <p:blipFill>
          <a:blip r:embed="rId8"/>
          <a:stretch>
            <a:fillRect/>
          </a:stretch>
        </p:blipFill>
        <p:spPr>
          <a:xfrm>
            <a:off x="6546063" y="4487391"/>
            <a:ext cx="2531691" cy="1619690"/>
          </a:xfrm>
          <a:prstGeom prst="rect">
            <a:avLst/>
          </a:prstGeom>
        </p:spPr>
      </p:pic>
      <p:pic>
        <p:nvPicPr>
          <p:cNvPr id="34" name="Picture 33">
            <a:extLst>
              <a:ext uri="{FF2B5EF4-FFF2-40B4-BE49-F238E27FC236}">
                <a16:creationId xmlns:a16="http://schemas.microsoft.com/office/drawing/2014/main" id="{6B74890B-046B-DE89-0E26-6A84DA059601}"/>
              </a:ext>
            </a:extLst>
          </p:cNvPr>
          <p:cNvPicPr>
            <a:picLocks noChangeAspect="1"/>
          </p:cNvPicPr>
          <p:nvPr/>
        </p:nvPicPr>
        <p:blipFill>
          <a:blip r:embed="rId9"/>
          <a:stretch>
            <a:fillRect/>
          </a:stretch>
        </p:blipFill>
        <p:spPr>
          <a:xfrm>
            <a:off x="9225696" y="4487391"/>
            <a:ext cx="2531691" cy="1619690"/>
          </a:xfrm>
          <a:prstGeom prst="rect">
            <a:avLst/>
          </a:prstGeom>
        </p:spPr>
      </p:pic>
      <p:sp>
        <p:nvSpPr>
          <p:cNvPr id="35" name="TextBox 34">
            <a:extLst>
              <a:ext uri="{FF2B5EF4-FFF2-40B4-BE49-F238E27FC236}">
                <a16:creationId xmlns:a16="http://schemas.microsoft.com/office/drawing/2014/main" id="{352F1EF3-DB7A-A1EB-C6A6-9E0687F92218}"/>
              </a:ext>
            </a:extLst>
          </p:cNvPr>
          <p:cNvSpPr txBox="1"/>
          <p:nvPr/>
        </p:nvSpPr>
        <p:spPr>
          <a:xfrm>
            <a:off x="7211704" y="6055172"/>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36" name="TextBox 35">
            <a:extLst>
              <a:ext uri="{FF2B5EF4-FFF2-40B4-BE49-F238E27FC236}">
                <a16:creationId xmlns:a16="http://schemas.microsoft.com/office/drawing/2014/main" id="{F5256144-D88B-C46A-7271-E3C0015ED203}"/>
              </a:ext>
            </a:extLst>
          </p:cNvPr>
          <p:cNvSpPr txBox="1"/>
          <p:nvPr/>
        </p:nvSpPr>
        <p:spPr>
          <a:xfrm>
            <a:off x="9817288" y="6066222"/>
            <a:ext cx="1348509" cy="307777"/>
          </a:xfrm>
          <a:prstGeom prst="rect">
            <a:avLst/>
          </a:prstGeom>
          <a:noFill/>
        </p:spPr>
        <p:txBody>
          <a:bodyPr wrap="square">
            <a:spAutoFit/>
          </a:bodyPr>
          <a:lstStyle/>
          <a:p>
            <a:pPr algn="ctr"/>
            <a:r>
              <a:rPr lang="en-US" sz="1400" b="1" dirty="0"/>
              <a:t>BNB selection</a:t>
            </a:r>
            <a:endParaRPr lang="en-SG" sz="1400" dirty="0"/>
          </a:p>
        </p:txBody>
      </p:sp>
      <p:sp>
        <p:nvSpPr>
          <p:cNvPr id="3" name="Slide Number Placeholder 2">
            <a:extLst>
              <a:ext uri="{FF2B5EF4-FFF2-40B4-BE49-F238E27FC236}">
                <a16:creationId xmlns:a16="http://schemas.microsoft.com/office/drawing/2014/main" id="{03AE2217-0076-4CC8-9D15-58715E2AF0CB}"/>
              </a:ext>
            </a:extLst>
          </p:cNvPr>
          <p:cNvSpPr>
            <a:spLocks noGrp="1"/>
          </p:cNvSpPr>
          <p:nvPr>
            <p:ph type="sldNum" sz="quarter" idx="12"/>
          </p:nvPr>
        </p:nvSpPr>
        <p:spPr/>
        <p:txBody>
          <a:bodyPr/>
          <a:lstStyle/>
          <a:p>
            <a:fld id="{BBCD8743-5A53-4A98-BC6F-5DFD6CC2F469}" type="slidenum">
              <a:rPr lang="en-SG" smtClean="0"/>
              <a:t>16</a:t>
            </a:fld>
            <a:endParaRPr lang="en-SG"/>
          </a:p>
        </p:txBody>
      </p:sp>
    </p:spTree>
    <p:extLst>
      <p:ext uri="{BB962C8B-B14F-4D97-AF65-F5344CB8AC3E}">
        <p14:creationId xmlns:p14="http://schemas.microsoft.com/office/powerpoint/2010/main" val="3492057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C345D-A4B9-5FD6-5094-0B5DF6FFE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65CED-6DC9-6B52-13D2-8B187652AEFF}"/>
              </a:ext>
            </a:extLst>
          </p:cNvPr>
          <p:cNvSpPr>
            <a:spLocks noGrp="1"/>
          </p:cNvSpPr>
          <p:nvPr>
            <p:ph type="title"/>
          </p:nvPr>
        </p:nvSpPr>
        <p:spPr/>
        <p:txBody>
          <a:bodyPr/>
          <a:lstStyle/>
          <a:p>
            <a:r>
              <a:rPr lang="en-US" dirty="0"/>
              <a:t>Plot comparison (</a:t>
            </a:r>
            <a:r>
              <a:rPr lang="en-US" dirty="0" err="1"/>
              <a:t>NuMI</a:t>
            </a:r>
            <a:r>
              <a:rPr lang="en-US" dirty="0"/>
              <a:t> vs BNB selection)</a:t>
            </a:r>
            <a:endParaRPr lang="en-SG" dirty="0"/>
          </a:p>
        </p:txBody>
      </p:sp>
      <p:sp>
        <p:nvSpPr>
          <p:cNvPr id="13" name="TextBox 12">
            <a:extLst>
              <a:ext uri="{FF2B5EF4-FFF2-40B4-BE49-F238E27FC236}">
                <a16:creationId xmlns:a16="http://schemas.microsoft.com/office/drawing/2014/main" id="{654D2E42-7357-4089-34B3-69EC3A36993A}"/>
              </a:ext>
            </a:extLst>
          </p:cNvPr>
          <p:cNvSpPr txBox="1"/>
          <p:nvPr/>
        </p:nvSpPr>
        <p:spPr>
          <a:xfrm>
            <a:off x="7437004" y="1756987"/>
            <a:ext cx="3331884" cy="307777"/>
          </a:xfrm>
          <a:prstGeom prst="rect">
            <a:avLst/>
          </a:prstGeom>
          <a:noFill/>
        </p:spPr>
        <p:txBody>
          <a:bodyPr wrap="square">
            <a:spAutoFit/>
          </a:bodyPr>
          <a:lstStyle/>
          <a:p>
            <a:pPr algn="ctr"/>
            <a:r>
              <a:rPr lang="en-US" sz="1400" b="1" u="sng" dirty="0"/>
              <a:t>Reconstructed di-photon opening angle</a:t>
            </a:r>
            <a:endParaRPr lang="en-SG" sz="1400" b="1" u="sng" dirty="0"/>
          </a:p>
        </p:txBody>
      </p:sp>
      <p:sp>
        <p:nvSpPr>
          <p:cNvPr id="18" name="TextBox 17">
            <a:extLst>
              <a:ext uri="{FF2B5EF4-FFF2-40B4-BE49-F238E27FC236}">
                <a16:creationId xmlns:a16="http://schemas.microsoft.com/office/drawing/2014/main" id="{CC446E25-CD59-D760-88BD-D136A4C1501E}"/>
              </a:ext>
            </a:extLst>
          </p:cNvPr>
          <p:cNvSpPr txBox="1"/>
          <p:nvPr/>
        </p:nvSpPr>
        <p:spPr>
          <a:xfrm>
            <a:off x="1026204" y="3663004"/>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19" name="TextBox 18">
            <a:extLst>
              <a:ext uri="{FF2B5EF4-FFF2-40B4-BE49-F238E27FC236}">
                <a16:creationId xmlns:a16="http://schemas.microsoft.com/office/drawing/2014/main" id="{2CCC83C2-38F1-B790-E203-D9A7E430306C}"/>
              </a:ext>
            </a:extLst>
          </p:cNvPr>
          <p:cNvSpPr txBox="1"/>
          <p:nvPr/>
        </p:nvSpPr>
        <p:spPr>
          <a:xfrm>
            <a:off x="3903495" y="3677633"/>
            <a:ext cx="1348509" cy="307777"/>
          </a:xfrm>
          <a:prstGeom prst="rect">
            <a:avLst/>
          </a:prstGeom>
          <a:noFill/>
        </p:spPr>
        <p:txBody>
          <a:bodyPr wrap="square">
            <a:spAutoFit/>
          </a:bodyPr>
          <a:lstStyle/>
          <a:p>
            <a:pPr algn="ctr"/>
            <a:r>
              <a:rPr lang="en-US" sz="1400" b="1" dirty="0"/>
              <a:t>BNB selection</a:t>
            </a:r>
            <a:endParaRPr lang="en-SG" sz="1400" dirty="0"/>
          </a:p>
        </p:txBody>
      </p:sp>
      <p:sp>
        <p:nvSpPr>
          <p:cNvPr id="20" name="TextBox 19">
            <a:extLst>
              <a:ext uri="{FF2B5EF4-FFF2-40B4-BE49-F238E27FC236}">
                <a16:creationId xmlns:a16="http://schemas.microsoft.com/office/drawing/2014/main" id="{20800605-9719-E4C1-7267-8E1981F50C83}"/>
              </a:ext>
            </a:extLst>
          </p:cNvPr>
          <p:cNvSpPr txBox="1"/>
          <p:nvPr/>
        </p:nvSpPr>
        <p:spPr>
          <a:xfrm>
            <a:off x="1638064" y="1722635"/>
            <a:ext cx="3009127" cy="307777"/>
          </a:xfrm>
          <a:prstGeom prst="rect">
            <a:avLst/>
          </a:prstGeom>
          <a:noFill/>
        </p:spPr>
        <p:txBody>
          <a:bodyPr wrap="square">
            <a:spAutoFit/>
          </a:bodyPr>
          <a:lstStyle/>
          <a:p>
            <a:pPr algn="ctr"/>
            <a:r>
              <a:rPr lang="en-US" sz="1400" b="1" u="sng" dirty="0"/>
              <a:t>Reconstructed leading photon KE</a:t>
            </a:r>
            <a:endParaRPr lang="en-SG" sz="1400" b="1" u="sng" dirty="0"/>
          </a:p>
        </p:txBody>
      </p:sp>
      <p:sp>
        <p:nvSpPr>
          <p:cNvPr id="21" name="TextBox 20">
            <a:extLst>
              <a:ext uri="{FF2B5EF4-FFF2-40B4-BE49-F238E27FC236}">
                <a16:creationId xmlns:a16="http://schemas.microsoft.com/office/drawing/2014/main" id="{40E7A6D6-E51D-B0D9-D527-9AC8D8BDE86C}"/>
              </a:ext>
            </a:extLst>
          </p:cNvPr>
          <p:cNvSpPr txBox="1"/>
          <p:nvPr/>
        </p:nvSpPr>
        <p:spPr>
          <a:xfrm>
            <a:off x="1476685" y="4119736"/>
            <a:ext cx="3331884" cy="307777"/>
          </a:xfrm>
          <a:prstGeom prst="rect">
            <a:avLst/>
          </a:prstGeom>
          <a:noFill/>
        </p:spPr>
        <p:txBody>
          <a:bodyPr wrap="square">
            <a:spAutoFit/>
          </a:bodyPr>
          <a:lstStyle/>
          <a:p>
            <a:pPr algn="ctr"/>
            <a:r>
              <a:rPr lang="en-US" sz="1400" b="1" u="sng" dirty="0"/>
              <a:t>Reconstructed muon momentum</a:t>
            </a:r>
            <a:endParaRPr lang="en-SG" sz="1400" b="1" u="sng" dirty="0"/>
          </a:p>
        </p:txBody>
      </p:sp>
      <p:sp>
        <p:nvSpPr>
          <p:cNvPr id="22" name="TextBox 21">
            <a:extLst>
              <a:ext uri="{FF2B5EF4-FFF2-40B4-BE49-F238E27FC236}">
                <a16:creationId xmlns:a16="http://schemas.microsoft.com/office/drawing/2014/main" id="{9853862D-7038-9C29-CCE6-9F9F676A5457}"/>
              </a:ext>
            </a:extLst>
          </p:cNvPr>
          <p:cNvSpPr txBox="1"/>
          <p:nvPr/>
        </p:nvSpPr>
        <p:spPr>
          <a:xfrm>
            <a:off x="1026204" y="6049778"/>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23" name="TextBox 22">
            <a:extLst>
              <a:ext uri="{FF2B5EF4-FFF2-40B4-BE49-F238E27FC236}">
                <a16:creationId xmlns:a16="http://schemas.microsoft.com/office/drawing/2014/main" id="{BB6B3FBE-DE2E-7D22-410F-59D4956F5BA8}"/>
              </a:ext>
            </a:extLst>
          </p:cNvPr>
          <p:cNvSpPr txBox="1"/>
          <p:nvPr/>
        </p:nvSpPr>
        <p:spPr>
          <a:xfrm>
            <a:off x="3972936" y="6049778"/>
            <a:ext cx="1348509" cy="307777"/>
          </a:xfrm>
          <a:prstGeom prst="rect">
            <a:avLst/>
          </a:prstGeom>
          <a:noFill/>
        </p:spPr>
        <p:txBody>
          <a:bodyPr wrap="square">
            <a:spAutoFit/>
          </a:bodyPr>
          <a:lstStyle/>
          <a:p>
            <a:pPr algn="ctr"/>
            <a:r>
              <a:rPr lang="en-US" sz="1400" b="1" dirty="0"/>
              <a:t>BNB selection</a:t>
            </a:r>
            <a:endParaRPr lang="en-SG" sz="1400" dirty="0"/>
          </a:p>
        </p:txBody>
      </p:sp>
      <p:sp>
        <p:nvSpPr>
          <p:cNvPr id="24" name="TextBox 23">
            <a:extLst>
              <a:ext uri="{FF2B5EF4-FFF2-40B4-BE49-F238E27FC236}">
                <a16:creationId xmlns:a16="http://schemas.microsoft.com/office/drawing/2014/main" id="{F7261A43-04D3-B037-7202-423F0F46125B}"/>
              </a:ext>
            </a:extLst>
          </p:cNvPr>
          <p:cNvSpPr txBox="1"/>
          <p:nvPr/>
        </p:nvSpPr>
        <p:spPr>
          <a:xfrm>
            <a:off x="7718312" y="4119736"/>
            <a:ext cx="3331884" cy="307777"/>
          </a:xfrm>
          <a:prstGeom prst="rect">
            <a:avLst/>
          </a:prstGeom>
          <a:noFill/>
        </p:spPr>
        <p:txBody>
          <a:bodyPr wrap="square">
            <a:spAutoFit/>
          </a:bodyPr>
          <a:lstStyle/>
          <a:p>
            <a:pPr algn="ctr"/>
            <a:r>
              <a:rPr lang="en-US" sz="1400" b="1" u="sng" dirty="0"/>
              <a:t>Reconstructed pi0 momentum</a:t>
            </a:r>
            <a:endParaRPr lang="en-SG" sz="1400" b="1" u="sng" dirty="0"/>
          </a:p>
        </p:txBody>
      </p:sp>
      <p:sp>
        <p:nvSpPr>
          <p:cNvPr id="31" name="TextBox 30">
            <a:extLst>
              <a:ext uri="{FF2B5EF4-FFF2-40B4-BE49-F238E27FC236}">
                <a16:creationId xmlns:a16="http://schemas.microsoft.com/office/drawing/2014/main" id="{9DF229B3-2750-2584-A52C-9E462621FC50}"/>
              </a:ext>
            </a:extLst>
          </p:cNvPr>
          <p:cNvSpPr txBox="1"/>
          <p:nvPr/>
        </p:nvSpPr>
        <p:spPr>
          <a:xfrm>
            <a:off x="7211703" y="3604079"/>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32" name="TextBox 31">
            <a:extLst>
              <a:ext uri="{FF2B5EF4-FFF2-40B4-BE49-F238E27FC236}">
                <a16:creationId xmlns:a16="http://schemas.microsoft.com/office/drawing/2014/main" id="{A9146794-0860-4BDD-F711-9554CCAFE9A3}"/>
              </a:ext>
            </a:extLst>
          </p:cNvPr>
          <p:cNvSpPr txBox="1"/>
          <p:nvPr/>
        </p:nvSpPr>
        <p:spPr>
          <a:xfrm>
            <a:off x="9817287" y="3615129"/>
            <a:ext cx="1348509" cy="307777"/>
          </a:xfrm>
          <a:prstGeom prst="rect">
            <a:avLst/>
          </a:prstGeom>
          <a:noFill/>
        </p:spPr>
        <p:txBody>
          <a:bodyPr wrap="square">
            <a:spAutoFit/>
          </a:bodyPr>
          <a:lstStyle/>
          <a:p>
            <a:pPr algn="ctr"/>
            <a:r>
              <a:rPr lang="en-US" sz="1400" b="1" dirty="0"/>
              <a:t>BNB selection</a:t>
            </a:r>
            <a:endParaRPr lang="en-SG" sz="1400" dirty="0"/>
          </a:p>
        </p:txBody>
      </p:sp>
      <p:sp>
        <p:nvSpPr>
          <p:cNvPr id="35" name="TextBox 34">
            <a:extLst>
              <a:ext uri="{FF2B5EF4-FFF2-40B4-BE49-F238E27FC236}">
                <a16:creationId xmlns:a16="http://schemas.microsoft.com/office/drawing/2014/main" id="{540867FD-18A0-6DD9-6A6B-B2B88221C7BC}"/>
              </a:ext>
            </a:extLst>
          </p:cNvPr>
          <p:cNvSpPr txBox="1"/>
          <p:nvPr/>
        </p:nvSpPr>
        <p:spPr>
          <a:xfrm>
            <a:off x="7236219" y="6049738"/>
            <a:ext cx="1348509" cy="307777"/>
          </a:xfrm>
          <a:prstGeom prst="rect">
            <a:avLst/>
          </a:prstGeom>
          <a:noFill/>
        </p:spPr>
        <p:txBody>
          <a:bodyPr wrap="square">
            <a:spAutoFit/>
          </a:bodyPr>
          <a:lstStyle/>
          <a:p>
            <a:pPr algn="ctr"/>
            <a:r>
              <a:rPr lang="en-US" sz="1400" b="1" dirty="0" err="1"/>
              <a:t>NuMI</a:t>
            </a:r>
            <a:r>
              <a:rPr lang="en-US" sz="1400" b="1" dirty="0"/>
              <a:t> selection</a:t>
            </a:r>
            <a:endParaRPr lang="en-SG" sz="1400" dirty="0"/>
          </a:p>
        </p:txBody>
      </p:sp>
      <p:sp>
        <p:nvSpPr>
          <p:cNvPr id="36" name="TextBox 35">
            <a:extLst>
              <a:ext uri="{FF2B5EF4-FFF2-40B4-BE49-F238E27FC236}">
                <a16:creationId xmlns:a16="http://schemas.microsoft.com/office/drawing/2014/main" id="{35786CBE-6274-D953-40F9-3BF9E3FCD0FB}"/>
              </a:ext>
            </a:extLst>
          </p:cNvPr>
          <p:cNvSpPr txBox="1"/>
          <p:nvPr/>
        </p:nvSpPr>
        <p:spPr>
          <a:xfrm>
            <a:off x="9975845" y="6082909"/>
            <a:ext cx="1348509" cy="307777"/>
          </a:xfrm>
          <a:prstGeom prst="rect">
            <a:avLst/>
          </a:prstGeom>
          <a:noFill/>
        </p:spPr>
        <p:txBody>
          <a:bodyPr wrap="square">
            <a:spAutoFit/>
          </a:bodyPr>
          <a:lstStyle/>
          <a:p>
            <a:pPr algn="ctr"/>
            <a:r>
              <a:rPr lang="en-US" sz="1400" b="1" dirty="0"/>
              <a:t>BNB selection</a:t>
            </a:r>
            <a:endParaRPr lang="en-SG" sz="1400" dirty="0"/>
          </a:p>
        </p:txBody>
      </p:sp>
      <p:pic>
        <p:nvPicPr>
          <p:cNvPr id="11" name="Picture 10">
            <a:extLst>
              <a:ext uri="{FF2B5EF4-FFF2-40B4-BE49-F238E27FC236}">
                <a16:creationId xmlns:a16="http://schemas.microsoft.com/office/drawing/2014/main" id="{6A417083-59D9-EDBA-123E-1E82AECACF23}"/>
              </a:ext>
            </a:extLst>
          </p:cNvPr>
          <p:cNvPicPr>
            <a:picLocks noChangeAspect="1"/>
          </p:cNvPicPr>
          <p:nvPr/>
        </p:nvPicPr>
        <p:blipFill>
          <a:blip r:embed="rId2">
            <a:alphaModFix/>
          </a:blip>
          <a:stretch>
            <a:fillRect/>
          </a:stretch>
        </p:blipFill>
        <p:spPr>
          <a:xfrm>
            <a:off x="434613" y="2078400"/>
            <a:ext cx="2531690" cy="1619690"/>
          </a:xfrm>
          <a:prstGeom prst="rect">
            <a:avLst/>
          </a:prstGeom>
        </p:spPr>
      </p:pic>
      <p:pic>
        <p:nvPicPr>
          <p:cNvPr id="12" name="Picture 11">
            <a:extLst>
              <a:ext uri="{FF2B5EF4-FFF2-40B4-BE49-F238E27FC236}">
                <a16:creationId xmlns:a16="http://schemas.microsoft.com/office/drawing/2014/main" id="{945A28C5-7101-6B48-4798-6A90EEF02C02}"/>
              </a:ext>
            </a:extLst>
          </p:cNvPr>
          <p:cNvPicPr>
            <a:picLocks noChangeAspect="1"/>
          </p:cNvPicPr>
          <p:nvPr/>
        </p:nvPicPr>
        <p:blipFill>
          <a:blip r:embed="rId3"/>
          <a:stretch>
            <a:fillRect/>
          </a:stretch>
        </p:blipFill>
        <p:spPr>
          <a:xfrm>
            <a:off x="3313411" y="2078400"/>
            <a:ext cx="2531691" cy="1619690"/>
          </a:xfrm>
          <a:prstGeom prst="rect">
            <a:avLst/>
          </a:prstGeom>
        </p:spPr>
      </p:pic>
      <p:pic>
        <p:nvPicPr>
          <p:cNvPr id="16" name="Picture 15">
            <a:extLst>
              <a:ext uri="{FF2B5EF4-FFF2-40B4-BE49-F238E27FC236}">
                <a16:creationId xmlns:a16="http://schemas.microsoft.com/office/drawing/2014/main" id="{6167E09A-DF07-0718-BF3D-14C92BC6DAA9}"/>
              </a:ext>
            </a:extLst>
          </p:cNvPr>
          <p:cNvPicPr>
            <a:picLocks noChangeAspect="1"/>
          </p:cNvPicPr>
          <p:nvPr/>
        </p:nvPicPr>
        <p:blipFill>
          <a:blip r:embed="rId4"/>
          <a:stretch>
            <a:fillRect/>
          </a:stretch>
        </p:blipFill>
        <p:spPr>
          <a:xfrm>
            <a:off x="6473540" y="2078400"/>
            <a:ext cx="2629406" cy="1619690"/>
          </a:xfrm>
          <a:prstGeom prst="rect">
            <a:avLst/>
          </a:prstGeom>
        </p:spPr>
      </p:pic>
      <p:pic>
        <p:nvPicPr>
          <p:cNvPr id="17" name="Picture 16">
            <a:extLst>
              <a:ext uri="{FF2B5EF4-FFF2-40B4-BE49-F238E27FC236}">
                <a16:creationId xmlns:a16="http://schemas.microsoft.com/office/drawing/2014/main" id="{D903CF34-E6A2-84CC-BC49-D537455ACD3B}"/>
              </a:ext>
            </a:extLst>
          </p:cNvPr>
          <p:cNvPicPr>
            <a:picLocks noChangeAspect="1"/>
          </p:cNvPicPr>
          <p:nvPr/>
        </p:nvPicPr>
        <p:blipFill>
          <a:blip r:embed="rId5"/>
          <a:stretch>
            <a:fillRect/>
          </a:stretch>
        </p:blipFill>
        <p:spPr>
          <a:xfrm>
            <a:off x="9127981" y="2043314"/>
            <a:ext cx="2629406" cy="1619690"/>
          </a:xfrm>
          <a:prstGeom prst="rect">
            <a:avLst/>
          </a:prstGeom>
        </p:spPr>
      </p:pic>
      <p:pic>
        <p:nvPicPr>
          <p:cNvPr id="4" name="Picture 3">
            <a:extLst>
              <a:ext uri="{FF2B5EF4-FFF2-40B4-BE49-F238E27FC236}">
                <a16:creationId xmlns:a16="http://schemas.microsoft.com/office/drawing/2014/main" id="{D3FA09F2-21F8-021A-4842-7AA359C1A7CC}"/>
              </a:ext>
            </a:extLst>
          </p:cNvPr>
          <p:cNvPicPr>
            <a:picLocks noChangeAspect="1"/>
          </p:cNvPicPr>
          <p:nvPr/>
        </p:nvPicPr>
        <p:blipFill>
          <a:blip r:embed="rId6"/>
          <a:stretch>
            <a:fillRect/>
          </a:stretch>
        </p:blipFill>
        <p:spPr>
          <a:xfrm>
            <a:off x="3313412" y="4499607"/>
            <a:ext cx="2531690" cy="1600964"/>
          </a:xfrm>
          <a:prstGeom prst="rect">
            <a:avLst/>
          </a:prstGeom>
        </p:spPr>
      </p:pic>
      <p:pic>
        <p:nvPicPr>
          <p:cNvPr id="6" name="Picture 5">
            <a:extLst>
              <a:ext uri="{FF2B5EF4-FFF2-40B4-BE49-F238E27FC236}">
                <a16:creationId xmlns:a16="http://schemas.microsoft.com/office/drawing/2014/main" id="{1DE745D8-AFA1-667F-88BE-BCDEC21D8A68}"/>
              </a:ext>
            </a:extLst>
          </p:cNvPr>
          <p:cNvPicPr>
            <a:picLocks noChangeAspect="1"/>
          </p:cNvPicPr>
          <p:nvPr/>
        </p:nvPicPr>
        <p:blipFill>
          <a:blip r:embed="rId7"/>
          <a:stretch>
            <a:fillRect/>
          </a:stretch>
        </p:blipFill>
        <p:spPr>
          <a:xfrm>
            <a:off x="9178315" y="4480105"/>
            <a:ext cx="2528738" cy="1602804"/>
          </a:xfrm>
          <a:prstGeom prst="rect">
            <a:avLst/>
          </a:prstGeom>
        </p:spPr>
      </p:pic>
      <p:pic>
        <p:nvPicPr>
          <p:cNvPr id="8" name="Picture 7">
            <a:extLst>
              <a:ext uri="{FF2B5EF4-FFF2-40B4-BE49-F238E27FC236}">
                <a16:creationId xmlns:a16="http://schemas.microsoft.com/office/drawing/2014/main" id="{669797F4-AAE0-5E5F-9650-5EA2708B9A1B}"/>
              </a:ext>
            </a:extLst>
          </p:cNvPr>
          <p:cNvPicPr>
            <a:picLocks noChangeAspect="1"/>
          </p:cNvPicPr>
          <p:nvPr/>
        </p:nvPicPr>
        <p:blipFill>
          <a:blip r:embed="rId8"/>
          <a:stretch>
            <a:fillRect/>
          </a:stretch>
        </p:blipFill>
        <p:spPr>
          <a:xfrm>
            <a:off x="484947" y="4499607"/>
            <a:ext cx="2531689" cy="1600964"/>
          </a:xfrm>
          <a:prstGeom prst="rect">
            <a:avLst/>
          </a:prstGeom>
        </p:spPr>
      </p:pic>
      <p:pic>
        <p:nvPicPr>
          <p:cNvPr id="15" name="Picture 14">
            <a:extLst>
              <a:ext uri="{FF2B5EF4-FFF2-40B4-BE49-F238E27FC236}">
                <a16:creationId xmlns:a16="http://schemas.microsoft.com/office/drawing/2014/main" id="{397BA089-63F4-F16C-CE5D-BFF994A21807}"/>
              </a:ext>
            </a:extLst>
          </p:cNvPr>
          <p:cNvPicPr>
            <a:picLocks noChangeAspect="1"/>
          </p:cNvPicPr>
          <p:nvPr/>
        </p:nvPicPr>
        <p:blipFill>
          <a:blip r:embed="rId9"/>
          <a:stretch>
            <a:fillRect/>
          </a:stretch>
        </p:blipFill>
        <p:spPr>
          <a:xfrm>
            <a:off x="6523874" y="4497767"/>
            <a:ext cx="2528738" cy="1602804"/>
          </a:xfrm>
          <a:prstGeom prst="rect">
            <a:avLst/>
          </a:prstGeom>
        </p:spPr>
      </p:pic>
      <p:sp>
        <p:nvSpPr>
          <p:cNvPr id="29" name="Slide Number Placeholder 28">
            <a:extLst>
              <a:ext uri="{FF2B5EF4-FFF2-40B4-BE49-F238E27FC236}">
                <a16:creationId xmlns:a16="http://schemas.microsoft.com/office/drawing/2014/main" id="{EEB18164-89A7-944C-A467-E6177512ACAB}"/>
              </a:ext>
            </a:extLst>
          </p:cNvPr>
          <p:cNvSpPr>
            <a:spLocks noGrp="1"/>
          </p:cNvSpPr>
          <p:nvPr>
            <p:ph type="sldNum" sz="quarter" idx="12"/>
          </p:nvPr>
        </p:nvSpPr>
        <p:spPr/>
        <p:txBody>
          <a:bodyPr/>
          <a:lstStyle/>
          <a:p>
            <a:fld id="{BBCD8743-5A53-4A98-BC6F-5DFD6CC2F469}" type="slidenum">
              <a:rPr lang="en-SG" smtClean="0"/>
              <a:t>17</a:t>
            </a:fld>
            <a:endParaRPr lang="en-SG"/>
          </a:p>
        </p:txBody>
      </p:sp>
    </p:spTree>
    <p:extLst>
      <p:ext uri="{BB962C8B-B14F-4D97-AF65-F5344CB8AC3E}">
        <p14:creationId xmlns:p14="http://schemas.microsoft.com/office/powerpoint/2010/main" val="3851076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006E7-311A-FC74-5CC8-8A9981035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C2F03-7007-04CF-4256-797E36B1B80C}"/>
              </a:ext>
            </a:extLst>
          </p:cNvPr>
          <p:cNvSpPr>
            <a:spLocks noGrp="1"/>
          </p:cNvSpPr>
          <p:nvPr>
            <p:ph type="title"/>
          </p:nvPr>
        </p:nvSpPr>
        <p:spPr/>
        <p:txBody>
          <a:bodyPr/>
          <a:lstStyle/>
          <a:p>
            <a:r>
              <a:rPr lang="en-US" b="1" dirty="0" err="1"/>
              <a:t>NuMI</a:t>
            </a:r>
            <a:r>
              <a:rPr lang="en-US" b="1" dirty="0"/>
              <a:t>: </a:t>
            </a:r>
            <a:r>
              <a:rPr lang="en-US" dirty="0"/>
              <a:t>Looking into ‘other </a:t>
            </a:r>
            <a:r>
              <a:rPr lang="en-US" i="1" dirty="0"/>
              <a:t>v</a:t>
            </a:r>
            <a:r>
              <a:rPr lang="en-US" dirty="0"/>
              <a:t>’ category</a:t>
            </a:r>
            <a:endParaRPr lang="en-SG" dirty="0"/>
          </a:p>
        </p:txBody>
      </p:sp>
      <p:sp>
        <p:nvSpPr>
          <p:cNvPr id="4" name="TextBox 3">
            <a:extLst>
              <a:ext uri="{FF2B5EF4-FFF2-40B4-BE49-F238E27FC236}">
                <a16:creationId xmlns:a16="http://schemas.microsoft.com/office/drawing/2014/main" id="{95248076-16FC-FD22-F0BA-FA7D2A807E83}"/>
              </a:ext>
            </a:extLst>
          </p:cNvPr>
          <p:cNvSpPr txBox="1"/>
          <p:nvPr/>
        </p:nvSpPr>
        <p:spPr>
          <a:xfrm>
            <a:off x="1097279" y="1815053"/>
            <a:ext cx="10361295" cy="1477328"/>
          </a:xfrm>
          <a:prstGeom prst="rect">
            <a:avLst/>
          </a:prstGeom>
          <a:noFill/>
        </p:spPr>
        <p:txBody>
          <a:bodyPr wrap="square">
            <a:spAutoFit/>
          </a:bodyPr>
          <a:lstStyle/>
          <a:p>
            <a:pPr marL="285750" indent="-285750">
              <a:buFont typeface="Arial" panose="020B0604020202020204" pitchFamily="34" charset="0"/>
              <a:buChar char="•"/>
            </a:pPr>
            <a:r>
              <a:rPr lang="en-US" dirty="0"/>
              <a:t>Due to the large percentage for the ‘other v’ interaction category, looked further into what type of interactions fall into this category</a:t>
            </a:r>
          </a:p>
          <a:p>
            <a:pPr marL="285750" indent="-285750">
              <a:buFont typeface="Arial" panose="020B0604020202020204" pitchFamily="34" charset="0"/>
              <a:buChar char="•"/>
            </a:pPr>
            <a:r>
              <a:rPr lang="en-US" dirty="0"/>
              <a:t>Table below shows the 5 most common interaction types within the ‘other </a:t>
            </a:r>
            <a:r>
              <a:rPr lang="en-US" i="1" dirty="0"/>
              <a:t>v</a:t>
            </a:r>
            <a:r>
              <a:rPr lang="en-US" dirty="0"/>
              <a:t>’ category</a:t>
            </a:r>
          </a:p>
          <a:p>
            <a:pPr marL="285750" indent="-285750">
              <a:buFont typeface="Arial" panose="020B0604020202020204" pitchFamily="34" charset="0"/>
              <a:buChar char="•"/>
            </a:pPr>
            <a:r>
              <a:rPr lang="en-US" b="1" dirty="0"/>
              <a:t>Anti-neutrino interactions account for ~78% of all ‘other v’ interactions (</a:t>
            </a:r>
            <a:r>
              <a:rPr lang="en-SG" b="1" dirty="0"/>
              <a:t>547 out of 694)</a:t>
            </a:r>
          </a:p>
          <a:p>
            <a:pPr marL="285750" indent="-285750">
              <a:buFont typeface="Arial" panose="020B0604020202020204" pitchFamily="34" charset="0"/>
              <a:buChar char="•"/>
            </a:pPr>
            <a:r>
              <a:rPr lang="en-SG" dirty="0"/>
              <a:t>Much larger amount of anti-neutrino interactions in </a:t>
            </a:r>
            <a:r>
              <a:rPr lang="en-SG" dirty="0" err="1"/>
              <a:t>NuMI</a:t>
            </a:r>
            <a:r>
              <a:rPr lang="en-SG" dirty="0"/>
              <a:t> selection compared to BNB (566 vs 31)</a:t>
            </a:r>
            <a:endParaRPr lang="en-US" dirty="0"/>
          </a:p>
        </p:txBody>
      </p:sp>
      <p:graphicFrame>
        <p:nvGraphicFramePr>
          <p:cNvPr id="5" name="Table 4">
            <a:extLst>
              <a:ext uri="{FF2B5EF4-FFF2-40B4-BE49-F238E27FC236}">
                <a16:creationId xmlns:a16="http://schemas.microsoft.com/office/drawing/2014/main" id="{5C171CE0-C66D-1643-A51A-9AE650EC38B1}"/>
              </a:ext>
            </a:extLst>
          </p:cNvPr>
          <p:cNvGraphicFramePr>
            <a:graphicFrameLocks noGrp="1"/>
          </p:cNvGraphicFramePr>
          <p:nvPr/>
        </p:nvGraphicFramePr>
        <p:xfrm>
          <a:off x="587692" y="3429000"/>
          <a:ext cx="11077576" cy="2763520"/>
        </p:xfrm>
        <a:graphic>
          <a:graphicData uri="http://schemas.openxmlformats.org/drawingml/2006/table">
            <a:tbl>
              <a:tblPr firstRow="1" bandRow="1">
                <a:tableStyleId>{5C22544A-7EE6-4342-B048-85BDC9FD1C3A}</a:tableStyleId>
              </a:tblPr>
              <a:tblGrid>
                <a:gridCol w="2769394">
                  <a:extLst>
                    <a:ext uri="{9D8B030D-6E8A-4147-A177-3AD203B41FA5}">
                      <a16:colId xmlns:a16="http://schemas.microsoft.com/office/drawing/2014/main" val="2802435026"/>
                    </a:ext>
                  </a:extLst>
                </a:gridCol>
                <a:gridCol w="2769394">
                  <a:extLst>
                    <a:ext uri="{9D8B030D-6E8A-4147-A177-3AD203B41FA5}">
                      <a16:colId xmlns:a16="http://schemas.microsoft.com/office/drawing/2014/main" val="2797951521"/>
                    </a:ext>
                  </a:extLst>
                </a:gridCol>
                <a:gridCol w="2769394">
                  <a:extLst>
                    <a:ext uri="{9D8B030D-6E8A-4147-A177-3AD203B41FA5}">
                      <a16:colId xmlns:a16="http://schemas.microsoft.com/office/drawing/2014/main" val="3851634423"/>
                    </a:ext>
                  </a:extLst>
                </a:gridCol>
                <a:gridCol w="2769394">
                  <a:extLst>
                    <a:ext uri="{9D8B030D-6E8A-4147-A177-3AD203B41FA5}">
                      <a16:colId xmlns:a16="http://schemas.microsoft.com/office/drawing/2014/main" val="3517730355"/>
                    </a:ext>
                  </a:extLst>
                </a:gridCol>
              </a:tblGrid>
              <a:tr h="370840">
                <a:tc>
                  <a:txBody>
                    <a:bodyPr/>
                    <a:lstStyle/>
                    <a:p>
                      <a:pPr algn="ctr"/>
                      <a:r>
                        <a:rPr lang="en-US" dirty="0"/>
                        <a:t>Interaction type</a:t>
                      </a:r>
                      <a:endParaRPr lang="en-SG" dirty="0"/>
                    </a:p>
                  </a:txBody>
                  <a:tcPr/>
                </a:tc>
                <a:tc>
                  <a:txBody>
                    <a:bodyPr/>
                    <a:lstStyle/>
                    <a:p>
                      <a:pPr algn="ctr"/>
                      <a:r>
                        <a:rPr lang="en-US" dirty="0"/>
                        <a:t>PDG code</a:t>
                      </a:r>
                      <a:endParaRPr lang="en-SG" dirty="0"/>
                    </a:p>
                  </a:txBody>
                  <a:tcPr/>
                </a:tc>
                <a:tc>
                  <a:txBody>
                    <a:bodyPr/>
                    <a:lstStyle/>
                    <a:p>
                      <a:pPr algn="ctr"/>
                      <a:r>
                        <a:rPr lang="en-US" dirty="0" err="1"/>
                        <a:t>Fiducialized</a:t>
                      </a:r>
                      <a:endParaRPr lang="en-SG" dirty="0"/>
                    </a:p>
                  </a:txBody>
                  <a:tcPr/>
                </a:tc>
                <a:tc>
                  <a:txBody>
                    <a:bodyPr/>
                    <a:lstStyle/>
                    <a:p>
                      <a:pPr algn="ctr"/>
                      <a:r>
                        <a:rPr lang="en-US" dirty="0"/>
                        <a:t>Percentage of ‘other </a:t>
                      </a:r>
                      <a:r>
                        <a:rPr lang="en-US" i="1" dirty="0" err="1"/>
                        <a:t>v</a:t>
                      </a:r>
                      <a:r>
                        <a:rPr lang="en-US" i="0" dirty="0" err="1"/>
                        <a:t>’interactions</a:t>
                      </a:r>
                      <a:r>
                        <a:rPr lang="en-US" dirty="0"/>
                        <a:t> falling into this type (%)</a:t>
                      </a:r>
                      <a:endParaRPr lang="en-SG" dirty="0"/>
                    </a:p>
                  </a:txBody>
                  <a:tcPr/>
                </a:tc>
                <a:extLst>
                  <a:ext uri="{0D108BD9-81ED-4DB2-BD59-A6C34878D82A}">
                    <a16:rowId xmlns:a16="http://schemas.microsoft.com/office/drawing/2014/main" val="3521924384"/>
                  </a:ext>
                </a:extLst>
              </a:tr>
              <a:tr h="370840">
                <a:tc>
                  <a:txBody>
                    <a:bodyPr/>
                    <a:lstStyle/>
                    <a:p>
                      <a:pPr algn="ctr"/>
                      <a:r>
                        <a:rPr lang="en-US" b="1" dirty="0"/>
                        <a:t>1u0</a:t>
                      </a:r>
                      <a:r>
                        <a:rPr lang="el-GR" sz="1800" b="1" i="0" kern="1200" dirty="0">
                          <a:solidFill>
                            <a:schemeClr val="dk1"/>
                          </a:solidFill>
                          <a:effectLst/>
                          <a:latin typeface="+mn-lt"/>
                          <a:ea typeface="+mn-ea"/>
                          <a:cs typeface="+mn-cs"/>
                        </a:rPr>
                        <a:t>π</a:t>
                      </a:r>
                      <a:r>
                        <a:rPr lang="en-SG" sz="1800" b="1" i="0" kern="1200" baseline="30000" dirty="0">
                          <a:solidFill>
                            <a:schemeClr val="dk1"/>
                          </a:solidFill>
                          <a:effectLst/>
                          <a:latin typeface="+mn-lt"/>
                          <a:ea typeface="+mn-ea"/>
                          <a:cs typeface="+mn-cs"/>
                        </a:rPr>
                        <a:t>±</a:t>
                      </a:r>
                      <a:r>
                        <a:rPr lang="en-SG" sz="1800" b="1" i="0" kern="1200" baseline="0" dirty="0">
                          <a:solidFill>
                            <a:schemeClr val="dk1"/>
                          </a:solidFill>
                          <a:effectLst/>
                          <a:latin typeface="+mn-lt"/>
                          <a:ea typeface="+mn-ea"/>
                          <a:cs typeface="+mn-cs"/>
                        </a:rPr>
                        <a:t>1</a:t>
                      </a:r>
                      <a:r>
                        <a:rPr lang="el-GR" sz="1800" b="1" i="0" kern="1200" dirty="0">
                          <a:solidFill>
                            <a:schemeClr val="dk1"/>
                          </a:solidFill>
                          <a:effectLst/>
                          <a:latin typeface="+mn-lt"/>
                          <a:ea typeface="+mn-ea"/>
                          <a:cs typeface="+mn-cs"/>
                        </a:rPr>
                        <a:t>π</a:t>
                      </a:r>
                      <a:endParaRPr lang="en-SG" sz="1800" b="1" i="0" kern="1200" baseline="30000" dirty="0">
                        <a:solidFill>
                          <a:schemeClr val="dk1"/>
                        </a:solidFill>
                        <a:effectLst/>
                        <a:latin typeface="+mn-lt"/>
                        <a:ea typeface="+mn-ea"/>
                        <a:cs typeface="+mn-cs"/>
                      </a:endParaRPr>
                    </a:p>
                  </a:txBody>
                  <a:tcPr/>
                </a:tc>
                <a:tc>
                  <a:txBody>
                    <a:bodyPr/>
                    <a:lstStyle/>
                    <a:p>
                      <a:pPr algn="ctr"/>
                      <a:r>
                        <a:rPr lang="en-US" dirty="0"/>
                        <a:t>-14</a:t>
                      </a:r>
                      <a:endParaRPr lang="en-SG" dirty="0"/>
                    </a:p>
                  </a:txBody>
                  <a:tcPr/>
                </a:tc>
                <a:tc>
                  <a:txBody>
                    <a:bodyPr/>
                    <a:lstStyle/>
                    <a:p>
                      <a:pPr algn="ctr"/>
                      <a:r>
                        <a:rPr lang="en-US" dirty="0"/>
                        <a:t>Yes</a:t>
                      </a:r>
                      <a:endParaRPr lang="en-SG" dirty="0"/>
                    </a:p>
                  </a:txBody>
                  <a:tcPr/>
                </a:tc>
                <a:tc>
                  <a:txBody>
                    <a:bodyPr/>
                    <a:lstStyle/>
                    <a:p>
                      <a:pPr algn="ctr"/>
                      <a:r>
                        <a:rPr lang="en-US" dirty="0"/>
                        <a:t>60.5</a:t>
                      </a:r>
                      <a:endParaRPr lang="en-SG" dirty="0"/>
                    </a:p>
                  </a:txBody>
                  <a:tcPr/>
                </a:tc>
                <a:extLst>
                  <a:ext uri="{0D108BD9-81ED-4DB2-BD59-A6C34878D82A}">
                    <a16:rowId xmlns:a16="http://schemas.microsoft.com/office/drawing/2014/main" val="3013287114"/>
                  </a:ext>
                </a:extLst>
              </a:tr>
              <a:tr h="370840">
                <a:tc>
                  <a:txBody>
                    <a:bodyPr/>
                    <a:lstStyle/>
                    <a:p>
                      <a:pPr algn="ctr"/>
                      <a:r>
                        <a:rPr lang="en-US" b="1" dirty="0"/>
                        <a:t>1u1</a:t>
                      </a:r>
                      <a:r>
                        <a:rPr lang="el-GR" sz="1800" b="1" i="0" kern="1200" dirty="0">
                          <a:solidFill>
                            <a:schemeClr val="dk1"/>
                          </a:solidFill>
                          <a:effectLst/>
                          <a:latin typeface="+mn-lt"/>
                          <a:ea typeface="+mn-ea"/>
                          <a:cs typeface="+mn-cs"/>
                        </a:rPr>
                        <a:t>π</a:t>
                      </a:r>
                      <a:r>
                        <a:rPr lang="en-SG" sz="1800" b="1" i="0" kern="1200" baseline="30000" dirty="0">
                          <a:solidFill>
                            <a:schemeClr val="dk1"/>
                          </a:solidFill>
                          <a:effectLst/>
                          <a:latin typeface="+mn-lt"/>
                          <a:ea typeface="+mn-ea"/>
                          <a:cs typeface="+mn-cs"/>
                        </a:rPr>
                        <a:t>±</a:t>
                      </a:r>
                      <a:r>
                        <a:rPr lang="en-SG" sz="1800" b="1" i="0" kern="1200" baseline="0" dirty="0">
                          <a:solidFill>
                            <a:schemeClr val="dk1"/>
                          </a:solidFill>
                          <a:effectLst/>
                          <a:latin typeface="+mn-lt"/>
                          <a:ea typeface="+mn-ea"/>
                          <a:cs typeface="+mn-cs"/>
                        </a:rPr>
                        <a:t>1</a:t>
                      </a:r>
                      <a:r>
                        <a:rPr lang="el-GR" sz="1800" b="1" i="0" kern="1200" dirty="0">
                          <a:solidFill>
                            <a:schemeClr val="dk1"/>
                          </a:solidFill>
                          <a:effectLst/>
                          <a:latin typeface="+mn-lt"/>
                          <a:ea typeface="+mn-ea"/>
                          <a:cs typeface="+mn-cs"/>
                        </a:rPr>
                        <a:t>π</a:t>
                      </a:r>
                      <a:endParaRPr lang="en-SG" sz="1800" b="1" i="0" kern="1200" baseline="30000" dirty="0">
                        <a:solidFill>
                          <a:schemeClr val="dk1"/>
                        </a:solidFill>
                        <a:effectLst/>
                        <a:latin typeface="+mn-lt"/>
                        <a:ea typeface="+mn-ea"/>
                        <a:cs typeface="+mn-cs"/>
                      </a:endParaRPr>
                    </a:p>
                  </a:txBody>
                  <a:tcPr/>
                </a:tc>
                <a:tc>
                  <a:txBody>
                    <a:bodyPr/>
                    <a:lstStyle/>
                    <a:p>
                      <a:pPr algn="ctr"/>
                      <a:r>
                        <a:rPr lang="en-US" dirty="0"/>
                        <a:t>-14</a:t>
                      </a:r>
                      <a:endParaRPr lang="en-SG" dirty="0"/>
                    </a:p>
                  </a:txBody>
                  <a:tcPr/>
                </a:tc>
                <a:tc>
                  <a:txBody>
                    <a:bodyPr/>
                    <a:lstStyle/>
                    <a:p>
                      <a:pPr algn="ctr"/>
                      <a:r>
                        <a:rPr lang="en-US" dirty="0"/>
                        <a:t>Yes </a:t>
                      </a:r>
                      <a:endParaRPr lang="en-SG" dirty="0"/>
                    </a:p>
                  </a:txBody>
                  <a:tcPr/>
                </a:tc>
                <a:tc>
                  <a:txBody>
                    <a:bodyPr/>
                    <a:lstStyle/>
                    <a:p>
                      <a:pPr algn="ctr"/>
                      <a:r>
                        <a:rPr lang="en-US" dirty="0"/>
                        <a:t>6.6</a:t>
                      </a:r>
                      <a:endParaRPr lang="en-SG" dirty="0"/>
                    </a:p>
                  </a:txBody>
                  <a:tcPr/>
                </a:tc>
                <a:extLst>
                  <a:ext uri="{0D108BD9-81ED-4DB2-BD59-A6C34878D82A}">
                    <a16:rowId xmlns:a16="http://schemas.microsoft.com/office/drawing/2014/main" val="485010073"/>
                  </a:ext>
                </a:extLst>
              </a:tr>
              <a:tr h="370840">
                <a:tc>
                  <a:txBody>
                    <a:bodyPr/>
                    <a:lstStyle/>
                    <a:p>
                      <a:pPr algn="ctr"/>
                      <a:r>
                        <a:rPr lang="en-US" b="1" dirty="0"/>
                        <a:t>1u0</a:t>
                      </a:r>
                      <a:r>
                        <a:rPr lang="el-GR" sz="1800" b="1" i="0" kern="1200" dirty="0">
                          <a:solidFill>
                            <a:schemeClr val="dk1"/>
                          </a:solidFill>
                          <a:effectLst/>
                          <a:latin typeface="+mn-lt"/>
                          <a:ea typeface="+mn-ea"/>
                          <a:cs typeface="+mn-cs"/>
                        </a:rPr>
                        <a:t>π</a:t>
                      </a:r>
                      <a:r>
                        <a:rPr lang="en-SG" sz="1800" b="1" i="0" kern="1200" baseline="30000" dirty="0">
                          <a:solidFill>
                            <a:schemeClr val="dk1"/>
                          </a:solidFill>
                          <a:effectLst/>
                          <a:latin typeface="+mn-lt"/>
                          <a:ea typeface="+mn-ea"/>
                          <a:cs typeface="+mn-cs"/>
                        </a:rPr>
                        <a:t>±</a:t>
                      </a:r>
                      <a:r>
                        <a:rPr lang="en-SG" sz="1800" b="1" i="0" kern="1200" baseline="0" dirty="0">
                          <a:solidFill>
                            <a:schemeClr val="dk1"/>
                          </a:solidFill>
                          <a:effectLst/>
                          <a:latin typeface="+mn-lt"/>
                          <a:ea typeface="+mn-ea"/>
                          <a:cs typeface="+mn-cs"/>
                        </a:rPr>
                        <a:t>0</a:t>
                      </a:r>
                      <a:r>
                        <a:rPr lang="el-GR" sz="1800" b="1" i="0" kern="1200" dirty="0">
                          <a:solidFill>
                            <a:schemeClr val="dk1"/>
                          </a:solidFill>
                          <a:effectLst/>
                          <a:latin typeface="+mn-lt"/>
                          <a:ea typeface="+mn-ea"/>
                          <a:cs typeface="+mn-cs"/>
                        </a:rPr>
                        <a:t>π</a:t>
                      </a:r>
                      <a:endParaRPr lang="en-SG" sz="1800" b="1" i="0" kern="1200" baseline="30000" dirty="0">
                        <a:solidFill>
                          <a:schemeClr val="dk1"/>
                        </a:solidFill>
                        <a:effectLst/>
                        <a:latin typeface="+mn-lt"/>
                        <a:ea typeface="+mn-ea"/>
                        <a:cs typeface="+mn-cs"/>
                      </a:endParaRPr>
                    </a:p>
                  </a:txBody>
                  <a:tcPr/>
                </a:tc>
                <a:tc>
                  <a:txBody>
                    <a:bodyPr/>
                    <a:lstStyle/>
                    <a:p>
                      <a:pPr algn="ctr"/>
                      <a:r>
                        <a:rPr lang="en-US" dirty="0"/>
                        <a:t>14</a:t>
                      </a:r>
                      <a:endParaRPr lang="en-SG" dirty="0"/>
                    </a:p>
                  </a:txBody>
                  <a:tcPr/>
                </a:tc>
                <a:tc>
                  <a:txBody>
                    <a:bodyPr/>
                    <a:lstStyle/>
                    <a:p>
                      <a:pPr algn="ctr"/>
                      <a:r>
                        <a:rPr lang="en-US" dirty="0"/>
                        <a:t>Yes</a:t>
                      </a:r>
                      <a:endParaRPr lang="en-SG" dirty="0"/>
                    </a:p>
                  </a:txBody>
                  <a:tcPr/>
                </a:tc>
                <a:tc>
                  <a:txBody>
                    <a:bodyPr/>
                    <a:lstStyle/>
                    <a:p>
                      <a:pPr algn="ctr"/>
                      <a:r>
                        <a:rPr lang="en-US" dirty="0"/>
                        <a:t>4.6</a:t>
                      </a:r>
                      <a:endParaRPr lang="en-SG" dirty="0"/>
                    </a:p>
                  </a:txBody>
                  <a:tcPr/>
                </a:tc>
                <a:extLst>
                  <a:ext uri="{0D108BD9-81ED-4DB2-BD59-A6C34878D82A}">
                    <a16:rowId xmlns:a16="http://schemas.microsoft.com/office/drawing/2014/main" val="314745961"/>
                  </a:ext>
                </a:extLst>
              </a:tr>
              <a:tr h="370840">
                <a:tc>
                  <a:txBody>
                    <a:bodyPr/>
                    <a:lstStyle/>
                    <a:p>
                      <a:pPr algn="ctr"/>
                      <a:r>
                        <a:rPr lang="en-US" b="1" dirty="0"/>
                        <a:t>1u0</a:t>
                      </a:r>
                      <a:r>
                        <a:rPr lang="el-GR" sz="1800" b="1" i="0" kern="1200" dirty="0">
                          <a:solidFill>
                            <a:schemeClr val="dk1"/>
                          </a:solidFill>
                          <a:effectLst/>
                          <a:latin typeface="+mn-lt"/>
                          <a:ea typeface="+mn-ea"/>
                          <a:cs typeface="+mn-cs"/>
                        </a:rPr>
                        <a:t>π</a:t>
                      </a:r>
                      <a:r>
                        <a:rPr lang="en-SG" sz="1800" b="1" i="0" kern="1200" baseline="30000" dirty="0">
                          <a:solidFill>
                            <a:schemeClr val="dk1"/>
                          </a:solidFill>
                          <a:effectLst/>
                          <a:latin typeface="+mn-lt"/>
                          <a:ea typeface="+mn-ea"/>
                          <a:cs typeface="+mn-cs"/>
                        </a:rPr>
                        <a:t>±</a:t>
                      </a:r>
                      <a:r>
                        <a:rPr lang="en-SG" sz="1800" b="1" i="0" kern="1200" baseline="0" dirty="0">
                          <a:solidFill>
                            <a:schemeClr val="dk1"/>
                          </a:solidFill>
                          <a:effectLst/>
                          <a:latin typeface="+mn-lt"/>
                          <a:ea typeface="+mn-ea"/>
                          <a:cs typeface="+mn-cs"/>
                        </a:rPr>
                        <a:t>0</a:t>
                      </a:r>
                      <a:r>
                        <a:rPr lang="el-GR" sz="1800" b="1" i="0" kern="1200" dirty="0">
                          <a:solidFill>
                            <a:schemeClr val="dk1"/>
                          </a:solidFill>
                          <a:effectLst/>
                          <a:latin typeface="+mn-lt"/>
                          <a:ea typeface="+mn-ea"/>
                          <a:cs typeface="+mn-cs"/>
                        </a:rPr>
                        <a:t>π</a:t>
                      </a:r>
                      <a:endParaRPr lang="en-SG" sz="1800" b="1" i="0" kern="1200" baseline="30000" dirty="0">
                        <a:solidFill>
                          <a:schemeClr val="dk1"/>
                        </a:solidFill>
                        <a:effectLst/>
                        <a:latin typeface="+mn-lt"/>
                        <a:ea typeface="+mn-ea"/>
                        <a:cs typeface="+mn-cs"/>
                      </a:endParaRPr>
                    </a:p>
                  </a:txBody>
                  <a:tcPr/>
                </a:tc>
                <a:tc>
                  <a:txBody>
                    <a:bodyPr/>
                    <a:lstStyle/>
                    <a:p>
                      <a:pPr algn="ctr"/>
                      <a:r>
                        <a:rPr lang="en-US" dirty="0"/>
                        <a:t>-14</a:t>
                      </a:r>
                      <a:endParaRPr lang="en-SG" dirty="0"/>
                    </a:p>
                  </a:txBody>
                  <a:tcPr/>
                </a:tc>
                <a:tc>
                  <a:txBody>
                    <a:bodyPr/>
                    <a:lstStyle/>
                    <a:p>
                      <a:pPr algn="ctr"/>
                      <a:r>
                        <a:rPr lang="en-US" dirty="0"/>
                        <a:t>Yes</a:t>
                      </a:r>
                      <a:endParaRPr lang="en-SG" dirty="0"/>
                    </a:p>
                  </a:txBody>
                  <a:tcPr/>
                </a:tc>
                <a:tc>
                  <a:txBody>
                    <a:bodyPr/>
                    <a:lstStyle/>
                    <a:p>
                      <a:pPr algn="ctr"/>
                      <a:r>
                        <a:rPr lang="en-US" dirty="0"/>
                        <a:t>4.0</a:t>
                      </a:r>
                      <a:endParaRPr lang="en-SG" dirty="0"/>
                    </a:p>
                  </a:txBody>
                  <a:tcPr/>
                </a:tc>
                <a:extLst>
                  <a:ext uri="{0D108BD9-81ED-4DB2-BD59-A6C34878D82A}">
                    <a16:rowId xmlns:a16="http://schemas.microsoft.com/office/drawing/2014/main" val="2662303398"/>
                  </a:ext>
                </a:extLst>
              </a:tr>
              <a:tr h="0">
                <a:tc>
                  <a:txBody>
                    <a:bodyPr/>
                    <a:lstStyle/>
                    <a:p>
                      <a:pPr algn="ctr"/>
                      <a:r>
                        <a:rPr lang="en-US" b="1" dirty="0"/>
                        <a:t>1u0</a:t>
                      </a:r>
                      <a:r>
                        <a:rPr lang="el-GR" sz="1800" b="1" i="0" kern="1200" dirty="0">
                          <a:solidFill>
                            <a:schemeClr val="dk1"/>
                          </a:solidFill>
                          <a:effectLst/>
                          <a:latin typeface="+mn-lt"/>
                          <a:ea typeface="+mn-ea"/>
                          <a:cs typeface="+mn-cs"/>
                        </a:rPr>
                        <a:t>π</a:t>
                      </a:r>
                      <a:r>
                        <a:rPr lang="en-SG" sz="1800" b="1" i="0" kern="1200" baseline="30000" dirty="0">
                          <a:solidFill>
                            <a:schemeClr val="dk1"/>
                          </a:solidFill>
                          <a:effectLst/>
                          <a:latin typeface="+mn-lt"/>
                          <a:ea typeface="+mn-ea"/>
                          <a:cs typeface="+mn-cs"/>
                        </a:rPr>
                        <a:t>±</a:t>
                      </a:r>
                      <a:r>
                        <a:rPr lang="en-SG" sz="1800" b="1" i="0" kern="1200" baseline="0" dirty="0">
                          <a:solidFill>
                            <a:schemeClr val="dk1"/>
                          </a:solidFill>
                          <a:effectLst/>
                          <a:latin typeface="+mn-lt"/>
                          <a:ea typeface="+mn-ea"/>
                          <a:cs typeface="+mn-cs"/>
                        </a:rPr>
                        <a:t>1</a:t>
                      </a:r>
                      <a:r>
                        <a:rPr lang="el-GR" sz="1800" b="1" i="0" kern="1200" dirty="0">
                          <a:solidFill>
                            <a:schemeClr val="dk1"/>
                          </a:solidFill>
                          <a:effectLst/>
                          <a:latin typeface="+mn-lt"/>
                          <a:ea typeface="+mn-ea"/>
                          <a:cs typeface="+mn-cs"/>
                        </a:rPr>
                        <a:t>π</a:t>
                      </a:r>
                      <a:endParaRPr lang="en-SG" sz="1800" b="1" i="0" kern="1200" baseline="30000" dirty="0">
                        <a:solidFill>
                          <a:schemeClr val="dk1"/>
                        </a:solidFill>
                        <a:effectLst/>
                        <a:latin typeface="+mn-lt"/>
                        <a:ea typeface="+mn-ea"/>
                        <a:cs typeface="+mn-cs"/>
                      </a:endParaRPr>
                    </a:p>
                  </a:txBody>
                  <a:tcPr/>
                </a:tc>
                <a:tc>
                  <a:txBody>
                    <a:bodyPr/>
                    <a:lstStyle/>
                    <a:p>
                      <a:pPr algn="ctr"/>
                      <a:r>
                        <a:rPr lang="en-US" dirty="0"/>
                        <a:t>14</a:t>
                      </a:r>
                      <a:endParaRPr lang="en-SG" dirty="0"/>
                    </a:p>
                  </a:txBody>
                  <a:tcPr/>
                </a:tc>
                <a:tc>
                  <a:txBody>
                    <a:bodyPr/>
                    <a:lstStyle/>
                    <a:p>
                      <a:pPr algn="ctr"/>
                      <a:r>
                        <a:rPr lang="en-US" dirty="0"/>
                        <a:t>no</a:t>
                      </a:r>
                      <a:endParaRPr lang="en-SG" dirty="0"/>
                    </a:p>
                  </a:txBody>
                  <a:tcPr/>
                </a:tc>
                <a:tc>
                  <a:txBody>
                    <a:bodyPr/>
                    <a:lstStyle/>
                    <a:p>
                      <a:pPr algn="ctr"/>
                      <a:r>
                        <a:rPr lang="en-US" dirty="0"/>
                        <a:t>3.6</a:t>
                      </a:r>
                      <a:endParaRPr lang="en-SG" dirty="0"/>
                    </a:p>
                  </a:txBody>
                  <a:tcPr/>
                </a:tc>
                <a:extLst>
                  <a:ext uri="{0D108BD9-81ED-4DB2-BD59-A6C34878D82A}">
                    <a16:rowId xmlns:a16="http://schemas.microsoft.com/office/drawing/2014/main" val="705726828"/>
                  </a:ext>
                </a:extLst>
              </a:tr>
            </a:tbl>
          </a:graphicData>
        </a:graphic>
      </p:graphicFrame>
      <p:sp>
        <p:nvSpPr>
          <p:cNvPr id="3" name="Slide Number Placeholder 2">
            <a:extLst>
              <a:ext uri="{FF2B5EF4-FFF2-40B4-BE49-F238E27FC236}">
                <a16:creationId xmlns:a16="http://schemas.microsoft.com/office/drawing/2014/main" id="{1525BAF1-6501-9434-0735-76F868C39165}"/>
              </a:ext>
            </a:extLst>
          </p:cNvPr>
          <p:cNvSpPr>
            <a:spLocks noGrp="1"/>
          </p:cNvSpPr>
          <p:nvPr>
            <p:ph type="sldNum" sz="quarter" idx="12"/>
          </p:nvPr>
        </p:nvSpPr>
        <p:spPr/>
        <p:txBody>
          <a:bodyPr/>
          <a:lstStyle/>
          <a:p>
            <a:fld id="{BBCD8743-5A53-4A98-BC6F-5DFD6CC2F469}" type="slidenum">
              <a:rPr lang="en-SG" smtClean="0"/>
              <a:t>18</a:t>
            </a:fld>
            <a:endParaRPr lang="en-SG"/>
          </a:p>
        </p:txBody>
      </p:sp>
    </p:spTree>
    <p:extLst>
      <p:ext uri="{BB962C8B-B14F-4D97-AF65-F5344CB8AC3E}">
        <p14:creationId xmlns:p14="http://schemas.microsoft.com/office/powerpoint/2010/main" val="2828827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CD1FA-6340-6651-CF89-887EB2960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7BDAA-2E9C-89A5-E92D-6A56157C430C}"/>
              </a:ext>
            </a:extLst>
          </p:cNvPr>
          <p:cNvSpPr>
            <a:spLocks noGrp="1"/>
          </p:cNvSpPr>
          <p:nvPr>
            <p:ph type="title"/>
          </p:nvPr>
        </p:nvSpPr>
        <p:spPr/>
        <p:txBody>
          <a:bodyPr/>
          <a:lstStyle/>
          <a:p>
            <a:r>
              <a:rPr lang="en-SG" b="1" dirty="0"/>
              <a:t>Reconstructed Muon momentum</a:t>
            </a:r>
          </a:p>
        </p:txBody>
      </p:sp>
      <p:sp>
        <p:nvSpPr>
          <p:cNvPr id="4" name="TextBox 3">
            <a:extLst>
              <a:ext uri="{FF2B5EF4-FFF2-40B4-BE49-F238E27FC236}">
                <a16:creationId xmlns:a16="http://schemas.microsoft.com/office/drawing/2014/main" id="{D9396F91-3BF6-7B7E-A17B-7316BA4D762C}"/>
              </a:ext>
            </a:extLst>
          </p:cNvPr>
          <p:cNvSpPr txBox="1"/>
          <p:nvPr/>
        </p:nvSpPr>
        <p:spPr>
          <a:xfrm>
            <a:off x="1097279" y="1815053"/>
            <a:ext cx="10399395" cy="830997"/>
          </a:xfrm>
          <a:prstGeom prst="rect">
            <a:avLst/>
          </a:prstGeom>
          <a:noFill/>
        </p:spPr>
        <p:txBody>
          <a:bodyPr wrap="square">
            <a:spAutoFit/>
          </a:bodyPr>
          <a:lstStyle/>
          <a:p>
            <a:r>
              <a:rPr lang="en-US" sz="1600" b="1" dirty="0"/>
              <a:t>Plotting </a:t>
            </a:r>
            <a:r>
              <a:rPr lang="en-US" sz="1600" b="1" dirty="0" err="1"/>
              <a:t>NuMI</a:t>
            </a:r>
            <a:r>
              <a:rPr lang="en-US" sz="1600" b="1" dirty="0"/>
              <a:t> and BNB normalized reconstructed leading muon momentum for each cumulative cut</a:t>
            </a:r>
            <a:endParaRPr lang="en-SG" sz="1600" dirty="0"/>
          </a:p>
          <a:p>
            <a:endParaRPr lang="en-SG" sz="1600" b="1" dirty="0"/>
          </a:p>
          <a:p>
            <a:endParaRPr lang="en-SG" sz="1600" b="1" dirty="0"/>
          </a:p>
        </p:txBody>
      </p:sp>
      <p:pic>
        <p:nvPicPr>
          <p:cNvPr id="5" name="Picture 4">
            <a:extLst>
              <a:ext uri="{FF2B5EF4-FFF2-40B4-BE49-F238E27FC236}">
                <a16:creationId xmlns:a16="http://schemas.microsoft.com/office/drawing/2014/main" id="{33013799-CC37-257D-2994-57A8D156DB21}"/>
              </a:ext>
            </a:extLst>
          </p:cNvPr>
          <p:cNvPicPr>
            <a:picLocks noChangeAspect="1"/>
          </p:cNvPicPr>
          <p:nvPr/>
        </p:nvPicPr>
        <p:blipFill>
          <a:blip r:embed="rId2"/>
          <a:stretch>
            <a:fillRect/>
          </a:stretch>
        </p:blipFill>
        <p:spPr>
          <a:xfrm>
            <a:off x="485437" y="2259296"/>
            <a:ext cx="3619727" cy="1978013"/>
          </a:xfrm>
          <a:prstGeom prst="rect">
            <a:avLst/>
          </a:prstGeom>
        </p:spPr>
      </p:pic>
      <p:pic>
        <p:nvPicPr>
          <p:cNvPr id="8" name="Picture 7">
            <a:extLst>
              <a:ext uri="{FF2B5EF4-FFF2-40B4-BE49-F238E27FC236}">
                <a16:creationId xmlns:a16="http://schemas.microsoft.com/office/drawing/2014/main" id="{271C0038-D718-9BFF-AA62-8D4460E14A41}"/>
              </a:ext>
            </a:extLst>
          </p:cNvPr>
          <p:cNvPicPr>
            <a:picLocks noChangeAspect="1"/>
          </p:cNvPicPr>
          <p:nvPr/>
        </p:nvPicPr>
        <p:blipFill>
          <a:blip r:embed="rId3"/>
          <a:stretch>
            <a:fillRect/>
          </a:stretch>
        </p:blipFill>
        <p:spPr>
          <a:xfrm>
            <a:off x="4289065" y="2259296"/>
            <a:ext cx="3619728" cy="1978013"/>
          </a:xfrm>
          <a:prstGeom prst="rect">
            <a:avLst/>
          </a:prstGeom>
        </p:spPr>
      </p:pic>
      <p:pic>
        <p:nvPicPr>
          <p:cNvPr id="11" name="Picture 10">
            <a:extLst>
              <a:ext uri="{FF2B5EF4-FFF2-40B4-BE49-F238E27FC236}">
                <a16:creationId xmlns:a16="http://schemas.microsoft.com/office/drawing/2014/main" id="{16EDF7C5-28A5-B582-ACDE-17000DE58142}"/>
              </a:ext>
            </a:extLst>
          </p:cNvPr>
          <p:cNvPicPr>
            <a:picLocks noChangeAspect="1"/>
          </p:cNvPicPr>
          <p:nvPr/>
        </p:nvPicPr>
        <p:blipFill>
          <a:blip r:embed="rId4"/>
          <a:stretch>
            <a:fillRect/>
          </a:stretch>
        </p:blipFill>
        <p:spPr>
          <a:xfrm>
            <a:off x="8086838" y="2233938"/>
            <a:ext cx="3619728" cy="1978013"/>
          </a:xfrm>
          <a:prstGeom prst="rect">
            <a:avLst/>
          </a:prstGeom>
        </p:spPr>
      </p:pic>
      <p:pic>
        <p:nvPicPr>
          <p:cNvPr id="14" name="Picture 13">
            <a:extLst>
              <a:ext uri="{FF2B5EF4-FFF2-40B4-BE49-F238E27FC236}">
                <a16:creationId xmlns:a16="http://schemas.microsoft.com/office/drawing/2014/main" id="{B200BC4B-BA84-3CCD-3859-6F508834B995}"/>
              </a:ext>
            </a:extLst>
          </p:cNvPr>
          <p:cNvPicPr>
            <a:picLocks noChangeAspect="1"/>
          </p:cNvPicPr>
          <p:nvPr/>
        </p:nvPicPr>
        <p:blipFill>
          <a:blip r:embed="rId5"/>
          <a:stretch>
            <a:fillRect/>
          </a:stretch>
        </p:blipFill>
        <p:spPr>
          <a:xfrm>
            <a:off x="485437" y="4280291"/>
            <a:ext cx="3619728" cy="1978013"/>
          </a:xfrm>
          <a:prstGeom prst="rect">
            <a:avLst/>
          </a:prstGeom>
        </p:spPr>
      </p:pic>
      <p:pic>
        <p:nvPicPr>
          <p:cNvPr id="17" name="Picture 16">
            <a:extLst>
              <a:ext uri="{FF2B5EF4-FFF2-40B4-BE49-F238E27FC236}">
                <a16:creationId xmlns:a16="http://schemas.microsoft.com/office/drawing/2014/main" id="{A5ACD8B4-763A-23DD-5A18-27A5D8DD36B5}"/>
              </a:ext>
            </a:extLst>
          </p:cNvPr>
          <p:cNvPicPr>
            <a:picLocks noChangeAspect="1"/>
          </p:cNvPicPr>
          <p:nvPr/>
        </p:nvPicPr>
        <p:blipFill>
          <a:blip r:embed="rId6"/>
          <a:stretch>
            <a:fillRect/>
          </a:stretch>
        </p:blipFill>
        <p:spPr>
          <a:xfrm>
            <a:off x="4283208" y="4280291"/>
            <a:ext cx="3681202" cy="1978013"/>
          </a:xfrm>
          <a:prstGeom prst="rect">
            <a:avLst/>
          </a:prstGeom>
        </p:spPr>
      </p:pic>
      <p:pic>
        <p:nvPicPr>
          <p:cNvPr id="20" name="Picture 19">
            <a:extLst>
              <a:ext uri="{FF2B5EF4-FFF2-40B4-BE49-F238E27FC236}">
                <a16:creationId xmlns:a16="http://schemas.microsoft.com/office/drawing/2014/main" id="{1973E343-4884-7306-30C0-4875E7275795}"/>
              </a:ext>
            </a:extLst>
          </p:cNvPr>
          <p:cNvPicPr>
            <a:picLocks noChangeAspect="1"/>
          </p:cNvPicPr>
          <p:nvPr/>
        </p:nvPicPr>
        <p:blipFill>
          <a:blip r:embed="rId7"/>
          <a:stretch>
            <a:fillRect/>
          </a:stretch>
        </p:blipFill>
        <p:spPr>
          <a:xfrm>
            <a:off x="7964410" y="4280290"/>
            <a:ext cx="4031964" cy="1978013"/>
          </a:xfrm>
          <a:prstGeom prst="rect">
            <a:avLst/>
          </a:prstGeom>
        </p:spPr>
      </p:pic>
      <p:sp>
        <p:nvSpPr>
          <p:cNvPr id="3" name="Slide Number Placeholder 2">
            <a:extLst>
              <a:ext uri="{FF2B5EF4-FFF2-40B4-BE49-F238E27FC236}">
                <a16:creationId xmlns:a16="http://schemas.microsoft.com/office/drawing/2014/main" id="{601162B8-811C-5BDC-90E1-B070C0E818A0}"/>
              </a:ext>
            </a:extLst>
          </p:cNvPr>
          <p:cNvSpPr>
            <a:spLocks noGrp="1"/>
          </p:cNvSpPr>
          <p:nvPr>
            <p:ph type="sldNum" sz="quarter" idx="12"/>
          </p:nvPr>
        </p:nvSpPr>
        <p:spPr/>
        <p:txBody>
          <a:bodyPr/>
          <a:lstStyle/>
          <a:p>
            <a:fld id="{BBCD8743-5A53-4A98-BC6F-5DFD6CC2F469}" type="slidenum">
              <a:rPr lang="en-SG" smtClean="0"/>
              <a:t>19</a:t>
            </a:fld>
            <a:endParaRPr lang="en-SG"/>
          </a:p>
        </p:txBody>
      </p:sp>
    </p:spTree>
    <p:extLst>
      <p:ext uri="{BB962C8B-B14F-4D97-AF65-F5344CB8AC3E}">
        <p14:creationId xmlns:p14="http://schemas.microsoft.com/office/powerpoint/2010/main" val="532125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1ED0C-0E09-39DC-ABAB-3F22FC19C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4865C-6C33-21D7-994A-44BA21E96D4C}"/>
              </a:ext>
            </a:extLst>
          </p:cNvPr>
          <p:cNvSpPr>
            <a:spLocks noGrp="1"/>
          </p:cNvSpPr>
          <p:nvPr>
            <p:ph type="title"/>
          </p:nvPr>
        </p:nvSpPr>
        <p:spPr/>
        <p:txBody>
          <a:bodyPr/>
          <a:lstStyle/>
          <a:p>
            <a:r>
              <a:rPr lang="en-SG" b="1" dirty="0"/>
              <a:t>True Muon momentum </a:t>
            </a:r>
          </a:p>
        </p:txBody>
      </p:sp>
      <p:sp>
        <p:nvSpPr>
          <p:cNvPr id="4" name="TextBox 3">
            <a:extLst>
              <a:ext uri="{FF2B5EF4-FFF2-40B4-BE49-F238E27FC236}">
                <a16:creationId xmlns:a16="http://schemas.microsoft.com/office/drawing/2014/main" id="{1D78F462-D5C9-BEAC-248C-66861DA20B39}"/>
              </a:ext>
            </a:extLst>
          </p:cNvPr>
          <p:cNvSpPr txBox="1"/>
          <p:nvPr/>
        </p:nvSpPr>
        <p:spPr>
          <a:xfrm>
            <a:off x="1097279" y="1815053"/>
            <a:ext cx="10399395" cy="830997"/>
          </a:xfrm>
          <a:prstGeom prst="rect">
            <a:avLst/>
          </a:prstGeom>
          <a:noFill/>
        </p:spPr>
        <p:txBody>
          <a:bodyPr wrap="square">
            <a:spAutoFit/>
          </a:bodyPr>
          <a:lstStyle/>
          <a:p>
            <a:r>
              <a:rPr lang="en-US" sz="1600" b="1" dirty="0"/>
              <a:t>Plotting </a:t>
            </a:r>
            <a:r>
              <a:rPr lang="en-US" sz="1600" b="1" dirty="0" err="1"/>
              <a:t>NuMI</a:t>
            </a:r>
            <a:r>
              <a:rPr lang="en-US" sz="1600" b="1" dirty="0"/>
              <a:t> and BNB combined and normalized reconstructed leading muon momentum for each cumulative cut</a:t>
            </a:r>
            <a:endParaRPr lang="en-SG" sz="1600" dirty="0"/>
          </a:p>
          <a:p>
            <a:endParaRPr lang="en-SG" sz="1600" b="1" dirty="0"/>
          </a:p>
          <a:p>
            <a:endParaRPr lang="en-SG" sz="1600" b="1" dirty="0"/>
          </a:p>
        </p:txBody>
      </p:sp>
      <p:pic>
        <p:nvPicPr>
          <p:cNvPr id="6" name="Picture 5">
            <a:extLst>
              <a:ext uri="{FF2B5EF4-FFF2-40B4-BE49-F238E27FC236}">
                <a16:creationId xmlns:a16="http://schemas.microsoft.com/office/drawing/2014/main" id="{C3FAEC80-2D5D-1E0C-9EEC-E0512A0DD3B6}"/>
              </a:ext>
            </a:extLst>
          </p:cNvPr>
          <p:cNvPicPr>
            <a:picLocks noChangeAspect="1"/>
          </p:cNvPicPr>
          <p:nvPr/>
        </p:nvPicPr>
        <p:blipFill>
          <a:blip r:embed="rId2"/>
          <a:stretch>
            <a:fillRect/>
          </a:stretch>
        </p:blipFill>
        <p:spPr>
          <a:xfrm>
            <a:off x="485437" y="2259296"/>
            <a:ext cx="3619728" cy="1978013"/>
          </a:xfrm>
          <a:prstGeom prst="rect">
            <a:avLst/>
          </a:prstGeom>
        </p:spPr>
      </p:pic>
      <p:pic>
        <p:nvPicPr>
          <p:cNvPr id="9" name="Picture 8">
            <a:extLst>
              <a:ext uri="{FF2B5EF4-FFF2-40B4-BE49-F238E27FC236}">
                <a16:creationId xmlns:a16="http://schemas.microsoft.com/office/drawing/2014/main" id="{CF5A8666-76B8-7C12-E5CC-0169955A4B6A}"/>
              </a:ext>
            </a:extLst>
          </p:cNvPr>
          <p:cNvPicPr>
            <a:picLocks noChangeAspect="1"/>
          </p:cNvPicPr>
          <p:nvPr/>
        </p:nvPicPr>
        <p:blipFill>
          <a:blip r:embed="rId3"/>
          <a:stretch>
            <a:fillRect/>
          </a:stretch>
        </p:blipFill>
        <p:spPr>
          <a:xfrm>
            <a:off x="4283208" y="2230551"/>
            <a:ext cx="3619728" cy="1978013"/>
          </a:xfrm>
          <a:prstGeom prst="rect">
            <a:avLst/>
          </a:prstGeom>
        </p:spPr>
      </p:pic>
      <p:pic>
        <p:nvPicPr>
          <p:cNvPr id="12" name="Picture 11">
            <a:extLst>
              <a:ext uri="{FF2B5EF4-FFF2-40B4-BE49-F238E27FC236}">
                <a16:creationId xmlns:a16="http://schemas.microsoft.com/office/drawing/2014/main" id="{4F534882-62C4-4D5E-80A3-9514F496C095}"/>
              </a:ext>
            </a:extLst>
          </p:cNvPr>
          <p:cNvPicPr>
            <a:picLocks noChangeAspect="1"/>
          </p:cNvPicPr>
          <p:nvPr/>
        </p:nvPicPr>
        <p:blipFill>
          <a:blip r:embed="rId4"/>
          <a:stretch>
            <a:fillRect/>
          </a:stretch>
        </p:blipFill>
        <p:spPr>
          <a:xfrm>
            <a:off x="8086834" y="2259295"/>
            <a:ext cx="3619729" cy="1978014"/>
          </a:xfrm>
          <a:prstGeom prst="rect">
            <a:avLst/>
          </a:prstGeom>
        </p:spPr>
      </p:pic>
      <p:pic>
        <p:nvPicPr>
          <p:cNvPr id="15" name="Picture 14">
            <a:extLst>
              <a:ext uri="{FF2B5EF4-FFF2-40B4-BE49-F238E27FC236}">
                <a16:creationId xmlns:a16="http://schemas.microsoft.com/office/drawing/2014/main" id="{70F5C46E-0BD5-95B9-B688-9D269606AF28}"/>
              </a:ext>
            </a:extLst>
          </p:cNvPr>
          <p:cNvPicPr>
            <a:picLocks noChangeAspect="1"/>
          </p:cNvPicPr>
          <p:nvPr/>
        </p:nvPicPr>
        <p:blipFill>
          <a:blip r:embed="rId5"/>
          <a:stretch>
            <a:fillRect/>
          </a:stretch>
        </p:blipFill>
        <p:spPr>
          <a:xfrm>
            <a:off x="485437" y="4280290"/>
            <a:ext cx="3619728" cy="1978013"/>
          </a:xfrm>
          <a:prstGeom prst="rect">
            <a:avLst/>
          </a:prstGeom>
        </p:spPr>
      </p:pic>
      <p:pic>
        <p:nvPicPr>
          <p:cNvPr id="18" name="Picture 17">
            <a:extLst>
              <a:ext uri="{FF2B5EF4-FFF2-40B4-BE49-F238E27FC236}">
                <a16:creationId xmlns:a16="http://schemas.microsoft.com/office/drawing/2014/main" id="{BFE28F31-909D-413F-26EB-0271008A0E2F}"/>
              </a:ext>
            </a:extLst>
          </p:cNvPr>
          <p:cNvPicPr>
            <a:picLocks noChangeAspect="1"/>
          </p:cNvPicPr>
          <p:nvPr/>
        </p:nvPicPr>
        <p:blipFill>
          <a:blip r:embed="rId6"/>
          <a:stretch>
            <a:fillRect/>
          </a:stretch>
        </p:blipFill>
        <p:spPr>
          <a:xfrm>
            <a:off x="4285878" y="4280289"/>
            <a:ext cx="3681203" cy="1978014"/>
          </a:xfrm>
          <a:prstGeom prst="rect">
            <a:avLst/>
          </a:prstGeom>
        </p:spPr>
      </p:pic>
      <p:pic>
        <p:nvPicPr>
          <p:cNvPr id="21" name="Picture 20">
            <a:extLst>
              <a:ext uri="{FF2B5EF4-FFF2-40B4-BE49-F238E27FC236}">
                <a16:creationId xmlns:a16="http://schemas.microsoft.com/office/drawing/2014/main" id="{384F915B-E0B5-D474-E1E4-764D3F3BFA64}"/>
              </a:ext>
            </a:extLst>
          </p:cNvPr>
          <p:cNvPicPr>
            <a:picLocks noChangeAspect="1"/>
          </p:cNvPicPr>
          <p:nvPr/>
        </p:nvPicPr>
        <p:blipFill>
          <a:blip r:embed="rId7"/>
          <a:stretch>
            <a:fillRect/>
          </a:stretch>
        </p:blipFill>
        <p:spPr>
          <a:xfrm>
            <a:off x="7967081" y="4280289"/>
            <a:ext cx="4031967" cy="1978014"/>
          </a:xfrm>
          <a:prstGeom prst="rect">
            <a:avLst/>
          </a:prstGeom>
        </p:spPr>
      </p:pic>
      <p:sp>
        <p:nvSpPr>
          <p:cNvPr id="3" name="Slide Number Placeholder 2">
            <a:extLst>
              <a:ext uri="{FF2B5EF4-FFF2-40B4-BE49-F238E27FC236}">
                <a16:creationId xmlns:a16="http://schemas.microsoft.com/office/drawing/2014/main" id="{E60C8316-0EF6-961F-4ACB-E365DE0F2DE3}"/>
              </a:ext>
            </a:extLst>
          </p:cNvPr>
          <p:cNvSpPr>
            <a:spLocks noGrp="1"/>
          </p:cNvSpPr>
          <p:nvPr>
            <p:ph type="sldNum" sz="quarter" idx="12"/>
          </p:nvPr>
        </p:nvSpPr>
        <p:spPr/>
        <p:txBody>
          <a:bodyPr/>
          <a:lstStyle/>
          <a:p>
            <a:fld id="{BBCD8743-5A53-4A98-BC6F-5DFD6CC2F469}" type="slidenum">
              <a:rPr lang="en-SG" smtClean="0"/>
              <a:t>20</a:t>
            </a:fld>
            <a:endParaRPr lang="en-SG"/>
          </a:p>
        </p:txBody>
      </p:sp>
    </p:spTree>
    <p:extLst>
      <p:ext uri="{BB962C8B-B14F-4D97-AF65-F5344CB8AC3E}">
        <p14:creationId xmlns:p14="http://schemas.microsoft.com/office/powerpoint/2010/main" val="2815635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4850-D446-4371-FAE4-406B95750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C0144-5706-D4CA-0A9A-5493BD618FCF}"/>
              </a:ext>
            </a:extLst>
          </p:cNvPr>
          <p:cNvSpPr>
            <a:spLocks noGrp="1"/>
          </p:cNvSpPr>
          <p:nvPr>
            <p:ph type="title"/>
          </p:nvPr>
        </p:nvSpPr>
        <p:spPr/>
        <p:txBody>
          <a:bodyPr/>
          <a:lstStyle/>
          <a:p>
            <a:r>
              <a:rPr lang="en-US" dirty="0"/>
              <a:t>Future work</a:t>
            </a:r>
            <a:endParaRPr lang="en-SG" dirty="0"/>
          </a:p>
        </p:txBody>
      </p:sp>
      <p:sp>
        <p:nvSpPr>
          <p:cNvPr id="3" name="Content Placeholder 2">
            <a:extLst>
              <a:ext uri="{FF2B5EF4-FFF2-40B4-BE49-F238E27FC236}">
                <a16:creationId xmlns:a16="http://schemas.microsoft.com/office/drawing/2014/main" id="{62F88726-CB14-1441-0ABA-9553E3EF5DC4}"/>
              </a:ext>
            </a:extLst>
          </p:cNvPr>
          <p:cNvSpPr>
            <a:spLocks noGrp="1"/>
          </p:cNvSpPr>
          <p:nvPr>
            <p:ph idx="1"/>
          </p:nvPr>
        </p:nvSpPr>
        <p:spPr>
          <a:xfrm>
            <a:off x="1097280" y="1845734"/>
            <a:ext cx="10651375" cy="4351866"/>
          </a:xfrm>
        </p:spPr>
        <p:txBody>
          <a:bodyPr>
            <a:normAutofit/>
          </a:bodyPr>
          <a:lstStyle/>
          <a:p>
            <a:pPr marL="201168" lvl="1" indent="0">
              <a:buNone/>
            </a:pPr>
            <a:r>
              <a:rPr lang="en-US" dirty="0"/>
              <a:t>			</a:t>
            </a:r>
          </a:p>
          <a:p>
            <a:pPr>
              <a:buFont typeface="Arial" panose="020B0604020202020204" pitchFamily="34" charset="0"/>
              <a:buChar char="•"/>
            </a:pPr>
            <a:endParaRPr lang="en-SG" dirty="0"/>
          </a:p>
        </p:txBody>
      </p:sp>
      <p:sp>
        <p:nvSpPr>
          <p:cNvPr id="4" name="TextBox 3">
            <a:extLst>
              <a:ext uri="{FF2B5EF4-FFF2-40B4-BE49-F238E27FC236}">
                <a16:creationId xmlns:a16="http://schemas.microsoft.com/office/drawing/2014/main" id="{94212B5A-282C-446C-DC60-BCA8FCE3DAF4}"/>
              </a:ext>
            </a:extLst>
          </p:cNvPr>
          <p:cNvSpPr txBox="1"/>
          <p:nvPr/>
        </p:nvSpPr>
        <p:spPr>
          <a:xfrm>
            <a:off x="1097280" y="1815053"/>
            <a:ext cx="9589193" cy="4801314"/>
          </a:xfrm>
          <a:prstGeom prst="rect">
            <a:avLst/>
          </a:prstGeom>
          <a:noFill/>
        </p:spPr>
        <p:txBody>
          <a:bodyPr wrap="square">
            <a:spAutoFit/>
          </a:bodyPr>
          <a:lstStyle/>
          <a:p>
            <a:r>
              <a:rPr lang="en-US" sz="2400" b="1" dirty="0"/>
              <a:t>Di-electron selection</a:t>
            </a:r>
            <a:endParaRPr lang="en-US" b="1" dirty="0"/>
          </a:p>
          <a:p>
            <a:pPr marL="285750" indent="-285750">
              <a:buFont typeface="Arial" panose="020B0604020202020204" pitchFamily="34" charset="0"/>
              <a:buChar char="•"/>
            </a:pPr>
            <a:r>
              <a:rPr lang="en-US" dirty="0"/>
              <a:t>Preliminary selection for Di-electron showers performed, showing very little Di-electron candidates in </a:t>
            </a:r>
            <a:r>
              <a:rPr lang="en-US" dirty="0" err="1"/>
              <a:t>NuMI</a:t>
            </a:r>
            <a:r>
              <a:rPr lang="en-US" dirty="0"/>
              <a:t> MC sample </a:t>
            </a:r>
          </a:p>
          <a:p>
            <a:pPr marL="285750" indent="-285750">
              <a:buFont typeface="Arial" panose="020B0604020202020204" pitchFamily="34" charset="0"/>
              <a:buChar char="•"/>
            </a:pPr>
            <a:r>
              <a:rPr lang="en-US" dirty="0"/>
              <a:t>Looking to use other MC sample files and optimizing selection parameters and cuts in the future</a:t>
            </a:r>
          </a:p>
          <a:p>
            <a:pPr marL="285750" indent="-285750">
              <a:buFont typeface="Arial" panose="020B0604020202020204" pitchFamily="34" charset="0"/>
              <a:buChar cha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dirty="0">
                <a:solidFill>
                  <a:srgbClr val="000000"/>
                </a:solidFill>
                <a:latin typeface="Calibri" panose="020F0502020204030204"/>
              </a:rPr>
              <a:t>Selection using HNL simulation sample file </a:t>
            </a:r>
          </a:p>
          <a:p>
            <a:pPr marL="285750" lvl="0" indent="-285750">
              <a:buFont typeface="Arial" panose="020B0604020202020204" pitchFamily="34" charset="0"/>
              <a:buChar char="•"/>
              <a:defRPr/>
            </a:pPr>
            <a:r>
              <a:rPr lang="en-US" dirty="0"/>
              <a:t>Once HNL simulation flat CAF file has been generated, utilize optimized event selection parameters and cuts for the HNL simulation file and </a:t>
            </a:r>
            <a:r>
              <a:rPr lang="en-US" dirty="0" err="1"/>
              <a:t>analyse</a:t>
            </a:r>
            <a:r>
              <a:rPr lang="en-US" dirty="0"/>
              <a:t> output</a:t>
            </a:r>
          </a:p>
          <a:p>
            <a:pPr lvl="0">
              <a:defRPr/>
            </a:pPr>
            <a:endParaRPr lang="en-US" dirty="0"/>
          </a:p>
          <a:p>
            <a:pPr lvl="0">
              <a:defRPr/>
            </a:pPr>
            <a:r>
              <a:rPr lang="en-US" sz="2400" b="1" dirty="0">
                <a:solidFill>
                  <a:srgbClr val="000000"/>
                </a:solidFill>
              </a:rPr>
              <a:t>Moving to </a:t>
            </a:r>
            <a:r>
              <a:rPr lang="en-US" sz="2400" b="1" dirty="0" err="1">
                <a:solidFill>
                  <a:srgbClr val="000000"/>
                </a:solidFill>
              </a:rPr>
              <a:t>NuMI</a:t>
            </a:r>
            <a:r>
              <a:rPr lang="en-US" sz="2400" b="1" dirty="0">
                <a:solidFill>
                  <a:srgbClr val="000000"/>
                </a:solidFill>
              </a:rPr>
              <a:t> data and unblinding </a:t>
            </a:r>
          </a:p>
          <a:p>
            <a:pPr marL="285750" lvl="0" indent="-285750">
              <a:buFont typeface="Arial" panose="020B0604020202020204" pitchFamily="34" charset="0"/>
              <a:buChar char="•"/>
              <a:defRPr/>
            </a:pPr>
            <a:r>
              <a:rPr lang="en-US" dirty="0"/>
              <a:t>Once event selection on HNL simulation has been conducted, move on to event selection using </a:t>
            </a:r>
            <a:r>
              <a:rPr lang="en-US" dirty="0" err="1"/>
              <a:t>NuMI</a:t>
            </a:r>
            <a:r>
              <a:rPr lang="en-US" dirty="0"/>
              <a:t> data files, and eventually unblinding to compare with MC distributions</a:t>
            </a:r>
          </a:p>
          <a:p>
            <a:pPr lvl="0">
              <a:defRPr/>
            </a:pPr>
            <a:endParaRPr lang="en-US" dirty="0"/>
          </a:p>
          <a:p>
            <a:pPr lvl="0">
              <a:defRPr/>
            </a:pPr>
            <a:endParaRPr lang="en-US" dirty="0"/>
          </a:p>
          <a:p>
            <a:pPr marL="285750" indent="-285750">
              <a:buFont typeface="Arial" panose="020B0604020202020204" pitchFamily="34" charset="0"/>
              <a:buChar char="•"/>
            </a:pPr>
            <a:endParaRPr lang="en-US" dirty="0"/>
          </a:p>
          <a:p>
            <a:endParaRPr lang="en-SG" b="1" dirty="0"/>
          </a:p>
        </p:txBody>
      </p:sp>
      <p:sp>
        <p:nvSpPr>
          <p:cNvPr id="5" name="Slide Number Placeholder 4">
            <a:extLst>
              <a:ext uri="{FF2B5EF4-FFF2-40B4-BE49-F238E27FC236}">
                <a16:creationId xmlns:a16="http://schemas.microsoft.com/office/drawing/2014/main" id="{02B79FD3-DC9A-A813-CBA3-4E290A754E25}"/>
              </a:ext>
            </a:extLst>
          </p:cNvPr>
          <p:cNvSpPr>
            <a:spLocks noGrp="1"/>
          </p:cNvSpPr>
          <p:nvPr>
            <p:ph type="sldNum" sz="quarter" idx="12"/>
          </p:nvPr>
        </p:nvSpPr>
        <p:spPr/>
        <p:txBody>
          <a:bodyPr/>
          <a:lstStyle/>
          <a:p>
            <a:fld id="{BBCD8743-5A53-4A98-BC6F-5DFD6CC2F469}" type="slidenum">
              <a:rPr lang="en-SG" smtClean="0"/>
              <a:t>21</a:t>
            </a:fld>
            <a:endParaRPr lang="en-SG"/>
          </a:p>
        </p:txBody>
      </p:sp>
    </p:spTree>
    <p:extLst>
      <p:ext uri="{BB962C8B-B14F-4D97-AF65-F5344CB8AC3E}">
        <p14:creationId xmlns:p14="http://schemas.microsoft.com/office/powerpoint/2010/main" val="4123539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DFC7-73C7-EE8E-6439-8C4A01350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9FB9A-752D-76AC-0EC0-D0935A1F3F84}"/>
              </a:ext>
            </a:extLst>
          </p:cNvPr>
          <p:cNvSpPr>
            <a:spLocks noGrp="1"/>
          </p:cNvSpPr>
          <p:nvPr>
            <p:ph type="ctrTitle"/>
          </p:nvPr>
        </p:nvSpPr>
        <p:spPr/>
        <p:txBody>
          <a:bodyPr/>
          <a:lstStyle/>
          <a:p>
            <a:r>
              <a:rPr lang="en-US" dirty="0"/>
              <a:t>Thank you</a:t>
            </a:r>
            <a:endParaRPr lang="en-SG" dirty="0"/>
          </a:p>
        </p:txBody>
      </p:sp>
      <p:sp>
        <p:nvSpPr>
          <p:cNvPr id="3" name="Slide Number Placeholder 2">
            <a:extLst>
              <a:ext uri="{FF2B5EF4-FFF2-40B4-BE49-F238E27FC236}">
                <a16:creationId xmlns:a16="http://schemas.microsoft.com/office/drawing/2014/main" id="{C6607AE9-6765-2693-5E48-4330193DD6FB}"/>
              </a:ext>
            </a:extLst>
          </p:cNvPr>
          <p:cNvSpPr>
            <a:spLocks noGrp="1"/>
          </p:cNvSpPr>
          <p:nvPr>
            <p:ph type="sldNum" sz="quarter" idx="12"/>
          </p:nvPr>
        </p:nvSpPr>
        <p:spPr/>
        <p:txBody>
          <a:bodyPr/>
          <a:lstStyle/>
          <a:p>
            <a:fld id="{BBCD8743-5A53-4A98-BC6F-5DFD6CC2F469}" type="slidenum">
              <a:rPr lang="en-SG" smtClean="0"/>
              <a:t>22</a:t>
            </a:fld>
            <a:endParaRPr lang="en-SG"/>
          </a:p>
        </p:txBody>
      </p:sp>
    </p:spTree>
    <p:extLst>
      <p:ext uri="{BB962C8B-B14F-4D97-AF65-F5344CB8AC3E}">
        <p14:creationId xmlns:p14="http://schemas.microsoft.com/office/powerpoint/2010/main" val="3543196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FD23C01-AEBF-7CB6-0F7A-4CF963859CDB}"/>
              </a:ext>
            </a:extLst>
          </p:cNvPr>
          <p:cNvGraphicFramePr>
            <a:graphicFrameLocks noGrp="1"/>
          </p:cNvGraphicFramePr>
          <p:nvPr>
            <p:extLst>
              <p:ext uri="{D42A27DB-BD31-4B8C-83A1-F6EECF244321}">
                <p14:modId xmlns:p14="http://schemas.microsoft.com/office/powerpoint/2010/main" val="3948341409"/>
              </p:ext>
            </p:extLst>
          </p:nvPr>
        </p:nvGraphicFramePr>
        <p:xfrm>
          <a:off x="1562100" y="873274"/>
          <a:ext cx="9067800" cy="5212080"/>
        </p:xfrm>
        <a:graphic>
          <a:graphicData uri="http://schemas.openxmlformats.org/drawingml/2006/table">
            <a:tbl>
              <a:tblPr firstRow="1" bandRow="1">
                <a:tableStyleId>{5C22544A-7EE6-4342-B048-85BDC9FD1C3A}</a:tableStyleId>
              </a:tblPr>
              <a:tblGrid>
                <a:gridCol w="2247900">
                  <a:extLst>
                    <a:ext uri="{9D8B030D-6E8A-4147-A177-3AD203B41FA5}">
                      <a16:colId xmlns:a16="http://schemas.microsoft.com/office/drawing/2014/main" val="465816068"/>
                    </a:ext>
                  </a:extLst>
                </a:gridCol>
                <a:gridCol w="6819900">
                  <a:extLst>
                    <a:ext uri="{9D8B030D-6E8A-4147-A177-3AD203B41FA5}">
                      <a16:colId xmlns:a16="http://schemas.microsoft.com/office/drawing/2014/main" val="834926104"/>
                    </a:ext>
                  </a:extLst>
                </a:gridCol>
              </a:tblGrid>
              <a:tr h="273273">
                <a:tc>
                  <a:txBody>
                    <a:bodyPr/>
                    <a:lstStyle/>
                    <a:p>
                      <a:pPr algn="ctr"/>
                      <a:r>
                        <a:rPr lang="en-US" dirty="0"/>
                        <a:t>Slide number</a:t>
                      </a:r>
                      <a:endParaRPr lang="en-SG" dirty="0"/>
                    </a:p>
                  </a:txBody>
                  <a:tcPr marL="0" marR="0" marT="0" marB="0"/>
                </a:tc>
                <a:tc>
                  <a:txBody>
                    <a:bodyPr/>
                    <a:lstStyle/>
                    <a:p>
                      <a:pPr algn="ctr"/>
                      <a:r>
                        <a:rPr lang="en-US" dirty="0"/>
                        <a:t>Detail</a:t>
                      </a:r>
                      <a:endParaRPr lang="en-SG" dirty="0"/>
                    </a:p>
                  </a:txBody>
                  <a:tcPr marL="0" marR="0" marT="0" marB="0"/>
                </a:tc>
                <a:extLst>
                  <a:ext uri="{0D108BD9-81ED-4DB2-BD59-A6C34878D82A}">
                    <a16:rowId xmlns:a16="http://schemas.microsoft.com/office/drawing/2014/main" val="2070164168"/>
                  </a:ext>
                </a:extLst>
              </a:tr>
              <a:tr h="273273">
                <a:tc>
                  <a:txBody>
                    <a:bodyPr/>
                    <a:lstStyle/>
                    <a:p>
                      <a:pPr algn="ctr"/>
                      <a:r>
                        <a:rPr lang="en-US" dirty="0"/>
                        <a:t>4</a:t>
                      </a:r>
                      <a:endParaRPr lang="en-SG" dirty="0"/>
                    </a:p>
                  </a:txBody>
                  <a:tcPr marL="0" marR="0" marT="0" marB="0"/>
                </a:tc>
                <a:tc>
                  <a:txBody>
                    <a:bodyPr/>
                    <a:lstStyle/>
                    <a:p>
                      <a:r>
                        <a:rPr lang="en-US" dirty="0"/>
                        <a:t>background</a:t>
                      </a:r>
                      <a:endParaRPr lang="en-SG" dirty="0"/>
                    </a:p>
                  </a:txBody>
                  <a:tcPr marL="0" marR="0" marT="0" marB="0"/>
                </a:tc>
                <a:extLst>
                  <a:ext uri="{0D108BD9-81ED-4DB2-BD59-A6C34878D82A}">
                    <a16:rowId xmlns:a16="http://schemas.microsoft.com/office/drawing/2014/main" val="2383923298"/>
                  </a:ext>
                </a:extLst>
              </a:tr>
              <a:tr h="273273">
                <a:tc>
                  <a:txBody>
                    <a:bodyPr/>
                    <a:lstStyle/>
                    <a:p>
                      <a:pPr algn="ctr"/>
                      <a:r>
                        <a:rPr lang="en-US" dirty="0"/>
                        <a:t>5</a:t>
                      </a:r>
                      <a:endParaRPr lang="en-SG" dirty="0"/>
                    </a:p>
                  </a:txBody>
                  <a:tcPr marL="0" marR="0" marT="0" marB="0"/>
                </a:tc>
                <a:tc>
                  <a:txBody>
                    <a:bodyPr/>
                    <a:lstStyle/>
                    <a:p>
                      <a:r>
                        <a:rPr lang="en-US" dirty="0"/>
                        <a:t>motivations</a:t>
                      </a:r>
                      <a:endParaRPr lang="en-SG" dirty="0"/>
                    </a:p>
                  </a:txBody>
                  <a:tcPr marL="0" marR="0" marT="0" marB="0"/>
                </a:tc>
                <a:extLst>
                  <a:ext uri="{0D108BD9-81ED-4DB2-BD59-A6C34878D82A}">
                    <a16:rowId xmlns:a16="http://schemas.microsoft.com/office/drawing/2014/main" val="360056713"/>
                  </a:ext>
                </a:extLst>
              </a:tr>
              <a:tr h="273273">
                <a:tc>
                  <a:txBody>
                    <a:bodyPr/>
                    <a:lstStyle/>
                    <a:p>
                      <a:pPr algn="ctr"/>
                      <a:r>
                        <a:rPr lang="en-US" dirty="0"/>
                        <a:t>6</a:t>
                      </a:r>
                      <a:endParaRPr lang="en-SG" dirty="0"/>
                    </a:p>
                  </a:txBody>
                  <a:tcPr marL="0" marR="0" marT="0" marB="0"/>
                </a:tc>
                <a:tc>
                  <a:txBody>
                    <a:bodyPr/>
                    <a:lstStyle/>
                    <a:p>
                      <a:r>
                        <a:rPr lang="en-US" dirty="0"/>
                        <a:t>Event selection plan</a:t>
                      </a:r>
                      <a:endParaRPr lang="en-SG" dirty="0"/>
                    </a:p>
                  </a:txBody>
                  <a:tcPr marL="0" marR="0" marT="0" marB="0"/>
                </a:tc>
                <a:extLst>
                  <a:ext uri="{0D108BD9-81ED-4DB2-BD59-A6C34878D82A}">
                    <a16:rowId xmlns:a16="http://schemas.microsoft.com/office/drawing/2014/main" val="784711264"/>
                  </a:ext>
                </a:extLst>
              </a:tr>
              <a:tr h="273273">
                <a:tc>
                  <a:txBody>
                    <a:bodyPr/>
                    <a:lstStyle/>
                    <a:p>
                      <a:pPr algn="ctr"/>
                      <a:r>
                        <a:rPr lang="en-US" dirty="0"/>
                        <a:t>7</a:t>
                      </a:r>
                      <a:endParaRPr lang="en-SG" dirty="0"/>
                    </a:p>
                  </a:txBody>
                  <a:tcPr marL="0" marR="0" marT="0" marB="0"/>
                </a:tc>
                <a:tc>
                  <a:txBody>
                    <a:bodyPr/>
                    <a:lstStyle/>
                    <a:p>
                      <a:r>
                        <a:rPr lang="en-US" dirty="0"/>
                        <a:t>Efficiency and Purity (Thesis vs BNB)</a:t>
                      </a:r>
                      <a:endParaRPr lang="en-SG" dirty="0"/>
                    </a:p>
                  </a:txBody>
                  <a:tcPr marL="0" marR="0" marT="0" marB="0"/>
                </a:tc>
                <a:extLst>
                  <a:ext uri="{0D108BD9-81ED-4DB2-BD59-A6C34878D82A}">
                    <a16:rowId xmlns:a16="http://schemas.microsoft.com/office/drawing/2014/main" val="2650754011"/>
                  </a:ext>
                </a:extLst>
              </a:tr>
              <a:tr h="252000">
                <a:tc>
                  <a:txBody>
                    <a:bodyPr/>
                    <a:lstStyle/>
                    <a:p>
                      <a:pPr algn="ctr"/>
                      <a:r>
                        <a:rPr lang="en-US" dirty="0"/>
                        <a:t>8</a:t>
                      </a:r>
                      <a:endParaRPr lang="en-SG" dirty="0"/>
                    </a:p>
                  </a:txBody>
                  <a:tcPr marL="0" marR="0" marT="0" marB="0"/>
                </a:tc>
                <a:tc>
                  <a:txBody>
                    <a:bodyPr/>
                    <a:lstStyle/>
                    <a:p>
                      <a:r>
                        <a:rPr lang="en-US" dirty="0"/>
                        <a:t>PID Truth to Reco matrix (Thesis vs BNB)</a:t>
                      </a:r>
                      <a:endParaRPr lang="en-SG" dirty="0"/>
                    </a:p>
                  </a:txBody>
                  <a:tcPr marL="0" marR="0" marT="0" marB="0"/>
                </a:tc>
                <a:extLst>
                  <a:ext uri="{0D108BD9-81ED-4DB2-BD59-A6C34878D82A}">
                    <a16:rowId xmlns:a16="http://schemas.microsoft.com/office/drawing/2014/main" val="2097308825"/>
                  </a:ext>
                </a:extLst>
              </a:tr>
              <a:tr h="273273">
                <a:tc>
                  <a:txBody>
                    <a:bodyPr/>
                    <a:lstStyle/>
                    <a:p>
                      <a:pPr algn="ctr"/>
                      <a:r>
                        <a:rPr lang="en-US" dirty="0"/>
                        <a:t>9</a:t>
                      </a:r>
                      <a:endParaRPr lang="en-SG" dirty="0"/>
                    </a:p>
                  </a:txBody>
                  <a:tcPr marL="0" marR="0" marT="0" marB="0"/>
                </a:tc>
                <a:tc>
                  <a:txBody>
                    <a:bodyPr/>
                    <a:lstStyle/>
                    <a:p>
                      <a:r>
                        <a:rPr lang="en-US" dirty="0"/>
                        <a:t>PID Reco to Truth matrix (Thesis vs BNB)</a:t>
                      </a:r>
                      <a:endParaRPr lang="en-SG" dirty="0"/>
                    </a:p>
                  </a:txBody>
                  <a:tcPr marL="0" marR="0" marT="0" marB="0"/>
                </a:tc>
                <a:extLst>
                  <a:ext uri="{0D108BD9-81ED-4DB2-BD59-A6C34878D82A}">
                    <a16:rowId xmlns:a16="http://schemas.microsoft.com/office/drawing/2014/main" val="2764370791"/>
                  </a:ext>
                </a:extLst>
              </a:tr>
              <a:tr h="273273">
                <a:tc>
                  <a:txBody>
                    <a:bodyPr/>
                    <a:lstStyle/>
                    <a:p>
                      <a:pPr algn="ctr"/>
                      <a:r>
                        <a:rPr lang="en-US" dirty="0"/>
                        <a:t>10</a:t>
                      </a:r>
                      <a:endParaRPr lang="en-SG" dirty="0"/>
                    </a:p>
                  </a:txBody>
                  <a:tcPr marL="0" marR="0" marT="0" marB="0"/>
                </a:tc>
                <a:tc>
                  <a:txBody>
                    <a:bodyPr/>
                    <a:lstStyle/>
                    <a:p>
                      <a:r>
                        <a:rPr lang="en-US" dirty="0"/>
                        <a:t>Plot comparison (Thesis vs BNB)</a:t>
                      </a:r>
                      <a:endParaRPr lang="en-SG" dirty="0"/>
                    </a:p>
                  </a:txBody>
                  <a:tcPr marL="0" marR="0" marT="0" marB="0"/>
                </a:tc>
                <a:extLst>
                  <a:ext uri="{0D108BD9-81ED-4DB2-BD59-A6C34878D82A}">
                    <a16:rowId xmlns:a16="http://schemas.microsoft.com/office/drawing/2014/main" val="1086241125"/>
                  </a:ext>
                </a:extLst>
              </a:tr>
              <a:tr h="273273">
                <a:tc>
                  <a:txBody>
                    <a:bodyPr/>
                    <a:lstStyle/>
                    <a:p>
                      <a:pPr algn="ctr"/>
                      <a:r>
                        <a:rPr lang="en-US" dirty="0"/>
                        <a:t>11</a:t>
                      </a:r>
                      <a:endParaRPr lang="en-SG" dirty="0"/>
                    </a:p>
                  </a:txBody>
                  <a:tcPr marL="0" marR="0" marT="0" marB="0"/>
                </a:tc>
                <a:tc>
                  <a:txBody>
                    <a:bodyPr/>
                    <a:lstStyle/>
                    <a:p>
                      <a:r>
                        <a:rPr lang="en-US" dirty="0"/>
                        <a:t>Plot comparison (Thesis vs BNB)</a:t>
                      </a:r>
                      <a:endParaRPr lang="en-SG" dirty="0"/>
                    </a:p>
                  </a:txBody>
                  <a:tcPr marL="0" marR="0" marT="0" marB="0"/>
                </a:tc>
                <a:extLst>
                  <a:ext uri="{0D108BD9-81ED-4DB2-BD59-A6C34878D82A}">
                    <a16:rowId xmlns:a16="http://schemas.microsoft.com/office/drawing/2014/main" val="439214073"/>
                  </a:ext>
                </a:extLst>
              </a:tr>
              <a:tr h="273273">
                <a:tc>
                  <a:txBody>
                    <a:bodyPr/>
                    <a:lstStyle/>
                    <a:p>
                      <a:pPr algn="ctr"/>
                      <a:r>
                        <a:rPr lang="en-US" dirty="0"/>
                        <a:t>12</a:t>
                      </a:r>
                      <a:endParaRPr lang="en-SG" dirty="0"/>
                    </a:p>
                  </a:txBody>
                  <a:tcPr marL="0" marR="0" marT="0" marB="0"/>
                </a:tc>
                <a:tc>
                  <a:txBody>
                    <a:bodyPr/>
                    <a:lstStyle/>
                    <a:p>
                      <a:r>
                        <a:rPr lang="en-US" dirty="0" err="1"/>
                        <a:t>NuMi</a:t>
                      </a:r>
                      <a:r>
                        <a:rPr lang="en-US" dirty="0"/>
                        <a:t> selection</a:t>
                      </a:r>
                      <a:endParaRPr lang="en-SG" dirty="0"/>
                    </a:p>
                  </a:txBody>
                  <a:tcPr marL="0" marR="0" marT="0" marB="0"/>
                </a:tc>
                <a:extLst>
                  <a:ext uri="{0D108BD9-81ED-4DB2-BD59-A6C34878D82A}">
                    <a16:rowId xmlns:a16="http://schemas.microsoft.com/office/drawing/2014/main" val="1015593237"/>
                  </a:ext>
                </a:extLst>
              </a:tr>
              <a:tr h="273273">
                <a:tc>
                  <a:txBody>
                    <a:bodyPr/>
                    <a:lstStyle/>
                    <a:p>
                      <a:pPr algn="ctr"/>
                      <a:r>
                        <a:rPr lang="en-US" dirty="0"/>
                        <a:t>13</a:t>
                      </a:r>
                      <a:endParaRPr lang="en-SG" dirty="0"/>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Efficiency and Purity (</a:t>
                      </a:r>
                      <a:r>
                        <a:rPr lang="en-US" dirty="0" err="1"/>
                        <a:t>NuMI</a:t>
                      </a:r>
                      <a:r>
                        <a:rPr lang="en-US" dirty="0"/>
                        <a:t> vs BNB)</a:t>
                      </a:r>
                      <a:endParaRPr lang="en-SG" dirty="0"/>
                    </a:p>
                  </a:txBody>
                  <a:tcPr marL="0" marR="0" marT="0" marB="0"/>
                </a:tc>
                <a:extLst>
                  <a:ext uri="{0D108BD9-81ED-4DB2-BD59-A6C34878D82A}">
                    <a16:rowId xmlns:a16="http://schemas.microsoft.com/office/drawing/2014/main" val="3082347969"/>
                  </a:ext>
                </a:extLst>
              </a:tr>
              <a:tr h="273273">
                <a:tc>
                  <a:txBody>
                    <a:bodyPr/>
                    <a:lstStyle/>
                    <a:p>
                      <a:pPr algn="ctr"/>
                      <a:r>
                        <a:rPr lang="en-US" dirty="0"/>
                        <a:t>14</a:t>
                      </a:r>
                      <a:endParaRPr lang="en-SG" dirty="0"/>
                    </a:p>
                  </a:txBody>
                  <a:tcPr marL="0" marR="0" marT="0" marB="0"/>
                </a:tc>
                <a:tc>
                  <a:txBody>
                    <a:bodyPr/>
                    <a:lstStyle/>
                    <a:p>
                      <a:r>
                        <a:rPr lang="en-US" dirty="0"/>
                        <a:t>PID Truth to Reco matrix (</a:t>
                      </a:r>
                      <a:r>
                        <a:rPr lang="en-US" dirty="0" err="1"/>
                        <a:t>NuMI</a:t>
                      </a:r>
                      <a:r>
                        <a:rPr lang="en-US" dirty="0"/>
                        <a:t> vs BNB)</a:t>
                      </a:r>
                      <a:endParaRPr lang="en-SG" dirty="0"/>
                    </a:p>
                  </a:txBody>
                  <a:tcPr marL="0" marR="0" marT="0" marB="0"/>
                </a:tc>
                <a:extLst>
                  <a:ext uri="{0D108BD9-81ED-4DB2-BD59-A6C34878D82A}">
                    <a16:rowId xmlns:a16="http://schemas.microsoft.com/office/drawing/2014/main" val="1047276490"/>
                  </a:ext>
                </a:extLst>
              </a:tr>
              <a:tr h="273273">
                <a:tc>
                  <a:txBody>
                    <a:bodyPr/>
                    <a:lstStyle/>
                    <a:p>
                      <a:pPr algn="ctr"/>
                      <a:r>
                        <a:rPr lang="en-US" dirty="0"/>
                        <a:t>15</a:t>
                      </a:r>
                      <a:endParaRPr lang="en-SG" dirty="0"/>
                    </a:p>
                  </a:txBody>
                  <a:tcPr marL="0" marR="0" marT="0" marB="0"/>
                </a:tc>
                <a:tc>
                  <a:txBody>
                    <a:bodyPr/>
                    <a:lstStyle/>
                    <a:p>
                      <a:r>
                        <a:rPr lang="en-US" dirty="0"/>
                        <a:t>PID Reco to Truth matrix (</a:t>
                      </a:r>
                      <a:r>
                        <a:rPr lang="en-US" dirty="0" err="1"/>
                        <a:t>NuMI</a:t>
                      </a:r>
                      <a:r>
                        <a:rPr lang="en-US" dirty="0"/>
                        <a:t> vs BNB)</a:t>
                      </a:r>
                      <a:endParaRPr lang="en-SG" dirty="0"/>
                    </a:p>
                  </a:txBody>
                  <a:tcPr marL="0" marR="0" marT="0" marB="0"/>
                </a:tc>
                <a:extLst>
                  <a:ext uri="{0D108BD9-81ED-4DB2-BD59-A6C34878D82A}">
                    <a16:rowId xmlns:a16="http://schemas.microsoft.com/office/drawing/2014/main" val="1100407221"/>
                  </a:ext>
                </a:extLst>
              </a:tr>
              <a:tr h="273273">
                <a:tc>
                  <a:txBody>
                    <a:bodyPr/>
                    <a:lstStyle/>
                    <a:p>
                      <a:pPr algn="ctr"/>
                      <a:r>
                        <a:rPr lang="en-US" dirty="0"/>
                        <a:t>16</a:t>
                      </a:r>
                      <a:endParaRPr lang="en-SG" dirty="0"/>
                    </a:p>
                  </a:txBody>
                  <a:tcPr marL="0" marR="0" marT="0" marB="0"/>
                </a:tc>
                <a:tc>
                  <a:txBody>
                    <a:bodyPr/>
                    <a:lstStyle/>
                    <a:p>
                      <a:r>
                        <a:rPr lang="en-US" dirty="0"/>
                        <a:t>Plot comparison (</a:t>
                      </a:r>
                      <a:r>
                        <a:rPr lang="en-US" dirty="0" err="1"/>
                        <a:t>NuMI</a:t>
                      </a:r>
                      <a:r>
                        <a:rPr lang="en-US" dirty="0"/>
                        <a:t> vs BNB)</a:t>
                      </a:r>
                      <a:endParaRPr lang="en-SG" dirty="0"/>
                    </a:p>
                  </a:txBody>
                  <a:tcPr marL="0" marR="0" marT="0" marB="0"/>
                </a:tc>
                <a:extLst>
                  <a:ext uri="{0D108BD9-81ED-4DB2-BD59-A6C34878D82A}">
                    <a16:rowId xmlns:a16="http://schemas.microsoft.com/office/drawing/2014/main" val="1740933254"/>
                  </a:ext>
                </a:extLst>
              </a:tr>
              <a:tr h="273273">
                <a:tc>
                  <a:txBody>
                    <a:bodyPr/>
                    <a:lstStyle/>
                    <a:p>
                      <a:pPr algn="ctr"/>
                      <a:r>
                        <a:rPr lang="en-US" dirty="0"/>
                        <a:t>17</a:t>
                      </a:r>
                      <a:endParaRPr lang="en-SG" dirty="0"/>
                    </a:p>
                  </a:txBody>
                  <a:tcPr marL="0" marR="0" marT="0" marB="0"/>
                </a:tc>
                <a:tc>
                  <a:txBody>
                    <a:bodyPr/>
                    <a:lstStyle/>
                    <a:p>
                      <a:r>
                        <a:rPr lang="en-US" dirty="0"/>
                        <a:t>Plot comparison (</a:t>
                      </a:r>
                      <a:r>
                        <a:rPr lang="en-US" dirty="0" err="1"/>
                        <a:t>NuMI</a:t>
                      </a:r>
                      <a:r>
                        <a:rPr lang="en-US" dirty="0"/>
                        <a:t> vs BNB)</a:t>
                      </a:r>
                      <a:endParaRPr lang="en-SG" dirty="0"/>
                    </a:p>
                  </a:txBody>
                  <a:tcPr marL="0" marR="0" marT="0" marB="0"/>
                </a:tc>
                <a:extLst>
                  <a:ext uri="{0D108BD9-81ED-4DB2-BD59-A6C34878D82A}">
                    <a16:rowId xmlns:a16="http://schemas.microsoft.com/office/drawing/2014/main" val="1927759322"/>
                  </a:ext>
                </a:extLst>
              </a:tr>
              <a:tr h="273273">
                <a:tc>
                  <a:txBody>
                    <a:bodyPr/>
                    <a:lstStyle/>
                    <a:p>
                      <a:pPr algn="ctr"/>
                      <a:r>
                        <a:rPr lang="en-US" dirty="0"/>
                        <a:t>18</a:t>
                      </a:r>
                      <a:endParaRPr lang="en-SG" dirty="0"/>
                    </a:p>
                  </a:txBody>
                  <a:tcPr marL="0" marR="0" marT="0" marB="0"/>
                </a:tc>
                <a:tc>
                  <a:txBody>
                    <a:bodyPr/>
                    <a:lstStyle/>
                    <a:p>
                      <a:r>
                        <a:rPr lang="en-US" dirty="0" err="1"/>
                        <a:t>NuMI</a:t>
                      </a:r>
                      <a:r>
                        <a:rPr lang="en-US" dirty="0"/>
                        <a:t>: Looking into ‘other v’ category</a:t>
                      </a:r>
                      <a:endParaRPr lang="en-SG" dirty="0"/>
                    </a:p>
                  </a:txBody>
                  <a:tcPr marL="0" marR="0" marT="0" marB="0"/>
                </a:tc>
                <a:extLst>
                  <a:ext uri="{0D108BD9-81ED-4DB2-BD59-A6C34878D82A}">
                    <a16:rowId xmlns:a16="http://schemas.microsoft.com/office/drawing/2014/main" val="632488528"/>
                  </a:ext>
                </a:extLst>
              </a:tr>
              <a:tr h="273273">
                <a:tc>
                  <a:txBody>
                    <a:bodyPr/>
                    <a:lstStyle/>
                    <a:p>
                      <a:pPr algn="ctr"/>
                      <a:r>
                        <a:rPr lang="en-US" dirty="0"/>
                        <a:t>19</a:t>
                      </a:r>
                      <a:endParaRPr lang="en-SG" dirty="0"/>
                    </a:p>
                  </a:txBody>
                  <a:tcPr marL="0" marR="0" marT="0" marB="0"/>
                </a:tc>
                <a:tc>
                  <a:txBody>
                    <a:bodyPr/>
                    <a:lstStyle/>
                    <a:p>
                      <a:r>
                        <a:rPr lang="en-US" dirty="0"/>
                        <a:t>Reconstructed Muon momentum (</a:t>
                      </a:r>
                      <a:r>
                        <a:rPr lang="en-US" dirty="0" err="1"/>
                        <a:t>NuMI</a:t>
                      </a:r>
                      <a:r>
                        <a:rPr lang="en-US" dirty="0"/>
                        <a:t> vs BNB)</a:t>
                      </a:r>
                      <a:endParaRPr lang="en-SG" dirty="0"/>
                    </a:p>
                  </a:txBody>
                  <a:tcPr marL="0" marR="0" marT="0" marB="0"/>
                </a:tc>
                <a:extLst>
                  <a:ext uri="{0D108BD9-81ED-4DB2-BD59-A6C34878D82A}">
                    <a16:rowId xmlns:a16="http://schemas.microsoft.com/office/drawing/2014/main" val="757434528"/>
                  </a:ext>
                </a:extLst>
              </a:tr>
              <a:tr h="273273">
                <a:tc>
                  <a:txBody>
                    <a:bodyPr/>
                    <a:lstStyle/>
                    <a:p>
                      <a:pPr algn="ctr"/>
                      <a:r>
                        <a:rPr lang="en-US" dirty="0"/>
                        <a:t>20</a:t>
                      </a:r>
                      <a:endParaRPr lang="en-SG" dirty="0"/>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True Muon momentum (</a:t>
                      </a:r>
                      <a:r>
                        <a:rPr lang="en-US" dirty="0" err="1"/>
                        <a:t>NuMI</a:t>
                      </a:r>
                      <a:r>
                        <a:rPr lang="en-US" dirty="0"/>
                        <a:t> vs BNB)</a:t>
                      </a:r>
                      <a:endParaRPr lang="en-SG" dirty="0"/>
                    </a:p>
                  </a:txBody>
                  <a:tcPr marL="0" marR="0" marT="0" marB="0"/>
                </a:tc>
                <a:extLst>
                  <a:ext uri="{0D108BD9-81ED-4DB2-BD59-A6C34878D82A}">
                    <a16:rowId xmlns:a16="http://schemas.microsoft.com/office/drawing/2014/main" val="2542367439"/>
                  </a:ext>
                </a:extLst>
              </a:tr>
              <a:tr h="273273">
                <a:tc>
                  <a:txBody>
                    <a:bodyPr/>
                    <a:lstStyle/>
                    <a:p>
                      <a:pPr algn="ctr"/>
                      <a:r>
                        <a:rPr lang="en-US" dirty="0"/>
                        <a:t>21</a:t>
                      </a:r>
                      <a:endParaRPr lang="en-SG" dirty="0"/>
                    </a:p>
                  </a:txBody>
                  <a:tcPr marL="0" marR="0" marT="0" marB="0"/>
                </a:tc>
                <a:tc>
                  <a:txBody>
                    <a:bodyPr/>
                    <a:lstStyle/>
                    <a:p>
                      <a:r>
                        <a:rPr lang="en-US" dirty="0"/>
                        <a:t>Future work</a:t>
                      </a:r>
                      <a:endParaRPr lang="en-SG" dirty="0"/>
                    </a:p>
                  </a:txBody>
                  <a:tcPr marL="0" marR="0" marT="0" marB="0"/>
                </a:tc>
                <a:extLst>
                  <a:ext uri="{0D108BD9-81ED-4DB2-BD59-A6C34878D82A}">
                    <a16:rowId xmlns:a16="http://schemas.microsoft.com/office/drawing/2014/main" val="1597353862"/>
                  </a:ext>
                </a:extLst>
              </a:tr>
            </a:tbl>
          </a:graphicData>
        </a:graphic>
      </p:graphicFrame>
      <p:sp>
        <p:nvSpPr>
          <p:cNvPr id="3" name="Title 1">
            <a:extLst>
              <a:ext uri="{FF2B5EF4-FFF2-40B4-BE49-F238E27FC236}">
                <a16:creationId xmlns:a16="http://schemas.microsoft.com/office/drawing/2014/main" id="{7CC65F37-63BB-7528-83D2-050427AB34A0}"/>
              </a:ext>
            </a:extLst>
          </p:cNvPr>
          <p:cNvSpPr txBox="1">
            <a:spLocks/>
          </p:cNvSpPr>
          <p:nvPr/>
        </p:nvSpPr>
        <p:spPr>
          <a:xfrm>
            <a:off x="1066800" y="147895"/>
            <a:ext cx="10058400" cy="14507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dirty="0"/>
              <a:t>Appendix/ Table of contents</a:t>
            </a:r>
            <a:endParaRPr lang="en-SG" dirty="0"/>
          </a:p>
        </p:txBody>
      </p:sp>
      <p:sp>
        <p:nvSpPr>
          <p:cNvPr id="4" name="Slide Number Placeholder 3">
            <a:extLst>
              <a:ext uri="{FF2B5EF4-FFF2-40B4-BE49-F238E27FC236}">
                <a16:creationId xmlns:a16="http://schemas.microsoft.com/office/drawing/2014/main" id="{DBB092B3-37C8-AE8E-E8D8-19E62D1EA68B}"/>
              </a:ext>
            </a:extLst>
          </p:cNvPr>
          <p:cNvSpPr>
            <a:spLocks noGrp="1"/>
          </p:cNvSpPr>
          <p:nvPr>
            <p:ph type="sldNum" sz="quarter" idx="12"/>
          </p:nvPr>
        </p:nvSpPr>
        <p:spPr/>
        <p:txBody>
          <a:bodyPr/>
          <a:lstStyle/>
          <a:p>
            <a:fld id="{BBCD8743-5A53-4A98-BC6F-5DFD6CC2F469}" type="slidenum">
              <a:rPr lang="en-SG" smtClean="0"/>
              <a:t>23</a:t>
            </a:fld>
            <a:endParaRPr lang="en-SG"/>
          </a:p>
        </p:txBody>
      </p:sp>
    </p:spTree>
    <p:extLst>
      <p:ext uri="{BB962C8B-B14F-4D97-AF65-F5344CB8AC3E}">
        <p14:creationId xmlns:p14="http://schemas.microsoft.com/office/powerpoint/2010/main" val="1530569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18692</TotalTime>
  <Words>2258</Words>
  <Application>Microsoft Office PowerPoint</Application>
  <PresentationFormat>Widescreen</PresentationFormat>
  <Paragraphs>404</Paragraphs>
  <Slides>23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Calibri Light</vt:lpstr>
      <vt:lpstr>Cambria Math</vt:lpstr>
      <vt:lpstr>Retrospect</vt:lpstr>
      <vt:lpstr>Two-shower selection of HNL candidates</vt:lpstr>
      <vt:lpstr>About myself</vt:lpstr>
      <vt:lpstr>Background</vt:lpstr>
      <vt:lpstr>Motivations</vt:lpstr>
      <vt:lpstr>Event selection plan</vt:lpstr>
      <vt:lpstr>Signal and Selected definitions</vt:lpstr>
      <vt:lpstr>Efficiency and Purity analysis</vt:lpstr>
      <vt:lpstr>PID Truth to Reco confusion matrix</vt:lpstr>
      <vt:lpstr>PID Reco to Truth confusion matrix</vt:lpstr>
      <vt:lpstr>Plot comparison</vt:lpstr>
      <vt:lpstr>Plot comparison</vt:lpstr>
      <vt:lpstr>NuMI selection</vt:lpstr>
      <vt:lpstr>Efficiency and Purity analysis</vt:lpstr>
      <vt:lpstr>PID Truth to Reco confusion matrix</vt:lpstr>
      <vt:lpstr>PID Reco to Truth confusion matrix</vt:lpstr>
      <vt:lpstr>Plot comparison (NuMI vs BNB selection)</vt:lpstr>
      <vt:lpstr>Plot comparison (NuMI vs BNB selection)</vt:lpstr>
      <vt:lpstr>NuMI: Looking into ‘other v’ category</vt:lpstr>
      <vt:lpstr>Reconstructed Muon momentum</vt:lpstr>
      <vt:lpstr>True Muon momentum </vt:lpstr>
      <vt:lpstr>Future work</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41</cp:revision>
  <dcterms:created xsi:type="dcterms:W3CDTF">2025-11-12T13:24:12Z</dcterms:created>
  <dcterms:modified xsi:type="dcterms:W3CDTF">2026-04-09T16:16:05Z</dcterms:modified>
</cp:coreProperties>
</file>