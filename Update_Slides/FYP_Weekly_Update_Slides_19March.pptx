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6"/>
  </p:notesMasterIdLst>
  <p:sldIdLst>
    <p:sldId id="351" r:id="rId2"/>
    <p:sldId id="371" r:id="rId3"/>
    <p:sldId id="377" r:id="rId4"/>
    <p:sldId id="408" r:id="rId5"/>
    <p:sldId id="410" r:id="rId6"/>
    <p:sldId id="379" r:id="rId7"/>
    <p:sldId id="381" r:id="rId8"/>
    <p:sldId id="383" r:id="rId9"/>
    <p:sldId id="384" r:id="rId10"/>
    <p:sldId id="385" r:id="rId11"/>
    <p:sldId id="386" r:id="rId12"/>
    <p:sldId id="387" r:id="rId13"/>
    <p:sldId id="388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406" r:id="rId31"/>
    <p:sldId id="407" r:id="rId32"/>
    <p:sldId id="411" r:id="rId33"/>
    <p:sldId id="412" r:id="rId34"/>
    <p:sldId id="414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3630" autoAdjust="0"/>
  </p:normalViewPr>
  <p:slideViewPr>
    <p:cSldViewPr snapToGrid="0">
      <p:cViewPr>
        <p:scale>
          <a:sx n="125" d="100"/>
          <a:sy n="125" d="100"/>
        </p:scale>
        <p:origin x="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BD9BC-DEF3-4382-83D6-5C0A0444C18A}" type="datetimeFigureOut">
              <a:rPr lang="en-SG" smtClean="0"/>
              <a:t>4/4/2026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5FDCB-33CC-4AD4-B363-617329C34B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110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FA4BA-4D29-A8DF-B57D-85882B6D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C80DA-365B-C047-1DEC-58D6D5B2F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B8D1C-17EA-F430-CF55-D15A23D18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C0B01-45D4-6BF3-1074-6D74E0E73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9299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951A-563B-D311-3D49-198C0A660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85703-33B1-2256-F1D7-D73DEC544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E123F-554C-05F8-756F-F086409E0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1FFC4-39F6-4380-F35D-2A4EE699B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1798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9931-1315-8DA5-7C71-4A96A87E9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0F1C8-9067-2B92-CD7F-12667FF5D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FFD7D-7716-CBE8-AA30-0FCD12CE6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BB827-6C18-8D77-23A6-9B610F653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3058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95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780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56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4/4/2026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030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4/4/2026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259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4/4/2026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01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4/4/2026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38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AFE32E-95B7-4367-9495-9CBC389572F3}" type="datetimeFigureOut">
              <a:rPr lang="en-SG" smtClean="0"/>
              <a:t>4/4/2026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545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4/4/2026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3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928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6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AFE32E-95B7-4367-9495-9CBC389572F3}" type="datetimeFigureOut">
              <a:rPr lang="en-SG" smtClean="0"/>
              <a:t>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97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7BDB-9701-984E-3B5C-CAFEA31C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78366-A442-6703-8E8A-09627C32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completed (19 Mar)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A9378-1C91-D033-6E65-8E0A3680C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651375" cy="43518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Normalized data and stacked data instead of overlap </a:t>
            </a:r>
            <a:endParaRPr lang="en-SG" dirty="0">
              <a:solidFill>
                <a:srgbClr val="FF0000"/>
              </a:solidFill>
            </a:endParaRPr>
          </a:p>
          <a:p>
            <a:pPr marL="201168" lvl="1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5474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B572-32EC-1ABD-4D5C-10544EF4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526D-69BD-6957-2605-22AFE579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NuMI</a:t>
            </a:r>
            <a:r>
              <a:rPr lang="en-US" dirty="0"/>
              <a:t> vs BNB simulation sample</a:t>
            </a:r>
            <a:endParaRPr lang="en-SG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DA1676-B196-D320-6594-D9FBDDC2A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220565"/>
              </p:ext>
            </p:extLst>
          </p:nvPr>
        </p:nvGraphicFramePr>
        <p:xfrm>
          <a:off x="2276763" y="2123594"/>
          <a:ext cx="7638474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158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546158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546158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NuMI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BNB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Pot Size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147e20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174e20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of reconstructed selected interactions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3566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4249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20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Number of true signal interactions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3815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5532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796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20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0050A-7551-AB7A-7512-FE8CFB61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99ED5-2811-1D20-9076-D9AB08FD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Categorizing interactions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8F7A9-B4F6-CA72-D5E3-EED0DA6CCEC8}"/>
              </a:ext>
            </a:extLst>
          </p:cNvPr>
          <p:cNvSpPr txBox="1"/>
          <p:nvPr/>
        </p:nvSpPr>
        <p:spPr>
          <a:xfrm>
            <a:off x="1097280" y="1815053"/>
            <a:ext cx="10058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easier analysis of truth-level information of the reconstructed interactions, a </a:t>
            </a:r>
            <a:r>
              <a:rPr lang="en-US" dirty="0" err="1"/>
              <a:t>variablE</a:t>
            </a:r>
            <a:r>
              <a:rPr lang="en-US" dirty="0"/>
              <a:t> known as category_topology_ccpi0_simple2 was extracted. This variable tells us which of the following 5 categories does the reconstructed interaction fall under based on its matched true interaction</a:t>
            </a:r>
            <a:endParaRPr lang="en-SG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3080C7-F761-609D-D7F2-B59A3E0C8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120337"/>
              </p:ext>
            </p:extLst>
          </p:nvPr>
        </p:nvGraphicFramePr>
        <p:xfrm>
          <a:off x="771236" y="2917676"/>
          <a:ext cx="10649527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716">
                  <a:extLst>
                    <a:ext uri="{9D8B030D-6E8A-4147-A177-3AD203B41FA5}">
                      <a16:colId xmlns:a16="http://schemas.microsoft.com/office/drawing/2014/main" val="649620636"/>
                    </a:ext>
                  </a:extLst>
                </a:gridCol>
                <a:gridCol w="9136811">
                  <a:extLst>
                    <a:ext uri="{9D8B030D-6E8A-4147-A177-3AD203B41FA5}">
                      <a16:colId xmlns:a16="http://schemas.microsoft.com/office/drawing/2014/main" val="3751636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80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Neutrino interaction with 1 primary muon, 0 primary charged </a:t>
                      </a:r>
                      <a:r>
                        <a:rPr lang="en-US" dirty="0" err="1"/>
                        <a:t>pions</a:t>
                      </a:r>
                      <a:r>
                        <a:rPr lang="en-US" dirty="0"/>
                        <a:t>, and 1 primary neutral 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0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Neutrino </a:t>
                      </a:r>
                      <a:r>
                        <a:rPr lang="en-US" b="1" dirty="0"/>
                        <a:t>i</a:t>
                      </a:r>
                      <a:r>
                        <a:rPr lang="en-US" dirty="0"/>
                        <a:t>nteraction with 1 primary muon, 0 primary charged </a:t>
                      </a:r>
                      <a:r>
                        <a:rPr lang="en-US" dirty="0" err="1"/>
                        <a:t>pions</a:t>
                      </a:r>
                      <a:r>
                        <a:rPr lang="en-US" dirty="0"/>
                        <a:t>, and 2 or more neutral </a:t>
                      </a:r>
                      <a:r>
                        <a:rPr lang="en-US" dirty="0" err="1"/>
                        <a:t>pions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3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2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Neutrino interaction with 1 primary muon, 1 or more primary charged </a:t>
                      </a:r>
                      <a:r>
                        <a:rPr lang="en-US" dirty="0" err="1"/>
                        <a:t>pions</a:t>
                      </a:r>
                      <a:r>
                        <a:rPr lang="en-US" dirty="0"/>
                        <a:t>, and any number of primary neutral </a:t>
                      </a:r>
                      <a:r>
                        <a:rPr lang="en-US" dirty="0" err="1"/>
                        <a:t>pions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670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3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Neutrino interaction with 0 primary muons, and 1 or more primary neutral </a:t>
                      </a:r>
                      <a:r>
                        <a:rPr lang="en-US" dirty="0" err="1"/>
                        <a:t>pions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361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Neutrino interactions that do not fall within these categories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63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NaN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cosmics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219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756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2A56-A6B4-6BFF-9FF9-2E2112D3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4B2E-A3CE-51B5-C517-6E0B50CC7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NuMI</a:t>
            </a:r>
            <a:r>
              <a:rPr lang="en-US" b="1" dirty="0"/>
              <a:t> vs BNB: </a:t>
            </a:r>
            <a:r>
              <a:rPr lang="en-US" dirty="0"/>
              <a:t>Interaction category type percentage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19477-A02B-390C-A04D-1297D1ABB1ED}"/>
              </a:ext>
            </a:extLst>
          </p:cNvPr>
          <p:cNvSpPr txBox="1"/>
          <p:nvPr/>
        </p:nvSpPr>
        <p:spPr>
          <a:xfrm>
            <a:off x="1097280" y="1815053"/>
            <a:ext cx="8914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Differences between the percentage of selected reconstructed interactions within the interaction categories after selection</a:t>
            </a:r>
            <a:endParaRPr lang="en-SG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9049CF-8946-04FA-F70C-1833CD491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937342"/>
              </p:ext>
            </p:extLst>
          </p:nvPr>
        </p:nvGraphicFramePr>
        <p:xfrm>
          <a:off x="1344612" y="2677795"/>
          <a:ext cx="950277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694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375694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375694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  <a:gridCol w="2375694">
                  <a:extLst>
                    <a:ext uri="{9D8B030D-6E8A-4147-A177-3AD203B41FA5}">
                      <a16:colId xmlns:a16="http://schemas.microsoft.com/office/drawing/2014/main" val="3517730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NuMI</a:t>
                      </a:r>
                      <a:r>
                        <a:rPr lang="en-US" dirty="0"/>
                        <a:t> (%)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BNB (%)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BNB (%) (Lane’s paper)</a:t>
                      </a:r>
                      <a:endParaRPr lang="en-SG" dirty="0"/>
                    </a:p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0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68.3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89.6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88.8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01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5.1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5.3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4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3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303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4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19.5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2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NaN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494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115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006E7-311A-FC74-5CC8-8A9981035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2F03-7007-04CF-4256-797E36B1B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NuMI</a:t>
            </a:r>
            <a:r>
              <a:rPr lang="en-US" b="1" dirty="0"/>
              <a:t>: </a:t>
            </a:r>
            <a:r>
              <a:rPr lang="en-US" dirty="0"/>
              <a:t>Looking into ‘other </a:t>
            </a:r>
            <a:r>
              <a:rPr lang="en-US" i="1" dirty="0"/>
              <a:t>v</a:t>
            </a:r>
            <a:r>
              <a:rPr lang="en-US" dirty="0"/>
              <a:t>’ category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248076-16FC-FD22-F0BA-FA7D2A807E83}"/>
              </a:ext>
            </a:extLst>
          </p:cNvPr>
          <p:cNvSpPr txBox="1"/>
          <p:nvPr/>
        </p:nvSpPr>
        <p:spPr>
          <a:xfrm>
            <a:off x="1097279" y="1815053"/>
            <a:ext cx="103612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Due to the large percentage for the ‘other v’ interaction category, looked further into what type of interactions fall into this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 below shows the 5 most common interaction types within the ‘other </a:t>
            </a:r>
            <a:r>
              <a:rPr lang="en-US" i="1" dirty="0"/>
              <a:t>v</a:t>
            </a:r>
            <a:r>
              <a:rPr lang="en-US" dirty="0"/>
              <a:t>’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Anti-neutrino interactions account for ~78% of all ‘other v’ interactions (</a:t>
            </a:r>
            <a:r>
              <a:rPr lang="en-SG" b="1" dirty="0"/>
              <a:t>547 out of 694)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Much larger amount of anti-neutrino interactions in </a:t>
            </a:r>
            <a:r>
              <a:rPr lang="en-SG" dirty="0" err="1"/>
              <a:t>NuMI</a:t>
            </a:r>
            <a:r>
              <a:rPr lang="en-SG" dirty="0"/>
              <a:t> selection compared to BNB (566 vs 31)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171CE0-C66D-1643-A51A-9AE650EC3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731243"/>
              </p:ext>
            </p:extLst>
          </p:nvPr>
        </p:nvGraphicFramePr>
        <p:xfrm>
          <a:off x="587692" y="3429000"/>
          <a:ext cx="11077576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394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769394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769394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  <a:gridCol w="2769394">
                  <a:extLst>
                    <a:ext uri="{9D8B030D-6E8A-4147-A177-3AD203B41FA5}">
                      <a16:colId xmlns:a16="http://schemas.microsoft.com/office/drawing/2014/main" val="3517730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Interaction type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PDG code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Fiducialized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of ‘other </a:t>
                      </a:r>
                      <a:r>
                        <a:rPr lang="en-US" i="1" dirty="0" err="1"/>
                        <a:t>v</a:t>
                      </a:r>
                      <a:r>
                        <a:rPr lang="en-US" i="0" dirty="0" err="1"/>
                        <a:t>’interactions</a:t>
                      </a:r>
                      <a:r>
                        <a:rPr lang="en-US" dirty="0"/>
                        <a:t> falling into this type (%)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60.5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01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4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303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26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827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6505-366B-3071-13B9-B0186282D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6B37-DF93-2900-1C2D-80BF8A2F6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Initial selection: </a:t>
            </a:r>
            <a:r>
              <a:rPr lang="en-US" dirty="0"/>
              <a:t>neutral pion mass distribution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27EAE-A771-3C99-0087-8E9B17E5C5E0}"/>
              </a:ext>
            </a:extLst>
          </p:cNvPr>
          <p:cNvSpPr txBox="1"/>
          <p:nvPr/>
        </p:nvSpPr>
        <p:spPr>
          <a:xfrm>
            <a:off x="1097279" y="1815053"/>
            <a:ext cx="10902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plot of the reconstructed neutral pion mass distribution for reconstructed interactions split into their true interaction categories is shown</a:t>
            </a:r>
            <a:endParaRPr lang="en-SG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3505F4-87D5-9F87-22BA-23F4BCFEA3BE}"/>
              </a:ext>
            </a:extLst>
          </p:cNvPr>
          <p:cNvSpPr txBox="1"/>
          <p:nvPr/>
        </p:nvSpPr>
        <p:spPr>
          <a:xfrm>
            <a:off x="436103" y="5674957"/>
            <a:ext cx="592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Reconstructed neutral pion mass plot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6ECC95-6159-0502-7A59-4AAFAD06552D}"/>
              </a:ext>
            </a:extLst>
          </p:cNvPr>
          <p:cNvSpPr txBox="1"/>
          <p:nvPr/>
        </p:nvSpPr>
        <p:spPr>
          <a:xfrm>
            <a:off x="6453239" y="5674957"/>
            <a:ext cx="4855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Reconstructed neutral pion mass plot from my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CD612D-7F4E-D1FF-4859-B4C676182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86" y="2610932"/>
            <a:ext cx="4952962" cy="31127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56CD53-F316-76B9-2517-0EEFC05C8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754" y="2610931"/>
            <a:ext cx="5130833" cy="311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08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8EBA-B50B-2E34-9B7B-E4142FCC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F267C-9532-8CAA-BF00-D53BB1B26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Cuts on reconstructed neutral pion mass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32292-3979-8FA1-314D-9995387EEFE6}"/>
              </a:ext>
            </a:extLst>
          </p:cNvPr>
          <p:cNvSpPr txBox="1"/>
          <p:nvPr/>
        </p:nvSpPr>
        <p:spPr>
          <a:xfrm>
            <a:off x="1097279" y="1815053"/>
            <a:ext cx="11159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dirty="0" err="1"/>
              <a:t>NuMI</a:t>
            </a:r>
            <a:r>
              <a:rPr lang="en-US" dirty="0"/>
              <a:t>. Pi0 mass distribution between 0 to 80 MeV and 220 to 600 MeV still contain primarily non signal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dirty="0" err="1"/>
              <a:t>NuMI</a:t>
            </a:r>
            <a:r>
              <a:rPr lang="en-US" dirty="0"/>
              <a:t>, a more suitable pi0 mass cut would be at 80 MeV and 220 MeV, as opposed to 60 MeV and 300 MeV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27234C-BE19-723D-8B73-87DB35EF801B}"/>
              </a:ext>
            </a:extLst>
          </p:cNvPr>
          <p:cNvSpPr txBox="1"/>
          <p:nvPr/>
        </p:nvSpPr>
        <p:spPr>
          <a:xfrm>
            <a:off x="926028" y="5979586"/>
            <a:ext cx="4402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Reconstructed Pi0 mass plot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D5C88E-09AE-7981-E0F1-3B8FC21CDB7D}"/>
              </a:ext>
            </a:extLst>
          </p:cNvPr>
          <p:cNvSpPr txBox="1"/>
          <p:nvPr/>
        </p:nvSpPr>
        <p:spPr>
          <a:xfrm>
            <a:off x="6774593" y="5979586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Reconstructed Pi0 mass plot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57A6AD-0385-5B8D-2527-8EF290480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13" y="2959213"/>
            <a:ext cx="4846859" cy="3046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5058CD-7F1C-B473-E3B3-DC95ED732E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1230" y="2959213"/>
            <a:ext cx="5020917" cy="304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4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0F106-E4D2-6390-7BFF-5B251E68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8137-7C0C-BCC7-B32A-D9F8B860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66311"/>
            <a:ext cx="10058400" cy="725378"/>
          </a:xfrm>
        </p:spPr>
        <p:txBody>
          <a:bodyPr/>
          <a:lstStyle/>
          <a:p>
            <a:pPr algn="ctr"/>
            <a:r>
              <a:rPr lang="en-US" b="1" dirty="0"/>
              <a:t>Selection performance analysis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711633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B4144-36F2-840B-8590-F00E22E3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9056-A598-1597-35F3-A324DC3AA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Efficiency and Purity analysis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267A1-6DDE-E38A-5349-210EB6C2ACB5}"/>
              </a:ext>
            </a:extLst>
          </p:cNvPr>
          <p:cNvSpPr txBox="1"/>
          <p:nvPr/>
        </p:nvSpPr>
        <p:spPr>
          <a:xfrm>
            <a:off x="1097279" y="1815053"/>
            <a:ext cx="10399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Efficiency defined as fraction of true signal interactions that are matched to selected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Purity defined as the fraction of selected interactions that are matched to true signal interactions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14EE5EB-2216-C1EB-781E-057499EA2E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418082"/>
                  </p:ext>
                </p:extLst>
              </p:nvPr>
            </p:nvGraphicFramePr>
            <p:xfrm>
              <a:off x="6696365" y="2588471"/>
              <a:ext cx="5292204" cy="33722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9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3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54442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97.1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2.7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96.6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4.6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6.7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83.4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7.39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70.4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86.8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631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𝛾𝛾</m:t>
                                  </m:r>
                                </m:sub>
                              </m:sSub>
                              <m:r>
                                <a:rPr lang="ar-AE" sz="1600" i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sepChr m:val=",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oMath>
                          </a14:m>
                          <a:r>
                            <a:rPr lang="ar-AE" sz="1600">
                              <a:effectLst/>
                            </a:rPr>
                            <a:t>﻿ </a:t>
                          </a:r>
                          <a:r>
                            <a:rPr lang="en-SG" sz="1600">
                              <a:effectLst/>
                            </a:rPr>
                            <a:t>MeV/c2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68.9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89.7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14EE5EB-2216-C1EB-781E-057499EA2E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418082"/>
                  </p:ext>
                </p:extLst>
              </p:nvPr>
            </p:nvGraphicFramePr>
            <p:xfrm>
              <a:off x="6696365" y="2588471"/>
              <a:ext cx="5292204" cy="33722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9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3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97.1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2.7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96.6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4.6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6.7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83.4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7.39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70.4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86.8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98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" t="-470408" r="-201034" b="-1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68.9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89.7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20B0FF2-8672-142F-7451-861ABCBEC5CD}"/>
              </a:ext>
            </a:extLst>
          </p:cNvPr>
          <p:cNvSpPr txBox="1"/>
          <p:nvPr/>
        </p:nvSpPr>
        <p:spPr>
          <a:xfrm>
            <a:off x="7055046" y="5872064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Efficiency and Purity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94F782-75AC-D48C-F4B8-C596F7ACC6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4334626"/>
                  </p:ext>
                </p:extLst>
              </p:nvPr>
            </p:nvGraphicFramePr>
            <p:xfrm>
              <a:off x="203432" y="2588471"/>
              <a:ext cx="5292204" cy="3250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8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4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6227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95.4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1</a:t>
                          </a:r>
                          <a:r>
                            <a:rPr lang="en-SG" sz="1600" dirty="0">
                              <a:effectLst/>
                            </a:rPr>
                            <a:t>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93.7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3</a:t>
                          </a:r>
                          <a:r>
                            <a:rPr lang="en-SG" sz="1600" dirty="0">
                              <a:effectLst/>
                            </a:rPr>
                            <a:t>.48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8</a:t>
                          </a:r>
                          <a:r>
                            <a:rPr lang="en-SG" sz="1600" dirty="0">
                              <a:effectLst/>
                            </a:rPr>
                            <a:t>8.6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5.52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7</a:t>
                          </a:r>
                          <a:r>
                            <a:rPr lang="en-SG" sz="1600" dirty="0">
                              <a:effectLst/>
                            </a:rPr>
                            <a:t>8.1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6.32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</a:t>
                          </a:r>
                          <a:r>
                            <a:rPr lang="en-SG" sz="1600" dirty="0">
                              <a:effectLst/>
                            </a:rPr>
                            <a:t>5.1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64.76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823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𝛾𝛾</m:t>
                                  </m:r>
                                </m:sub>
                              </m:sSub>
                              <m:r>
                                <a:rPr lang="ar-AE" sz="1600" i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sepChr m:val=",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oMath>
                          </a14:m>
                          <a:r>
                            <a:rPr lang="ar-AE" sz="1600">
                              <a:effectLst/>
                            </a:rPr>
                            <a:t>﻿ </a:t>
                          </a:r>
                          <a:r>
                            <a:rPr lang="en-SG" sz="1600">
                              <a:effectLst/>
                            </a:rPr>
                            <a:t>MeV/c2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63.0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68.56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94F782-75AC-D48C-F4B8-C596F7ACC6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4334626"/>
                  </p:ext>
                </p:extLst>
              </p:nvPr>
            </p:nvGraphicFramePr>
            <p:xfrm>
              <a:off x="203432" y="2588471"/>
              <a:ext cx="5292204" cy="3250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8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4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95.4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1</a:t>
                          </a:r>
                          <a:r>
                            <a:rPr lang="en-SG" sz="1600" dirty="0">
                              <a:effectLst/>
                            </a:rPr>
                            <a:t>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93.7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3</a:t>
                          </a:r>
                          <a:r>
                            <a:rPr lang="en-SG" sz="1600" dirty="0">
                              <a:effectLst/>
                            </a:rPr>
                            <a:t>.48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8</a:t>
                          </a:r>
                          <a:r>
                            <a:rPr lang="en-SG" sz="1600" dirty="0">
                              <a:effectLst/>
                            </a:rPr>
                            <a:t>8.6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5.52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7</a:t>
                          </a:r>
                          <a:r>
                            <a:rPr lang="en-SG" sz="1600" dirty="0">
                              <a:effectLst/>
                            </a:rPr>
                            <a:t>8.1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6.32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</a:t>
                          </a:r>
                          <a:r>
                            <a:rPr lang="en-SG" sz="1600" dirty="0">
                              <a:effectLst/>
                            </a:rPr>
                            <a:t>5.1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64.76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98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45" t="-450000" r="-201034" b="-1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63.0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68.56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69B3E57-ED6D-9BA8-63AC-EF8ADCBC7838}"/>
              </a:ext>
            </a:extLst>
          </p:cNvPr>
          <p:cNvSpPr txBox="1"/>
          <p:nvPr/>
        </p:nvSpPr>
        <p:spPr>
          <a:xfrm>
            <a:off x="339921" y="5872064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Efficiency and Purity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</p:spTree>
    <p:extLst>
      <p:ext uri="{BB962C8B-B14F-4D97-AF65-F5344CB8AC3E}">
        <p14:creationId xmlns:p14="http://schemas.microsoft.com/office/powerpoint/2010/main" val="3768856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DCFD-44DF-F70A-70F3-FA4F47CC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B3994-68A0-96C1-082F-5B4F794F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PID Truth to Reco confusion matrix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046E30-6369-82EF-83B2-78046C0EF136}"/>
              </a:ext>
            </a:extLst>
          </p:cNvPr>
          <p:cNvSpPr txBox="1"/>
          <p:nvPr/>
        </p:nvSpPr>
        <p:spPr>
          <a:xfrm>
            <a:off x="1097279" y="1815053"/>
            <a:ext cx="10399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Plotting confusion matrix for PID particle type for true signal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reason for inefficiency is due to true final state protons misidentified as muons or </a:t>
            </a:r>
            <a:r>
              <a:rPr lang="en-US" dirty="0" err="1"/>
              <a:t>pions</a:t>
            </a:r>
            <a:endParaRPr lang="en-S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DAD5A3-CE1E-D132-5441-8A4C72AA7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262" y="2594442"/>
            <a:ext cx="4799646" cy="34376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725E21-478B-5DFF-5DD2-A77C7156B4AE}"/>
              </a:ext>
            </a:extLst>
          </p:cNvPr>
          <p:cNvSpPr txBox="1"/>
          <p:nvPr/>
        </p:nvSpPr>
        <p:spPr>
          <a:xfrm>
            <a:off x="114251" y="6020576"/>
            <a:ext cx="592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Truth to Reco confusion matrix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8B177-BE44-DC23-79B6-67E6D68C8D55}"/>
              </a:ext>
            </a:extLst>
          </p:cNvPr>
          <p:cNvSpPr txBox="1"/>
          <p:nvPr/>
        </p:nvSpPr>
        <p:spPr>
          <a:xfrm>
            <a:off x="6826664" y="6020577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Truth to Reco confusion matrix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BF8B37-A3E6-E684-713B-2636FAA79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93" y="2563884"/>
            <a:ext cx="4799646" cy="343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75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47F81-FD92-BDE9-2A40-1F2BB6AE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2A35-60E0-DC0E-629F-E627A2402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PID Reco to Truth confusion matrix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2AD1D2-7FBF-BDFE-7A9A-8576786B3882}"/>
              </a:ext>
            </a:extLst>
          </p:cNvPr>
          <p:cNvSpPr txBox="1"/>
          <p:nvPr/>
        </p:nvSpPr>
        <p:spPr>
          <a:xfrm>
            <a:off x="1097279" y="1815053"/>
            <a:ext cx="10399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Plotting confusion matrix for PID particle type for true signal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reason for impurity is due to misidentification of true </a:t>
            </a:r>
            <a:r>
              <a:rPr lang="en-US" dirty="0" err="1"/>
              <a:t>pions</a:t>
            </a:r>
            <a:r>
              <a:rPr lang="en-US" dirty="0"/>
              <a:t> as protons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40C7CF-39BA-CD16-707F-8969B8E02F3F}"/>
              </a:ext>
            </a:extLst>
          </p:cNvPr>
          <p:cNvSpPr txBox="1"/>
          <p:nvPr/>
        </p:nvSpPr>
        <p:spPr>
          <a:xfrm>
            <a:off x="208832" y="6021354"/>
            <a:ext cx="592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 to Truth confusion matrix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D1E6F2-EE49-4410-B7A2-4C944965C230}"/>
              </a:ext>
            </a:extLst>
          </p:cNvPr>
          <p:cNvSpPr txBox="1"/>
          <p:nvPr/>
        </p:nvSpPr>
        <p:spPr>
          <a:xfrm>
            <a:off x="6728772" y="6003414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 to Truth confusion matrix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37E546-1A73-9A61-EF98-A9CAD6CBF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450" y="2628887"/>
            <a:ext cx="4735486" cy="33916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F254D1-93A3-EBED-46CD-BC0C96DDE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63" y="2628886"/>
            <a:ext cx="4735488" cy="33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1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A389D-3D0E-62FA-82A7-0BE95A46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4EE8-598F-D98F-163A-1A169890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66311"/>
            <a:ext cx="10058400" cy="725378"/>
          </a:xfrm>
        </p:spPr>
        <p:txBody>
          <a:bodyPr/>
          <a:lstStyle/>
          <a:p>
            <a:pPr algn="ctr"/>
            <a:r>
              <a:rPr lang="en-US" b="1" dirty="0"/>
              <a:t>Reconstructed observables in simulation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954178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9A9C6-7DC1-9143-EB75-3F68E135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67D8-0EFE-876B-EC5B-42C455B7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Reconstructed observables in simulation</a:t>
            </a:r>
            <a:endParaRPr lang="en-SG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78CD3-C611-5B0F-B390-ECDB3B55DCC7}"/>
              </a:ext>
            </a:extLst>
          </p:cNvPr>
          <p:cNvSpPr txBox="1"/>
          <p:nvPr/>
        </p:nvSpPr>
        <p:spPr>
          <a:xfrm>
            <a:off x="1097280" y="1815053"/>
            <a:ext cx="891493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following observables relevant to the analysis are </a:t>
            </a:r>
            <a:r>
              <a:rPr lang="en-US" b="1" dirty="0" err="1"/>
              <a:t>seperated</a:t>
            </a:r>
            <a:r>
              <a:rPr lang="en-US" b="1" dirty="0"/>
              <a:t> into the following 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Low-level observables to assess basic reconstruction performance and eventually data/simulation agreement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Transverse kinematic imbalance (TKI) observables that are sensitive to nuclear effects like FSI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Observables related to four-momentum transfer and hadronic invariant mass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Neutral pion mass observables relevant to calibration of electromagnetic showers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 section analysis observables for which single differential cross section will be extracted as a function of</a:t>
            </a:r>
          </a:p>
          <a:p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3646142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E5DC-28D5-887E-9A95-DF114353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D4689-3714-8A5D-988A-DEE53D30B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43BBF-3E05-E858-42D1-C21D9FFE08A0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Interaction vertex in x-axis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215E12-2502-2938-8C61-CD7CFFBC0DEE}"/>
              </a:ext>
            </a:extLst>
          </p:cNvPr>
          <p:cNvSpPr txBox="1"/>
          <p:nvPr/>
        </p:nvSpPr>
        <p:spPr>
          <a:xfrm>
            <a:off x="1270507" y="5871234"/>
            <a:ext cx="3961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x-axis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F1D43A-44A6-EA88-46E8-F09498A5DF4D}"/>
              </a:ext>
            </a:extLst>
          </p:cNvPr>
          <p:cNvSpPr txBox="1"/>
          <p:nvPr/>
        </p:nvSpPr>
        <p:spPr>
          <a:xfrm>
            <a:off x="7054801" y="5907549"/>
            <a:ext cx="377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Interaction vertex in x-axis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906E0E-58AA-B9C3-9E6B-DB00FC3F8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10" y="2548180"/>
            <a:ext cx="5250933" cy="33593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382085-C2B9-7C35-6387-2B5FEB145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259" y="2548180"/>
            <a:ext cx="5250934" cy="335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704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76F5-4D87-9D15-F35D-58704F6B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C0805-BB38-961C-B7D7-7E3BD7767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3CD90-D7E3-497D-B1C2-48E97748C324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Interaction vertex in Y-axis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068F92-5FC1-2421-1B13-570CACDAA7A6}"/>
              </a:ext>
            </a:extLst>
          </p:cNvPr>
          <p:cNvSpPr txBox="1"/>
          <p:nvPr/>
        </p:nvSpPr>
        <p:spPr>
          <a:xfrm>
            <a:off x="1135348" y="5835656"/>
            <a:ext cx="4164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Y-axis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2E8263-23B4-4977-CB48-8DD9DC933A89}"/>
              </a:ext>
            </a:extLst>
          </p:cNvPr>
          <p:cNvSpPr txBox="1"/>
          <p:nvPr/>
        </p:nvSpPr>
        <p:spPr>
          <a:xfrm>
            <a:off x="7088361" y="5841137"/>
            <a:ext cx="377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Y-axis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76F16-8971-F765-B6AF-537B12923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58" y="2609564"/>
            <a:ext cx="5051180" cy="32315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8A2CF1-D45F-E724-71E5-3B9726C09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464" y="2604082"/>
            <a:ext cx="5051180" cy="323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40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0F2E6-9608-6F41-406D-16EDC1BF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D0E6-44E7-91D8-B181-0442FA38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32678-7D24-0D8F-9C64-55E20AE5F180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Interaction vertex in Z-axis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3255E6-7253-42A3-F126-5D1F5FF6AEC8}"/>
              </a:ext>
            </a:extLst>
          </p:cNvPr>
          <p:cNvSpPr txBox="1"/>
          <p:nvPr/>
        </p:nvSpPr>
        <p:spPr>
          <a:xfrm>
            <a:off x="1107493" y="5866687"/>
            <a:ext cx="4026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Z-axis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FEE368-A1B5-C9FC-11A0-D4C1E3625D4A}"/>
              </a:ext>
            </a:extLst>
          </p:cNvPr>
          <p:cNvSpPr txBox="1"/>
          <p:nvPr/>
        </p:nvSpPr>
        <p:spPr>
          <a:xfrm>
            <a:off x="7185489" y="5868283"/>
            <a:ext cx="377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Z-axis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DE0BD0-D15A-682D-F0F5-1C76625DE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37" y="2532286"/>
            <a:ext cx="5211906" cy="33344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D64338-D574-1A49-4335-ACB5ADD38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457" y="2532286"/>
            <a:ext cx="5211905" cy="333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06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76A3F-C6C8-1D7F-D9D2-3601994E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AA12-0C38-E248-D1E1-0F4D7E32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10AC7-EB65-2F21-5DEB-B3716049AF01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primary Muon length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49B300-F803-0121-D70C-A7F6C0D04560}"/>
              </a:ext>
            </a:extLst>
          </p:cNvPr>
          <p:cNvSpPr txBox="1"/>
          <p:nvPr/>
        </p:nvSpPr>
        <p:spPr>
          <a:xfrm>
            <a:off x="1499402" y="5907549"/>
            <a:ext cx="3555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Muon length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644CE0-1277-8675-D3F5-B7CE90175BBC}"/>
              </a:ext>
            </a:extLst>
          </p:cNvPr>
          <p:cNvSpPr txBox="1"/>
          <p:nvPr/>
        </p:nvSpPr>
        <p:spPr>
          <a:xfrm>
            <a:off x="7137458" y="5907550"/>
            <a:ext cx="377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Muon length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412EC2-7D2D-375B-08AA-C5E404297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69" y="2440600"/>
            <a:ext cx="5419088" cy="3466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467FDB-10C1-5D1B-726E-2D5ABF220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925" y="2440600"/>
            <a:ext cx="5419088" cy="34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96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150F7-F043-8697-177C-452ADAD4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337F-5243-4404-4107-5A2DCD0B2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BAEB6-8C41-914D-E405-530406411486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</a:t>
            </a:r>
            <a:r>
              <a:rPr lang="en-SG" sz="2400" b="1" dirty="0"/>
              <a:t>leading photon conversion distance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41DED7-A850-3EFF-FB53-FC547C0225D4}"/>
              </a:ext>
            </a:extLst>
          </p:cNvPr>
          <p:cNvSpPr txBox="1"/>
          <p:nvPr/>
        </p:nvSpPr>
        <p:spPr>
          <a:xfrm>
            <a:off x="937866" y="5891438"/>
            <a:ext cx="4620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leading photon conversion distance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30DAA-89BD-6EE0-D630-96C8A448F224}"/>
              </a:ext>
            </a:extLst>
          </p:cNvPr>
          <p:cNvSpPr txBox="1"/>
          <p:nvPr/>
        </p:nvSpPr>
        <p:spPr>
          <a:xfrm>
            <a:off x="6726039" y="5891438"/>
            <a:ext cx="443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leading photon conversion distance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6210F4-0073-8FF3-D58E-0E820528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85" y="2606447"/>
            <a:ext cx="5326850" cy="32849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23D78E-D5E3-55C5-526E-EFAF8A829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567" y="2651966"/>
            <a:ext cx="5253038" cy="323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33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C307C-CEF7-9EE2-FBBA-B8152F255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8124-E43F-7CA4-DB93-C19A4E9B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DF1B1-6D3F-D7E9-C9DB-C59A7C06EF90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sub</a:t>
            </a:r>
            <a:r>
              <a:rPr lang="en-SG" sz="2400" b="1" dirty="0"/>
              <a:t>leading photon conversion distance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98D66D-E0BA-22C9-B35C-E61B063A52F1}"/>
              </a:ext>
            </a:extLst>
          </p:cNvPr>
          <p:cNvSpPr txBox="1"/>
          <p:nvPr/>
        </p:nvSpPr>
        <p:spPr>
          <a:xfrm>
            <a:off x="488156" y="5815233"/>
            <a:ext cx="499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 err="1"/>
              <a:t>subleading</a:t>
            </a:r>
            <a:r>
              <a:rPr lang="en-SG" sz="1400" b="1" dirty="0"/>
              <a:t> photon conversion distance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668CF6-165B-85B8-0F80-D96ADBE2D305}"/>
              </a:ext>
            </a:extLst>
          </p:cNvPr>
          <p:cNvSpPr txBox="1"/>
          <p:nvPr/>
        </p:nvSpPr>
        <p:spPr>
          <a:xfrm>
            <a:off x="6787727" y="5815233"/>
            <a:ext cx="4833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 err="1"/>
              <a:t>subleading</a:t>
            </a:r>
            <a:r>
              <a:rPr lang="en-SG" sz="1400" b="1" dirty="0"/>
              <a:t> photon conversion distance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CB9679-C6E7-5C12-9FB1-D65958065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53" y="2410965"/>
            <a:ext cx="5557608" cy="34042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981D6A-A700-73F4-091C-F62C1B08F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239" y="2410965"/>
            <a:ext cx="5557608" cy="340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38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8860A-BE5C-2C84-A9DF-BBEB12E7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063B-3872-4F3C-505E-A5485A0B2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Transverse kinematic imbalance observables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6E33F-F8F8-66E5-5E24-CCF2DFFC1D75}"/>
              </a:ext>
            </a:extLst>
          </p:cNvPr>
          <p:cNvSpPr txBox="1"/>
          <p:nvPr/>
        </p:nvSpPr>
        <p:spPr>
          <a:xfrm>
            <a:off x="377287" y="5908218"/>
            <a:ext cx="5224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 err="1"/>
              <a:t>subleading</a:t>
            </a:r>
            <a:r>
              <a:rPr lang="en-SG" sz="1400" b="1" dirty="0"/>
              <a:t> </a:t>
            </a:r>
            <a:r>
              <a:rPr lang="en-US" sz="1400" b="1" dirty="0"/>
              <a:t>Transverse momentum imbalance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3EA246-FF48-B759-6A0F-05D54FEC5097}"/>
              </a:ext>
            </a:extLst>
          </p:cNvPr>
          <p:cNvSpPr txBox="1"/>
          <p:nvPr/>
        </p:nvSpPr>
        <p:spPr>
          <a:xfrm>
            <a:off x="6589827" y="5891439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 err="1"/>
              <a:t>subleading</a:t>
            </a:r>
            <a:r>
              <a:rPr lang="en-SG" sz="1400" b="1" dirty="0"/>
              <a:t> </a:t>
            </a:r>
            <a:r>
              <a:rPr lang="en-US" sz="1400" b="1" dirty="0"/>
              <a:t>Transverse momentum imbalance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89EE1C-A6DB-5E04-2418-F4563CE3DE96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Reconstructed Transverse momentum imbalance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8F72F2-C9E2-15E2-655B-43C98C06D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25" y="2794430"/>
            <a:ext cx="4986616" cy="31137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5E444F-E4C8-C035-F30D-CDCC1C8A8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959" y="2794430"/>
            <a:ext cx="4986616" cy="311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37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317CD-2B79-C0E2-ED05-B20E0A98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D7F9-78D6-7214-6671-B5E66C279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Transverse kinematic imbalance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9FEED-4E20-4D28-6D19-5E8E9A818EB5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Reconstructed Transverse momentum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15F234-CA16-6B70-C19A-9D7C872A2C21}"/>
              </a:ext>
            </a:extLst>
          </p:cNvPr>
          <p:cNvSpPr txBox="1"/>
          <p:nvPr/>
        </p:nvSpPr>
        <p:spPr>
          <a:xfrm>
            <a:off x="776179" y="5815233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Transverse momentum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CDF4AF-A61E-E18E-955E-D70B597EC620}"/>
              </a:ext>
            </a:extLst>
          </p:cNvPr>
          <p:cNvSpPr txBox="1"/>
          <p:nvPr/>
        </p:nvSpPr>
        <p:spPr>
          <a:xfrm>
            <a:off x="6559265" y="5815233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/>
              <a:t>Transverse momentum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9FF7D-8867-3347-067D-673BE200D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06" y="2288844"/>
            <a:ext cx="5511998" cy="35263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925DD4-DBF8-418C-1944-00626DABA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097" y="2288844"/>
            <a:ext cx="5511997" cy="352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08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60372-D754-89D6-C90E-38795223B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923C-225C-1FA5-D9CD-BD4E8A31A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Transverse kinematic imbalance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F761D6-7B22-C26D-DC67-97EBCD1BF593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Reconstructed  transverse boosting angle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Transverse boosting angle, or the angle between the transverse momentum imbalance  vector  and  the  negative  transverse  momentum  of  the  muon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035EA4-F102-3DC7-B182-BDDF5C4F97F3}"/>
              </a:ext>
            </a:extLst>
          </p:cNvPr>
          <p:cNvSpPr txBox="1"/>
          <p:nvPr/>
        </p:nvSpPr>
        <p:spPr>
          <a:xfrm>
            <a:off x="934602" y="5919305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Boosting angle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04D43C-4318-575C-E0F8-D28A72C93CB8}"/>
              </a:ext>
            </a:extLst>
          </p:cNvPr>
          <p:cNvSpPr txBox="1"/>
          <p:nvPr/>
        </p:nvSpPr>
        <p:spPr>
          <a:xfrm>
            <a:off x="6402413" y="5918101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Boosting angle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694573-D56C-60F0-1A97-686E4EC78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27" y="2808321"/>
            <a:ext cx="4860808" cy="31097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7BA871-35DE-1453-970E-CB5644229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63" y="2815941"/>
            <a:ext cx="4860808" cy="310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16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41E9-D6D7-0498-A8A6-09113930D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047A1-8676-6E11-D4E8-26D6819A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Four-Momentum Transfer and Hadronic Invariant Mass observables </a:t>
            </a:r>
            <a:endParaRPr lang="en-SG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C97DAB-5418-8A8E-A6AB-3E5A1B399A9B}"/>
              </a:ext>
            </a:extLst>
          </p:cNvPr>
          <p:cNvSpPr txBox="1"/>
          <p:nvPr/>
        </p:nvSpPr>
        <p:spPr>
          <a:xfrm>
            <a:off x="1097279" y="1815053"/>
            <a:ext cx="103993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Four-Momentum Transfer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Squared four-momentum transfer to target nucleon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E4DAE9-6711-D902-C851-CA84A189BB51}"/>
              </a:ext>
            </a:extLst>
          </p:cNvPr>
          <p:cNvSpPr txBox="1"/>
          <p:nvPr/>
        </p:nvSpPr>
        <p:spPr>
          <a:xfrm>
            <a:off x="1188401" y="5891439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Four-Momentum Transfer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77DE49-E970-13CA-B8E2-73B68DEB6FDD}"/>
              </a:ext>
            </a:extLst>
          </p:cNvPr>
          <p:cNvSpPr txBox="1"/>
          <p:nvPr/>
        </p:nvSpPr>
        <p:spPr>
          <a:xfrm>
            <a:off x="6217519" y="5891439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Four-Momentum Transfer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39921C-025D-CEEB-C4CA-3ACCF9D2B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41" y="2690090"/>
            <a:ext cx="4906482" cy="3139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973B8E-7066-17A1-3558-67FC33DAF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977" y="2690089"/>
            <a:ext cx="4906482" cy="313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72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48746-BB39-6F9E-0ABA-DADE8D612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5D79-BFFE-EA73-78DF-3321F6EE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Four-Momentum Transfer and Hadronic Invariant Mass observables </a:t>
            </a:r>
            <a:endParaRPr lang="en-SG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2A1A5-952D-BAFC-2822-3C039ECDDA2D}"/>
              </a:ext>
            </a:extLst>
          </p:cNvPr>
          <p:cNvSpPr txBox="1"/>
          <p:nvPr/>
        </p:nvSpPr>
        <p:spPr>
          <a:xfrm>
            <a:off x="1097279" y="1815053"/>
            <a:ext cx="103993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Hadronic Invariant Mass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Hadronic invariant mass of the ﬁnal state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285F44-E328-A8FF-8A75-F4E7A7F6F7DD}"/>
              </a:ext>
            </a:extLst>
          </p:cNvPr>
          <p:cNvSpPr txBox="1"/>
          <p:nvPr/>
        </p:nvSpPr>
        <p:spPr>
          <a:xfrm>
            <a:off x="1193404" y="5895880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Hadronic Invariant Mass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E83911-DCF8-8C82-3045-4330FD139A07}"/>
              </a:ext>
            </a:extLst>
          </p:cNvPr>
          <p:cNvSpPr txBox="1"/>
          <p:nvPr/>
        </p:nvSpPr>
        <p:spPr>
          <a:xfrm>
            <a:off x="6169755" y="5895881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Hadronic Invariant Mass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02CD99-F7D1-E8E5-A3A7-133DCCA24E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7339" y="2774902"/>
            <a:ext cx="5118106" cy="31777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CA297B-F5FE-73C1-C25B-7C5519647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57" y="2774901"/>
            <a:ext cx="5118107" cy="317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045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A6347-9C27-81D9-AD60-A8DAEC95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92CF-F033-7100-EC9D-1E9DB96D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Neutral Pion Mass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FF91B-F2F8-1945-A9DC-73E42C54B88B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leading photon KE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F4EF03-2649-F9E9-EE01-4704B5ADF59B}"/>
              </a:ext>
            </a:extLst>
          </p:cNvPr>
          <p:cNvSpPr txBox="1"/>
          <p:nvPr/>
        </p:nvSpPr>
        <p:spPr>
          <a:xfrm>
            <a:off x="1069112" y="5822442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leading photon KE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12C430-5726-6287-0BCB-84ECEBE2BC01}"/>
              </a:ext>
            </a:extLst>
          </p:cNvPr>
          <p:cNvSpPr txBox="1"/>
          <p:nvPr/>
        </p:nvSpPr>
        <p:spPr>
          <a:xfrm>
            <a:off x="6559265" y="5822442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leading photon KE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9FBA45-543A-5444-A82E-EEAE447D90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8658" y="2420706"/>
            <a:ext cx="5116368" cy="3273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E50200-A9A9-FA65-5197-C9130325E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973" y="2428325"/>
            <a:ext cx="5116369" cy="327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32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80585-D932-E9CA-8CD2-EAFFF34A5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0AC5D-273B-B953-D97E-603B3DC3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Neutral Pion Mass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4B821F-9F17-EDA7-8AF2-8F83DF1DC045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US" sz="1600" b="1" dirty="0" err="1"/>
              <a:t>subleading</a:t>
            </a:r>
            <a:r>
              <a:rPr lang="en-US" sz="1600" b="1" dirty="0"/>
              <a:t> photon KE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7D140E-32ED-2FC1-5DBE-B13691A9298E}"/>
              </a:ext>
            </a:extLst>
          </p:cNvPr>
          <p:cNvSpPr txBox="1"/>
          <p:nvPr/>
        </p:nvSpPr>
        <p:spPr>
          <a:xfrm>
            <a:off x="759174" y="5920814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/>
              <a:t>subleading</a:t>
            </a:r>
            <a:r>
              <a:rPr lang="en-US" sz="1400" b="1" dirty="0"/>
              <a:t> photon KE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50EF55-615D-9E09-3F63-B326AAA62A3F}"/>
              </a:ext>
            </a:extLst>
          </p:cNvPr>
          <p:cNvSpPr txBox="1"/>
          <p:nvPr/>
        </p:nvSpPr>
        <p:spPr>
          <a:xfrm>
            <a:off x="6559265" y="5920815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/>
              <a:t>subleading</a:t>
            </a:r>
            <a:r>
              <a:rPr lang="en-US" sz="1400" b="1" dirty="0"/>
              <a:t> photon KE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FBD2D-DBCE-125B-FDA5-F7EFF18C6F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631" y="2490759"/>
            <a:ext cx="5377670" cy="3400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F88ACE-BFD0-6AD8-748D-4A4B0DC81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701" y="2490759"/>
            <a:ext cx="5377670" cy="34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11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0097A-F892-7511-E064-7CF53821C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47FE-AE52-C439-A0B7-E2386862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Neutral Pion Mass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1793E-E307-035A-0A89-B98867A929CC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pi0 di-photon opening angle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C4D605-EB23-2142-58C8-A5F087CA549C}"/>
              </a:ext>
            </a:extLst>
          </p:cNvPr>
          <p:cNvSpPr txBox="1"/>
          <p:nvPr/>
        </p:nvSpPr>
        <p:spPr>
          <a:xfrm>
            <a:off x="860530" y="5891439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di-photon opening angle</a:t>
            </a:r>
            <a:r>
              <a:rPr lang="en-US" sz="1400" b="1" dirty="0"/>
              <a:t>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39D3A6-185E-9397-30EF-6F8787C33928}"/>
              </a:ext>
            </a:extLst>
          </p:cNvPr>
          <p:cNvSpPr txBox="1"/>
          <p:nvPr/>
        </p:nvSpPr>
        <p:spPr>
          <a:xfrm>
            <a:off x="6476487" y="5891439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di-photon opening angle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62332D-C6CF-8515-1CFE-6E4A0E562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06" y="2631378"/>
            <a:ext cx="5292385" cy="3260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A67032-1B01-4950-5E97-DA282BEC0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024" y="2631378"/>
            <a:ext cx="5292385" cy="326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02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4B71B-1B85-F48B-82A5-433DEBD2D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7254-89DA-6BF6-5AE2-FEDE594E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6F726-3A71-8F03-221C-F1C9C46D1175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Muon momentum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53F3FC-8738-A417-A9D4-482F79F93DF6}"/>
              </a:ext>
            </a:extLst>
          </p:cNvPr>
          <p:cNvSpPr txBox="1"/>
          <p:nvPr/>
        </p:nvSpPr>
        <p:spPr>
          <a:xfrm>
            <a:off x="773753" y="5884511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momentum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2370CD-828D-D96C-AFB2-6AFE232A165E}"/>
              </a:ext>
            </a:extLst>
          </p:cNvPr>
          <p:cNvSpPr txBox="1"/>
          <p:nvPr/>
        </p:nvSpPr>
        <p:spPr>
          <a:xfrm>
            <a:off x="6882791" y="5884511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momentum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30E11-F3FC-2095-8C20-1C7CCE1D17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9738" y="2549411"/>
            <a:ext cx="5212994" cy="3335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478CAD-D964-C77A-55CE-AC7612991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70" y="2549411"/>
            <a:ext cx="5212994" cy="333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088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31508-02F2-CC11-5640-422992898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8738A-75AA-3C95-8691-93BE0003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0B84D-06BE-35A1-BC9D-AA5EDEA4FD2D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Muon beam </a:t>
            </a:r>
            <a:r>
              <a:rPr lang="en-SG" sz="1600" b="1" dirty="0" err="1"/>
              <a:t>costheta</a:t>
            </a:r>
            <a:endParaRPr lang="en-SG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angle the true muon makes with the beam</a:t>
            </a:r>
            <a:endParaRPr lang="en-SG" sz="1600" dirty="0"/>
          </a:p>
          <a:p>
            <a:endParaRPr lang="en-SG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B6C6D6-1254-BFF7-3477-C714B760A9A4}"/>
              </a:ext>
            </a:extLst>
          </p:cNvPr>
          <p:cNvSpPr txBox="1"/>
          <p:nvPr/>
        </p:nvSpPr>
        <p:spPr>
          <a:xfrm>
            <a:off x="930211" y="5918103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E1EDFC-454C-629A-F12D-72C4A3B29379}"/>
              </a:ext>
            </a:extLst>
          </p:cNvPr>
          <p:cNvSpPr txBox="1"/>
          <p:nvPr/>
        </p:nvSpPr>
        <p:spPr>
          <a:xfrm>
            <a:off x="6434588" y="5918103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my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09E917-9EB0-42BF-D8EC-193A69B2F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72" y="2561039"/>
            <a:ext cx="5247330" cy="3357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6F8C38-6D18-5A0F-8F3F-44FBFB461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400" y="2561039"/>
            <a:ext cx="5247331" cy="335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56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8C87-20A0-D3C8-784A-ACA872D6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0EE3-1BE3-58BB-17C8-A11E8AEA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0BA43-8605-E9DE-A6A5-53744CDABAA3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pi0 momentum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45997C-BCD1-D99A-DDF4-CAF6B3E8A356}"/>
              </a:ext>
            </a:extLst>
          </p:cNvPr>
          <p:cNvSpPr txBox="1"/>
          <p:nvPr/>
        </p:nvSpPr>
        <p:spPr>
          <a:xfrm>
            <a:off x="1001598" y="5958561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momentum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A93353-6E10-ECF1-4F4F-E09598E8E353}"/>
              </a:ext>
            </a:extLst>
          </p:cNvPr>
          <p:cNvSpPr txBox="1"/>
          <p:nvPr/>
        </p:nvSpPr>
        <p:spPr>
          <a:xfrm>
            <a:off x="6335419" y="5958560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momentum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FC0973-CCB8-5C09-195A-B2BBEB8FC2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7728" y="2580670"/>
            <a:ext cx="5332487" cy="3360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7D3082-E3EA-A7B5-6517-D5ACFC028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787" y="2580670"/>
            <a:ext cx="5332487" cy="336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026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72595-0E1D-815B-6B8B-180F564D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ED3F-8072-2AEE-2D03-422F212F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C2AC3C-21B7-CC1C-B7CD-65A6B025B2EC}"/>
              </a:ext>
            </a:extLst>
          </p:cNvPr>
          <p:cNvSpPr txBox="1"/>
          <p:nvPr/>
        </p:nvSpPr>
        <p:spPr>
          <a:xfrm>
            <a:off x="1097279" y="1815053"/>
            <a:ext cx="103993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pi0 beam </a:t>
            </a:r>
            <a:r>
              <a:rPr lang="en-SG" sz="1600" b="1" dirty="0" err="1"/>
              <a:t>costheta</a:t>
            </a:r>
            <a:endParaRPr lang="en-SG" sz="1600" b="1" dirty="0"/>
          </a:p>
          <a:p>
            <a:r>
              <a:rPr lang="en-US" sz="1600" dirty="0"/>
              <a:t>angle the true neutral pion makes with the beam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DA1B97-6D0B-2192-B584-069B6CC87FE7}"/>
              </a:ext>
            </a:extLst>
          </p:cNvPr>
          <p:cNvSpPr txBox="1"/>
          <p:nvPr/>
        </p:nvSpPr>
        <p:spPr>
          <a:xfrm>
            <a:off x="686537" y="5927653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F6E676-CA6A-5AF6-6FDA-7BCE9C59B09A}"/>
              </a:ext>
            </a:extLst>
          </p:cNvPr>
          <p:cNvSpPr txBox="1"/>
          <p:nvPr/>
        </p:nvSpPr>
        <p:spPr>
          <a:xfrm>
            <a:off x="6650480" y="5927653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351918-AE3C-FAB0-9626-7DE53A583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80" y="2491232"/>
            <a:ext cx="5371371" cy="3436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9FB18D-6FDD-3CEA-5AAB-0334C6105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049" y="2491232"/>
            <a:ext cx="5371371" cy="343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01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DFD2-27AC-AA66-0F8A-E62178714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A2980-FB9B-D1BB-E642-C11C62C9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Muon momentum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11028-B927-F516-3552-519E2C22FFE1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US" sz="1600" b="1" dirty="0" err="1"/>
              <a:t>NuMI</a:t>
            </a:r>
            <a:r>
              <a:rPr lang="en-US" sz="1600" b="1" dirty="0"/>
              <a:t> sample reconstructed leading muon momentum for each cumulative cut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4C5F1C-7313-CDB0-0862-ABA348F49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6" y="2284100"/>
            <a:ext cx="3587882" cy="1935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1E3F89-3A66-D50A-2FC5-AAEEE661C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208" y="2284100"/>
            <a:ext cx="3587883" cy="1935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2C6D51-BDD1-18D7-F9DC-B984BAD90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1091" y="2284100"/>
            <a:ext cx="3587882" cy="1935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5BDD76-DD19-2610-74BC-D9C6EA3B0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6" y="4289112"/>
            <a:ext cx="3587882" cy="19354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5EF91B-45F9-0AAB-3368-14F704D3CC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3207" y="4280445"/>
            <a:ext cx="3587883" cy="19528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5B6127-728C-6E68-F4AA-97A004C142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1090" y="4289112"/>
            <a:ext cx="3587883" cy="195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20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A6885-7AB1-F768-C6CC-453BB014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E290-B3D9-7973-EEA1-863F8DDD7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Muon momentum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4E4DC2-F9EC-5DEC-DFA4-868F1CC8C334}"/>
              </a:ext>
            </a:extLst>
          </p:cNvPr>
          <p:cNvSpPr txBox="1"/>
          <p:nvPr/>
        </p:nvSpPr>
        <p:spPr>
          <a:xfrm>
            <a:off x="1051098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Overlapping </a:t>
            </a:r>
            <a:r>
              <a:rPr lang="en-US" sz="1600" b="1" dirty="0" err="1"/>
              <a:t>NuMI</a:t>
            </a:r>
            <a:r>
              <a:rPr lang="en-US" sz="1600" b="1" dirty="0"/>
              <a:t> and BNB reconstructed and true leading muon momentum  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A2630-C691-D11D-766B-961077F55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27" y="2517932"/>
            <a:ext cx="5239999" cy="3388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79F066-E2BC-8CFB-CE47-007B19600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876" y="2517932"/>
            <a:ext cx="5239999" cy="338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96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4B177-E778-E947-077C-98696B3FD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368B-7750-3B22-1AC8-3E7A219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Muon length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1BE07D-FB97-8518-9F94-FC2725060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25" y="2323736"/>
            <a:ext cx="6153150" cy="39597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7EECA04-BC73-E272-8492-BA87C3AD5DAC}"/>
              </a:ext>
            </a:extLst>
          </p:cNvPr>
          <p:cNvSpPr txBox="1"/>
          <p:nvPr/>
        </p:nvSpPr>
        <p:spPr>
          <a:xfrm>
            <a:off x="1051098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Overlapping </a:t>
            </a:r>
            <a:r>
              <a:rPr lang="en-US" sz="1600" b="1" dirty="0" err="1"/>
              <a:t>NuMI</a:t>
            </a:r>
            <a:r>
              <a:rPr lang="en-US" sz="1600" b="1" dirty="0"/>
              <a:t> and BNB reconstructed leading muon momentum  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</p:spTree>
    <p:extLst>
      <p:ext uri="{BB962C8B-B14F-4D97-AF65-F5344CB8AC3E}">
        <p14:creationId xmlns:p14="http://schemas.microsoft.com/office/powerpoint/2010/main" val="178943678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15472</TotalTime>
  <Words>1264</Words>
  <Application>Microsoft Office PowerPoint</Application>
  <PresentationFormat>Widescreen</PresentationFormat>
  <Paragraphs>257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Arial</vt:lpstr>
      <vt:lpstr>Calibri</vt:lpstr>
      <vt:lpstr>Calibri Light</vt:lpstr>
      <vt:lpstr>Cambria Math</vt:lpstr>
      <vt:lpstr>Retrospect</vt:lpstr>
      <vt:lpstr>Tasks completed (19 Mar) </vt:lpstr>
      <vt:lpstr>NuMI vs BNB simulation sample</vt:lpstr>
      <vt:lpstr>Categorizing interactions</vt:lpstr>
      <vt:lpstr>NuMI vs BNB: Interaction category type percentage</vt:lpstr>
      <vt:lpstr>NuMI: Looking into ‘other v’ category</vt:lpstr>
      <vt:lpstr>Initial selection: neutral pion mass distribution</vt:lpstr>
      <vt:lpstr>Cuts on reconstructed neutral pion mass</vt:lpstr>
      <vt:lpstr>Selection performance analysis</vt:lpstr>
      <vt:lpstr>Efficiency and Purity analysis</vt:lpstr>
      <vt:lpstr>PID Truth to Reco confusion matrix</vt:lpstr>
      <vt:lpstr>PID Reco to Truth confusion matrix</vt:lpstr>
      <vt:lpstr>Reconstructed observables in simulation</vt:lpstr>
      <vt:lpstr>Reconstructed observables in simulation</vt:lpstr>
      <vt:lpstr>Low-level observables</vt:lpstr>
      <vt:lpstr>Low-level observables</vt:lpstr>
      <vt:lpstr>Low-level observables</vt:lpstr>
      <vt:lpstr>Low-level observables</vt:lpstr>
      <vt:lpstr>Low-level observables</vt:lpstr>
      <vt:lpstr>Low-level observables</vt:lpstr>
      <vt:lpstr>Transverse kinematic imbalance observables</vt:lpstr>
      <vt:lpstr>Transverse kinematic imbalance observables</vt:lpstr>
      <vt:lpstr>Transverse kinematic imbalance observables</vt:lpstr>
      <vt:lpstr>Four-Momentum Transfer and Hadronic Invariant Mass observables </vt:lpstr>
      <vt:lpstr>Four-Momentum Transfer and Hadronic Invariant Mass observables </vt:lpstr>
      <vt:lpstr>Neutral Pion Mass observables</vt:lpstr>
      <vt:lpstr>Neutral Pion Mass observables</vt:lpstr>
      <vt:lpstr>Neutral Pion Mass observables</vt:lpstr>
      <vt:lpstr>Cross Section Analysis Observables</vt:lpstr>
      <vt:lpstr>Cross Section Analysis Observables</vt:lpstr>
      <vt:lpstr>Cross Section Analysis Observables</vt:lpstr>
      <vt:lpstr>Cross Section Analysis Observables</vt:lpstr>
      <vt:lpstr>Muon momentum</vt:lpstr>
      <vt:lpstr>Muon momentum</vt:lpstr>
      <vt:lpstr>Muon length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#JORDON KOH JIN CHEN#</dc:creator>
  <cp:lastModifiedBy>#JORDON KOH JIN CHEN#</cp:lastModifiedBy>
  <cp:revision>36</cp:revision>
  <dcterms:created xsi:type="dcterms:W3CDTF">2025-11-12T13:24:12Z</dcterms:created>
  <dcterms:modified xsi:type="dcterms:W3CDTF">2026-04-09T16:16:09Z</dcterms:modified>
</cp:coreProperties>
</file>